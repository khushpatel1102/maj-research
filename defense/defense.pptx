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media/image1.jpeg" ContentType="image/jpeg"/>
  <Override PartName="/ppt/media/image11.png" ContentType="image/pn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12.png" ContentType="image/png"/>
  <Override PartName="/ppt/media/image10.jpeg" ContentType="image/jpeg"/>
  <Override PartName="/ppt/media/image7.jpeg" ContentType="image/jpeg"/>
  <Override PartName="/ppt/media/image8.jpeg" ContentType="image/jpeg"/>
  <Override PartName="/ppt/media/image9.jpeg" ContentType="image/jpeg"/>
  <Override PartName="/ppt/media/image13.jpeg" ContentType="image/jpeg"/>
  <Override PartName="/ppt/media/image14.jpeg" ContentType="image/jpeg"/>
  <Override PartName="/ppt/media/image15.png" ContentType="image/png"/>
  <Override PartName="/ppt/media/image17.jpeg" ContentType="image/jpeg"/>
  <Override PartName="/ppt/media/image16.jpeg" ContentType="image/jpeg"/>
  <Override PartName="/ppt/media/image18.png" ContentType="image/png"/>
  <Override PartName="/ppt/slides/_rels/slide36.xml.rels" ContentType="application/vnd.openxmlformats-package.relationships+xml"/>
  <Override PartName="/ppt/slides/_rels/slide35.xml.rels" ContentType="application/vnd.openxmlformats-package.relationships+xml"/>
  <Override PartName="/ppt/slides/_rels/slide29.xml.rels" ContentType="application/vnd.openxmlformats-package.relationships+xml"/>
  <Override PartName="/ppt/slides/_rels/slide28.xml.rels" ContentType="application/vnd.openxmlformats-package.relationships+xml"/>
  <Override PartName="/ppt/slides/_rels/slide33.xml.rels" ContentType="application/vnd.openxmlformats-package.relationships+xml"/>
  <Override PartName="/ppt/slides/_rels/slide8.xml.rels" ContentType="application/vnd.openxmlformats-package.relationships+xml"/>
  <Override PartName="/ppt/slides/_rels/slide27.xml.rels" ContentType="application/vnd.openxmlformats-package.relationships+xml"/>
  <Override PartName="/ppt/slides/_rels/slide32.xml.rels" ContentType="application/vnd.openxmlformats-package.relationships+xml"/>
  <Override PartName="/ppt/slides/_rels/slide7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34.xml.rels" ContentType="application/vnd.openxmlformats-package.relationships+xml"/>
  <Override PartName="/ppt/slides/_rels/slide5.xml.rels" ContentType="application/vnd.openxmlformats-package.relationships+xml"/>
  <Override PartName="/ppt/slides/_rels/slide30.xml.rels" ContentType="application/vnd.openxmlformats-package.relationships+xml"/>
  <Override PartName="/ppt/slides/_rels/slide15.xml.rels" ContentType="application/vnd.openxmlformats-package.relationships+xml"/>
  <Override PartName="/ppt/slides/_rels/slide25.xml.rels" ContentType="application/vnd.openxmlformats-package.relationships+xml"/>
  <Override PartName="/ppt/slides/_rels/slide24.xml.rels" ContentType="application/vnd.openxmlformats-package.relationships+xml"/>
  <Override PartName="/ppt/slides/_rels/slide31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22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26.xml" ContentType="application/vnd.openxmlformats-officedocument.presentationml.slide+xml"/>
  <Override PartName="/ppt/slides/slide32.xml" ContentType="application/vnd.openxmlformats-officedocument.presentationml.slide+xml"/>
  <Override PartName="/ppt/slides/slide27.xml" ContentType="application/vnd.openxmlformats-officedocument.presentationml.slide+xml"/>
  <Override PartName="/ppt/slides/slide33.xml" ContentType="application/vnd.openxmlformats-officedocument.presentationml.slide+xml"/>
  <Override PartName="/ppt/slides/slide28.xml" ContentType="application/vnd.openxmlformats-officedocument.presentationml.slide+xml"/>
  <Override PartName="/ppt/slides/slide34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</p:sldIdLst>
  <p:sldSz cx="13716000" cy="8574088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327600"/>
            <a:ext cx="12344040" cy="137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85800" y="1921680"/>
            <a:ext cx="12344040" cy="476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327600"/>
            <a:ext cx="12344040" cy="137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85800" y="1921680"/>
            <a:ext cx="12344040" cy="476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1.jpeg"/><Relationship Id="rId6" Type="http://schemas.openxmlformats.org/officeDocument/2006/relationships/image" Target="../media/image2.jpeg"/><Relationship Id="rId7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image" Target="../media/image8.jpeg"/><Relationship Id="rId5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10.jpe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10.jpe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image" Target="../media/image14.jpe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image" Target="../media/image17.jpe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273960" y="171360"/>
            <a:ext cx="13167720" cy="8229960"/>
          </a:xfrm>
          <a:custGeom>
            <a:avLst/>
            <a:gdLst/>
            <a:ahLst/>
            <a:rect l="0" t="0" r="r" b="b"/>
            <a:pathLst>
              <a:path w="36577" h="22861">
                <a:moveTo>
                  <a:pt x="0" y="0"/>
                </a:moveTo>
                <a:lnTo>
                  <a:pt x="36577" y="0"/>
                </a:lnTo>
                <a:lnTo>
                  <a:pt x="36577" y="22861"/>
                </a:lnTo>
                <a:lnTo>
                  <a:pt x="0" y="22861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932760" y="2820240"/>
            <a:ext cx="275796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1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INNOPOLIS UNIVERSITY · B22 · COMPUTER SCIENCE</a:t>
            </a:r>
            <a:endParaRPr b="0" lang="en-IN" sz="8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932760" y="3047400"/>
            <a:ext cx="3704040" cy="53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3000" strike="noStrike" u="none">
                <a:solidFill>
                  <a:srgbClr val="0a0a0a"/>
                </a:solidFill>
                <a:effectLst/>
                <a:uFillTx/>
                <a:latin typeface="Fraunces-Regular_opsz29998C_wght2BC0000"/>
                <a:ea typeface="Fraunces-Regular_opsz29998C_wght2BC0000"/>
              </a:rPr>
              <a:t>Memory-Assisted 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4245840" y="3047400"/>
            <a:ext cx="2787840" cy="52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3080" strike="noStrike" u="none">
                <a:solidFill>
                  <a:srgbClr val="8b1538"/>
                </a:solidFill>
                <a:effectLst/>
                <a:uFillTx/>
                <a:latin typeface="Fraunces-Regular_opsz29998C_wght1900000"/>
                <a:ea typeface="Fraunces-Regular_opsz29998C_wght1900000"/>
              </a:rPr>
              <a:t>LLM as a Judge</a:t>
            </a:r>
            <a:endParaRPr b="0" lang="en-IN" sz="3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932760" y="3458880"/>
            <a:ext cx="4678920" cy="53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3000" strike="noStrike" u="none">
                <a:solidFill>
                  <a:srgbClr val="0a0a0a"/>
                </a:solidFill>
                <a:effectLst/>
                <a:uFillTx/>
                <a:latin typeface="Fraunces-Regular_opsz29998C_wght2BC0000"/>
                <a:ea typeface="Fraunces-Regular_opsz29998C_wght2BC0000"/>
              </a:rPr>
              <a:t>via Knowledge Graphs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932760" y="3879720"/>
            <a:ext cx="4615200" cy="53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3000" strike="noStrike" u="none">
                <a:solidFill>
                  <a:srgbClr val="0a0a0a"/>
                </a:solidFill>
                <a:effectLst/>
                <a:uFillTx/>
                <a:latin typeface="Fraunces-Regular_opsz29998C_wght2BC0000"/>
                <a:ea typeface="Fraunces-Regular_opsz29998C_wght2BC0000"/>
              </a:rPr>
              <a:t>for Evaluating Agents.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979560" y="4601520"/>
            <a:ext cx="548460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430" strike="noStrike" u="none">
                <a:solidFill>
                  <a:srgbClr val="8b1538"/>
                </a:solidFill>
                <a:effectLst/>
                <a:uFillTx/>
                <a:latin typeface="Fraunces-Regular_opsz133333_wght12C0000"/>
                <a:ea typeface="Fraunces-Regular_opsz133333_wght12C0000"/>
              </a:rPr>
              <a:t>When does memory help — and how do we trust the measurement?</a:t>
            </a:r>
            <a:endParaRPr b="0" lang="en-IN" sz="14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932760" y="5058720"/>
            <a:ext cx="614520" cy="10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73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A U T H O R</a:t>
            </a:r>
            <a:endParaRPr b="0" lang="en-IN" sz="7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1869120" y="5020560"/>
            <a:ext cx="12272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20" strike="noStrike" u="none">
                <a:solidFill>
                  <a:srgbClr val="0a0a0a"/>
                </a:solidFill>
                <a:effectLst/>
                <a:uFillTx/>
                <a:latin typeface="Inter"/>
                <a:ea typeface="Inter"/>
              </a:rPr>
              <a:t>Khush Pradipbhai Patel</a:t>
            </a:r>
            <a:endParaRPr b="0" lang="en-IN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932760" y="5223240"/>
            <a:ext cx="1060560" cy="10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73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S U P E R V I S O R</a:t>
            </a:r>
            <a:endParaRPr b="0" lang="en-IN" sz="7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1869120" y="5185080"/>
            <a:ext cx="8161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20" strike="noStrike" u="none">
                <a:solidFill>
                  <a:srgbClr val="0a0a0a"/>
                </a:solidFill>
                <a:effectLst/>
                <a:uFillTx/>
                <a:latin typeface="Inter"/>
                <a:ea typeface="Inter"/>
              </a:rPr>
              <a:t>Bader Rasheed</a:t>
            </a:r>
            <a:endParaRPr b="0" lang="en-IN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932760" y="5387760"/>
            <a:ext cx="726120" cy="10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73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P R O G R A M</a:t>
            </a:r>
            <a:endParaRPr b="0" lang="en-IN" sz="7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1869120" y="5349960"/>
            <a:ext cx="15922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20" strike="noStrike" u="none">
                <a:solidFill>
                  <a:srgbClr val="0a0a0a"/>
                </a:solidFill>
                <a:effectLst/>
                <a:uFillTx/>
                <a:latin typeface="Inter"/>
                <a:ea typeface="Inter"/>
              </a:rPr>
              <a:t>09.03.01 — Data Science &amp; AI</a:t>
            </a:r>
            <a:endParaRPr b="0" lang="en-IN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932760" y="5552280"/>
            <a:ext cx="726120" cy="10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73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D E F E N S E</a:t>
            </a:r>
            <a:endParaRPr b="0" lang="en-IN" sz="7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1869120" y="5514480"/>
            <a:ext cx="6465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20" strike="noStrike" u="none">
                <a:solidFill>
                  <a:srgbClr val="0a0a0a"/>
                </a:solidFill>
                <a:effectLst/>
                <a:uFillTx/>
                <a:latin typeface="Inter"/>
                <a:ea typeface="Inter"/>
              </a:rPr>
              <a:t>2 June 2026</a:t>
            </a:r>
            <a:endParaRPr b="0" lang="en-IN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685800" y="8312040"/>
            <a:ext cx="2566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MEMORY-ASSISTED LLM AS A JUDGE VIA KNOWLEDGE GRAPHS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11460960" y="8312040"/>
            <a:ext cx="13086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1 / 36  ·  K. PATEL · 2026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273960" y="171360"/>
            <a:ext cx="13167720" cy="8229960"/>
          </a:xfrm>
          <a:custGeom>
            <a:avLst/>
            <a:gdLst/>
            <a:ahLst/>
            <a:rect l="0" t="0" r="r" b="b"/>
            <a:pathLst>
              <a:path w="36577" h="22861">
                <a:moveTo>
                  <a:pt x="0" y="0"/>
                </a:moveTo>
                <a:lnTo>
                  <a:pt x="36577" y="0"/>
                </a:lnTo>
                <a:lnTo>
                  <a:pt x="36577" y="22861"/>
                </a:lnTo>
                <a:lnTo>
                  <a:pt x="0" y="22861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932760" y="579960"/>
            <a:ext cx="337536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LITERATURE REVIEW · THREE LINES OF PRIOR WORK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" name="" descr=""/>
          <p:cNvPicPr/>
          <p:nvPr/>
        </p:nvPicPr>
        <p:blipFill>
          <a:blip r:embed="rId1"/>
          <a:stretch/>
        </p:blipFill>
        <p:spPr>
          <a:xfrm>
            <a:off x="713160" y="1267920"/>
            <a:ext cx="4251600" cy="187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"/>
          <p:cNvSpPr/>
          <p:nvPr/>
        </p:nvSpPr>
        <p:spPr>
          <a:xfrm>
            <a:off x="713160" y="1267920"/>
            <a:ext cx="4252320" cy="1874880"/>
          </a:xfrm>
          <a:custGeom>
            <a:avLst/>
            <a:gdLst/>
            <a:ahLst/>
            <a:rect l="0" t="0" r="r" b="b"/>
            <a:pathLst>
              <a:path w="11812" h="5208">
                <a:moveTo>
                  <a:pt x="635" y="561"/>
                </a:moveTo>
                <a:lnTo>
                  <a:pt x="635" y="4244"/>
                </a:lnTo>
                <a:cubicBezTo>
                  <a:pt x="635" y="4279"/>
                  <a:pt x="647" y="4310"/>
                  <a:pt x="672" y="4334"/>
                </a:cubicBezTo>
                <a:cubicBezTo>
                  <a:pt x="697" y="4359"/>
                  <a:pt x="727" y="4372"/>
                  <a:pt x="762" y="4372"/>
                </a:cubicBezTo>
                <a:lnTo>
                  <a:pt x="11050" y="4372"/>
                </a:lnTo>
                <a:cubicBezTo>
                  <a:pt x="11085" y="4372"/>
                  <a:pt x="11115" y="4359"/>
                  <a:pt x="11140" y="4334"/>
                </a:cubicBezTo>
                <a:cubicBezTo>
                  <a:pt x="11164" y="4310"/>
                  <a:pt x="11177" y="4279"/>
                  <a:pt x="11177" y="4244"/>
                </a:cubicBezTo>
                <a:lnTo>
                  <a:pt x="11177" y="561"/>
                </a:lnTo>
                <a:cubicBezTo>
                  <a:pt x="11177" y="525"/>
                  <a:pt x="11164" y="496"/>
                  <a:pt x="11140" y="471"/>
                </a:cubicBezTo>
                <a:cubicBezTo>
                  <a:pt x="11115" y="446"/>
                  <a:pt x="11085" y="434"/>
                  <a:pt x="11050" y="434"/>
                </a:cubicBezTo>
                <a:lnTo>
                  <a:pt x="762" y="434"/>
                </a:lnTo>
                <a:cubicBezTo>
                  <a:pt x="727" y="434"/>
                  <a:pt x="697" y="446"/>
                  <a:pt x="672" y="471"/>
                </a:cubicBezTo>
                <a:cubicBezTo>
                  <a:pt x="647" y="496"/>
                  <a:pt x="635" y="525"/>
                  <a:pt x="635" y="561"/>
                </a:cubicBezTo>
                <a:moveTo>
                  <a:pt x="0" y="0"/>
                </a:moveTo>
                <a:lnTo>
                  <a:pt x="11812" y="0"/>
                </a:lnTo>
                <a:lnTo>
                  <a:pt x="11812" y="5208"/>
                </a:lnTo>
                <a:lnTo>
                  <a:pt x="0" y="520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6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3" name="" descr=""/>
          <p:cNvPicPr/>
          <p:nvPr/>
        </p:nvPicPr>
        <p:blipFill>
          <a:blip r:embed="rId2"/>
          <a:stretch/>
        </p:blipFill>
        <p:spPr>
          <a:xfrm>
            <a:off x="905400" y="1396080"/>
            <a:ext cx="3867480" cy="149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"/>
          <p:cNvSpPr/>
          <p:nvPr/>
        </p:nvSpPr>
        <p:spPr>
          <a:xfrm>
            <a:off x="905040" y="1395720"/>
            <a:ext cx="3868200" cy="1490760"/>
          </a:xfrm>
          <a:custGeom>
            <a:avLst/>
            <a:gdLst/>
            <a:ahLst/>
            <a:rect l="0" t="0" r="r" b="b"/>
            <a:pathLst>
              <a:path w="10745" h="4141">
                <a:moveTo>
                  <a:pt x="102" y="206"/>
                </a:moveTo>
                <a:lnTo>
                  <a:pt x="102" y="3890"/>
                </a:lnTo>
                <a:cubicBezTo>
                  <a:pt x="102" y="3925"/>
                  <a:pt x="114" y="3955"/>
                  <a:pt x="139" y="3979"/>
                </a:cubicBezTo>
                <a:cubicBezTo>
                  <a:pt x="164" y="4004"/>
                  <a:pt x="194" y="4017"/>
                  <a:pt x="229" y="4017"/>
                </a:cubicBezTo>
                <a:lnTo>
                  <a:pt x="10517" y="4017"/>
                </a:lnTo>
                <a:cubicBezTo>
                  <a:pt x="10552" y="4017"/>
                  <a:pt x="10582" y="4004"/>
                  <a:pt x="10607" y="3979"/>
                </a:cubicBezTo>
                <a:cubicBezTo>
                  <a:pt x="10631" y="3955"/>
                  <a:pt x="10644" y="3925"/>
                  <a:pt x="10644" y="3890"/>
                </a:cubicBezTo>
                <a:lnTo>
                  <a:pt x="10644" y="206"/>
                </a:lnTo>
                <a:cubicBezTo>
                  <a:pt x="10644" y="170"/>
                  <a:pt x="10631" y="141"/>
                  <a:pt x="10607" y="116"/>
                </a:cubicBezTo>
                <a:cubicBezTo>
                  <a:pt x="10582" y="91"/>
                  <a:pt x="10552" y="79"/>
                  <a:pt x="10517" y="79"/>
                </a:cubicBezTo>
                <a:lnTo>
                  <a:pt x="229" y="79"/>
                </a:lnTo>
                <a:cubicBezTo>
                  <a:pt x="194" y="79"/>
                  <a:pt x="164" y="91"/>
                  <a:pt x="139" y="116"/>
                </a:cubicBezTo>
                <a:cubicBezTo>
                  <a:pt x="114" y="141"/>
                  <a:pt x="102" y="170"/>
                  <a:pt x="102" y="206"/>
                </a:cubicBezTo>
                <a:moveTo>
                  <a:pt x="0" y="0"/>
                </a:moveTo>
                <a:lnTo>
                  <a:pt x="10745" y="0"/>
                </a:lnTo>
                <a:lnTo>
                  <a:pt x="10745" y="4141"/>
                </a:lnTo>
                <a:lnTo>
                  <a:pt x="0" y="414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950760" y="1419480"/>
            <a:ext cx="3790440" cy="1426680"/>
          </a:xfrm>
          <a:custGeom>
            <a:avLst/>
            <a:gdLst/>
            <a:ahLst/>
            <a:rect l="0" t="0" r="r" b="b"/>
            <a:pathLst>
              <a:path w="10529" h="3963">
                <a:moveTo>
                  <a:pt x="0" y="3824"/>
                </a:moveTo>
                <a:lnTo>
                  <a:pt x="0" y="140"/>
                </a:lnTo>
                <a:cubicBezTo>
                  <a:pt x="0" y="121"/>
                  <a:pt x="3" y="103"/>
                  <a:pt x="8" y="86"/>
                </a:cubicBezTo>
                <a:cubicBezTo>
                  <a:pt x="13" y="69"/>
                  <a:pt x="20" y="54"/>
                  <a:pt x="30" y="41"/>
                </a:cubicBezTo>
                <a:cubicBezTo>
                  <a:pt x="39" y="28"/>
                  <a:pt x="50" y="18"/>
                  <a:pt x="63" y="10"/>
                </a:cubicBezTo>
                <a:cubicBezTo>
                  <a:pt x="75" y="3"/>
                  <a:pt x="88" y="0"/>
                  <a:pt x="102" y="0"/>
                </a:cubicBezTo>
                <a:lnTo>
                  <a:pt x="10390" y="0"/>
                </a:lnTo>
                <a:cubicBezTo>
                  <a:pt x="10399" y="0"/>
                  <a:pt x="10408" y="1"/>
                  <a:pt x="10417" y="3"/>
                </a:cubicBezTo>
                <a:cubicBezTo>
                  <a:pt x="10426" y="4"/>
                  <a:pt x="10435" y="7"/>
                  <a:pt x="10443" y="10"/>
                </a:cubicBezTo>
                <a:cubicBezTo>
                  <a:pt x="10452" y="14"/>
                  <a:pt x="10460" y="18"/>
                  <a:pt x="10467" y="23"/>
                </a:cubicBezTo>
                <a:cubicBezTo>
                  <a:pt x="10475" y="28"/>
                  <a:pt x="10482" y="34"/>
                  <a:pt x="10488" y="41"/>
                </a:cubicBezTo>
                <a:cubicBezTo>
                  <a:pt x="10495" y="47"/>
                  <a:pt x="10501" y="54"/>
                  <a:pt x="10506" y="62"/>
                </a:cubicBezTo>
                <a:cubicBezTo>
                  <a:pt x="10511" y="70"/>
                  <a:pt x="10515" y="78"/>
                  <a:pt x="10519" y="86"/>
                </a:cubicBezTo>
                <a:cubicBezTo>
                  <a:pt x="10522" y="95"/>
                  <a:pt x="10525" y="103"/>
                  <a:pt x="10527" y="112"/>
                </a:cubicBezTo>
                <a:cubicBezTo>
                  <a:pt x="10529" y="121"/>
                  <a:pt x="10529" y="130"/>
                  <a:pt x="10529" y="140"/>
                </a:cubicBezTo>
                <a:lnTo>
                  <a:pt x="10529" y="3824"/>
                </a:lnTo>
                <a:cubicBezTo>
                  <a:pt x="10529" y="3833"/>
                  <a:pt x="10529" y="3842"/>
                  <a:pt x="10527" y="3851"/>
                </a:cubicBezTo>
                <a:cubicBezTo>
                  <a:pt x="10525" y="3860"/>
                  <a:pt x="10522" y="3869"/>
                  <a:pt x="10519" y="3877"/>
                </a:cubicBezTo>
                <a:cubicBezTo>
                  <a:pt x="10515" y="3885"/>
                  <a:pt x="10511" y="3894"/>
                  <a:pt x="10506" y="3901"/>
                </a:cubicBezTo>
                <a:cubicBezTo>
                  <a:pt x="10501" y="3909"/>
                  <a:pt x="10495" y="3916"/>
                  <a:pt x="10488" y="3922"/>
                </a:cubicBezTo>
                <a:cubicBezTo>
                  <a:pt x="10482" y="3929"/>
                  <a:pt x="10475" y="3935"/>
                  <a:pt x="10467" y="3940"/>
                </a:cubicBezTo>
                <a:cubicBezTo>
                  <a:pt x="10460" y="3945"/>
                  <a:pt x="10452" y="3949"/>
                  <a:pt x="10443" y="3953"/>
                </a:cubicBezTo>
                <a:cubicBezTo>
                  <a:pt x="10435" y="3956"/>
                  <a:pt x="10426" y="3959"/>
                  <a:pt x="10417" y="3961"/>
                </a:cubicBezTo>
                <a:cubicBezTo>
                  <a:pt x="10408" y="3962"/>
                  <a:pt x="10399" y="3963"/>
                  <a:pt x="10390" y="3963"/>
                </a:cubicBezTo>
                <a:lnTo>
                  <a:pt x="102" y="3963"/>
                </a:lnTo>
                <a:cubicBezTo>
                  <a:pt x="88" y="3963"/>
                  <a:pt x="75" y="3960"/>
                  <a:pt x="63" y="3953"/>
                </a:cubicBezTo>
                <a:cubicBezTo>
                  <a:pt x="50" y="3946"/>
                  <a:pt x="39" y="3935"/>
                  <a:pt x="30" y="3922"/>
                </a:cubicBezTo>
                <a:cubicBezTo>
                  <a:pt x="20" y="3909"/>
                  <a:pt x="13" y="3894"/>
                  <a:pt x="8" y="3877"/>
                </a:cubicBezTo>
                <a:cubicBezTo>
                  <a:pt x="3" y="3860"/>
                  <a:pt x="0" y="3842"/>
                  <a:pt x="0" y="382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980640" y="1424160"/>
            <a:ext cx="3743280" cy="23040"/>
          </a:xfrm>
          <a:custGeom>
            <a:avLst/>
            <a:gdLst/>
            <a:ahLst/>
            <a:rect l="0" t="0" r="r" b="b"/>
            <a:pathLst>
              <a:path w="10398" h="64">
                <a:moveTo>
                  <a:pt x="10373" y="64"/>
                </a:moveTo>
                <a:lnTo>
                  <a:pt x="219" y="64"/>
                </a:lnTo>
                <a:lnTo>
                  <a:pt x="0" y="8"/>
                </a:lnTo>
                <a:cubicBezTo>
                  <a:pt x="6" y="2"/>
                  <a:pt x="12" y="0"/>
                  <a:pt x="19" y="0"/>
                </a:cubicBezTo>
                <a:lnTo>
                  <a:pt x="10307" y="0"/>
                </a:lnTo>
                <a:cubicBezTo>
                  <a:pt x="10342" y="0"/>
                  <a:pt x="10372" y="12"/>
                  <a:pt x="10397" y="37"/>
                </a:cubicBezTo>
                <a:cubicBezTo>
                  <a:pt x="10397" y="37"/>
                  <a:pt x="10397" y="38"/>
                  <a:pt x="10398" y="38"/>
                </a:cubicBezTo>
                <a:lnTo>
                  <a:pt x="10373" y="64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980640" y="2818440"/>
            <a:ext cx="3743280" cy="23400"/>
          </a:xfrm>
          <a:custGeom>
            <a:avLst/>
            <a:gdLst/>
            <a:ahLst/>
            <a:rect l="0" t="0" r="r" b="b"/>
            <a:pathLst>
              <a:path w="10398" h="65">
                <a:moveTo>
                  <a:pt x="219" y="0"/>
                </a:moveTo>
                <a:lnTo>
                  <a:pt x="10373" y="0"/>
                </a:lnTo>
                <a:lnTo>
                  <a:pt x="10398" y="26"/>
                </a:lnTo>
                <a:cubicBezTo>
                  <a:pt x="10397" y="27"/>
                  <a:pt x="10397" y="27"/>
                  <a:pt x="10397" y="27"/>
                </a:cubicBezTo>
                <a:cubicBezTo>
                  <a:pt x="10372" y="52"/>
                  <a:pt x="10342" y="65"/>
                  <a:pt x="10307" y="65"/>
                </a:cubicBezTo>
                <a:lnTo>
                  <a:pt x="19" y="65"/>
                </a:lnTo>
                <a:cubicBezTo>
                  <a:pt x="12" y="65"/>
                  <a:pt x="6" y="62"/>
                  <a:pt x="0" y="56"/>
                </a:cubicBezTo>
                <a:lnTo>
                  <a:pt x="219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4713480" y="1437480"/>
            <a:ext cx="23400" cy="1390680"/>
          </a:xfrm>
          <a:custGeom>
            <a:avLst/>
            <a:gdLst/>
            <a:ahLst/>
            <a:rect l="0" t="0" r="r" b="b"/>
            <a:pathLst>
              <a:path w="65" h="3863">
                <a:moveTo>
                  <a:pt x="0" y="3837"/>
                </a:moveTo>
                <a:lnTo>
                  <a:pt x="0" y="26"/>
                </a:lnTo>
                <a:lnTo>
                  <a:pt x="27" y="0"/>
                </a:lnTo>
                <a:cubicBezTo>
                  <a:pt x="52" y="25"/>
                  <a:pt x="65" y="54"/>
                  <a:pt x="65" y="90"/>
                </a:cubicBezTo>
                <a:lnTo>
                  <a:pt x="65" y="3774"/>
                </a:lnTo>
                <a:cubicBezTo>
                  <a:pt x="65" y="3809"/>
                  <a:pt x="52" y="3839"/>
                  <a:pt x="27" y="3863"/>
                </a:cubicBezTo>
                <a:lnTo>
                  <a:pt x="0" y="3837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969120" y="1427040"/>
            <a:ext cx="16920" cy="1411560"/>
          </a:xfrm>
          <a:custGeom>
            <a:avLst/>
            <a:gdLst/>
            <a:ahLst/>
            <a:rect l="0" t="0" r="r" b="b"/>
            <a:pathLst>
              <a:path w="47" h="3921">
                <a:moveTo>
                  <a:pt x="47" y="3"/>
                </a:moveTo>
                <a:lnTo>
                  <a:pt x="47" y="3918"/>
                </a:lnTo>
                <a:lnTo>
                  <a:pt x="32" y="3921"/>
                </a:lnTo>
                <a:cubicBezTo>
                  <a:pt x="26" y="3915"/>
                  <a:pt x="20" y="3906"/>
                  <a:pt x="15" y="3892"/>
                </a:cubicBezTo>
                <a:cubicBezTo>
                  <a:pt x="5" y="3868"/>
                  <a:pt x="0" y="3838"/>
                  <a:pt x="0" y="3803"/>
                </a:cubicBezTo>
                <a:lnTo>
                  <a:pt x="0" y="119"/>
                </a:lnTo>
                <a:cubicBezTo>
                  <a:pt x="0" y="83"/>
                  <a:pt x="5" y="54"/>
                  <a:pt x="15" y="29"/>
                </a:cubicBezTo>
                <a:cubicBezTo>
                  <a:pt x="20" y="16"/>
                  <a:pt x="26" y="6"/>
                  <a:pt x="32" y="0"/>
                </a:cubicBezTo>
                <a:lnTo>
                  <a:pt x="47" y="3"/>
                </a:lnTo>
                <a:close/>
              </a:path>
            </a:pathLst>
          </a:custGeom>
          <a:solidFill>
            <a:srgbClr val="8b15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932760" y="802080"/>
            <a:ext cx="360396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2760" strike="noStrike" u="none">
                <a:solidFill>
                  <a:srgbClr val="0a0a0a"/>
                </a:solidFill>
                <a:effectLst/>
                <a:uFillTx/>
                <a:latin typeface="Fraunces-Regular_opsz266666_wght2580000"/>
                <a:ea typeface="Fraunces-Regular_opsz266666_wght2580000"/>
              </a:rPr>
              <a:t>What came before.</a:t>
            </a:r>
            <a:endParaRPr b="0" lang="en-IN" sz="27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1173960" y="1613160"/>
            <a:ext cx="165528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81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L L M - A S - A - J U D G E</a:t>
            </a:r>
            <a:endParaRPr b="0" lang="en-IN" sz="8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1173960" y="1740600"/>
            <a:ext cx="2215440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440" strike="noStrike" u="none">
                <a:solidFill>
                  <a:srgbClr val="0a0a0a"/>
                </a:solidFill>
                <a:effectLst/>
                <a:uFillTx/>
                <a:latin typeface="Fraunces-Regular_opsz140000_wght2580000"/>
                <a:ea typeface="Fraunces-Regular_opsz140000_wght2580000"/>
              </a:rPr>
              <a:t>Automatic evaluators.</a:t>
            </a:r>
            <a:endParaRPr b="0" lang="en-IN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1173960" y="2042280"/>
            <a:ext cx="196740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3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MT-Bench · G-Eval · Prometheus.</a:t>
            </a:r>
            <a:endParaRPr b="0" lang="en-IN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1173960" y="2243520"/>
            <a:ext cx="48888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3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And the </a:t>
            </a:r>
            <a:endParaRPr b="0" lang="en-IN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710000" y="2243520"/>
            <a:ext cx="82260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8b1538"/>
                </a:solidFill>
                <a:effectLst/>
                <a:uFillTx/>
                <a:latin typeface="Inter"/>
                <a:ea typeface="Inter"/>
              </a:rPr>
              <a:t>known biases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2508840" y="2243520"/>
            <a:ext cx="173448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3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 they carry — position, length,</a:t>
            </a:r>
            <a:endParaRPr b="0" lang="en-IN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7" name="" descr=""/>
          <p:cNvPicPr/>
          <p:nvPr/>
        </p:nvPicPr>
        <p:blipFill>
          <a:blip r:embed="rId3"/>
          <a:stretch/>
        </p:blipFill>
        <p:spPr>
          <a:xfrm>
            <a:off x="4727520" y="1267920"/>
            <a:ext cx="4260600" cy="187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"/>
          <p:cNvSpPr/>
          <p:nvPr/>
        </p:nvSpPr>
        <p:spPr>
          <a:xfrm>
            <a:off x="4727160" y="1267920"/>
            <a:ext cx="4261680" cy="1874880"/>
          </a:xfrm>
          <a:custGeom>
            <a:avLst/>
            <a:gdLst/>
            <a:ahLst/>
            <a:rect l="0" t="0" r="r" b="b"/>
            <a:pathLst>
              <a:path w="11838" h="5208">
                <a:moveTo>
                  <a:pt x="635" y="561"/>
                </a:moveTo>
                <a:lnTo>
                  <a:pt x="635" y="4244"/>
                </a:lnTo>
                <a:cubicBezTo>
                  <a:pt x="635" y="4279"/>
                  <a:pt x="648" y="4310"/>
                  <a:pt x="672" y="4334"/>
                </a:cubicBezTo>
                <a:cubicBezTo>
                  <a:pt x="697" y="4359"/>
                  <a:pt x="727" y="4372"/>
                  <a:pt x="762" y="4372"/>
                </a:cubicBezTo>
                <a:lnTo>
                  <a:pt x="11076" y="4372"/>
                </a:lnTo>
                <a:cubicBezTo>
                  <a:pt x="11111" y="4372"/>
                  <a:pt x="11141" y="4359"/>
                  <a:pt x="11165" y="4334"/>
                </a:cubicBezTo>
                <a:cubicBezTo>
                  <a:pt x="11190" y="4310"/>
                  <a:pt x="11203" y="4279"/>
                  <a:pt x="11203" y="4244"/>
                </a:cubicBezTo>
                <a:lnTo>
                  <a:pt x="11203" y="561"/>
                </a:lnTo>
                <a:cubicBezTo>
                  <a:pt x="11203" y="525"/>
                  <a:pt x="11190" y="496"/>
                  <a:pt x="11165" y="471"/>
                </a:cubicBezTo>
                <a:cubicBezTo>
                  <a:pt x="11141" y="446"/>
                  <a:pt x="11111" y="434"/>
                  <a:pt x="11076" y="434"/>
                </a:cubicBezTo>
                <a:lnTo>
                  <a:pt x="762" y="434"/>
                </a:lnTo>
                <a:cubicBezTo>
                  <a:pt x="727" y="434"/>
                  <a:pt x="697" y="446"/>
                  <a:pt x="672" y="471"/>
                </a:cubicBezTo>
                <a:cubicBezTo>
                  <a:pt x="648" y="496"/>
                  <a:pt x="635" y="525"/>
                  <a:pt x="635" y="561"/>
                </a:cubicBezTo>
                <a:moveTo>
                  <a:pt x="0" y="0"/>
                </a:moveTo>
                <a:lnTo>
                  <a:pt x="11838" y="0"/>
                </a:lnTo>
                <a:lnTo>
                  <a:pt x="11838" y="5208"/>
                </a:lnTo>
                <a:lnTo>
                  <a:pt x="0" y="520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6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9" name="" descr=""/>
          <p:cNvPicPr/>
          <p:nvPr/>
        </p:nvPicPr>
        <p:blipFill>
          <a:blip r:embed="rId4"/>
          <a:stretch/>
        </p:blipFill>
        <p:spPr>
          <a:xfrm>
            <a:off x="4919400" y="1396080"/>
            <a:ext cx="3876840" cy="149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"/>
          <p:cNvSpPr/>
          <p:nvPr/>
        </p:nvSpPr>
        <p:spPr>
          <a:xfrm>
            <a:off x="4919400" y="1395720"/>
            <a:ext cx="3877200" cy="1490760"/>
          </a:xfrm>
          <a:custGeom>
            <a:avLst/>
            <a:gdLst/>
            <a:ahLst/>
            <a:rect l="0" t="0" r="r" b="b"/>
            <a:pathLst>
              <a:path w="10770" h="4141">
                <a:moveTo>
                  <a:pt x="101" y="206"/>
                </a:moveTo>
                <a:lnTo>
                  <a:pt x="101" y="3890"/>
                </a:lnTo>
                <a:cubicBezTo>
                  <a:pt x="101" y="3925"/>
                  <a:pt x="114" y="3955"/>
                  <a:pt x="138" y="3979"/>
                </a:cubicBezTo>
                <a:cubicBezTo>
                  <a:pt x="163" y="4004"/>
                  <a:pt x="193" y="4017"/>
                  <a:pt x="228" y="4017"/>
                </a:cubicBezTo>
                <a:lnTo>
                  <a:pt x="10542" y="4017"/>
                </a:lnTo>
                <a:cubicBezTo>
                  <a:pt x="10577" y="4017"/>
                  <a:pt x="10607" y="4004"/>
                  <a:pt x="10631" y="3979"/>
                </a:cubicBezTo>
                <a:cubicBezTo>
                  <a:pt x="10656" y="3955"/>
                  <a:pt x="10669" y="3925"/>
                  <a:pt x="10669" y="3890"/>
                </a:cubicBezTo>
                <a:lnTo>
                  <a:pt x="10669" y="206"/>
                </a:lnTo>
                <a:cubicBezTo>
                  <a:pt x="10669" y="170"/>
                  <a:pt x="10656" y="141"/>
                  <a:pt x="10631" y="116"/>
                </a:cubicBezTo>
                <a:cubicBezTo>
                  <a:pt x="10607" y="91"/>
                  <a:pt x="10577" y="79"/>
                  <a:pt x="10542" y="79"/>
                </a:cubicBezTo>
                <a:lnTo>
                  <a:pt x="228" y="79"/>
                </a:lnTo>
                <a:cubicBezTo>
                  <a:pt x="193" y="79"/>
                  <a:pt x="163" y="91"/>
                  <a:pt x="138" y="116"/>
                </a:cubicBezTo>
                <a:cubicBezTo>
                  <a:pt x="114" y="141"/>
                  <a:pt x="101" y="170"/>
                  <a:pt x="101" y="206"/>
                </a:cubicBezTo>
                <a:moveTo>
                  <a:pt x="0" y="0"/>
                </a:moveTo>
                <a:lnTo>
                  <a:pt x="10770" y="0"/>
                </a:lnTo>
                <a:lnTo>
                  <a:pt x="10770" y="4141"/>
                </a:lnTo>
                <a:lnTo>
                  <a:pt x="0" y="414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4965120" y="1419480"/>
            <a:ext cx="3799440" cy="1426680"/>
          </a:xfrm>
          <a:custGeom>
            <a:avLst/>
            <a:gdLst/>
            <a:ahLst/>
            <a:rect l="0" t="0" r="r" b="b"/>
            <a:pathLst>
              <a:path w="10554" h="3963">
                <a:moveTo>
                  <a:pt x="0" y="3824"/>
                </a:moveTo>
                <a:lnTo>
                  <a:pt x="0" y="140"/>
                </a:lnTo>
                <a:cubicBezTo>
                  <a:pt x="0" y="121"/>
                  <a:pt x="2" y="103"/>
                  <a:pt x="7" y="86"/>
                </a:cubicBezTo>
                <a:cubicBezTo>
                  <a:pt x="13" y="69"/>
                  <a:pt x="20" y="54"/>
                  <a:pt x="29" y="41"/>
                </a:cubicBezTo>
                <a:cubicBezTo>
                  <a:pt x="39" y="28"/>
                  <a:pt x="50" y="18"/>
                  <a:pt x="62" y="10"/>
                </a:cubicBezTo>
                <a:cubicBezTo>
                  <a:pt x="75" y="3"/>
                  <a:pt x="88" y="0"/>
                  <a:pt x="101" y="0"/>
                </a:cubicBezTo>
                <a:lnTo>
                  <a:pt x="10415" y="0"/>
                </a:lnTo>
                <a:cubicBezTo>
                  <a:pt x="10424" y="0"/>
                  <a:pt x="10433" y="1"/>
                  <a:pt x="10442" y="3"/>
                </a:cubicBezTo>
                <a:cubicBezTo>
                  <a:pt x="10451" y="4"/>
                  <a:pt x="10460" y="7"/>
                  <a:pt x="10468" y="10"/>
                </a:cubicBezTo>
                <a:cubicBezTo>
                  <a:pt x="10477" y="14"/>
                  <a:pt x="10485" y="18"/>
                  <a:pt x="10492" y="23"/>
                </a:cubicBezTo>
                <a:cubicBezTo>
                  <a:pt x="10500" y="28"/>
                  <a:pt x="10507" y="34"/>
                  <a:pt x="10513" y="41"/>
                </a:cubicBezTo>
                <a:cubicBezTo>
                  <a:pt x="10520" y="47"/>
                  <a:pt x="10526" y="54"/>
                  <a:pt x="10531" y="62"/>
                </a:cubicBezTo>
                <a:cubicBezTo>
                  <a:pt x="10536" y="70"/>
                  <a:pt x="10540" y="78"/>
                  <a:pt x="10544" y="86"/>
                </a:cubicBezTo>
                <a:cubicBezTo>
                  <a:pt x="10547" y="95"/>
                  <a:pt x="10550" y="103"/>
                  <a:pt x="10552" y="112"/>
                </a:cubicBezTo>
                <a:cubicBezTo>
                  <a:pt x="10554" y="121"/>
                  <a:pt x="10554" y="130"/>
                  <a:pt x="10554" y="140"/>
                </a:cubicBezTo>
                <a:lnTo>
                  <a:pt x="10554" y="3824"/>
                </a:lnTo>
                <a:cubicBezTo>
                  <a:pt x="10554" y="3833"/>
                  <a:pt x="10554" y="3842"/>
                  <a:pt x="10552" y="3851"/>
                </a:cubicBezTo>
                <a:cubicBezTo>
                  <a:pt x="10550" y="3860"/>
                  <a:pt x="10547" y="3869"/>
                  <a:pt x="10544" y="3877"/>
                </a:cubicBezTo>
                <a:cubicBezTo>
                  <a:pt x="10540" y="3885"/>
                  <a:pt x="10536" y="3894"/>
                  <a:pt x="10531" y="3901"/>
                </a:cubicBezTo>
                <a:cubicBezTo>
                  <a:pt x="10526" y="3909"/>
                  <a:pt x="10520" y="3916"/>
                  <a:pt x="10513" y="3922"/>
                </a:cubicBezTo>
                <a:cubicBezTo>
                  <a:pt x="10507" y="3929"/>
                  <a:pt x="10500" y="3935"/>
                  <a:pt x="10492" y="3940"/>
                </a:cubicBezTo>
                <a:cubicBezTo>
                  <a:pt x="10485" y="3945"/>
                  <a:pt x="10477" y="3949"/>
                  <a:pt x="10468" y="3953"/>
                </a:cubicBezTo>
                <a:cubicBezTo>
                  <a:pt x="10460" y="3956"/>
                  <a:pt x="10451" y="3959"/>
                  <a:pt x="10442" y="3961"/>
                </a:cubicBezTo>
                <a:cubicBezTo>
                  <a:pt x="10433" y="3962"/>
                  <a:pt x="10424" y="3963"/>
                  <a:pt x="10415" y="3963"/>
                </a:cubicBezTo>
                <a:lnTo>
                  <a:pt x="101" y="3963"/>
                </a:lnTo>
                <a:cubicBezTo>
                  <a:pt x="88" y="3963"/>
                  <a:pt x="75" y="3960"/>
                  <a:pt x="62" y="3953"/>
                </a:cubicBezTo>
                <a:cubicBezTo>
                  <a:pt x="50" y="3946"/>
                  <a:pt x="39" y="3935"/>
                  <a:pt x="29" y="3922"/>
                </a:cubicBezTo>
                <a:cubicBezTo>
                  <a:pt x="20" y="3909"/>
                  <a:pt x="13" y="3894"/>
                  <a:pt x="7" y="3877"/>
                </a:cubicBezTo>
                <a:cubicBezTo>
                  <a:pt x="2" y="3860"/>
                  <a:pt x="0" y="3842"/>
                  <a:pt x="0" y="382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4994640" y="1424160"/>
            <a:ext cx="3752640" cy="23040"/>
          </a:xfrm>
          <a:custGeom>
            <a:avLst/>
            <a:gdLst/>
            <a:ahLst/>
            <a:rect l="0" t="0" r="r" b="b"/>
            <a:pathLst>
              <a:path w="10424" h="64">
                <a:moveTo>
                  <a:pt x="10399" y="64"/>
                </a:moveTo>
                <a:lnTo>
                  <a:pt x="220" y="64"/>
                </a:lnTo>
                <a:lnTo>
                  <a:pt x="0" y="8"/>
                </a:lnTo>
                <a:cubicBezTo>
                  <a:pt x="6" y="2"/>
                  <a:pt x="13" y="0"/>
                  <a:pt x="19" y="0"/>
                </a:cubicBezTo>
                <a:lnTo>
                  <a:pt x="10333" y="0"/>
                </a:lnTo>
                <a:cubicBezTo>
                  <a:pt x="10368" y="0"/>
                  <a:pt x="10398" y="12"/>
                  <a:pt x="10422" y="37"/>
                </a:cubicBezTo>
                <a:cubicBezTo>
                  <a:pt x="10423" y="37"/>
                  <a:pt x="10423" y="38"/>
                  <a:pt x="10424" y="38"/>
                </a:cubicBezTo>
                <a:lnTo>
                  <a:pt x="10399" y="64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4994640" y="2818440"/>
            <a:ext cx="3752640" cy="23400"/>
          </a:xfrm>
          <a:custGeom>
            <a:avLst/>
            <a:gdLst/>
            <a:ahLst/>
            <a:rect l="0" t="0" r="r" b="b"/>
            <a:pathLst>
              <a:path w="10424" h="65">
                <a:moveTo>
                  <a:pt x="220" y="0"/>
                </a:moveTo>
                <a:lnTo>
                  <a:pt x="10399" y="0"/>
                </a:lnTo>
                <a:lnTo>
                  <a:pt x="10424" y="26"/>
                </a:lnTo>
                <a:cubicBezTo>
                  <a:pt x="10423" y="27"/>
                  <a:pt x="10423" y="27"/>
                  <a:pt x="10422" y="27"/>
                </a:cubicBezTo>
                <a:cubicBezTo>
                  <a:pt x="10398" y="52"/>
                  <a:pt x="10368" y="65"/>
                  <a:pt x="10333" y="65"/>
                </a:cubicBezTo>
                <a:lnTo>
                  <a:pt x="19" y="65"/>
                </a:lnTo>
                <a:cubicBezTo>
                  <a:pt x="13" y="65"/>
                  <a:pt x="6" y="62"/>
                  <a:pt x="0" y="56"/>
                </a:cubicBezTo>
                <a:lnTo>
                  <a:pt x="22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8736840" y="1437480"/>
            <a:ext cx="23400" cy="1390680"/>
          </a:xfrm>
          <a:custGeom>
            <a:avLst/>
            <a:gdLst/>
            <a:ahLst/>
            <a:rect l="0" t="0" r="r" b="b"/>
            <a:pathLst>
              <a:path w="65" h="3863">
                <a:moveTo>
                  <a:pt x="0" y="3837"/>
                </a:moveTo>
                <a:lnTo>
                  <a:pt x="0" y="26"/>
                </a:lnTo>
                <a:lnTo>
                  <a:pt x="27" y="0"/>
                </a:lnTo>
                <a:cubicBezTo>
                  <a:pt x="52" y="25"/>
                  <a:pt x="65" y="54"/>
                  <a:pt x="65" y="90"/>
                </a:cubicBezTo>
                <a:lnTo>
                  <a:pt x="65" y="3774"/>
                </a:lnTo>
                <a:cubicBezTo>
                  <a:pt x="65" y="3809"/>
                  <a:pt x="52" y="3839"/>
                  <a:pt x="27" y="3863"/>
                </a:cubicBezTo>
                <a:lnTo>
                  <a:pt x="0" y="3837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4983120" y="1427040"/>
            <a:ext cx="17280" cy="1411560"/>
          </a:xfrm>
          <a:custGeom>
            <a:avLst/>
            <a:gdLst/>
            <a:ahLst/>
            <a:rect l="0" t="0" r="r" b="b"/>
            <a:pathLst>
              <a:path w="48" h="3921">
                <a:moveTo>
                  <a:pt x="48" y="3"/>
                </a:moveTo>
                <a:lnTo>
                  <a:pt x="48" y="3918"/>
                </a:lnTo>
                <a:lnTo>
                  <a:pt x="34" y="3921"/>
                </a:lnTo>
                <a:cubicBezTo>
                  <a:pt x="28" y="3915"/>
                  <a:pt x="21" y="3906"/>
                  <a:pt x="15" y="3892"/>
                </a:cubicBezTo>
                <a:cubicBezTo>
                  <a:pt x="5" y="3868"/>
                  <a:pt x="0" y="3838"/>
                  <a:pt x="0" y="3803"/>
                </a:cubicBezTo>
                <a:lnTo>
                  <a:pt x="0" y="119"/>
                </a:lnTo>
                <a:cubicBezTo>
                  <a:pt x="0" y="83"/>
                  <a:pt x="5" y="54"/>
                  <a:pt x="15" y="29"/>
                </a:cubicBezTo>
                <a:cubicBezTo>
                  <a:pt x="21" y="16"/>
                  <a:pt x="28" y="6"/>
                  <a:pt x="34" y="0"/>
                </a:cubicBezTo>
                <a:lnTo>
                  <a:pt x="48" y="3"/>
                </a:lnTo>
                <a:close/>
              </a:path>
            </a:pathLst>
          </a:custGeom>
          <a:solidFill>
            <a:srgbClr val="8b15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1173960" y="2453760"/>
            <a:ext cx="91116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3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self-preference.</a:t>
            </a:r>
            <a:endParaRPr b="0" lang="en-IN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5192280" y="1613160"/>
            <a:ext cx="190008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81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M E M O R Y - A U G M E N T E D</a:t>
            </a:r>
            <a:endParaRPr b="0" lang="en-IN" sz="8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5192280" y="1740600"/>
            <a:ext cx="1849320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440" strike="noStrike" u="none">
                <a:solidFill>
                  <a:srgbClr val="0a0a0a"/>
                </a:solidFill>
                <a:effectLst/>
                <a:uFillTx/>
                <a:latin typeface="Fraunces-Regular_opsz140000_wght2580000"/>
                <a:ea typeface="Fraunces-Regular_opsz140000_wght2580000"/>
              </a:rPr>
              <a:t>Models with state.</a:t>
            </a:r>
            <a:endParaRPr b="0" lang="en-IN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5192280" y="2042280"/>
            <a:ext cx="284148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3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RAG · MemGPT · Reflexion · Generative Agents.</a:t>
            </a:r>
            <a:endParaRPr b="0" lang="en-IN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5192280" y="2243520"/>
            <a:ext cx="196740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3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None of them study memory as a </a:t>
            </a:r>
            <a:endParaRPr b="0" lang="en-IN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7261920" y="2243520"/>
            <a:ext cx="92052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8b1538"/>
                </a:solidFill>
                <a:effectLst/>
                <a:uFillTx/>
                <a:latin typeface="Inter"/>
                <a:ea typeface="Inter"/>
              </a:rPr>
              <a:t>leakage source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2" name="" descr=""/>
          <p:cNvPicPr/>
          <p:nvPr/>
        </p:nvPicPr>
        <p:blipFill>
          <a:blip r:embed="rId5"/>
          <a:stretch/>
        </p:blipFill>
        <p:spPr>
          <a:xfrm>
            <a:off x="8750880" y="1267920"/>
            <a:ext cx="4251600" cy="187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"/>
          <p:cNvSpPr/>
          <p:nvPr/>
        </p:nvSpPr>
        <p:spPr>
          <a:xfrm>
            <a:off x="8750520" y="1267920"/>
            <a:ext cx="4252320" cy="1874880"/>
          </a:xfrm>
          <a:custGeom>
            <a:avLst/>
            <a:gdLst/>
            <a:ahLst/>
            <a:rect l="0" t="0" r="r" b="b"/>
            <a:pathLst>
              <a:path w="11812" h="5208">
                <a:moveTo>
                  <a:pt x="635" y="561"/>
                </a:moveTo>
                <a:lnTo>
                  <a:pt x="635" y="4244"/>
                </a:lnTo>
                <a:cubicBezTo>
                  <a:pt x="635" y="4279"/>
                  <a:pt x="648" y="4310"/>
                  <a:pt x="672" y="4334"/>
                </a:cubicBezTo>
                <a:cubicBezTo>
                  <a:pt x="697" y="4359"/>
                  <a:pt x="727" y="4372"/>
                  <a:pt x="762" y="4372"/>
                </a:cubicBezTo>
                <a:lnTo>
                  <a:pt x="11050" y="4372"/>
                </a:lnTo>
                <a:cubicBezTo>
                  <a:pt x="11085" y="4372"/>
                  <a:pt x="11115" y="4359"/>
                  <a:pt x="11140" y="4334"/>
                </a:cubicBezTo>
                <a:cubicBezTo>
                  <a:pt x="11165" y="4310"/>
                  <a:pt x="11177" y="4279"/>
                  <a:pt x="11177" y="4244"/>
                </a:cubicBezTo>
                <a:lnTo>
                  <a:pt x="11177" y="561"/>
                </a:lnTo>
                <a:cubicBezTo>
                  <a:pt x="11177" y="525"/>
                  <a:pt x="11165" y="496"/>
                  <a:pt x="11140" y="471"/>
                </a:cubicBezTo>
                <a:cubicBezTo>
                  <a:pt x="11115" y="446"/>
                  <a:pt x="11085" y="434"/>
                  <a:pt x="11050" y="434"/>
                </a:cubicBezTo>
                <a:lnTo>
                  <a:pt x="762" y="434"/>
                </a:lnTo>
                <a:cubicBezTo>
                  <a:pt x="727" y="434"/>
                  <a:pt x="697" y="446"/>
                  <a:pt x="672" y="471"/>
                </a:cubicBezTo>
                <a:cubicBezTo>
                  <a:pt x="648" y="496"/>
                  <a:pt x="635" y="525"/>
                  <a:pt x="635" y="561"/>
                </a:cubicBezTo>
                <a:moveTo>
                  <a:pt x="0" y="0"/>
                </a:moveTo>
                <a:lnTo>
                  <a:pt x="11812" y="0"/>
                </a:lnTo>
                <a:lnTo>
                  <a:pt x="11812" y="5208"/>
                </a:lnTo>
                <a:lnTo>
                  <a:pt x="0" y="520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6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64" name="" descr=""/>
          <p:cNvPicPr/>
          <p:nvPr/>
        </p:nvPicPr>
        <p:blipFill>
          <a:blip r:embed="rId6"/>
          <a:stretch/>
        </p:blipFill>
        <p:spPr>
          <a:xfrm>
            <a:off x="8942760" y="1396080"/>
            <a:ext cx="3867480" cy="149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8942760" y="1395720"/>
            <a:ext cx="3868200" cy="1490760"/>
          </a:xfrm>
          <a:custGeom>
            <a:avLst/>
            <a:gdLst/>
            <a:ahLst/>
            <a:rect l="0" t="0" r="r" b="b"/>
            <a:pathLst>
              <a:path w="10745" h="4141">
                <a:moveTo>
                  <a:pt x="101" y="206"/>
                </a:moveTo>
                <a:lnTo>
                  <a:pt x="101" y="3890"/>
                </a:lnTo>
                <a:cubicBezTo>
                  <a:pt x="101" y="3925"/>
                  <a:pt x="114" y="3955"/>
                  <a:pt x="138" y="3979"/>
                </a:cubicBezTo>
                <a:cubicBezTo>
                  <a:pt x="163" y="4004"/>
                  <a:pt x="193" y="4017"/>
                  <a:pt x="228" y="4017"/>
                </a:cubicBezTo>
                <a:lnTo>
                  <a:pt x="10516" y="4017"/>
                </a:lnTo>
                <a:cubicBezTo>
                  <a:pt x="10551" y="4017"/>
                  <a:pt x="10581" y="4004"/>
                  <a:pt x="10606" y="3979"/>
                </a:cubicBezTo>
                <a:cubicBezTo>
                  <a:pt x="10631" y="3955"/>
                  <a:pt x="10643" y="3925"/>
                  <a:pt x="10643" y="3890"/>
                </a:cubicBezTo>
                <a:lnTo>
                  <a:pt x="10643" y="206"/>
                </a:lnTo>
                <a:cubicBezTo>
                  <a:pt x="10643" y="170"/>
                  <a:pt x="10631" y="141"/>
                  <a:pt x="10606" y="116"/>
                </a:cubicBezTo>
                <a:cubicBezTo>
                  <a:pt x="10581" y="91"/>
                  <a:pt x="10551" y="79"/>
                  <a:pt x="10516" y="79"/>
                </a:cubicBezTo>
                <a:lnTo>
                  <a:pt x="228" y="79"/>
                </a:lnTo>
                <a:cubicBezTo>
                  <a:pt x="193" y="79"/>
                  <a:pt x="163" y="91"/>
                  <a:pt x="138" y="116"/>
                </a:cubicBezTo>
                <a:cubicBezTo>
                  <a:pt x="114" y="141"/>
                  <a:pt x="101" y="170"/>
                  <a:pt x="101" y="206"/>
                </a:cubicBezTo>
                <a:moveTo>
                  <a:pt x="0" y="0"/>
                </a:moveTo>
                <a:lnTo>
                  <a:pt x="10745" y="0"/>
                </a:lnTo>
                <a:lnTo>
                  <a:pt x="10745" y="4141"/>
                </a:lnTo>
                <a:lnTo>
                  <a:pt x="0" y="414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8988480" y="1419480"/>
            <a:ext cx="3790440" cy="1426680"/>
          </a:xfrm>
          <a:custGeom>
            <a:avLst/>
            <a:gdLst/>
            <a:ahLst/>
            <a:rect l="0" t="0" r="r" b="b"/>
            <a:pathLst>
              <a:path w="10529" h="3963">
                <a:moveTo>
                  <a:pt x="0" y="3824"/>
                </a:moveTo>
                <a:lnTo>
                  <a:pt x="0" y="140"/>
                </a:lnTo>
                <a:cubicBezTo>
                  <a:pt x="0" y="121"/>
                  <a:pt x="2" y="103"/>
                  <a:pt x="7" y="86"/>
                </a:cubicBezTo>
                <a:cubicBezTo>
                  <a:pt x="13" y="69"/>
                  <a:pt x="20" y="54"/>
                  <a:pt x="29" y="41"/>
                </a:cubicBezTo>
                <a:cubicBezTo>
                  <a:pt x="39" y="28"/>
                  <a:pt x="50" y="18"/>
                  <a:pt x="62" y="10"/>
                </a:cubicBezTo>
                <a:cubicBezTo>
                  <a:pt x="75" y="3"/>
                  <a:pt x="88" y="0"/>
                  <a:pt x="101" y="0"/>
                </a:cubicBezTo>
                <a:lnTo>
                  <a:pt x="10389" y="0"/>
                </a:lnTo>
                <a:cubicBezTo>
                  <a:pt x="10398" y="0"/>
                  <a:pt x="10408" y="1"/>
                  <a:pt x="10417" y="3"/>
                </a:cubicBezTo>
                <a:cubicBezTo>
                  <a:pt x="10426" y="4"/>
                  <a:pt x="10434" y="7"/>
                  <a:pt x="10443" y="10"/>
                </a:cubicBezTo>
                <a:cubicBezTo>
                  <a:pt x="10451" y="14"/>
                  <a:pt x="10459" y="18"/>
                  <a:pt x="10467" y="23"/>
                </a:cubicBezTo>
                <a:cubicBezTo>
                  <a:pt x="10475" y="28"/>
                  <a:pt x="10482" y="34"/>
                  <a:pt x="10488" y="41"/>
                </a:cubicBezTo>
                <a:cubicBezTo>
                  <a:pt x="10495" y="47"/>
                  <a:pt x="10500" y="54"/>
                  <a:pt x="10505" y="62"/>
                </a:cubicBezTo>
                <a:cubicBezTo>
                  <a:pt x="10511" y="70"/>
                  <a:pt x="10515" y="78"/>
                  <a:pt x="10518" y="86"/>
                </a:cubicBezTo>
                <a:cubicBezTo>
                  <a:pt x="10522" y="95"/>
                  <a:pt x="10525" y="103"/>
                  <a:pt x="10526" y="112"/>
                </a:cubicBezTo>
                <a:cubicBezTo>
                  <a:pt x="10528" y="121"/>
                  <a:pt x="10529" y="130"/>
                  <a:pt x="10529" y="140"/>
                </a:cubicBezTo>
                <a:lnTo>
                  <a:pt x="10529" y="3824"/>
                </a:lnTo>
                <a:cubicBezTo>
                  <a:pt x="10529" y="3833"/>
                  <a:pt x="10528" y="3842"/>
                  <a:pt x="10526" y="3851"/>
                </a:cubicBezTo>
                <a:cubicBezTo>
                  <a:pt x="10525" y="3860"/>
                  <a:pt x="10522" y="3869"/>
                  <a:pt x="10518" y="3877"/>
                </a:cubicBezTo>
                <a:cubicBezTo>
                  <a:pt x="10515" y="3885"/>
                  <a:pt x="10511" y="3894"/>
                  <a:pt x="10505" y="3901"/>
                </a:cubicBezTo>
                <a:cubicBezTo>
                  <a:pt x="10500" y="3909"/>
                  <a:pt x="10495" y="3916"/>
                  <a:pt x="10488" y="3922"/>
                </a:cubicBezTo>
                <a:cubicBezTo>
                  <a:pt x="10482" y="3929"/>
                  <a:pt x="10475" y="3935"/>
                  <a:pt x="10467" y="3940"/>
                </a:cubicBezTo>
                <a:cubicBezTo>
                  <a:pt x="10459" y="3945"/>
                  <a:pt x="10451" y="3949"/>
                  <a:pt x="10443" y="3953"/>
                </a:cubicBezTo>
                <a:cubicBezTo>
                  <a:pt x="10434" y="3956"/>
                  <a:pt x="10426" y="3959"/>
                  <a:pt x="10417" y="3961"/>
                </a:cubicBezTo>
                <a:cubicBezTo>
                  <a:pt x="10408" y="3962"/>
                  <a:pt x="10398" y="3963"/>
                  <a:pt x="10389" y="3963"/>
                </a:cubicBezTo>
                <a:lnTo>
                  <a:pt x="101" y="3963"/>
                </a:lnTo>
                <a:cubicBezTo>
                  <a:pt x="88" y="3963"/>
                  <a:pt x="75" y="3960"/>
                  <a:pt x="62" y="3953"/>
                </a:cubicBezTo>
                <a:cubicBezTo>
                  <a:pt x="50" y="3946"/>
                  <a:pt x="39" y="3935"/>
                  <a:pt x="29" y="3922"/>
                </a:cubicBezTo>
                <a:cubicBezTo>
                  <a:pt x="20" y="3909"/>
                  <a:pt x="13" y="3894"/>
                  <a:pt x="7" y="3877"/>
                </a:cubicBezTo>
                <a:cubicBezTo>
                  <a:pt x="2" y="3860"/>
                  <a:pt x="0" y="3842"/>
                  <a:pt x="0" y="382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9018000" y="1424160"/>
            <a:ext cx="3743280" cy="23040"/>
          </a:xfrm>
          <a:custGeom>
            <a:avLst/>
            <a:gdLst/>
            <a:ahLst/>
            <a:rect l="0" t="0" r="r" b="b"/>
            <a:pathLst>
              <a:path w="10398" h="64">
                <a:moveTo>
                  <a:pt x="10373" y="64"/>
                </a:moveTo>
                <a:lnTo>
                  <a:pt x="220" y="64"/>
                </a:lnTo>
                <a:lnTo>
                  <a:pt x="0" y="8"/>
                </a:lnTo>
                <a:cubicBezTo>
                  <a:pt x="6" y="2"/>
                  <a:pt x="13" y="0"/>
                  <a:pt x="19" y="0"/>
                </a:cubicBezTo>
                <a:lnTo>
                  <a:pt x="10307" y="0"/>
                </a:lnTo>
                <a:cubicBezTo>
                  <a:pt x="10342" y="0"/>
                  <a:pt x="10372" y="12"/>
                  <a:pt x="10397" y="37"/>
                </a:cubicBezTo>
                <a:cubicBezTo>
                  <a:pt x="10398" y="37"/>
                  <a:pt x="10398" y="38"/>
                  <a:pt x="10398" y="38"/>
                </a:cubicBezTo>
                <a:lnTo>
                  <a:pt x="10373" y="64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9018000" y="2818440"/>
            <a:ext cx="3743280" cy="23400"/>
          </a:xfrm>
          <a:custGeom>
            <a:avLst/>
            <a:gdLst/>
            <a:ahLst/>
            <a:rect l="0" t="0" r="r" b="b"/>
            <a:pathLst>
              <a:path w="10398" h="65">
                <a:moveTo>
                  <a:pt x="220" y="0"/>
                </a:moveTo>
                <a:lnTo>
                  <a:pt x="10373" y="0"/>
                </a:lnTo>
                <a:lnTo>
                  <a:pt x="10398" y="26"/>
                </a:lnTo>
                <a:cubicBezTo>
                  <a:pt x="10398" y="27"/>
                  <a:pt x="10398" y="27"/>
                  <a:pt x="10397" y="27"/>
                </a:cubicBezTo>
                <a:cubicBezTo>
                  <a:pt x="10372" y="52"/>
                  <a:pt x="10342" y="65"/>
                  <a:pt x="10307" y="65"/>
                </a:cubicBezTo>
                <a:lnTo>
                  <a:pt x="19" y="65"/>
                </a:lnTo>
                <a:cubicBezTo>
                  <a:pt x="13" y="65"/>
                  <a:pt x="6" y="62"/>
                  <a:pt x="0" y="56"/>
                </a:cubicBezTo>
                <a:lnTo>
                  <a:pt x="22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12751200" y="1437480"/>
            <a:ext cx="23040" cy="1390680"/>
          </a:xfrm>
          <a:custGeom>
            <a:avLst/>
            <a:gdLst/>
            <a:ahLst/>
            <a:rect l="0" t="0" r="r" b="b"/>
            <a:pathLst>
              <a:path w="64" h="3863">
                <a:moveTo>
                  <a:pt x="0" y="3837"/>
                </a:moveTo>
                <a:lnTo>
                  <a:pt x="0" y="26"/>
                </a:lnTo>
                <a:lnTo>
                  <a:pt x="27" y="0"/>
                </a:lnTo>
                <a:cubicBezTo>
                  <a:pt x="52" y="25"/>
                  <a:pt x="64" y="54"/>
                  <a:pt x="64" y="90"/>
                </a:cubicBezTo>
                <a:lnTo>
                  <a:pt x="64" y="3774"/>
                </a:lnTo>
                <a:cubicBezTo>
                  <a:pt x="64" y="3809"/>
                  <a:pt x="52" y="3839"/>
                  <a:pt x="27" y="3863"/>
                </a:cubicBezTo>
                <a:lnTo>
                  <a:pt x="0" y="3837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9006480" y="1427040"/>
            <a:ext cx="17280" cy="1411560"/>
          </a:xfrm>
          <a:custGeom>
            <a:avLst/>
            <a:gdLst/>
            <a:ahLst/>
            <a:rect l="0" t="0" r="r" b="b"/>
            <a:pathLst>
              <a:path w="48" h="3921">
                <a:moveTo>
                  <a:pt x="48" y="3"/>
                </a:moveTo>
                <a:lnTo>
                  <a:pt x="48" y="3918"/>
                </a:lnTo>
                <a:lnTo>
                  <a:pt x="34" y="3921"/>
                </a:lnTo>
                <a:cubicBezTo>
                  <a:pt x="27" y="3915"/>
                  <a:pt x="21" y="3906"/>
                  <a:pt x="15" y="3892"/>
                </a:cubicBezTo>
                <a:cubicBezTo>
                  <a:pt x="5" y="3868"/>
                  <a:pt x="0" y="3838"/>
                  <a:pt x="0" y="3803"/>
                </a:cubicBezTo>
                <a:lnTo>
                  <a:pt x="0" y="119"/>
                </a:lnTo>
                <a:cubicBezTo>
                  <a:pt x="0" y="83"/>
                  <a:pt x="5" y="54"/>
                  <a:pt x="15" y="29"/>
                </a:cubicBezTo>
                <a:cubicBezTo>
                  <a:pt x="21" y="16"/>
                  <a:pt x="27" y="6"/>
                  <a:pt x="34" y="0"/>
                </a:cubicBezTo>
                <a:lnTo>
                  <a:pt x="48" y="3"/>
                </a:lnTo>
                <a:close/>
              </a:path>
            </a:pathLst>
          </a:custGeom>
          <a:solidFill>
            <a:srgbClr val="8b15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8156880" y="2243520"/>
            <a:ext cx="13140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3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.</a:t>
            </a:r>
            <a:endParaRPr b="0" lang="en-IN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9210960" y="1613160"/>
            <a:ext cx="116496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81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EVALUATION VALIDITY</a:t>
            </a:r>
            <a:endParaRPr b="0" lang="en-IN" sz="8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9210960" y="1740600"/>
            <a:ext cx="1596240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440" strike="noStrike" u="none">
                <a:solidFill>
                  <a:srgbClr val="0a0a0a"/>
                </a:solidFill>
                <a:effectLst/>
                <a:uFillTx/>
                <a:latin typeface="Fraunces-Regular_opsz140000_wght2580000"/>
                <a:ea typeface="Fraunces-Regular_opsz140000_wght2580000"/>
              </a:rPr>
              <a:t>Leakage is real.</a:t>
            </a:r>
            <a:endParaRPr b="0" lang="en-IN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9210960" y="2042280"/>
            <a:ext cx="179280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3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Balloccu et al. · PoisonedRAG.</a:t>
            </a:r>
            <a:endParaRPr b="0" lang="en-IN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9210960" y="2243520"/>
            <a:ext cx="131940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3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Contamination silently </a:t>
            </a:r>
            <a:endParaRPr b="0" lang="en-IN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0598400" y="2243520"/>
            <a:ext cx="43056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8b1538"/>
                </a:solidFill>
                <a:effectLst/>
                <a:uFillTx/>
                <a:latin typeface="Inter"/>
                <a:ea typeface="Inter"/>
              </a:rPr>
              <a:t>inflates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11003760" y="2243520"/>
            <a:ext cx="98424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3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 reported scores.</a:t>
            </a:r>
            <a:endParaRPr b="0" lang="en-IN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685800" y="8312040"/>
            <a:ext cx="2566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MEMORY-ASSISTED LLM AS A JUDGE VIA KNOWLEDGE GRAPHS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11460960" y="8312040"/>
            <a:ext cx="13086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2 / 36  ·  K. PATEL · 2026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273960" y="171360"/>
            <a:ext cx="13167720" cy="8229960"/>
          </a:xfrm>
          <a:custGeom>
            <a:avLst/>
            <a:gdLst/>
            <a:ahLst/>
            <a:rect l="0" t="0" r="r" b="b"/>
            <a:pathLst>
              <a:path w="36577" h="22861">
                <a:moveTo>
                  <a:pt x="0" y="0"/>
                </a:moveTo>
                <a:lnTo>
                  <a:pt x="36577" y="0"/>
                </a:lnTo>
                <a:lnTo>
                  <a:pt x="36577" y="22861"/>
                </a:lnTo>
                <a:lnTo>
                  <a:pt x="0" y="22861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932760" y="579960"/>
            <a:ext cx="225036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PROPOSED SOLUTION · MOTIVATION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932760" y="802080"/>
            <a:ext cx="705060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2760" strike="noStrike" u="none">
                <a:solidFill>
                  <a:srgbClr val="0a0a0a"/>
                </a:solidFill>
                <a:effectLst/>
                <a:uFillTx/>
                <a:latin typeface="Fraunces-Regular_opsz266666_wght2580000"/>
                <a:ea typeface="Fraunces-Regular_opsz266666_wght2580000"/>
              </a:rPr>
              <a:t>LLMs are now graded by other LLMs.</a:t>
            </a:r>
            <a:endParaRPr b="0" lang="en-IN" sz="27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932760" y="1695600"/>
            <a:ext cx="244800" cy="154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USE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1352160" y="1518840"/>
            <a:ext cx="418428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2130" strike="noStrike" u="none">
                <a:solidFill>
                  <a:srgbClr val="0a0a0a"/>
                </a:solidFill>
                <a:effectLst/>
                <a:uFillTx/>
                <a:latin typeface="Fraunces-Regular_opsz1D9999_wght1900000"/>
                <a:ea typeface="Fraunces-Regular_opsz1D9999_wght1900000"/>
              </a:rPr>
              <a:t>Ranking chatbots. Scoring agents. </a:t>
            </a:r>
            <a:endParaRPr b="0" lang="en-IN" sz="2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5641920" y="1518840"/>
            <a:ext cx="1984680" cy="37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2190" strike="noStrike" u="none">
                <a:solidFill>
                  <a:srgbClr val="8b1538"/>
                </a:solidFill>
                <a:effectLst/>
                <a:uFillTx/>
                <a:latin typeface="Fraunces-Regular_opsz1D9999_wght1900000"/>
                <a:ea typeface="Fraunces-Regular_opsz1D9999_wght1900000"/>
              </a:rPr>
              <a:t>Reward signals.</a:t>
            </a:r>
            <a:endParaRPr b="0" lang="en-IN" sz="21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932760" y="2289960"/>
            <a:ext cx="570600" cy="154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PROBLEM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1731240" y="2113200"/>
            <a:ext cx="602820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2130" strike="noStrike" u="none">
                <a:solidFill>
                  <a:srgbClr val="0a0a0a"/>
                </a:solidFill>
                <a:effectLst/>
                <a:uFillTx/>
                <a:latin typeface="Fraunces-Regular_opsz1D9999_wght1900000"/>
                <a:ea typeface="Fraunces-Regular_opsz1D9999_wght1900000"/>
              </a:rPr>
              <a:t>Stateless judges have no consistency mechanism.</a:t>
            </a:r>
            <a:endParaRPr b="0" lang="en-IN" sz="2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932760" y="2884320"/>
            <a:ext cx="326160" cy="154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IDEA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1447200" y="2707560"/>
            <a:ext cx="204012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2130" strike="noStrike" u="none">
                <a:solidFill>
                  <a:srgbClr val="0a0a0a"/>
                </a:solidFill>
                <a:effectLst/>
                <a:uFillTx/>
                <a:latin typeface="Fraunces-Regular_opsz1D9999_wght1900000"/>
                <a:ea typeface="Fraunces-Regular_opsz1D9999_wght1900000"/>
              </a:rPr>
              <a:t>Give the judge a </a:t>
            </a:r>
            <a:endParaRPr b="0" lang="en-IN" sz="2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3528360" y="2707560"/>
            <a:ext cx="2294640" cy="37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2190" strike="noStrike" u="none">
                <a:solidFill>
                  <a:srgbClr val="8b1538"/>
                </a:solidFill>
                <a:effectLst/>
                <a:uFillTx/>
                <a:latin typeface="Fraunces-Regular_opsz1D9999_wght1900000"/>
                <a:ea typeface="Fraunces-Regular_opsz1D9999_wght1900000"/>
              </a:rPr>
              <a:t>persistent memory</a:t>
            </a:r>
            <a:endParaRPr b="0" lang="en-IN" sz="21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5792760" y="2707560"/>
            <a:ext cx="240012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2130" strike="noStrike" u="none">
                <a:solidFill>
                  <a:srgbClr val="0a0a0a"/>
                </a:solidFill>
                <a:effectLst/>
                <a:uFillTx/>
                <a:latin typeface="Fraunces-Regular_opsz1D9999_wght1900000"/>
                <a:ea typeface="Fraunces-Regular_opsz1D9999_wght1900000"/>
              </a:rPr>
              <a:t> of past evaluations.</a:t>
            </a:r>
            <a:endParaRPr b="0" lang="en-IN" sz="2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685800" y="8312040"/>
            <a:ext cx="2566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MEMORY-ASSISTED LLM AS A JUDGE VIA KNOWLEDGE GRAPHS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11460960" y="8312040"/>
            <a:ext cx="13086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3 / 36  ·  K. PATEL · 2026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273960" y="171360"/>
            <a:ext cx="13167720" cy="8229960"/>
          </a:xfrm>
          <a:custGeom>
            <a:avLst/>
            <a:gdLst/>
            <a:ahLst/>
            <a:rect l="0" t="0" r="r" b="b"/>
            <a:pathLst>
              <a:path w="36577" h="22861">
                <a:moveTo>
                  <a:pt x="0" y="0"/>
                </a:moveTo>
                <a:lnTo>
                  <a:pt x="36577" y="0"/>
                </a:lnTo>
                <a:lnTo>
                  <a:pt x="36577" y="22861"/>
                </a:lnTo>
                <a:lnTo>
                  <a:pt x="0" y="22861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932760" y="579960"/>
            <a:ext cx="255060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PROPOSED SOLUTION · BUILD #1 · MAJ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941760" y="1542960"/>
            <a:ext cx="3785760" cy="1253160"/>
          </a:xfrm>
          <a:custGeom>
            <a:avLst/>
            <a:gdLst/>
            <a:ahLst/>
            <a:rect l="0" t="0" r="r" b="b"/>
            <a:pathLst>
              <a:path w="10516" h="3481">
                <a:moveTo>
                  <a:pt x="0" y="1982"/>
                </a:moveTo>
                <a:lnTo>
                  <a:pt x="0" y="1499"/>
                </a:lnTo>
                <a:cubicBezTo>
                  <a:pt x="0" y="1450"/>
                  <a:pt x="2" y="1401"/>
                  <a:pt x="7" y="1352"/>
                </a:cubicBezTo>
                <a:cubicBezTo>
                  <a:pt x="12" y="1304"/>
                  <a:pt x="19" y="1255"/>
                  <a:pt x="28" y="1207"/>
                </a:cubicBezTo>
                <a:cubicBezTo>
                  <a:pt x="38" y="1159"/>
                  <a:pt x="50" y="1111"/>
                  <a:pt x="64" y="1064"/>
                </a:cubicBezTo>
                <a:cubicBezTo>
                  <a:pt x="78" y="1017"/>
                  <a:pt x="95" y="971"/>
                  <a:pt x="114" y="925"/>
                </a:cubicBezTo>
                <a:cubicBezTo>
                  <a:pt x="133" y="880"/>
                  <a:pt x="154" y="835"/>
                  <a:pt x="177" y="792"/>
                </a:cubicBezTo>
                <a:cubicBezTo>
                  <a:pt x="200" y="749"/>
                  <a:pt x="225" y="707"/>
                  <a:pt x="252" y="666"/>
                </a:cubicBezTo>
                <a:cubicBezTo>
                  <a:pt x="280" y="625"/>
                  <a:pt x="309" y="586"/>
                  <a:pt x="340" y="548"/>
                </a:cubicBezTo>
                <a:cubicBezTo>
                  <a:pt x="371" y="510"/>
                  <a:pt x="404" y="473"/>
                  <a:pt x="439" y="439"/>
                </a:cubicBezTo>
                <a:cubicBezTo>
                  <a:pt x="473" y="404"/>
                  <a:pt x="510" y="371"/>
                  <a:pt x="548" y="340"/>
                </a:cubicBezTo>
                <a:cubicBezTo>
                  <a:pt x="586" y="309"/>
                  <a:pt x="625" y="280"/>
                  <a:pt x="666" y="252"/>
                </a:cubicBezTo>
                <a:cubicBezTo>
                  <a:pt x="707" y="225"/>
                  <a:pt x="749" y="200"/>
                  <a:pt x="792" y="177"/>
                </a:cubicBezTo>
                <a:cubicBezTo>
                  <a:pt x="835" y="154"/>
                  <a:pt x="879" y="133"/>
                  <a:pt x="925" y="114"/>
                </a:cubicBezTo>
                <a:cubicBezTo>
                  <a:pt x="970" y="95"/>
                  <a:pt x="1016" y="79"/>
                  <a:pt x="1063" y="64"/>
                </a:cubicBezTo>
                <a:cubicBezTo>
                  <a:pt x="1110" y="50"/>
                  <a:pt x="1158" y="38"/>
                  <a:pt x="1206" y="29"/>
                </a:cubicBezTo>
                <a:cubicBezTo>
                  <a:pt x="1254" y="19"/>
                  <a:pt x="1303" y="12"/>
                  <a:pt x="1351" y="7"/>
                </a:cubicBezTo>
                <a:cubicBezTo>
                  <a:pt x="1400" y="2"/>
                  <a:pt x="1449" y="0"/>
                  <a:pt x="1498" y="0"/>
                </a:cubicBezTo>
                <a:lnTo>
                  <a:pt x="9018" y="0"/>
                </a:lnTo>
                <a:cubicBezTo>
                  <a:pt x="9067" y="0"/>
                  <a:pt x="9116" y="2"/>
                  <a:pt x="9165" y="7"/>
                </a:cubicBezTo>
                <a:cubicBezTo>
                  <a:pt x="9213" y="12"/>
                  <a:pt x="9262" y="19"/>
                  <a:pt x="9310" y="29"/>
                </a:cubicBezTo>
                <a:cubicBezTo>
                  <a:pt x="9358" y="38"/>
                  <a:pt x="9406" y="50"/>
                  <a:pt x="9453" y="64"/>
                </a:cubicBezTo>
                <a:cubicBezTo>
                  <a:pt x="9500" y="79"/>
                  <a:pt x="9546" y="95"/>
                  <a:pt x="9591" y="114"/>
                </a:cubicBezTo>
                <a:cubicBezTo>
                  <a:pt x="9637" y="133"/>
                  <a:pt x="9681" y="154"/>
                  <a:pt x="9724" y="177"/>
                </a:cubicBezTo>
                <a:cubicBezTo>
                  <a:pt x="9767" y="200"/>
                  <a:pt x="9809" y="225"/>
                  <a:pt x="9850" y="252"/>
                </a:cubicBezTo>
                <a:cubicBezTo>
                  <a:pt x="9891" y="280"/>
                  <a:pt x="9930" y="309"/>
                  <a:pt x="9968" y="340"/>
                </a:cubicBezTo>
                <a:cubicBezTo>
                  <a:pt x="10006" y="371"/>
                  <a:pt x="10043" y="404"/>
                  <a:pt x="10077" y="439"/>
                </a:cubicBezTo>
                <a:cubicBezTo>
                  <a:pt x="10112" y="473"/>
                  <a:pt x="10145" y="510"/>
                  <a:pt x="10176" y="548"/>
                </a:cubicBezTo>
                <a:cubicBezTo>
                  <a:pt x="10207" y="586"/>
                  <a:pt x="10236" y="625"/>
                  <a:pt x="10264" y="666"/>
                </a:cubicBezTo>
                <a:cubicBezTo>
                  <a:pt x="10291" y="707"/>
                  <a:pt x="10316" y="749"/>
                  <a:pt x="10339" y="792"/>
                </a:cubicBezTo>
                <a:cubicBezTo>
                  <a:pt x="10362" y="835"/>
                  <a:pt x="10383" y="880"/>
                  <a:pt x="10402" y="925"/>
                </a:cubicBezTo>
                <a:cubicBezTo>
                  <a:pt x="10421" y="971"/>
                  <a:pt x="10438" y="1017"/>
                  <a:pt x="10452" y="1064"/>
                </a:cubicBezTo>
                <a:cubicBezTo>
                  <a:pt x="10466" y="1111"/>
                  <a:pt x="10478" y="1159"/>
                  <a:pt x="10488" y="1207"/>
                </a:cubicBezTo>
                <a:cubicBezTo>
                  <a:pt x="10497" y="1255"/>
                  <a:pt x="10504" y="1304"/>
                  <a:pt x="10509" y="1352"/>
                </a:cubicBezTo>
                <a:cubicBezTo>
                  <a:pt x="10514" y="1401"/>
                  <a:pt x="10516" y="1450"/>
                  <a:pt x="10516" y="1499"/>
                </a:cubicBezTo>
                <a:lnTo>
                  <a:pt x="10516" y="1982"/>
                </a:lnTo>
                <a:cubicBezTo>
                  <a:pt x="10516" y="2031"/>
                  <a:pt x="10514" y="2080"/>
                  <a:pt x="10509" y="2129"/>
                </a:cubicBezTo>
                <a:cubicBezTo>
                  <a:pt x="10504" y="2178"/>
                  <a:pt x="10497" y="2226"/>
                  <a:pt x="10488" y="2274"/>
                </a:cubicBezTo>
                <a:cubicBezTo>
                  <a:pt x="10478" y="2322"/>
                  <a:pt x="10466" y="2370"/>
                  <a:pt x="10452" y="2417"/>
                </a:cubicBezTo>
                <a:cubicBezTo>
                  <a:pt x="10438" y="2464"/>
                  <a:pt x="10421" y="2510"/>
                  <a:pt x="10402" y="2555"/>
                </a:cubicBezTo>
                <a:cubicBezTo>
                  <a:pt x="10383" y="2601"/>
                  <a:pt x="10362" y="2645"/>
                  <a:pt x="10339" y="2688"/>
                </a:cubicBezTo>
                <a:cubicBezTo>
                  <a:pt x="10316" y="2732"/>
                  <a:pt x="10291" y="2774"/>
                  <a:pt x="10264" y="2815"/>
                </a:cubicBezTo>
                <a:cubicBezTo>
                  <a:pt x="10236" y="2855"/>
                  <a:pt x="10207" y="2895"/>
                  <a:pt x="10176" y="2933"/>
                </a:cubicBezTo>
                <a:cubicBezTo>
                  <a:pt x="10145" y="2971"/>
                  <a:pt x="10112" y="3007"/>
                  <a:pt x="10077" y="3042"/>
                </a:cubicBezTo>
                <a:cubicBezTo>
                  <a:pt x="10043" y="3076"/>
                  <a:pt x="10006" y="3109"/>
                  <a:pt x="9968" y="3140"/>
                </a:cubicBezTo>
                <a:cubicBezTo>
                  <a:pt x="9930" y="3172"/>
                  <a:pt x="9891" y="3201"/>
                  <a:pt x="9850" y="3228"/>
                </a:cubicBezTo>
                <a:cubicBezTo>
                  <a:pt x="9809" y="3255"/>
                  <a:pt x="9767" y="3280"/>
                  <a:pt x="9724" y="3304"/>
                </a:cubicBezTo>
                <a:cubicBezTo>
                  <a:pt x="9681" y="3327"/>
                  <a:pt x="9637" y="3348"/>
                  <a:pt x="9591" y="3366"/>
                </a:cubicBezTo>
                <a:cubicBezTo>
                  <a:pt x="9546" y="3385"/>
                  <a:pt x="9500" y="3402"/>
                  <a:pt x="9453" y="3416"/>
                </a:cubicBezTo>
                <a:cubicBezTo>
                  <a:pt x="9406" y="3430"/>
                  <a:pt x="9358" y="3442"/>
                  <a:pt x="9310" y="3452"/>
                </a:cubicBezTo>
                <a:cubicBezTo>
                  <a:pt x="9262" y="3461"/>
                  <a:pt x="9213" y="3469"/>
                  <a:pt x="9165" y="3473"/>
                </a:cubicBezTo>
                <a:cubicBezTo>
                  <a:pt x="9116" y="3478"/>
                  <a:pt x="9067" y="3481"/>
                  <a:pt x="9018" y="3481"/>
                </a:cubicBezTo>
                <a:lnTo>
                  <a:pt x="1498" y="3481"/>
                </a:lnTo>
                <a:cubicBezTo>
                  <a:pt x="1449" y="3481"/>
                  <a:pt x="1400" y="3478"/>
                  <a:pt x="1351" y="3473"/>
                </a:cubicBezTo>
                <a:cubicBezTo>
                  <a:pt x="1303" y="3469"/>
                  <a:pt x="1254" y="3461"/>
                  <a:pt x="1206" y="3452"/>
                </a:cubicBezTo>
                <a:cubicBezTo>
                  <a:pt x="1158" y="3442"/>
                  <a:pt x="1110" y="3430"/>
                  <a:pt x="1063" y="3416"/>
                </a:cubicBezTo>
                <a:cubicBezTo>
                  <a:pt x="1016" y="3402"/>
                  <a:pt x="970" y="3385"/>
                  <a:pt x="925" y="3366"/>
                </a:cubicBezTo>
                <a:cubicBezTo>
                  <a:pt x="879" y="3348"/>
                  <a:pt x="835" y="3327"/>
                  <a:pt x="792" y="3304"/>
                </a:cubicBezTo>
                <a:cubicBezTo>
                  <a:pt x="749" y="3280"/>
                  <a:pt x="707" y="3255"/>
                  <a:pt x="666" y="3228"/>
                </a:cubicBezTo>
                <a:cubicBezTo>
                  <a:pt x="625" y="3201"/>
                  <a:pt x="586" y="3172"/>
                  <a:pt x="548" y="3140"/>
                </a:cubicBezTo>
                <a:cubicBezTo>
                  <a:pt x="510" y="3109"/>
                  <a:pt x="473" y="3076"/>
                  <a:pt x="439" y="3042"/>
                </a:cubicBezTo>
                <a:cubicBezTo>
                  <a:pt x="404" y="3007"/>
                  <a:pt x="371" y="2971"/>
                  <a:pt x="340" y="2933"/>
                </a:cubicBezTo>
                <a:cubicBezTo>
                  <a:pt x="309" y="2895"/>
                  <a:pt x="280" y="2855"/>
                  <a:pt x="252" y="2815"/>
                </a:cubicBezTo>
                <a:cubicBezTo>
                  <a:pt x="225" y="2774"/>
                  <a:pt x="200" y="2732"/>
                  <a:pt x="177" y="2688"/>
                </a:cubicBezTo>
                <a:cubicBezTo>
                  <a:pt x="154" y="2645"/>
                  <a:pt x="133" y="2601"/>
                  <a:pt x="114" y="2555"/>
                </a:cubicBezTo>
                <a:cubicBezTo>
                  <a:pt x="95" y="2510"/>
                  <a:pt x="78" y="2464"/>
                  <a:pt x="64" y="2417"/>
                </a:cubicBezTo>
                <a:cubicBezTo>
                  <a:pt x="50" y="2370"/>
                  <a:pt x="38" y="2322"/>
                  <a:pt x="28" y="2274"/>
                </a:cubicBezTo>
                <a:cubicBezTo>
                  <a:pt x="19" y="2226"/>
                  <a:pt x="12" y="2178"/>
                  <a:pt x="7" y="2129"/>
                </a:cubicBezTo>
                <a:cubicBezTo>
                  <a:pt x="2" y="2080"/>
                  <a:pt x="0" y="2031"/>
                  <a:pt x="0" y="198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941760" y="1542960"/>
            <a:ext cx="3785760" cy="1253160"/>
          </a:xfrm>
          <a:custGeom>
            <a:avLst/>
            <a:gdLst/>
            <a:ahLst/>
            <a:rect l="0" t="0" r="r" b="b"/>
            <a:pathLst>
              <a:path fill="none" w="10516" h="3481">
                <a:moveTo>
                  <a:pt x="0" y="1982"/>
                </a:moveTo>
                <a:lnTo>
                  <a:pt x="0" y="1499"/>
                </a:lnTo>
                <a:cubicBezTo>
                  <a:pt x="0" y="1450"/>
                  <a:pt x="2" y="1401"/>
                  <a:pt x="7" y="1352"/>
                </a:cubicBezTo>
                <a:cubicBezTo>
                  <a:pt x="12" y="1304"/>
                  <a:pt x="19" y="1255"/>
                  <a:pt x="28" y="1207"/>
                </a:cubicBezTo>
                <a:cubicBezTo>
                  <a:pt x="38" y="1159"/>
                  <a:pt x="50" y="1111"/>
                  <a:pt x="64" y="1064"/>
                </a:cubicBezTo>
                <a:cubicBezTo>
                  <a:pt x="78" y="1017"/>
                  <a:pt x="95" y="971"/>
                  <a:pt x="114" y="925"/>
                </a:cubicBezTo>
                <a:cubicBezTo>
                  <a:pt x="133" y="880"/>
                  <a:pt x="154" y="835"/>
                  <a:pt x="177" y="792"/>
                </a:cubicBezTo>
                <a:cubicBezTo>
                  <a:pt x="200" y="749"/>
                  <a:pt x="225" y="707"/>
                  <a:pt x="252" y="666"/>
                </a:cubicBezTo>
                <a:cubicBezTo>
                  <a:pt x="280" y="625"/>
                  <a:pt x="309" y="586"/>
                  <a:pt x="340" y="548"/>
                </a:cubicBezTo>
                <a:cubicBezTo>
                  <a:pt x="371" y="510"/>
                  <a:pt x="404" y="473"/>
                  <a:pt x="439" y="439"/>
                </a:cubicBezTo>
                <a:cubicBezTo>
                  <a:pt x="473" y="404"/>
                  <a:pt x="510" y="371"/>
                  <a:pt x="548" y="340"/>
                </a:cubicBezTo>
                <a:cubicBezTo>
                  <a:pt x="586" y="309"/>
                  <a:pt x="625" y="280"/>
                  <a:pt x="666" y="252"/>
                </a:cubicBezTo>
                <a:cubicBezTo>
                  <a:pt x="707" y="225"/>
                  <a:pt x="749" y="200"/>
                  <a:pt x="792" y="177"/>
                </a:cubicBezTo>
                <a:cubicBezTo>
                  <a:pt x="835" y="154"/>
                  <a:pt x="879" y="133"/>
                  <a:pt x="925" y="114"/>
                </a:cubicBezTo>
                <a:cubicBezTo>
                  <a:pt x="970" y="95"/>
                  <a:pt x="1016" y="79"/>
                  <a:pt x="1063" y="64"/>
                </a:cubicBezTo>
                <a:cubicBezTo>
                  <a:pt x="1110" y="50"/>
                  <a:pt x="1158" y="38"/>
                  <a:pt x="1206" y="29"/>
                </a:cubicBezTo>
                <a:cubicBezTo>
                  <a:pt x="1254" y="19"/>
                  <a:pt x="1303" y="12"/>
                  <a:pt x="1351" y="7"/>
                </a:cubicBezTo>
                <a:cubicBezTo>
                  <a:pt x="1400" y="2"/>
                  <a:pt x="1449" y="0"/>
                  <a:pt x="1498" y="0"/>
                </a:cubicBezTo>
                <a:lnTo>
                  <a:pt x="9018" y="0"/>
                </a:lnTo>
                <a:cubicBezTo>
                  <a:pt x="9067" y="0"/>
                  <a:pt x="9116" y="2"/>
                  <a:pt x="9165" y="7"/>
                </a:cubicBezTo>
                <a:cubicBezTo>
                  <a:pt x="9213" y="12"/>
                  <a:pt x="9262" y="19"/>
                  <a:pt x="9310" y="29"/>
                </a:cubicBezTo>
                <a:cubicBezTo>
                  <a:pt x="9358" y="38"/>
                  <a:pt x="9406" y="50"/>
                  <a:pt x="9453" y="64"/>
                </a:cubicBezTo>
                <a:cubicBezTo>
                  <a:pt x="9500" y="79"/>
                  <a:pt x="9546" y="95"/>
                  <a:pt x="9591" y="114"/>
                </a:cubicBezTo>
                <a:cubicBezTo>
                  <a:pt x="9637" y="133"/>
                  <a:pt x="9681" y="154"/>
                  <a:pt x="9724" y="177"/>
                </a:cubicBezTo>
                <a:cubicBezTo>
                  <a:pt x="9767" y="200"/>
                  <a:pt x="9809" y="225"/>
                  <a:pt x="9850" y="252"/>
                </a:cubicBezTo>
                <a:cubicBezTo>
                  <a:pt x="9891" y="280"/>
                  <a:pt x="9930" y="309"/>
                  <a:pt x="9968" y="340"/>
                </a:cubicBezTo>
                <a:cubicBezTo>
                  <a:pt x="10006" y="371"/>
                  <a:pt x="10043" y="404"/>
                  <a:pt x="10077" y="439"/>
                </a:cubicBezTo>
                <a:cubicBezTo>
                  <a:pt x="10112" y="473"/>
                  <a:pt x="10145" y="510"/>
                  <a:pt x="10176" y="548"/>
                </a:cubicBezTo>
                <a:cubicBezTo>
                  <a:pt x="10207" y="586"/>
                  <a:pt x="10236" y="625"/>
                  <a:pt x="10264" y="666"/>
                </a:cubicBezTo>
                <a:cubicBezTo>
                  <a:pt x="10291" y="707"/>
                  <a:pt x="10316" y="749"/>
                  <a:pt x="10339" y="792"/>
                </a:cubicBezTo>
                <a:cubicBezTo>
                  <a:pt x="10362" y="835"/>
                  <a:pt x="10383" y="880"/>
                  <a:pt x="10402" y="925"/>
                </a:cubicBezTo>
                <a:cubicBezTo>
                  <a:pt x="10421" y="971"/>
                  <a:pt x="10438" y="1017"/>
                  <a:pt x="10452" y="1064"/>
                </a:cubicBezTo>
                <a:cubicBezTo>
                  <a:pt x="10466" y="1111"/>
                  <a:pt x="10478" y="1159"/>
                  <a:pt x="10488" y="1207"/>
                </a:cubicBezTo>
                <a:cubicBezTo>
                  <a:pt x="10497" y="1255"/>
                  <a:pt x="10504" y="1304"/>
                  <a:pt x="10509" y="1352"/>
                </a:cubicBezTo>
                <a:cubicBezTo>
                  <a:pt x="10514" y="1401"/>
                  <a:pt x="10516" y="1450"/>
                  <a:pt x="10516" y="1499"/>
                </a:cubicBezTo>
                <a:lnTo>
                  <a:pt x="10516" y="1982"/>
                </a:lnTo>
                <a:cubicBezTo>
                  <a:pt x="10516" y="2031"/>
                  <a:pt x="10514" y="2080"/>
                  <a:pt x="10509" y="2129"/>
                </a:cubicBezTo>
                <a:cubicBezTo>
                  <a:pt x="10504" y="2178"/>
                  <a:pt x="10497" y="2226"/>
                  <a:pt x="10488" y="2274"/>
                </a:cubicBezTo>
                <a:cubicBezTo>
                  <a:pt x="10478" y="2322"/>
                  <a:pt x="10466" y="2370"/>
                  <a:pt x="10452" y="2417"/>
                </a:cubicBezTo>
                <a:cubicBezTo>
                  <a:pt x="10438" y="2464"/>
                  <a:pt x="10421" y="2510"/>
                  <a:pt x="10402" y="2555"/>
                </a:cubicBezTo>
                <a:cubicBezTo>
                  <a:pt x="10383" y="2601"/>
                  <a:pt x="10362" y="2645"/>
                  <a:pt x="10339" y="2688"/>
                </a:cubicBezTo>
                <a:cubicBezTo>
                  <a:pt x="10316" y="2732"/>
                  <a:pt x="10291" y="2774"/>
                  <a:pt x="10264" y="2815"/>
                </a:cubicBezTo>
                <a:cubicBezTo>
                  <a:pt x="10236" y="2855"/>
                  <a:pt x="10207" y="2895"/>
                  <a:pt x="10176" y="2933"/>
                </a:cubicBezTo>
                <a:cubicBezTo>
                  <a:pt x="10145" y="2971"/>
                  <a:pt x="10112" y="3007"/>
                  <a:pt x="10077" y="3042"/>
                </a:cubicBezTo>
                <a:cubicBezTo>
                  <a:pt x="10043" y="3076"/>
                  <a:pt x="10006" y="3109"/>
                  <a:pt x="9968" y="3140"/>
                </a:cubicBezTo>
                <a:cubicBezTo>
                  <a:pt x="9930" y="3172"/>
                  <a:pt x="9891" y="3201"/>
                  <a:pt x="9850" y="3228"/>
                </a:cubicBezTo>
                <a:cubicBezTo>
                  <a:pt x="9809" y="3255"/>
                  <a:pt x="9767" y="3280"/>
                  <a:pt x="9724" y="3304"/>
                </a:cubicBezTo>
                <a:cubicBezTo>
                  <a:pt x="9681" y="3327"/>
                  <a:pt x="9637" y="3348"/>
                  <a:pt x="9591" y="3366"/>
                </a:cubicBezTo>
                <a:cubicBezTo>
                  <a:pt x="9546" y="3385"/>
                  <a:pt x="9500" y="3402"/>
                  <a:pt x="9453" y="3416"/>
                </a:cubicBezTo>
                <a:cubicBezTo>
                  <a:pt x="9406" y="3430"/>
                  <a:pt x="9358" y="3442"/>
                  <a:pt x="9310" y="3452"/>
                </a:cubicBezTo>
                <a:cubicBezTo>
                  <a:pt x="9262" y="3461"/>
                  <a:pt x="9213" y="3469"/>
                  <a:pt x="9165" y="3473"/>
                </a:cubicBezTo>
                <a:cubicBezTo>
                  <a:pt x="9116" y="3478"/>
                  <a:pt x="9067" y="3481"/>
                  <a:pt x="9018" y="3481"/>
                </a:cubicBezTo>
                <a:lnTo>
                  <a:pt x="1498" y="3481"/>
                </a:lnTo>
                <a:cubicBezTo>
                  <a:pt x="1449" y="3481"/>
                  <a:pt x="1400" y="3478"/>
                  <a:pt x="1351" y="3473"/>
                </a:cubicBezTo>
                <a:cubicBezTo>
                  <a:pt x="1303" y="3469"/>
                  <a:pt x="1254" y="3461"/>
                  <a:pt x="1206" y="3452"/>
                </a:cubicBezTo>
                <a:cubicBezTo>
                  <a:pt x="1158" y="3442"/>
                  <a:pt x="1110" y="3430"/>
                  <a:pt x="1063" y="3416"/>
                </a:cubicBezTo>
                <a:cubicBezTo>
                  <a:pt x="1016" y="3402"/>
                  <a:pt x="970" y="3385"/>
                  <a:pt x="925" y="3366"/>
                </a:cubicBezTo>
                <a:cubicBezTo>
                  <a:pt x="879" y="3348"/>
                  <a:pt x="835" y="3327"/>
                  <a:pt x="792" y="3304"/>
                </a:cubicBezTo>
                <a:cubicBezTo>
                  <a:pt x="749" y="3280"/>
                  <a:pt x="707" y="3255"/>
                  <a:pt x="666" y="3228"/>
                </a:cubicBezTo>
                <a:cubicBezTo>
                  <a:pt x="625" y="3201"/>
                  <a:pt x="586" y="3172"/>
                  <a:pt x="548" y="3140"/>
                </a:cubicBezTo>
                <a:cubicBezTo>
                  <a:pt x="510" y="3109"/>
                  <a:pt x="473" y="3076"/>
                  <a:pt x="439" y="3042"/>
                </a:cubicBezTo>
                <a:cubicBezTo>
                  <a:pt x="404" y="3007"/>
                  <a:pt x="371" y="2971"/>
                  <a:pt x="340" y="2933"/>
                </a:cubicBezTo>
                <a:cubicBezTo>
                  <a:pt x="309" y="2895"/>
                  <a:pt x="280" y="2855"/>
                  <a:pt x="252" y="2815"/>
                </a:cubicBezTo>
                <a:cubicBezTo>
                  <a:pt x="225" y="2774"/>
                  <a:pt x="200" y="2732"/>
                  <a:pt x="177" y="2688"/>
                </a:cubicBezTo>
                <a:cubicBezTo>
                  <a:pt x="154" y="2645"/>
                  <a:pt x="133" y="2601"/>
                  <a:pt x="114" y="2555"/>
                </a:cubicBezTo>
                <a:cubicBezTo>
                  <a:pt x="95" y="2510"/>
                  <a:pt x="78" y="2464"/>
                  <a:pt x="64" y="2417"/>
                </a:cubicBezTo>
                <a:cubicBezTo>
                  <a:pt x="50" y="2370"/>
                  <a:pt x="38" y="2322"/>
                  <a:pt x="28" y="2274"/>
                </a:cubicBezTo>
                <a:cubicBezTo>
                  <a:pt x="19" y="2226"/>
                  <a:pt x="12" y="2178"/>
                  <a:pt x="7" y="2129"/>
                </a:cubicBezTo>
                <a:cubicBezTo>
                  <a:pt x="2" y="2080"/>
                  <a:pt x="0" y="2031"/>
                  <a:pt x="0" y="1982"/>
                </a:cubicBezTo>
              </a:path>
            </a:pathLst>
          </a:custGeom>
          <a:ln w="18000">
            <a:solidFill>
              <a:srgbClr val="1a3d6e"/>
            </a:solidFill>
            <a:miter/>
          </a:ln>
        </p:spPr>
        <p:txBody>
          <a:bodyPr lIns="9000" rIns="9000" tIns="9000" bIns="900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932760" y="802080"/>
            <a:ext cx="498672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2760" strike="noStrike" u="none">
                <a:solidFill>
                  <a:srgbClr val="0a0a0a"/>
                </a:solidFill>
                <a:effectLst/>
                <a:uFillTx/>
                <a:latin typeface="Fraunces-Regular_opsz266666_wght2580000"/>
                <a:ea typeface="Fraunces-Regular_opsz266666_wght2580000"/>
              </a:rPr>
              <a:t>A typed knowledge graph.</a:t>
            </a:r>
            <a:endParaRPr b="0" lang="en-IN" sz="27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2470680" y="1899000"/>
            <a:ext cx="828720" cy="34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960" strike="noStrike" u="none">
                <a:solidFill>
                  <a:srgbClr val="1a3d6e"/>
                </a:solidFill>
                <a:effectLst/>
                <a:uFillTx/>
                <a:latin typeface="Fraunces-Regular_opsz1B3333_wght2580000"/>
                <a:ea typeface="Fraunces-Regular_opsz1B3333_wght2580000"/>
              </a:rPr>
              <a:t>Policy</a:t>
            </a:r>
            <a:endParaRPr b="0" lang="en-IN" sz="19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4965120" y="1542960"/>
            <a:ext cx="3785760" cy="1253160"/>
          </a:xfrm>
          <a:custGeom>
            <a:avLst/>
            <a:gdLst/>
            <a:ahLst/>
            <a:rect l="0" t="0" r="r" b="b"/>
            <a:pathLst>
              <a:path w="10516" h="3481">
                <a:moveTo>
                  <a:pt x="0" y="1982"/>
                </a:moveTo>
                <a:lnTo>
                  <a:pt x="0" y="1499"/>
                </a:lnTo>
                <a:cubicBezTo>
                  <a:pt x="0" y="1450"/>
                  <a:pt x="2" y="1401"/>
                  <a:pt x="7" y="1352"/>
                </a:cubicBezTo>
                <a:cubicBezTo>
                  <a:pt x="12" y="1304"/>
                  <a:pt x="19" y="1255"/>
                  <a:pt x="28" y="1207"/>
                </a:cubicBezTo>
                <a:cubicBezTo>
                  <a:pt x="38" y="1159"/>
                  <a:pt x="50" y="1111"/>
                  <a:pt x="64" y="1064"/>
                </a:cubicBezTo>
                <a:cubicBezTo>
                  <a:pt x="78" y="1017"/>
                  <a:pt x="95" y="971"/>
                  <a:pt x="114" y="925"/>
                </a:cubicBezTo>
                <a:cubicBezTo>
                  <a:pt x="133" y="880"/>
                  <a:pt x="154" y="835"/>
                  <a:pt x="177" y="792"/>
                </a:cubicBezTo>
                <a:cubicBezTo>
                  <a:pt x="200" y="749"/>
                  <a:pt x="225" y="707"/>
                  <a:pt x="252" y="666"/>
                </a:cubicBezTo>
                <a:cubicBezTo>
                  <a:pt x="280" y="625"/>
                  <a:pt x="309" y="586"/>
                  <a:pt x="340" y="548"/>
                </a:cubicBezTo>
                <a:cubicBezTo>
                  <a:pt x="371" y="510"/>
                  <a:pt x="404" y="473"/>
                  <a:pt x="439" y="439"/>
                </a:cubicBezTo>
                <a:cubicBezTo>
                  <a:pt x="473" y="404"/>
                  <a:pt x="510" y="371"/>
                  <a:pt x="548" y="340"/>
                </a:cubicBezTo>
                <a:cubicBezTo>
                  <a:pt x="586" y="309"/>
                  <a:pt x="625" y="280"/>
                  <a:pt x="666" y="252"/>
                </a:cubicBezTo>
                <a:cubicBezTo>
                  <a:pt x="707" y="225"/>
                  <a:pt x="749" y="200"/>
                  <a:pt x="792" y="177"/>
                </a:cubicBezTo>
                <a:cubicBezTo>
                  <a:pt x="835" y="154"/>
                  <a:pt x="879" y="133"/>
                  <a:pt x="925" y="114"/>
                </a:cubicBezTo>
                <a:cubicBezTo>
                  <a:pt x="970" y="95"/>
                  <a:pt x="1016" y="79"/>
                  <a:pt x="1063" y="64"/>
                </a:cubicBezTo>
                <a:cubicBezTo>
                  <a:pt x="1110" y="50"/>
                  <a:pt x="1158" y="38"/>
                  <a:pt x="1206" y="29"/>
                </a:cubicBezTo>
                <a:cubicBezTo>
                  <a:pt x="1254" y="19"/>
                  <a:pt x="1303" y="12"/>
                  <a:pt x="1351" y="7"/>
                </a:cubicBezTo>
                <a:cubicBezTo>
                  <a:pt x="1400" y="2"/>
                  <a:pt x="1449" y="0"/>
                  <a:pt x="1498" y="0"/>
                </a:cubicBezTo>
                <a:lnTo>
                  <a:pt x="9018" y="0"/>
                </a:lnTo>
                <a:cubicBezTo>
                  <a:pt x="9067" y="0"/>
                  <a:pt x="9116" y="2"/>
                  <a:pt x="9165" y="7"/>
                </a:cubicBezTo>
                <a:cubicBezTo>
                  <a:pt x="9213" y="12"/>
                  <a:pt x="9262" y="19"/>
                  <a:pt x="9310" y="29"/>
                </a:cubicBezTo>
                <a:cubicBezTo>
                  <a:pt x="9358" y="38"/>
                  <a:pt x="9406" y="50"/>
                  <a:pt x="9453" y="64"/>
                </a:cubicBezTo>
                <a:cubicBezTo>
                  <a:pt x="9500" y="79"/>
                  <a:pt x="9546" y="95"/>
                  <a:pt x="9591" y="114"/>
                </a:cubicBezTo>
                <a:cubicBezTo>
                  <a:pt x="9637" y="133"/>
                  <a:pt x="9681" y="154"/>
                  <a:pt x="9724" y="177"/>
                </a:cubicBezTo>
                <a:cubicBezTo>
                  <a:pt x="9767" y="200"/>
                  <a:pt x="9809" y="225"/>
                  <a:pt x="9850" y="252"/>
                </a:cubicBezTo>
                <a:cubicBezTo>
                  <a:pt x="9891" y="280"/>
                  <a:pt x="9930" y="309"/>
                  <a:pt x="9968" y="340"/>
                </a:cubicBezTo>
                <a:cubicBezTo>
                  <a:pt x="10006" y="371"/>
                  <a:pt x="10043" y="404"/>
                  <a:pt x="10077" y="439"/>
                </a:cubicBezTo>
                <a:cubicBezTo>
                  <a:pt x="10112" y="473"/>
                  <a:pt x="10145" y="510"/>
                  <a:pt x="10176" y="548"/>
                </a:cubicBezTo>
                <a:cubicBezTo>
                  <a:pt x="10207" y="586"/>
                  <a:pt x="10236" y="625"/>
                  <a:pt x="10264" y="666"/>
                </a:cubicBezTo>
                <a:cubicBezTo>
                  <a:pt x="10291" y="707"/>
                  <a:pt x="10316" y="749"/>
                  <a:pt x="10339" y="792"/>
                </a:cubicBezTo>
                <a:cubicBezTo>
                  <a:pt x="10362" y="835"/>
                  <a:pt x="10383" y="880"/>
                  <a:pt x="10402" y="925"/>
                </a:cubicBezTo>
                <a:cubicBezTo>
                  <a:pt x="10421" y="971"/>
                  <a:pt x="10438" y="1017"/>
                  <a:pt x="10452" y="1064"/>
                </a:cubicBezTo>
                <a:cubicBezTo>
                  <a:pt x="10466" y="1111"/>
                  <a:pt x="10478" y="1159"/>
                  <a:pt x="10488" y="1207"/>
                </a:cubicBezTo>
                <a:cubicBezTo>
                  <a:pt x="10497" y="1255"/>
                  <a:pt x="10504" y="1304"/>
                  <a:pt x="10509" y="1352"/>
                </a:cubicBezTo>
                <a:cubicBezTo>
                  <a:pt x="10514" y="1401"/>
                  <a:pt x="10516" y="1450"/>
                  <a:pt x="10516" y="1499"/>
                </a:cubicBezTo>
                <a:lnTo>
                  <a:pt x="10516" y="1982"/>
                </a:lnTo>
                <a:cubicBezTo>
                  <a:pt x="10516" y="2031"/>
                  <a:pt x="10514" y="2080"/>
                  <a:pt x="10509" y="2129"/>
                </a:cubicBezTo>
                <a:cubicBezTo>
                  <a:pt x="10504" y="2178"/>
                  <a:pt x="10497" y="2226"/>
                  <a:pt x="10488" y="2274"/>
                </a:cubicBezTo>
                <a:cubicBezTo>
                  <a:pt x="10478" y="2322"/>
                  <a:pt x="10466" y="2370"/>
                  <a:pt x="10452" y="2417"/>
                </a:cubicBezTo>
                <a:cubicBezTo>
                  <a:pt x="10438" y="2464"/>
                  <a:pt x="10421" y="2510"/>
                  <a:pt x="10402" y="2555"/>
                </a:cubicBezTo>
                <a:cubicBezTo>
                  <a:pt x="10383" y="2601"/>
                  <a:pt x="10362" y="2645"/>
                  <a:pt x="10339" y="2688"/>
                </a:cubicBezTo>
                <a:cubicBezTo>
                  <a:pt x="10316" y="2732"/>
                  <a:pt x="10291" y="2774"/>
                  <a:pt x="10264" y="2815"/>
                </a:cubicBezTo>
                <a:cubicBezTo>
                  <a:pt x="10236" y="2855"/>
                  <a:pt x="10207" y="2895"/>
                  <a:pt x="10176" y="2933"/>
                </a:cubicBezTo>
                <a:cubicBezTo>
                  <a:pt x="10145" y="2971"/>
                  <a:pt x="10112" y="3007"/>
                  <a:pt x="10077" y="3042"/>
                </a:cubicBezTo>
                <a:cubicBezTo>
                  <a:pt x="10043" y="3076"/>
                  <a:pt x="10006" y="3109"/>
                  <a:pt x="9968" y="3140"/>
                </a:cubicBezTo>
                <a:cubicBezTo>
                  <a:pt x="9930" y="3172"/>
                  <a:pt x="9891" y="3201"/>
                  <a:pt x="9850" y="3228"/>
                </a:cubicBezTo>
                <a:cubicBezTo>
                  <a:pt x="9809" y="3255"/>
                  <a:pt x="9767" y="3280"/>
                  <a:pt x="9724" y="3304"/>
                </a:cubicBezTo>
                <a:cubicBezTo>
                  <a:pt x="9681" y="3327"/>
                  <a:pt x="9637" y="3348"/>
                  <a:pt x="9591" y="3366"/>
                </a:cubicBezTo>
                <a:cubicBezTo>
                  <a:pt x="9546" y="3385"/>
                  <a:pt x="9500" y="3402"/>
                  <a:pt x="9453" y="3416"/>
                </a:cubicBezTo>
                <a:cubicBezTo>
                  <a:pt x="9406" y="3430"/>
                  <a:pt x="9358" y="3442"/>
                  <a:pt x="9310" y="3452"/>
                </a:cubicBezTo>
                <a:cubicBezTo>
                  <a:pt x="9262" y="3461"/>
                  <a:pt x="9213" y="3469"/>
                  <a:pt x="9165" y="3473"/>
                </a:cubicBezTo>
                <a:cubicBezTo>
                  <a:pt x="9116" y="3478"/>
                  <a:pt x="9067" y="3481"/>
                  <a:pt x="9018" y="3481"/>
                </a:cubicBezTo>
                <a:lnTo>
                  <a:pt x="1498" y="3481"/>
                </a:lnTo>
                <a:cubicBezTo>
                  <a:pt x="1449" y="3481"/>
                  <a:pt x="1400" y="3478"/>
                  <a:pt x="1351" y="3473"/>
                </a:cubicBezTo>
                <a:cubicBezTo>
                  <a:pt x="1303" y="3469"/>
                  <a:pt x="1254" y="3461"/>
                  <a:pt x="1206" y="3452"/>
                </a:cubicBezTo>
                <a:cubicBezTo>
                  <a:pt x="1158" y="3442"/>
                  <a:pt x="1110" y="3430"/>
                  <a:pt x="1063" y="3416"/>
                </a:cubicBezTo>
                <a:cubicBezTo>
                  <a:pt x="1016" y="3402"/>
                  <a:pt x="970" y="3385"/>
                  <a:pt x="925" y="3366"/>
                </a:cubicBezTo>
                <a:cubicBezTo>
                  <a:pt x="879" y="3348"/>
                  <a:pt x="835" y="3327"/>
                  <a:pt x="792" y="3304"/>
                </a:cubicBezTo>
                <a:cubicBezTo>
                  <a:pt x="749" y="3280"/>
                  <a:pt x="707" y="3255"/>
                  <a:pt x="666" y="3228"/>
                </a:cubicBezTo>
                <a:cubicBezTo>
                  <a:pt x="625" y="3201"/>
                  <a:pt x="586" y="3172"/>
                  <a:pt x="548" y="3140"/>
                </a:cubicBezTo>
                <a:cubicBezTo>
                  <a:pt x="510" y="3109"/>
                  <a:pt x="473" y="3076"/>
                  <a:pt x="439" y="3042"/>
                </a:cubicBezTo>
                <a:cubicBezTo>
                  <a:pt x="404" y="3007"/>
                  <a:pt x="371" y="2971"/>
                  <a:pt x="340" y="2933"/>
                </a:cubicBezTo>
                <a:cubicBezTo>
                  <a:pt x="309" y="2895"/>
                  <a:pt x="280" y="2855"/>
                  <a:pt x="252" y="2815"/>
                </a:cubicBezTo>
                <a:cubicBezTo>
                  <a:pt x="225" y="2774"/>
                  <a:pt x="200" y="2732"/>
                  <a:pt x="177" y="2688"/>
                </a:cubicBezTo>
                <a:cubicBezTo>
                  <a:pt x="154" y="2645"/>
                  <a:pt x="133" y="2601"/>
                  <a:pt x="114" y="2555"/>
                </a:cubicBezTo>
                <a:cubicBezTo>
                  <a:pt x="95" y="2510"/>
                  <a:pt x="78" y="2464"/>
                  <a:pt x="64" y="2417"/>
                </a:cubicBezTo>
                <a:cubicBezTo>
                  <a:pt x="50" y="2370"/>
                  <a:pt x="38" y="2322"/>
                  <a:pt x="28" y="2274"/>
                </a:cubicBezTo>
                <a:cubicBezTo>
                  <a:pt x="19" y="2226"/>
                  <a:pt x="12" y="2178"/>
                  <a:pt x="7" y="2129"/>
                </a:cubicBezTo>
                <a:cubicBezTo>
                  <a:pt x="2" y="2080"/>
                  <a:pt x="0" y="2031"/>
                  <a:pt x="0" y="198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4965120" y="1542960"/>
            <a:ext cx="3785760" cy="1253160"/>
          </a:xfrm>
          <a:custGeom>
            <a:avLst/>
            <a:gdLst/>
            <a:ahLst/>
            <a:rect l="0" t="0" r="r" b="b"/>
            <a:pathLst>
              <a:path fill="none" w="10516" h="3481">
                <a:moveTo>
                  <a:pt x="0" y="1982"/>
                </a:moveTo>
                <a:lnTo>
                  <a:pt x="0" y="1499"/>
                </a:lnTo>
                <a:cubicBezTo>
                  <a:pt x="0" y="1450"/>
                  <a:pt x="2" y="1401"/>
                  <a:pt x="7" y="1352"/>
                </a:cubicBezTo>
                <a:cubicBezTo>
                  <a:pt x="12" y="1304"/>
                  <a:pt x="19" y="1255"/>
                  <a:pt x="28" y="1207"/>
                </a:cubicBezTo>
                <a:cubicBezTo>
                  <a:pt x="38" y="1159"/>
                  <a:pt x="50" y="1111"/>
                  <a:pt x="64" y="1064"/>
                </a:cubicBezTo>
                <a:cubicBezTo>
                  <a:pt x="78" y="1017"/>
                  <a:pt x="95" y="971"/>
                  <a:pt x="114" y="925"/>
                </a:cubicBezTo>
                <a:cubicBezTo>
                  <a:pt x="133" y="880"/>
                  <a:pt x="154" y="835"/>
                  <a:pt x="177" y="792"/>
                </a:cubicBezTo>
                <a:cubicBezTo>
                  <a:pt x="200" y="749"/>
                  <a:pt x="225" y="707"/>
                  <a:pt x="252" y="666"/>
                </a:cubicBezTo>
                <a:cubicBezTo>
                  <a:pt x="280" y="625"/>
                  <a:pt x="309" y="586"/>
                  <a:pt x="340" y="548"/>
                </a:cubicBezTo>
                <a:cubicBezTo>
                  <a:pt x="371" y="510"/>
                  <a:pt x="404" y="473"/>
                  <a:pt x="439" y="439"/>
                </a:cubicBezTo>
                <a:cubicBezTo>
                  <a:pt x="473" y="404"/>
                  <a:pt x="510" y="371"/>
                  <a:pt x="548" y="340"/>
                </a:cubicBezTo>
                <a:cubicBezTo>
                  <a:pt x="586" y="309"/>
                  <a:pt x="625" y="280"/>
                  <a:pt x="666" y="252"/>
                </a:cubicBezTo>
                <a:cubicBezTo>
                  <a:pt x="707" y="225"/>
                  <a:pt x="749" y="200"/>
                  <a:pt x="792" y="177"/>
                </a:cubicBezTo>
                <a:cubicBezTo>
                  <a:pt x="835" y="154"/>
                  <a:pt x="879" y="133"/>
                  <a:pt x="925" y="114"/>
                </a:cubicBezTo>
                <a:cubicBezTo>
                  <a:pt x="970" y="95"/>
                  <a:pt x="1016" y="79"/>
                  <a:pt x="1063" y="64"/>
                </a:cubicBezTo>
                <a:cubicBezTo>
                  <a:pt x="1110" y="50"/>
                  <a:pt x="1158" y="38"/>
                  <a:pt x="1206" y="29"/>
                </a:cubicBezTo>
                <a:cubicBezTo>
                  <a:pt x="1254" y="19"/>
                  <a:pt x="1303" y="12"/>
                  <a:pt x="1351" y="7"/>
                </a:cubicBezTo>
                <a:cubicBezTo>
                  <a:pt x="1400" y="2"/>
                  <a:pt x="1449" y="0"/>
                  <a:pt x="1498" y="0"/>
                </a:cubicBezTo>
                <a:lnTo>
                  <a:pt x="9018" y="0"/>
                </a:lnTo>
                <a:cubicBezTo>
                  <a:pt x="9067" y="0"/>
                  <a:pt x="9116" y="2"/>
                  <a:pt x="9165" y="7"/>
                </a:cubicBezTo>
                <a:cubicBezTo>
                  <a:pt x="9213" y="12"/>
                  <a:pt x="9262" y="19"/>
                  <a:pt x="9310" y="29"/>
                </a:cubicBezTo>
                <a:cubicBezTo>
                  <a:pt x="9358" y="38"/>
                  <a:pt x="9406" y="50"/>
                  <a:pt x="9453" y="64"/>
                </a:cubicBezTo>
                <a:cubicBezTo>
                  <a:pt x="9500" y="79"/>
                  <a:pt x="9546" y="95"/>
                  <a:pt x="9591" y="114"/>
                </a:cubicBezTo>
                <a:cubicBezTo>
                  <a:pt x="9637" y="133"/>
                  <a:pt x="9681" y="154"/>
                  <a:pt x="9724" y="177"/>
                </a:cubicBezTo>
                <a:cubicBezTo>
                  <a:pt x="9767" y="200"/>
                  <a:pt x="9809" y="225"/>
                  <a:pt x="9850" y="252"/>
                </a:cubicBezTo>
                <a:cubicBezTo>
                  <a:pt x="9891" y="280"/>
                  <a:pt x="9930" y="309"/>
                  <a:pt x="9968" y="340"/>
                </a:cubicBezTo>
                <a:cubicBezTo>
                  <a:pt x="10006" y="371"/>
                  <a:pt x="10043" y="404"/>
                  <a:pt x="10077" y="439"/>
                </a:cubicBezTo>
                <a:cubicBezTo>
                  <a:pt x="10112" y="473"/>
                  <a:pt x="10145" y="510"/>
                  <a:pt x="10176" y="548"/>
                </a:cubicBezTo>
                <a:cubicBezTo>
                  <a:pt x="10207" y="586"/>
                  <a:pt x="10236" y="625"/>
                  <a:pt x="10264" y="666"/>
                </a:cubicBezTo>
                <a:cubicBezTo>
                  <a:pt x="10291" y="707"/>
                  <a:pt x="10316" y="749"/>
                  <a:pt x="10339" y="792"/>
                </a:cubicBezTo>
                <a:cubicBezTo>
                  <a:pt x="10362" y="835"/>
                  <a:pt x="10383" y="880"/>
                  <a:pt x="10402" y="925"/>
                </a:cubicBezTo>
                <a:cubicBezTo>
                  <a:pt x="10421" y="971"/>
                  <a:pt x="10438" y="1017"/>
                  <a:pt x="10452" y="1064"/>
                </a:cubicBezTo>
                <a:cubicBezTo>
                  <a:pt x="10466" y="1111"/>
                  <a:pt x="10478" y="1159"/>
                  <a:pt x="10488" y="1207"/>
                </a:cubicBezTo>
                <a:cubicBezTo>
                  <a:pt x="10497" y="1255"/>
                  <a:pt x="10504" y="1304"/>
                  <a:pt x="10509" y="1352"/>
                </a:cubicBezTo>
                <a:cubicBezTo>
                  <a:pt x="10514" y="1401"/>
                  <a:pt x="10516" y="1450"/>
                  <a:pt x="10516" y="1499"/>
                </a:cubicBezTo>
                <a:lnTo>
                  <a:pt x="10516" y="1982"/>
                </a:lnTo>
                <a:cubicBezTo>
                  <a:pt x="10516" y="2031"/>
                  <a:pt x="10514" y="2080"/>
                  <a:pt x="10509" y="2129"/>
                </a:cubicBezTo>
                <a:cubicBezTo>
                  <a:pt x="10504" y="2178"/>
                  <a:pt x="10497" y="2226"/>
                  <a:pt x="10488" y="2274"/>
                </a:cubicBezTo>
                <a:cubicBezTo>
                  <a:pt x="10478" y="2322"/>
                  <a:pt x="10466" y="2370"/>
                  <a:pt x="10452" y="2417"/>
                </a:cubicBezTo>
                <a:cubicBezTo>
                  <a:pt x="10438" y="2464"/>
                  <a:pt x="10421" y="2510"/>
                  <a:pt x="10402" y="2555"/>
                </a:cubicBezTo>
                <a:cubicBezTo>
                  <a:pt x="10383" y="2601"/>
                  <a:pt x="10362" y="2645"/>
                  <a:pt x="10339" y="2688"/>
                </a:cubicBezTo>
                <a:cubicBezTo>
                  <a:pt x="10316" y="2732"/>
                  <a:pt x="10291" y="2774"/>
                  <a:pt x="10264" y="2815"/>
                </a:cubicBezTo>
                <a:cubicBezTo>
                  <a:pt x="10236" y="2855"/>
                  <a:pt x="10207" y="2895"/>
                  <a:pt x="10176" y="2933"/>
                </a:cubicBezTo>
                <a:cubicBezTo>
                  <a:pt x="10145" y="2971"/>
                  <a:pt x="10112" y="3007"/>
                  <a:pt x="10077" y="3042"/>
                </a:cubicBezTo>
                <a:cubicBezTo>
                  <a:pt x="10043" y="3076"/>
                  <a:pt x="10006" y="3109"/>
                  <a:pt x="9968" y="3140"/>
                </a:cubicBezTo>
                <a:cubicBezTo>
                  <a:pt x="9930" y="3172"/>
                  <a:pt x="9891" y="3201"/>
                  <a:pt x="9850" y="3228"/>
                </a:cubicBezTo>
                <a:cubicBezTo>
                  <a:pt x="9809" y="3255"/>
                  <a:pt x="9767" y="3280"/>
                  <a:pt x="9724" y="3304"/>
                </a:cubicBezTo>
                <a:cubicBezTo>
                  <a:pt x="9681" y="3327"/>
                  <a:pt x="9637" y="3348"/>
                  <a:pt x="9591" y="3366"/>
                </a:cubicBezTo>
                <a:cubicBezTo>
                  <a:pt x="9546" y="3385"/>
                  <a:pt x="9500" y="3402"/>
                  <a:pt x="9453" y="3416"/>
                </a:cubicBezTo>
                <a:cubicBezTo>
                  <a:pt x="9406" y="3430"/>
                  <a:pt x="9358" y="3442"/>
                  <a:pt x="9310" y="3452"/>
                </a:cubicBezTo>
                <a:cubicBezTo>
                  <a:pt x="9262" y="3461"/>
                  <a:pt x="9213" y="3469"/>
                  <a:pt x="9165" y="3473"/>
                </a:cubicBezTo>
                <a:cubicBezTo>
                  <a:pt x="9116" y="3478"/>
                  <a:pt x="9067" y="3481"/>
                  <a:pt x="9018" y="3481"/>
                </a:cubicBezTo>
                <a:lnTo>
                  <a:pt x="1498" y="3481"/>
                </a:lnTo>
                <a:cubicBezTo>
                  <a:pt x="1449" y="3481"/>
                  <a:pt x="1400" y="3478"/>
                  <a:pt x="1351" y="3473"/>
                </a:cubicBezTo>
                <a:cubicBezTo>
                  <a:pt x="1303" y="3469"/>
                  <a:pt x="1254" y="3461"/>
                  <a:pt x="1206" y="3452"/>
                </a:cubicBezTo>
                <a:cubicBezTo>
                  <a:pt x="1158" y="3442"/>
                  <a:pt x="1110" y="3430"/>
                  <a:pt x="1063" y="3416"/>
                </a:cubicBezTo>
                <a:cubicBezTo>
                  <a:pt x="1016" y="3402"/>
                  <a:pt x="970" y="3385"/>
                  <a:pt x="925" y="3366"/>
                </a:cubicBezTo>
                <a:cubicBezTo>
                  <a:pt x="879" y="3348"/>
                  <a:pt x="835" y="3327"/>
                  <a:pt x="792" y="3304"/>
                </a:cubicBezTo>
                <a:cubicBezTo>
                  <a:pt x="749" y="3280"/>
                  <a:pt x="707" y="3255"/>
                  <a:pt x="666" y="3228"/>
                </a:cubicBezTo>
                <a:cubicBezTo>
                  <a:pt x="625" y="3201"/>
                  <a:pt x="586" y="3172"/>
                  <a:pt x="548" y="3140"/>
                </a:cubicBezTo>
                <a:cubicBezTo>
                  <a:pt x="510" y="3109"/>
                  <a:pt x="473" y="3076"/>
                  <a:pt x="439" y="3042"/>
                </a:cubicBezTo>
                <a:cubicBezTo>
                  <a:pt x="404" y="3007"/>
                  <a:pt x="371" y="2971"/>
                  <a:pt x="340" y="2933"/>
                </a:cubicBezTo>
                <a:cubicBezTo>
                  <a:pt x="309" y="2895"/>
                  <a:pt x="280" y="2855"/>
                  <a:pt x="252" y="2815"/>
                </a:cubicBezTo>
                <a:cubicBezTo>
                  <a:pt x="225" y="2774"/>
                  <a:pt x="200" y="2732"/>
                  <a:pt x="177" y="2688"/>
                </a:cubicBezTo>
                <a:cubicBezTo>
                  <a:pt x="154" y="2645"/>
                  <a:pt x="133" y="2601"/>
                  <a:pt x="114" y="2555"/>
                </a:cubicBezTo>
                <a:cubicBezTo>
                  <a:pt x="95" y="2510"/>
                  <a:pt x="78" y="2464"/>
                  <a:pt x="64" y="2417"/>
                </a:cubicBezTo>
                <a:cubicBezTo>
                  <a:pt x="50" y="2370"/>
                  <a:pt x="38" y="2322"/>
                  <a:pt x="28" y="2274"/>
                </a:cubicBezTo>
                <a:cubicBezTo>
                  <a:pt x="19" y="2226"/>
                  <a:pt x="12" y="2178"/>
                  <a:pt x="7" y="2129"/>
                </a:cubicBezTo>
                <a:cubicBezTo>
                  <a:pt x="2" y="2080"/>
                  <a:pt x="0" y="2031"/>
                  <a:pt x="0" y="1982"/>
                </a:cubicBezTo>
              </a:path>
            </a:pathLst>
          </a:custGeom>
          <a:ln w="18000">
            <a:solidFill>
              <a:srgbClr val="8b1538"/>
            </a:solidFill>
            <a:miter/>
          </a:ln>
        </p:spPr>
        <p:txBody>
          <a:bodyPr lIns="9000" rIns="9000" tIns="9000" bIns="900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2252520" y="2262240"/>
            <a:ext cx="90072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GRADING RULE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6370200" y="1899000"/>
            <a:ext cx="1104480" cy="34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960" strike="noStrike" u="none">
                <a:solidFill>
                  <a:srgbClr val="8b1538"/>
                </a:solidFill>
                <a:effectLst/>
                <a:uFillTx/>
                <a:latin typeface="Fraunces-Regular_opsz1B3333_wght2580000"/>
                <a:ea typeface="Fraunces-Regular_opsz1B3333_wght2580000"/>
              </a:rPr>
              <a:t>Attempt</a:t>
            </a:r>
            <a:endParaRPr b="0" lang="en-IN" sz="19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8988480" y="1542960"/>
            <a:ext cx="3785760" cy="1253160"/>
          </a:xfrm>
          <a:custGeom>
            <a:avLst/>
            <a:gdLst/>
            <a:ahLst/>
            <a:rect l="0" t="0" r="r" b="b"/>
            <a:pathLst>
              <a:path w="10516" h="3481">
                <a:moveTo>
                  <a:pt x="0" y="1982"/>
                </a:moveTo>
                <a:lnTo>
                  <a:pt x="0" y="1499"/>
                </a:lnTo>
                <a:cubicBezTo>
                  <a:pt x="0" y="1450"/>
                  <a:pt x="2" y="1401"/>
                  <a:pt x="7" y="1352"/>
                </a:cubicBezTo>
                <a:cubicBezTo>
                  <a:pt x="12" y="1304"/>
                  <a:pt x="19" y="1255"/>
                  <a:pt x="28" y="1207"/>
                </a:cubicBezTo>
                <a:cubicBezTo>
                  <a:pt x="38" y="1159"/>
                  <a:pt x="50" y="1111"/>
                  <a:pt x="64" y="1064"/>
                </a:cubicBezTo>
                <a:cubicBezTo>
                  <a:pt x="78" y="1017"/>
                  <a:pt x="95" y="971"/>
                  <a:pt x="114" y="925"/>
                </a:cubicBezTo>
                <a:cubicBezTo>
                  <a:pt x="133" y="880"/>
                  <a:pt x="154" y="835"/>
                  <a:pt x="177" y="792"/>
                </a:cubicBezTo>
                <a:cubicBezTo>
                  <a:pt x="200" y="749"/>
                  <a:pt x="225" y="707"/>
                  <a:pt x="252" y="666"/>
                </a:cubicBezTo>
                <a:cubicBezTo>
                  <a:pt x="280" y="625"/>
                  <a:pt x="309" y="586"/>
                  <a:pt x="340" y="548"/>
                </a:cubicBezTo>
                <a:cubicBezTo>
                  <a:pt x="371" y="510"/>
                  <a:pt x="404" y="473"/>
                  <a:pt x="439" y="439"/>
                </a:cubicBezTo>
                <a:cubicBezTo>
                  <a:pt x="473" y="404"/>
                  <a:pt x="510" y="371"/>
                  <a:pt x="548" y="340"/>
                </a:cubicBezTo>
                <a:cubicBezTo>
                  <a:pt x="586" y="309"/>
                  <a:pt x="625" y="280"/>
                  <a:pt x="666" y="252"/>
                </a:cubicBezTo>
                <a:cubicBezTo>
                  <a:pt x="707" y="225"/>
                  <a:pt x="749" y="200"/>
                  <a:pt x="792" y="177"/>
                </a:cubicBezTo>
                <a:cubicBezTo>
                  <a:pt x="835" y="154"/>
                  <a:pt x="879" y="133"/>
                  <a:pt x="925" y="114"/>
                </a:cubicBezTo>
                <a:cubicBezTo>
                  <a:pt x="970" y="95"/>
                  <a:pt x="1016" y="79"/>
                  <a:pt x="1063" y="64"/>
                </a:cubicBezTo>
                <a:cubicBezTo>
                  <a:pt x="1110" y="50"/>
                  <a:pt x="1158" y="38"/>
                  <a:pt x="1206" y="29"/>
                </a:cubicBezTo>
                <a:cubicBezTo>
                  <a:pt x="1254" y="19"/>
                  <a:pt x="1303" y="12"/>
                  <a:pt x="1352" y="7"/>
                </a:cubicBezTo>
                <a:cubicBezTo>
                  <a:pt x="1401" y="2"/>
                  <a:pt x="1450" y="0"/>
                  <a:pt x="1499" y="0"/>
                </a:cubicBezTo>
                <a:lnTo>
                  <a:pt x="9018" y="0"/>
                </a:lnTo>
                <a:cubicBezTo>
                  <a:pt x="9067" y="0"/>
                  <a:pt x="9116" y="2"/>
                  <a:pt x="9165" y="7"/>
                </a:cubicBezTo>
                <a:cubicBezTo>
                  <a:pt x="9213" y="12"/>
                  <a:pt x="9262" y="19"/>
                  <a:pt x="9310" y="29"/>
                </a:cubicBezTo>
                <a:cubicBezTo>
                  <a:pt x="9358" y="38"/>
                  <a:pt x="9406" y="50"/>
                  <a:pt x="9453" y="64"/>
                </a:cubicBezTo>
                <a:cubicBezTo>
                  <a:pt x="9500" y="79"/>
                  <a:pt x="9546" y="95"/>
                  <a:pt x="9591" y="114"/>
                </a:cubicBezTo>
                <a:cubicBezTo>
                  <a:pt x="9637" y="133"/>
                  <a:pt x="9681" y="154"/>
                  <a:pt x="9724" y="177"/>
                </a:cubicBezTo>
                <a:cubicBezTo>
                  <a:pt x="9767" y="200"/>
                  <a:pt x="9809" y="225"/>
                  <a:pt x="9850" y="252"/>
                </a:cubicBezTo>
                <a:cubicBezTo>
                  <a:pt x="9891" y="280"/>
                  <a:pt x="9930" y="309"/>
                  <a:pt x="9968" y="340"/>
                </a:cubicBezTo>
                <a:cubicBezTo>
                  <a:pt x="10006" y="371"/>
                  <a:pt x="10043" y="404"/>
                  <a:pt x="10077" y="439"/>
                </a:cubicBezTo>
                <a:cubicBezTo>
                  <a:pt x="10112" y="473"/>
                  <a:pt x="10145" y="510"/>
                  <a:pt x="10176" y="548"/>
                </a:cubicBezTo>
                <a:cubicBezTo>
                  <a:pt x="10207" y="586"/>
                  <a:pt x="10236" y="625"/>
                  <a:pt x="10264" y="666"/>
                </a:cubicBezTo>
                <a:cubicBezTo>
                  <a:pt x="10291" y="707"/>
                  <a:pt x="10316" y="749"/>
                  <a:pt x="10339" y="792"/>
                </a:cubicBezTo>
                <a:cubicBezTo>
                  <a:pt x="10362" y="835"/>
                  <a:pt x="10383" y="880"/>
                  <a:pt x="10402" y="925"/>
                </a:cubicBezTo>
                <a:cubicBezTo>
                  <a:pt x="10421" y="971"/>
                  <a:pt x="10438" y="1017"/>
                  <a:pt x="10452" y="1064"/>
                </a:cubicBezTo>
                <a:cubicBezTo>
                  <a:pt x="10466" y="1111"/>
                  <a:pt x="10478" y="1159"/>
                  <a:pt x="10487" y="1207"/>
                </a:cubicBezTo>
                <a:cubicBezTo>
                  <a:pt x="10497" y="1255"/>
                  <a:pt x="10504" y="1304"/>
                  <a:pt x="10509" y="1352"/>
                </a:cubicBezTo>
                <a:cubicBezTo>
                  <a:pt x="10514" y="1401"/>
                  <a:pt x="10516" y="1450"/>
                  <a:pt x="10516" y="1499"/>
                </a:cubicBezTo>
                <a:lnTo>
                  <a:pt x="10516" y="1982"/>
                </a:lnTo>
                <a:cubicBezTo>
                  <a:pt x="10516" y="2031"/>
                  <a:pt x="10514" y="2080"/>
                  <a:pt x="10509" y="2129"/>
                </a:cubicBezTo>
                <a:cubicBezTo>
                  <a:pt x="10504" y="2178"/>
                  <a:pt x="10497" y="2226"/>
                  <a:pt x="10487" y="2274"/>
                </a:cubicBezTo>
                <a:cubicBezTo>
                  <a:pt x="10478" y="2322"/>
                  <a:pt x="10466" y="2370"/>
                  <a:pt x="10452" y="2417"/>
                </a:cubicBezTo>
                <a:cubicBezTo>
                  <a:pt x="10438" y="2464"/>
                  <a:pt x="10421" y="2510"/>
                  <a:pt x="10402" y="2555"/>
                </a:cubicBezTo>
                <a:cubicBezTo>
                  <a:pt x="10383" y="2601"/>
                  <a:pt x="10362" y="2645"/>
                  <a:pt x="10339" y="2688"/>
                </a:cubicBezTo>
                <a:cubicBezTo>
                  <a:pt x="10316" y="2732"/>
                  <a:pt x="10291" y="2774"/>
                  <a:pt x="10264" y="2815"/>
                </a:cubicBezTo>
                <a:cubicBezTo>
                  <a:pt x="10236" y="2855"/>
                  <a:pt x="10207" y="2895"/>
                  <a:pt x="10176" y="2933"/>
                </a:cubicBezTo>
                <a:cubicBezTo>
                  <a:pt x="10145" y="2971"/>
                  <a:pt x="10112" y="3007"/>
                  <a:pt x="10077" y="3042"/>
                </a:cubicBezTo>
                <a:cubicBezTo>
                  <a:pt x="10043" y="3076"/>
                  <a:pt x="10006" y="3109"/>
                  <a:pt x="9968" y="3140"/>
                </a:cubicBezTo>
                <a:cubicBezTo>
                  <a:pt x="9930" y="3172"/>
                  <a:pt x="9891" y="3201"/>
                  <a:pt x="9850" y="3228"/>
                </a:cubicBezTo>
                <a:cubicBezTo>
                  <a:pt x="9809" y="3255"/>
                  <a:pt x="9767" y="3280"/>
                  <a:pt x="9724" y="3304"/>
                </a:cubicBezTo>
                <a:cubicBezTo>
                  <a:pt x="9681" y="3327"/>
                  <a:pt x="9637" y="3348"/>
                  <a:pt x="9591" y="3366"/>
                </a:cubicBezTo>
                <a:cubicBezTo>
                  <a:pt x="9546" y="3385"/>
                  <a:pt x="9500" y="3402"/>
                  <a:pt x="9453" y="3416"/>
                </a:cubicBezTo>
                <a:cubicBezTo>
                  <a:pt x="9406" y="3430"/>
                  <a:pt x="9358" y="3442"/>
                  <a:pt x="9310" y="3452"/>
                </a:cubicBezTo>
                <a:cubicBezTo>
                  <a:pt x="9262" y="3461"/>
                  <a:pt x="9213" y="3469"/>
                  <a:pt x="9165" y="3473"/>
                </a:cubicBezTo>
                <a:cubicBezTo>
                  <a:pt x="9116" y="3478"/>
                  <a:pt x="9067" y="3481"/>
                  <a:pt x="9018" y="3481"/>
                </a:cubicBezTo>
                <a:lnTo>
                  <a:pt x="1499" y="3481"/>
                </a:lnTo>
                <a:cubicBezTo>
                  <a:pt x="1450" y="3481"/>
                  <a:pt x="1401" y="3478"/>
                  <a:pt x="1352" y="3473"/>
                </a:cubicBezTo>
                <a:cubicBezTo>
                  <a:pt x="1303" y="3469"/>
                  <a:pt x="1254" y="3461"/>
                  <a:pt x="1206" y="3452"/>
                </a:cubicBezTo>
                <a:cubicBezTo>
                  <a:pt x="1158" y="3442"/>
                  <a:pt x="1110" y="3430"/>
                  <a:pt x="1063" y="3416"/>
                </a:cubicBezTo>
                <a:cubicBezTo>
                  <a:pt x="1016" y="3402"/>
                  <a:pt x="970" y="3385"/>
                  <a:pt x="925" y="3366"/>
                </a:cubicBezTo>
                <a:cubicBezTo>
                  <a:pt x="879" y="3348"/>
                  <a:pt x="835" y="3327"/>
                  <a:pt x="792" y="3304"/>
                </a:cubicBezTo>
                <a:cubicBezTo>
                  <a:pt x="749" y="3280"/>
                  <a:pt x="707" y="3255"/>
                  <a:pt x="666" y="3228"/>
                </a:cubicBezTo>
                <a:cubicBezTo>
                  <a:pt x="625" y="3201"/>
                  <a:pt x="586" y="3172"/>
                  <a:pt x="548" y="3140"/>
                </a:cubicBezTo>
                <a:cubicBezTo>
                  <a:pt x="510" y="3109"/>
                  <a:pt x="473" y="3076"/>
                  <a:pt x="439" y="3042"/>
                </a:cubicBezTo>
                <a:cubicBezTo>
                  <a:pt x="404" y="3007"/>
                  <a:pt x="371" y="2971"/>
                  <a:pt x="340" y="2933"/>
                </a:cubicBezTo>
                <a:cubicBezTo>
                  <a:pt x="309" y="2895"/>
                  <a:pt x="280" y="2855"/>
                  <a:pt x="252" y="2815"/>
                </a:cubicBezTo>
                <a:cubicBezTo>
                  <a:pt x="225" y="2774"/>
                  <a:pt x="200" y="2732"/>
                  <a:pt x="177" y="2688"/>
                </a:cubicBezTo>
                <a:cubicBezTo>
                  <a:pt x="154" y="2645"/>
                  <a:pt x="133" y="2601"/>
                  <a:pt x="114" y="2555"/>
                </a:cubicBezTo>
                <a:cubicBezTo>
                  <a:pt x="95" y="2510"/>
                  <a:pt x="78" y="2464"/>
                  <a:pt x="64" y="2417"/>
                </a:cubicBezTo>
                <a:cubicBezTo>
                  <a:pt x="50" y="2370"/>
                  <a:pt x="38" y="2322"/>
                  <a:pt x="28" y="2274"/>
                </a:cubicBezTo>
                <a:cubicBezTo>
                  <a:pt x="19" y="2226"/>
                  <a:pt x="12" y="2178"/>
                  <a:pt x="7" y="2129"/>
                </a:cubicBezTo>
                <a:cubicBezTo>
                  <a:pt x="2" y="2080"/>
                  <a:pt x="0" y="2031"/>
                  <a:pt x="0" y="198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8988480" y="1542960"/>
            <a:ext cx="3785760" cy="1253160"/>
          </a:xfrm>
          <a:custGeom>
            <a:avLst/>
            <a:gdLst/>
            <a:ahLst/>
            <a:rect l="0" t="0" r="r" b="b"/>
            <a:pathLst>
              <a:path fill="none" w="10516" h="3481">
                <a:moveTo>
                  <a:pt x="0" y="1982"/>
                </a:moveTo>
                <a:lnTo>
                  <a:pt x="0" y="1499"/>
                </a:lnTo>
                <a:cubicBezTo>
                  <a:pt x="0" y="1450"/>
                  <a:pt x="2" y="1401"/>
                  <a:pt x="7" y="1352"/>
                </a:cubicBezTo>
                <a:cubicBezTo>
                  <a:pt x="12" y="1304"/>
                  <a:pt x="19" y="1255"/>
                  <a:pt x="28" y="1207"/>
                </a:cubicBezTo>
                <a:cubicBezTo>
                  <a:pt x="38" y="1159"/>
                  <a:pt x="50" y="1111"/>
                  <a:pt x="64" y="1064"/>
                </a:cubicBezTo>
                <a:cubicBezTo>
                  <a:pt x="78" y="1017"/>
                  <a:pt x="95" y="971"/>
                  <a:pt x="114" y="925"/>
                </a:cubicBezTo>
                <a:cubicBezTo>
                  <a:pt x="133" y="880"/>
                  <a:pt x="154" y="835"/>
                  <a:pt x="177" y="792"/>
                </a:cubicBezTo>
                <a:cubicBezTo>
                  <a:pt x="200" y="749"/>
                  <a:pt x="225" y="707"/>
                  <a:pt x="252" y="666"/>
                </a:cubicBezTo>
                <a:cubicBezTo>
                  <a:pt x="280" y="625"/>
                  <a:pt x="309" y="586"/>
                  <a:pt x="340" y="548"/>
                </a:cubicBezTo>
                <a:cubicBezTo>
                  <a:pt x="371" y="510"/>
                  <a:pt x="404" y="473"/>
                  <a:pt x="439" y="439"/>
                </a:cubicBezTo>
                <a:cubicBezTo>
                  <a:pt x="473" y="404"/>
                  <a:pt x="510" y="371"/>
                  <a:pt x="548" y="340"/>
                </a:cubicBezTo>
                <a:cubicBezTo>
                  <a:pt x="586" y="309"/>
                  <a:pt x="625" y="280"/>
                  <a:pt x="666" y="252"/>
                </a:cubicBezTo>
                <a:cubicBezTo>
                  <a:pt x="707" y="225"/>
                  <a:pt x="749" y="200"/>
                  <a:pt x="792" y="177"/>
                </a:cubicBezTo>
                <a:cubicBezTo>
                  <a:pt x="835" y="154"/>
                  <a:pt x="879" y="133"/>
                  <a:pt x="925" y="114"/>
                </a:cubicBezTo>
                <a:cubicBezTo>
                  <a:pt x="970" y="95"/>
                  <a:pt x="1016" y="79"/>
                  <a:pt x="1063" y="64"/>
                </a:cubicBezTo>
                <a:cubicBezTo>
                  <a:pt x="1110" y="50"/>
                  <a:pt x="1158" y="38"/>
                  <a:pt x="1206" y="29"/>
                </a:cubicBezTo>
                <a:cubicBezTo>
                  <a:pt x="1254" y="19"/>
                  <a:pt x="1303" y="12"/>
                  <a:pt x="1352" y="7"/>
                </a:cubicBezTo>
                <a:cubicBezTo>
                  <a:pt x="1401" y="2"/>
                  <a:pt x="1450" y="0"/>
                  <a:pt x="1499" y="0"/>
                </a:cubicBezTo>
                <a:lnTo>
                  <a:pt x="9018" y="0"/>
                </a:lnTo>
                <a:cubicBezTo>
                  <a:pt x="9067" y="0"/>
                  <a:pt x="9116" y="2"/>
                  <a:pt x="9165" y="7"/>
                </a:cubicBezTo>
                <a:cubicBezTo>
                  <a:pt x="9213" y="12"/>
                  <a:pt x="9262" y="19"/>
                  <a:pt x="9310" y="29"/>
                </a:cubicBezTo>
                <a:cubicBezTo>
                  <a:pt x="9358" y="38"/>
                  <a:pt x="9406" y="50"/>
                  <a:pt x="9453" y="64"/>
                </a:cubicBezTo>
                <a:cubicBezTo>
                  <a:pt x="9500" y="79"/>
                  <a:pt x="9546" y="95"/>
                  <a:pt x="9591" y="114"/>
                </a:cubicBezTo>
                <a:cubicBezTo>
                  <a:pt x="9637" y="133"/>
                  <a:pt x="9681" y="154"/>
                  <a:pt x="9724" y="177"/>
                </a:cubicBezTo>
                <a:cubicBezTo>
                  <a:pt x="9767" y="200"/>
                  <a:pt x="9809" y="225"/>
                  <a:pt x="9850" y="252"/>
                </a:cubicBezTo>
                <a:cubicBezTo>
                  <a:pt x="9891" y="280"/>
                  <a:pt x="9930" y="309"/>
                  <a:pt x="9968" y="340"/>
                </a:cubicBezTo>
                <a:cubicBezTo>
                  <a:pt x="10006" y="371"/>
                  <a:pt x="10043" y="404"/>
                  <a:pt x="10077" y="439"/>
                </a:cubicBezTo>
                <a:cubicBezTo>
                  <a:pt x="10112" y="473"/>
                  <a:pt x="10145" y="510"/>
                  <a:pt x="10176" y="548"/>
                </a:cubicBezTo>
                <a:cubicBezTo>
                  <a:pt x="10207" y="586"/>
                  <a:pt x="10236" y="625"/>
                  <a:pt x="10264" y="666"/>
                </a:cubicBezTo>
                <a:cubicBezTo>
                  <a:pt x="10291" y="707"/>
                  <a:pt x="10316" y="749"/>
                  <a:pt x="10339" y="792"/>
                </a:cubicBezTo>
                <a:cubicBezTo>
                  <a:pt x="10362" y="835"/>
                  <a:pt x="10383" y="880"/>
                  <a:pt x="10402" y="925"/>
                </a:cubicBezTo>
                <a:cubicBezTo>
                  <a:pt x="10421" y="971"/>
                  <a:pt x="10438" y="1017"/>
                  <a:pt x="10452" y="1064"/>
                </a:cubicBezTo>
                <a:cubicBezTo>
                  <a:pt x="10466" y="1111"/>
                  <a:pt x="10478" y="1159"/>
                  <a:pt x="10487" y="1207"/>
                </a:cubicBezTo>
                <a:cubicBezTo>
                  <a:pt x="10497" y="1255"/>
                  <a:pt x="10504" y="1304"/>
                  <a:pt x="10509" y="1352"/>
                </a:cubicBezTo>
                <a:cubicBezTo>
                  <a:pt x="10514" y="1401"/>
                  <a:pt x="10516" y="1450"/>
                  <a:pt x="10516" y="1499"/>
                </a:cubicBezTo>
                <a:lnTo>
                  <a:pt x="10516" y="1982"/>
                </a:lnTo>
                <a:cubicBezTo>
                  <a:pt x="10516" y="2031"/>
                  <a:pt x="10514" y="2080"/>
                  <a:pt x="10509" y="2129"/>
                </a:cubicBezTo>
                <a:cubicBezTo>
                  <a:pt x="10504" y="2178"/>
                  <a:pt x="10497" y="2226"/>
                  <a:pt x="10487" y="2274"/>
                </a:cubicBezTo>
                <a:cubicBezTo>
                  <a:pt x="10478" y="2322"/>
                  <a:pt x="10466" y="2370"/>
                  <a:pt x="10452" y="2417"/>
                </a:cubicBezTo>
                <a:cubicBezTo>
                  <a:pt x="10438" y="2464"/>
                  <a:pt x="10421" y="2510"/>
                  <a:pt x="10402" y="2555"/>
                </a:cubicBezTo>
                <a:cubicBezTo>
                  <a:pt x="10383" y="2601"/>
                  <a:pt x="10362" y="2645"/>
                  <a:pt x="10339" y="2688"/>
                </a:cubicBezTo>
                <a:cubicBezTo>
                  <a:pt x="10316" y="2732"/>
                  <a:pt x="10291" y="2774"/>
                  <a:pt x="10264" y="2815"/>
                </a:cubicBezTo>
                <a:cubicBezTo>
                  <a:pt x="10236" y="2855"/>
                  <a:pt x="10207" y="2895"/>
                  <a:pt x="10176" y="2933"/>
                </a:cubicBezTo>
                <a:cubicBezTo>
                  <a:pt x="10145" y="2971"/>
                  <a:pt x="10112" y="3007"/>
                  <a:pt x="10077" y="3042"/>
                </a:cubicBezTo>
                <a:cubicBezTo>
                  <a:pt x="10043" y="3076"/>
                  <a:pt x="10006" y="3109"/>
                  <a:pt x="9968" y="3140"/>
                </a:cubicBezTo>
                <a:cubicBezTo>
                  <a:pt x="9930" y="3172"/>
                  <a:pt x="9891" y="3201"/>
                  <a:pt x="9850" y="3228"/>
                </a:cubicBezTo>
                <a:cubicBezTo>
                  <a:pt x="9809" y="3255"/>
                  <a:pt x="9767" y="3280"/>
                  <a:pt x="9724" y="3304"/>
                </a:cubicBezTo>
                <a:cubicBezTo>
                  <a:pt x="9681" y="3327"/>
                  <a:pt x="9637" y="3348"/>
                  <a:pt x="9591" y="3366"/>
                </a:cubicBezTo>
                <a:cubicBezTo>
                  <a:pt x="9546" y="3385"/>
                  <a:pt x="9500" y="3402"/>
                  <a:pt x="9453" y="3416"/>
                </a:cubicBezTo>
                <a:cubicBezTo>
                  <a:pt x="9406" y="3430"/>
                  <a:pt x="9358" y="3442"/>
                  <a:pt x="9310" y="3452"/>
                </a:cubicBezTo>
                <a:cubicBezTo>
                  <a:pt x="9262" y="3461"/>
                  <a:pt x="9213" y="3469"/>
                  <a:pt x="9165" y="3473"/>
                </a:cubicBezTo>
                <a:cubicBezTo>
                  <a:pt x="9116" y="3478"/>
                  <a:pt x="9067" y="3481"/>
                  <a:pt x="9018" y="3481"/>
                </a:cubicBezTo>
                <a:lnTo>
                  <a:pt x="1499" y="3481"/>
                </a:lnTo>
                <a:cubicBezTo>
                  <a:pt x="1450" y="3481"/>
                  <a:pt x="1401" y="3478"/>
                  <a:pt x="1352" y="3473"/>
                </a:cubicBezTo>
                <a:cubicBezTo>
                  <a:pt x="1303" y="3469"/>
                  <a:pt x="1254" y="3461"/>
                  <a:pt x="1206" y="3452"/>
                </a:cubicBezTo>
                <a:cubicBezTo>
                  <a:pt x="1158" y="3442"/>
                  <a:pt x="1110" y="3430"/>
                  <a:pt x="1063" y="3416"/>
                </a:cubicBezTo>
                <a:cubicBezTo>
                  <a:pt x="1016" y="3402"/>
                  <a:pt x="970" y="3385"/>
                  <a:pt x="925" y="3366"/>
                </a:cubicBezTo>
                <a:cubicBezTo>
                  <a:pt x="879" y="3348"/>
                  <a:pt x="835" y="3327"/>
                  <a:pt x="792" y="3304"/>
                </a:cubicBezTo>
                <a:cubicBezTo>
                  <a:pt x="749" y="3280"/>
                  <a:pt x="707" y="3255"/>
                  <a:pt x="666" y="3228"/>
                </a:cubicBezTo>
                <a:cubicBezTo>
                  <a:pt x="625" y="3201"/>
                  <a:pt x="586" y="3172"/>
                  <a:pt x="548" y="3140"/>
                </a:cubicBezTo>
                <a:cubicBezTo>
                  <a:pt x="510" y="3109"/>
                  <a:pt x="473" y="3076"/>
                  <a:pt x="439" y="3042"/>
                </a:cubicBezTo>
                <a:cubicBezTo>
                  <a:pt x="404" y="3007"/>
                  <a:pt x="371" y="2971"/>
                  <a:pt x="340" y="2933"/>
                </a:cubicBezTo>
                <a:cubicBezTo>
                  <a:pt x="309" y="2895"/>
                  <a:pt x="280" y="2855"/>
                  <a:pt x="252" y="2815"/>
                </a:cubicBezTo>
                <a:cubicBezTo>
                  <a:pt x="225" y="2774"/>
                  <a:pt x="200" y="2732"/>
                  <a:pt x="177" y="2688"/>
                </a:cubicBezTo>
                <a:cubicBezTo>
                  <a:pt x="154" y="2645"/>
                  <a:pt x="133" y="2601"/>
                  <a:pt x="114" y="2555"/>
                </a:cubicBezTo>
                <a:cubicBezTo>
                  <a:pt x="95" y="2510"/>
                  <a:pt x="78" y="2464"/>
                  <a:pt x="64" y="2417"/>
                </a:cubicBezTo>
                <a:cubicBezTo>
                  <a:pt x="50" y="2370"/>
                  <a:pt x="38" y="2322"/>
                  <a:pt x="28" y="2274"/>
                </a:cubicBezTo>
                <a:cubicBezTo>
                  <a:pt x="19" y="2226"/>
                  <a:pt x="12" y="2178"/>
                  <a:pt x="7" y="2129"/>
                </a:cubicBezTo>
                <a:cubicBezTo>
                  <a:pt x="2" y="2080"/>
                  <a:pt x="0" y="2031"/>
                  <a:pt x="0" y="1982"/>
                </a:cubicBezTo>
              </a:path>
            </a:pathLst>
          </a:custGeom>
          <a:ln w="18000">
            <a:solidFill>
              <a:srgbClr val="b8860b"/>
            </a:solidFill>
            <a:miter/>
          </a:ln>
        </p:spPr>
        <p:txBody>
          <a:bodyPr lIns="9000" rIns="9000" tIns="9000" bIns="900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6275880" y="2262240"/>
            <a:ext cx="90072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PAST VERDICT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10572480" y="1899000"/>
            <a:ext cx="732240" cy="34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960" strike="noStrike" u="none">
                <a:solidFill>
                  <a:srgbClr val="b8860b"/>
                </a:solidFill>
                <a:effectLst/>
                <a:uFillTx/>
                <a:latin typeface="Fraunces-Regular_opsz1B3333_wght2580000"/>
                <a:ea typeface="Fraunces-Regular_opsz1B3333_wght2580000"/>
              </a:rPr>
              <a:t>Issue</a:t>
            </a:r>
            <a:endParaRPr b="0" lang="en-IN" sz="19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941760" y="3033360"/>
            <a:ext cx="3785760" cy="1243800"/>
          </a:xfrm>
          <a:custGeom>
            <a:avLst/>
            <a:gdLst/>
            <a:ahLst/>
            <a:rect l="0" t="0" r="r" b="b"/>
            <a:pathLst>
              <a:path w="10516" h="3455">
                <a:moveTo>
                  <a:pt x="0" y="1957"/>
                </a:moveTo>
                <a:lnTo>
                  <a:pt x="0" y="1500"/>
                </a:lnTo>
                <a:cubicBezTo>
                  <a:pt x="0" y="1450"/>
                  <a:pt x="2" y="1402"/>
                  <a:pt x="7" y="1353"/>
                </a:cubicBezTo>
                <a:cubicBezTo>
                  <a:pt x="12" y="1304"/>
                  <a:pt x="19" y="1255"/>
                  <a:pt x="28" y="1207"/>
                </a:cubicBezTo>
                <a:cubicBezTo>
                  <a:pt x="38" y="1159"/>
                  <a:pt x="50" y="1111"/>
                  <a:pt x="64" y="1065"/>
                </a:cubicBezTo>
                <a:cubicBezTo>
                  <a:pt x="78" y="1018"/>
                  <a:pt x="95" y="971"/>
                  <a:pt x="114" y="926"/>
                </a:cubicBezTo>
                <a:cubicBezTo>
                  <a:pt x="133" y="881"/>
                  <a:pt x="154" y="836"/>
                  <a:pt x="177" y="793"/>
                </a:cubicBezTo>
                <a:cubicBezTo>
                  <a:pt x="200" y="750"/>
                  <a:pt x="225" y="708"/>
                  <a:pt x="252" y="667"/>
                </a:cubicBezTo>
                <a:cubicBezTo>
                  <a:pt x="280" y="626"/>
                  <a:pt x="309" y="587"/>
                  <a:pt x="340" y="549"/>
                </a:cubicBezTo>
                <a:cubicBezTo>
                  <a:pt x="371" y="511"/>
                  <a:pt x="404" y="475"/>
                  <a:pt x="439" y="440"/>
                </a:cubicBezTo>
                <a:cubicBezTo>
                  <a:pt x="473" y="405"/>
                  <a:pt x="510" y="372"/>
                  <a:pt x="548" y="341"/>
                </a:cubicBezTo>
                <a:cubicBezTo>
                  <a:pt x="586" y="310"/>
                  <a:pt x="625" y="281"/>
                  <a:pt x="666" y="254"/>
                </a:cubicBezTo>
                <a:cubicBezTo>
                  <a:pt x="707" y="226"/>
                  <a:pt x="749" y="200"/>
                  <a:pt x="792" y="177"/>
                </a:cubicBezTo>
                <a:cubicBezTo>
                  <a:pt x="835" y="154"/>
                  <a:pt x="879" y="133"/>
                  <a:pt x="925" y="114"/>
                </a:cubicBezTo>
                <a:cubicBezTo>
                  <a:pt x="970" y="95"/>
                  <a:pt x="1016" y="79"/>
                  <a:pt x="1063" y="64"/>
                </a:cubicBezTo>
                <a:cubicBezTo>
                  <a:pt x="1110" y="50"/>
                  <a:pt x="1158" y="38"/>
                  <a:pt x="1206" y="29"/>
                </a:cubicBezTo>
                <a:cubicBezTo>
                  <a:pt x="1254" y="19"/>
                  <a:pt x="1303" y="12"/>
                  <a:pt x="1351" y="7"/>
                </a:cubicBezTo>
                <a:cubicBezTo>
                  <a:pt x="1400" y="2"/>
                  <a:pt x="1449" y="0"/>
                  <a:pt x="1498" y="0"/>
                </a:cubicBezTo>
                <a:lnTo>
                  <a:pt x="9018" y="0"/>
                </a:lnTo>
                <a:cubicBezTo>
                  <a:pt x="9067" y="0"/>
                  <a:pt x="9116" y="2"/>
                  <a:pt x="9165" y="7"/>
                </a:cubicBezTo>
                <a:cubicBezTo>
                  <a:pt x="9213" y="12"/>
                  <a:pt x="9262" y="19"/>
                  <a:pt x="9310" y="29"/>
                </a:cubicBezTo>
                <a:cubicBezTo>
                  <a:pt x="9358" y="38"/>
                  <a:pt x="9406" y="50"/>
                  <a:pt x="9453" y="64"/>
                </a:cubicBezTo>
                <a:cubicBezTo>
                  <a:pt x="9500" y="79"/>
                  <a:pt x="9546" y="95"/>
                  <a:pt x="9591" y="114"/>
                </a:cubicBezTo>
                <a:cubicBezTo>
                  <a:pt x="9637" y="133"/>
                  <a:pt x="9681" y="154"/>
                  <a:pt x="9724" y="177"/>
                </a:cubicBezTo>
                <a:cubicBezTo>
                  <a:pt x="9767" y="200"/>
                  <a:pt x="9809" y="226"/>
                  <a:pt x="9850" y="254"/>
                </a:cubicBezTo>
                <a:cubicBezTo>
                  <a:pt x="9891" y="281"/>
                  <a:pt x="9930" y="310"/>
                  <a:pt x="9968" y="341"/>
                </a:cubicBezTo>
                <a:cubicBezTo>
                  <a:pt x="10006" y="372"/>
                  <a:pt x="10043" y="405"/>
                  <a:pt x="10077" y="440"/>
                </a:cubicBezTo>
                <a:cubicBezTo>
                  <a:pt x="10112" y="475"/>
                  <a:pt x="10145" y="511"/>
                  <a:pt x="10176" y="549"/>
                </a:cubicBezTo>
                <a:cubicBezTo>
                  <a:pt x="10207" y="587"/>
                  <a:pt x="10236" y="626"/>
                  <a:pt x="10264" y="667"/>
                </a:cubicBezTo>
                <a:cubicBezTo>
                  <a:pt x="10291" y="708"/>
                  <a:pt x="10316" y="750"/>
                  <a:pt x="10339" y="793"/>
                </a:cubicBezTo>
                <a:cubicBezTo>
                  <a:pt x="10362" y="836"/>
                  <a:pt x="10383" y="881"/>
                  <a:pt x="10402" y="926"/>
                </a:cubicBezTo>
                <a:cubicBezTo>
                  <a:pt x="10421" y="971"/>
                  <a:pt x="10438" y="1018"/>
                  <a:pt x="10452" y="1065"/>
                </a:cubicBezTo>
                <a:cubicBezTo>
                  <a:pt x="10466" y="1111"/>
                  <a:pt x="10478" y="1159"/>
                  <a:pt x="10488" y="1207"/>
                </a:cubicBezTo>
                <a:cubicBezTo>
                  <a:pt x="10497" y="1255"/>
                  <a:pt x="10504" y="1304"/>
                  <a:pt x="10509" y="1353"/>
                </a:cubicBezTo>
                <a:cubicBezTo>
                  <a:pt x="10514" y="1402"/>
                  <a:pt x="10516" y="1450"/>
                  <a:pt x="10516" y="1500"/>
                </a:cubicBezTo>
                <a:lnTo>
                  <a:pt x="10516" y="1957"/>
                </a:lnTo>
                <a:cubicBezTo>
                  <a:pt x="10516" y="2006"/>
                  <a:pt x="10514" y="2055"/>
                  <a:pt x="10509" y="2104"/>
                </a:cubicBezTo>
                <a:cubicBezTo>
                  <a:pt x="10504" y="2152"/>
                  <a:pt x="10497" y="2201"/>
                  <a:pt x="10488" y="2249"/>
                </a:cubicBezTo>
                <a:cubicBezTo>
                  <a:pt x="10478" y="2297"/>
                  <a:pt x="10466" y="2345"/>
                  <a:pt x="10452" y="2392"/>
                </a:cubicBezTo>
                <a:cubicBezTo>
                  <a:pt x="10438" y="2439"/>
                  <a:pt x="10421" y="2485"/>
                  <a:pt x="10402" y="2530"/>
                </a:cubicBezTo>
                <a:cubicBezTo>
                  <a:pt x="10383" y="2576"/>
                  <a:pt x="10362" y="2620"/>
                  <a:pt x="10339" y="2663"/>
                </a:cubicBezTo>
                <a:cubicBezTo>
                  <a:pt x="10316" y="2706"/>
                  <a:pt x="10291" y="2749"/>
                  <a:pt x="10264" y="2789"/>
                </a:cubicBezTo>
                <a:cubicBezTo>
                  <a:pt x="10236" y="2830"/>
                  <a:pt x="10207" y="2870"/>
                  <a:pt x="10176" y="2907"/>
                </a:cubicBezTo>
                <a:cubicBezTo>
                  <a:pt x="10145" y="2945"/>
                  <a:pt x="10112" y="2982"/>
                  <a:pt x="10077" y="3016"/>
                </a:cubicBezTo>
                <a:cubicBezTo>
                  <a:pt x="10043" y="3051"/>
                  <a:pt x="10006" y="3084"/>
                  <a:pt x="9968" y="3115"/>
                </a:cubicBezTo>
                <a:cubicBezTo>
                  <a:pt x="9930" y="3146"/>
                  <a:pt x="9891" y="3176"/>
                  <a:pt x="9850" y="3203"/>
                </a:cubicBezTo>
                <a:cubicBezTo>
                  <a:pt x="9809" y="3230"/>
                  <a:pt x="9767" y="3255"/>
                  <a:pt x="9724" y="3278"/>
                </a:cubicBezTo>
                <a:cubicBezTo>
                  <a:pt x="9681" y="3302"/>
                  <a:pt x="9637" y="3322"/>
                  <a:pt x="9591" y="3341"/>
                </a:cubicBezTo>
                <a:cubicBezTo>
                  <a:pt x="9546" y="3360"/>
                  <a:pt x="9500" y="3377"/>
                  <a:pt x="9453" y="3391"/>
                </a:cubicBezTo>
                <a:cubicBezTo>
                  <a:pt x="9406" y="3405"/>
                  <a:pt x="9358" y="3417"/>
                  <a:pt x="9310" y="3427"/>
                </a:cubicBezTo>
                <a:cubicBezTo>
                  <a:pt x="9262" y="3436"/>
                  <a:pt x="9213" y="3443"/>
                  <a:pt x="9165" y="3448"/>
                </a:cubicBezTo>
                <a:cubicBezTo>
                  <a:pt x="9116" y="3453"/>
                  <a:pt x="9067" y="3455"/>
                  <a:pt x="9018" y="3455"/>
                </a:cubicBezTo>
                <a:lnTo>
                  <a:pt x="1498" y="3455"/>
                </a:lnTo>
                <a:cubicBezTo>
                  <a:pt x="1449" y="3455"/>
                  <a:pt x="1400" y="3453"/>
                  <a:pt x="1351" y="3448"/>
                </a:cubicBezTo>
                <a:cubicBezTo>
                  <a:pt x="1303" y="3443"/>
                  <a:pt x="1254" y="3436"/>
                  <a:pt x="1206" y="3427"/>
                </a:cubicBezTo>
                <a:cubicBezTo>
                  <a:pt x="1158" y="3417"/>
                  <a:pt x="1110" y="3405"/>
                  <a:pt x="1063" y="3391"/>
                </a:cubicBezTo>
                <a:cubicBezTo>
                  <a:pt x="1016" y="3377"/>
                  <a:pt x="970" y="3360"/>
                  <a:pt x="925" y="3341"/>
                </a:cubicBezTo>
                <a:cubicBezTo>
                  <a:pt x="879" y="3322"/>
                  <a:pt x="835" y="3302"/>
                  <a:pt x="792" y="3278"/>
                </a:cubicBezTo>
                <a:cubicBezTo>
                  <a:pt x="749" y="3255"/>
                  <a:pt x="707" y="3230"/>
                  <a:pt x="666" y="3203"/>
                </a:cubicBezTo>
                <a:cubicBezTo>
                  <a:pt x="625" y="3176"/>
                  <a:pt x="586" y="3146"/>
                  <a:pt x="548" y="3115"/>
                </a:cubicBezTo>
                <a:cubicBezTo>
                  <a:pt x="510" y="3084"/>
                  <a:pt x="473" y="3051"/>
                  <a:pt x="439" y="3016"/>
                </a:cubicBezTo>
                <a:cubicBezTo>
                  <a:pt x="404" y="2982"/>
                  <a:pt x="371" y="2945"/>
                  <a:pt x="340" y="2907"/>
                </a:cubicBezTo>
                <a:cubicBezTo>
                  <a:pt x="309" y="2870"/>
                  <a:pt x="280" y="2830"/>
                  <a:pt x="252" y="2789"/>
                </a:cubicBezTo>
                <a:cubicBezTo>
                  <a:pt x="225" y="2749"/>
                  <a:pt x="200" y="2706"/>
                  <a:pt x="177" y="2663"/>
                </a:cubicBezTo>
                <a:cubicBezTo>
                  <a:pt x="154" y="2620"/>
                  <a:pt x="133" y="2576"/>
                  <a:pt x="114" y="2530"/>
                </a:cubicBezTo>
                <a:cubicBezTo>
                  <a:pt x="95" y="2485"/>
                  <a:pt x="78" y="2439"/>
                  <a:pt x="64" y="2392"/>
                </a:cubicBezTo>
                <a:cubicBezTo>
                  <a:pt x="50" y="2345"/>
                  <a:pt x="38" y="2297"/>
                  <a:pt x="28" y="2249"/>
                </a:cubicBezTo>
                <a:cubicBezTo>
                  <a:pt x="19" y="2201"/>
                  <a:pt x="12" y="2152"/>
                  <a:pt x="7" y="2104"/>
                </a:cubicBezTo>
                <a:cubicBezTo>
                  <a:pt x="2" y="2055"/>
                  <a:pt x="0" y="2006"/>
                  <a:pt x="0" y="195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941760" y="3033360"/>
            <a:ext cx="3785760" cy="1243800"/>
          </a:xfrm>
          <a:custGeom>
            <a:avLst/>
            <a:gdLst/>
            <a:ahLst/>
            <a:rect l="0" t="0" r="r" b="b"/>
            <a:pathLst>
              <a:path fill="none" w="10516" h="3455">
                <a:moveTo>
                  <a:pt x="0" y="1957"/>
                </a:moveTo>
                <a:lnTo>
                  <a:pt x="0" y="1500"/>
                </a:lnTo>
                <a:cubicBezTo>
                  <a:pt x="0" y="1450"/>
                  <a:pt x="2" y="1402"/>
                  <a:pt x="7" y="1353"/>
                </a:cubicBezTo>
                <a:cubicBezTo>
                  <a:pt x="12" y="1304"/>
                  <a:pt x="19" y="1255"/>
                  <a:pt x="28" y="1207"/>
                </a:cubicBezTo>
                <a:cubicBezTo>
                  <a:pt x="38" y="1159"/>
                  <a:pt x="50" y="1111"/>
                  <a:pt x="64" y="1065"/>
                </a:cubicBezTo>
                <a:cubicBezTo>
                  <a:pt x="78" y="1018"/>
                  <a:pt x="95" y="971"/>
                  <a:pt x="114" y="926"/>
                </a:cubicBezTo>
                <a:cubicBezTo>
                  <a:pt x="133" y="881"/>
                  <a:pt x="154" y="836"/>
                  <a:pt x="177" y="793"/>
                </a:cubicBezTo>
                <a:cubicBezTo>
                  <a:pt x="200" y="750"/>
                  <a:pt x="225" y="708"/>
                  <a:pt x="252" y="667"/>
                </a:cubicBezTo>
                <a:cubicBezTo>
                  <a:pt x="280" y="626"/>
                  <a:pt x="309" y="587"/>
                  <a:pt x="340" y="549"/>
                </a:cubicBezTo>
                <a:cubicBezTo>
                  <a:pt x="371" y="511"/>
                  <a:pt x="404" y="475"/>
                  <a:pt x="439" y="440"/>
                </a:cubicBezTo>
                <a:cubicBezTo>
                  <a:pt x="473" y="405"/>
                  <a:pt x="510" y="372"/>
                  <a:pt x="548" y="341"/>
                </a:cubicBezTo>
                <a:cubicBezTo>
                  <a:pt x="586" y="310"/>
                  <a:pt x="625" y="281"/>
                  <a:pt x="666" y="254"/>
                </a:cubicBezTo>
                <a:cubicBezTo>
                  <a:pt x="707" y="226"/>
                  <a:pt x="749" y="200"/>
                  <a:pt x="792" y="177"/>
                </a:cubicBezTo>
                <a:cubicBezTo>
                  <a:pt x="835" y="154"/>
                  <a:pt x="879" y="133"/>
                  <a:pt x="925" y="114"/>
                </a:cubicBezTo>
                <a:cubicBezTo>
                  <a:pt x="970" y="95"/>
                  <a:pt x="1016" y="79"/>
                  <a:pt x="1063" y="64"/>
                </a:cubicBezTo>
                <a:cubicBezTo>
                  <a:pt x="1110" y="50"/>
                  <a:pt x="1158" y="38"/>
                  <a:pt x="1206" y="29"/>
                </a:cubicBezTo>
                <a:cubicBezTo>
                  <a:pt x="1254" y="19"/>
                  <a:pt x="1303" y="12"/>
                  <a:pt x="1351" y="7"/>
                </a:cubicBezTo>
                <a:cubicBezTo>
                  <a:pt x="1400" y="2"/>
                  <a:pt x="1449" y="0"/>
                  <a:pt x="1498" y="0"/>
                </a:cubicBezTo>
                <a:lnTo>
                  <a:pt x="9018" y="0"/>
                </a:lnTo>
                <a:cubicBezTo>
                  <a:pt x="9067" y="0"/>
                  <a:pt x="9116" y="2"/>
                  <a:pt x="9165" y="7"/>
                </a:cubicBezTo>
                <a:cubicBezTo>
                  <a:pt x="9213" y="12"/>
                  <a:pt x="9262" y="19"/>
                  <a:pt x="9310" y="29"/>
                </a:cubicBezTo>
                <a:cubicBezTo>
                  <a:pt x="9358" y="38"/>
                  <a:pt x="9406" y="50"/>
                  <a:pt x="9453" y="64"/>
                </a:cubicBezTo>
                <a:cubicBezTo>
                  <a:pt x="9500" y="79"/>
                  <a:pt x="9546" y="95"/>
                  <a:pt x="9591" y="114"/>
                </a:cubicBezTo>
                <a:cubicBezTo>
                  <a:pt x="9637" y="133"/>
                  <a:pt x="9681" y="154"/>
                  <a:pt x="9724" y="177"/>
                </a:cubicBezTo>
                <a:cubicBezTo>
                  <a:pt x="9767" y="200"/>
                  <a:pt x="9809" y="226"/>
                  <a:pt x="9850" y="254"/>
                </a:cubicBezTo>
                <a:cubicBezTo>
                  <a:pt x="9891" y="281"/>
                  <a:pt x="9930" y="310"/>
                  <a:pt x="9968" y="341"/>
                </a:cubicBezTo>
                <a:cubicBezTo>
                  <a:pt x="10006" y="372"/>
                  <a:pt x="10043" y="405"/>
                  <a:pt x="10077" y="440"/>
                </a:cubicBezTo>
                <a:cubicBezTo>
                  <a:pt x="10112" y="475"/>
                  <a:pt x="10145" y="511"/>
                  <a:pt x="10176" y="549"/>
                </a:cubicBezTo>
                <a:cubicBezTo>
                  <a:pt x="10207" y="587"/>
                  <a:pt x="10236" y="626"/>
                  <a:pt x="10264" y="667"/>
                </a:cubicBezTo>
                <a:cubicBezTo>
                  <a:pt x="10291" y="708"/>
                  <a:pt x="10316" y="750"/>
                  <a:pt x="10339" y="793"/>
                </a:cubicBezTo>
                <a:cubicBezTo>
                  <a:pt x="10362" y="836"/>
                  <a:pt x="10383" y="881"/>
                  <a:pt x="10402" y="926"/>
                </a:cubicBezTo>
                <a:cubicBezTo>
                  <a:pt x="10421" y="971"/>
                  <a:pt x="10438" y="1018"/>
                  <a:pt x="10452" y="1065"/>
                </a:cubicBezTo>
                <a:cubicBezTo>
                  <a:pt x="10466" y="1111"/>
                  <a:pt x="10478" y="1159"/>
                  <a:pt x="10488" y="1207"/>
                </a:cubicBezTo>
                <a:cubicBezTo>
                  <a:pt x="10497" y="1255"/>
                  <a:pt x="10504" y="1304"/>
                  <a:pt x="10509" y="1353"/>
                </a:cubicBezTo>
                <a:cubicBezTo>
                  <a:pt x="10514" y="1402"/>
                  <a:pt x="10516" y="1450"/>
                  <a:pt x="10516" y="1500"/>
                </a:cubicBezTo>
                <a:lnTo>
                  <a:pt x="10516" y="1957"/>
                </a:lnTo>
                <a:cubicBezTo>
                  <a:pt x="10516" y="2006"/>
                  <a:pt x="10514" y="2055"/>
                  <a:pt x="10509" y="2104"/>
                </a:cubicBezTo>
                <a:cubicBezTo>
                  <a:pt x="10504" y="2152"/>
                  <a:pt x="10497" y="2201"/>
                  <a:pt x="10488" y="2249"/>
                </a:cubicBezTo>
                <a:cubicBezTo>
                  <a:pt x="10478" y="2297"/>
                  <a:pt x="10466" y="2345"/>
                  <a:pt x="10452" y="2392"/>
                </a:cubicBezTo>
                <a:cubicBezTo>
                  <a:pt x="10438" y="2439"/>
                  <a:pt x="10421" y="2485"/>
                  <a:pt x="10402" y="2530"/>
                </a:cubicBezTo>
                <a:cubicBezTo>
                  <a:pt x="10383" y="2576"/>
                  <a:pt x="10362" y="2620"/>
                  <a:pt x="10339" y="2663"/>
                </a:cubicBezTo>
                <a:cubicBezTo>
                  <a:pt x="10316" y="2706"/>
                  <a:pt x="10291" y="2749"/>
                  <a:pt x="10264" y="2789"/>
                </a:cubicBezTo>
                <a:cubicBezTo>
                  <a:pt x="10236" y="2830"/>
                  <a:pt x="10207" y="2870"/>
                  <a:pt x="10176" y="2907"/>
                </a:cubicBezTo>
                <a:cubicBezTo>
                  <a:pt x="10145" y="2945"/>
                  <a:pt x="10112" y="2982"/>
                  <a:pt x="10077" y="3016"/>
                </a:cubicBezTo>
                <a:cubicBezTo>
                  <a:pt x="10043" y="3051"/>
                  <a:pt x="10006" y="3084"/>
                  <a:pt x="9968" y="3115"/>
                </a:cubicBezTo>
                <a:cubicBezTo>
                  <a:pt x="9930" y="3146"/>
                  <a:pt x="9891" y="3176"/>
                  <a:pt x="9850" y="3203"/>
                </a:cubicBezTo>
                <a:cubicBezTo>
                  <a:pt x="9809" y="3230"/>
                  <a:pt x="9767" y="3255"/>
                  <a:pt x="9724" y="3278"/>
                </a:cubicBezTo>
                <a:cubicBezTo>
                  <a:pt x="9681" y="3302"/>
                  <a:pt x="9637" y="3322"/>
                  <a:pt x="9591" y="3341"/>
                </a:cubicBezTo>
                <a:cubicBezTo>
                  <a:pt x="9546" y="3360"/>
                  <a:pt x="9500" y="3377"/>
                  <a:pt x="9453" y="3391"/>
                </a:cubicBezTo>
                <a:cubicBezTo>
                  <a:pt x="9406" y="3405"/>
                  <a:pt x="9358" y="3417"/>
                  <a:pt x="9310" y="3427"/>
                </a:cubicBezTo>
                <a:cubicBezTo>
                  <a:pt x="9262" y="3436"/>
                  <a:pt x="9213" y="3443"/>
                  <a:pt x="9165" y="3448"/>
                </a:cubicBezTo>
                <a:cubicBezTo>
                  <a:pt x="9116" y="3453"/>
                  <a:pt x="9067" y="3455"/>
                  <a:pt x="9018" y="3455"/>
                </a:cubicBezTo>
                <a:lnTo>
                  <a:pt x="1498" y="3455"/>
                </a:lnTo>
                <a:cubicBezTo>
                  <a:pt x="1449" y="3455"/>
                  <a:pt x="1400" y="3453"/>
                  <a:pt x="1351" y="3448"/>
                </a:cubicBezTo>
                <a:cubicBezTo>
                  <a:pt x="1303" y="3443"/>
                  <a:pt x="1254" y="3436"/>
                  <a:pt x="1206" y="3427"/>
                </a:cubicBezTo>
                <a:cubicBezTo>
                  <a:pt x="1158" y="3417"/>
                  <a:pt x="1110" y="3405"/>
                  <a:pt x="1063" y="3391"/>
                </a:cubicBezTo>
                <a:cubicBezTo>
                  <a:pt x="1016" y="3377"/>
                  <a:pt x="970" y="3360"/>
                  <a:pt x="925" y="3341"/>
                </a:cubicBezTo>
                <a:cubicBezTo>
                  <a:pt x="879" y="3322"/>
                  <a:pt x="835" y="3302"/>
                  <a:pt x="792" y="3278"/>
                </a:cubicBezTo>
                <a:cubicBezTo>
                  <a:pt x="749" y="3255"/>
                  <a:pt x="707" y="3230"/>
                  <a:pt x="666" y="3203"/>
                </a:cubicBezTo>
                <a:cubicBezTo>
                  <a:pt x="625" y="3176"/>
                  <a:pt x="586" y="3146"/>
                  <a:pt x="548" y="3115"/>
                </a:cubicBezTo>
                <a:cubicBezTo>
                  <a:pt x="510" y="3084"/>
                  <a:pt x="473" y="3051"/>
                  <a:pt x="439" y="3016"/>
                </a:cubicBezTo>
                <a:cubicBezTo>
                  <a:pt x="404" y="2982"/>
                  <a:pt x="371" y="2945"/>
                  <a:pt x="340" y="2907"/>
                </a:cubicBezTo>
                <a:cubicBezTo>
                  <a:pt x="309" y="2870"/>
                  <a:pt x="280" y="2830"/>
                  <a:pt x="252" y="2789"/>
                </a:cubicBezTo>
                <a:cubicBezTo>
                  <a:pt x="225" y="2749"/>
                  <a:pt x="200" y="2706"/>
                  <a:pt x="177" y="2663"/>
                </a:cubicBezTo>
                <a:cubicBezTo>
                  <a:pt x="154" y="2620"/>
                  <a:pt x="133" y="2576"/>
                  <a:pt x="114" y="2530"/>
                </a:cubicBezTo>
                <a:cubicBezTo>
                  <a:pt x="95" y="2485"/>
                  <a:pt x="78" y="2439"/>
                  <a:pt x="64" y="2392"/>
                </a:cubicBezTo>
                <a:cubicBezTo>
                  <a:pt x="50" y="2345"/>
                  <a:pt x="38" y="2297"/>
                  <a:pt x="28" y="2249"/>
                </a:cubicBezTo>
                <a:cubicBezTo>
                  <a:pt x="19" y="2201"/>
                  <a:pt x="12" y="2152"/>
                  <a:pt x="7" y="2104"/>
                </a:cubicBezTo>
                <a:cubicBezTo>
                  <a:pt x="2" y="2055"/>
                  <a:pt x="0" y="2006"/>
                  <a:pt x="0" y="1957"/>
                </a:cubicBezTo>
              </a:path>
            </a:pathLst>
          </a:custGeom>
          <a:ln w="18000">
            <a:solidFill>
              <a:srgbClr val="1f7a3a"/>
            </a:solidFill>
            <a:miter/>
          </a:ln>
        </p:spPr>
        <p:txBody>
          <a:bodyPr lIns="9000" rIns="9000" tIns="9000" bIns="900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10541880" y="2262240"/>
            <a:ext cx="97560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P R O B L E M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2655360" y="3380400"/>
            <a:ext cx="414720" cy="34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960" strike="noStrike" u="none">
                <a:solidFill>
                  <a:srgbClr val="1f7a3a"/>
                </a:solidFill>
                <a:effectLst/>
                <a:uFillTx/>
                <a:latin typeface="Fraunces-Regular_opsz1B3333_wght2580000"/>
                <a:ea typeface="Fraunces-Regular_opsz1B3333_wght2580000"/>
              </a:rPr>
              <a:t>Fix</a:t>
            </a:r>
            <a:endParaRPr b="0" lang="en-IN" sz="19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4965120" y="3033360"/>
            <a:ext cx="3785760" cy="1243800"/>
          </a:xfrm>
          <a:custGeom>
            <a:avLst/>
            <a:gdLst/>
            <a:ahLst/>
            <a:rect l="0" t="0" r="r" b="b"/>
            <a:pathLst>
              <a:path w="10516" h="3455">
                <a:moveTo>
                  <a:pt x="0" y="1957"/>
                </a:moveTo>
                <a:lnTo>
                  <a:pt x="0" y="1500"/>
                </a:lnTo>
                <a:cubicBezTo>
                  <a:pt x="0" y="1450"/>
                  <a:pt x="2" y="1402"/>
                  <a:pt x="7" y="1353"/>
                </a:cubicBezTo>
                <a:cubicBezTo>
                  <a:pt x="12" y="1304"/>
                  <a:pt x="19" y="1255"/>
                  <a:pt x="28" y="1207"/>
                </a:cubicBezTo>
                <a:cubicBezTo>
                  <a:pt x="38" y="1159"/>
                  <a:pt x="50" y="1111"/>
                  <a:pt x="64" y="1065"/>
                </a:cubicBezTo>
                <a:cubicBezTo>
                  <a:pt x="78" y="1018"/>
                  <a:pt x="95" y="971"/>
                  <a:pt x="114" y="926"/>
                </a:cubicBezTo>
                <a:cubicBezTo>
                  <a:pt x="133" y="881"/>
                  <a:pt x="154" y="836"/>
                  <a:pt x="177" y="793"/>
                </a:cubicBezTo>
                <a:cubicBezTo>
                  <a:pt x="200" y="750"/>
                  <a:pt x="225" y="708"/>
                  <a:pt x="252" y="667"/>
                </a:cubicBezTo>
                <a:cubicBezTo>
                  <a:pt x="280" y="626"/>
                  <a:pt x="309" y="587"/>
                  <a:pt x="340" y="549"/>
                </a:cubicBezTo>
                <a:cubicBezTo>
                  <a:pt x="371" y="511"/>
                  <a:pt x="404" y="475"/>
                  <a:pt x="439" y="440"/>
                </a:cubicBezTo>
                <a:cubicBezTo>
                  <a:pt x="473" y="405"/>
                  <a:pt x="510" y="372"/>
                  <a:pt x="548" y="341"/>
                </a:cubicBezTo>
                <a:cubicBezTo>
                  <a:pt x="586" y="310"/>
                  <a:pt x="625" y="281"/>
                  <a:pt x="666" y="254"/>
                </a:cubicBezTo>
                <a:cubicBezTo>
                  <a:pt x="707" y="226"/>
                  <a:pt x="749" y="200"/>
                  <a:pt x="792" y="177"/>
                </a:cubicBezTo>
                <a:cubicBezTo>
                  <a:pt x="835" y="154"/>
                  <a:pt x="879" y="133"/>
                  <a:pt x="925" y="114"/>
                </a:cubicBezTo>
                <a:cubicBezTo>
                  <a:pt x="970" y="95"/>
                  <a:pt x="1016" y="79"/>
                  <a:pt x="1063" y="64"/>
                </a:cubicBezTo>
                <a:cubicBezTo>
                  <a:pt x="1110" y="50"/>
                  <a:pt x="1158" y="38"/>
                  <a:pt x="1206" y="29"/>
                </a:cubicBezTo>
                <a:cubicBezTo>
                  <a:pt x="1254" y="19"/>
                  <a:pt x="1303" y="12"/>
                  <a:pt x="1351" y="7"/>
                </a:cubicBezTo>
                <a:cubicBezTo>
                  <a:pt x="1400" y="2"/>
                  <a:pt x="1449" y="0"/>
                  <a:pt x="1498" y="0"/>
                </a:cubicBezTo>
                <a:lnTo>
                  <a:pt x="9018" y="0"/>
                </a:lnTo>
                <a:cubicBezTo>
                  <a:pt x="9067" y="0"/>
                  <a:pt x="9116" y="2"/>
                  <a:pt x="9165" y="7"/>
                </a:cubicBezTo>
                <a:cubicBezTo>
                  <a:pt x="9213" y="12"/>
                  <a:pt x="9262" y="19"/>
                  <a:pt x="9310" y="29"/>
                </a:cubicBezTo>
                <a:cubicBezTo>
                  <a:pt x="9358" y="38"/>
                  <a:pt x="9406" y="50"/>
                  <a:pt x="9453" y="64"/>
                </a:cubicBezTo>
                <a:cubicBezTo>
                  <a:pt x="9500" y="79"/>
                  <a:pt x="9546" y="95"/>
                  <a:pt x="9591" y="114"/>
                </a:cubicBezTo>
                <a:cubicBezTo>
                  <a:pt x="9637" y="133"/>
                  <a:pt x="9681" y="154"/>
                  <a:pt x="9724" y="177"/>
                </a:cubicBezTo>
                <a:cubicBezTo>
                  <a:pt x="9767" y="200"/>
                  <a:pt x="9809" y="226"/>
                  <a:pt x="9850" y="254"/>
                </a:cubicBezTo>
                <a:cubicBezTo>
                  <a:pt x="9891" y="281"/>
                  <a:pt x="9930" y="310"/>
                  <a:pt x="9968" y="341"/>
                </a:cubicBezTo>
                <a:cubicBezTo>
                  <a:pt x="10006" y="372"/>
                  <a:pt x="10043" y="405"/>
                  <a:pt x="10077" y="440"/>
                </a:cubicBezTo>
                <a:cubicBezTo>
                  <a:pt x="10112" y="475"/>
                  <a:pt x="10145" y="511"/>
                  <a:pt x="10176" y="549"/>
                </a:cubicBezTo>
                <a:cubicBezTo>
                  <a:pt x="10207" y="587"/>
                  <a:pt x="10236" y="626"/>
                  <a:pt x="10264" y="667"/>
                </a:cubicBezTo>
                <a:cubicBezTo>
                  <a:pt x="10291" y="708"/>
                  <a:pt x="10316" y="750"/>
                  <a:pt x="10339" y="793"/>
                </a:cubicBezTo>
                <a:cubicBezTo>
                  <a:pt x="10362" y="836"/>
                  <a:pt x="10383" y="881"/>
                  <a:pt x="10402" y="926"/>
                </a:cubicBezTo>
                <a:cubicBezTo>
                  <a:pt x="10421" y="971"/>
                  <a:pt x="10438" y="1018"/>
                  <a:pt x="10452" y="1065"/>
                </a:cubicBezTo>
                <a:cubicBezTo>
                  <a:pt x="10466" y="1111"/>
                  <a:pt x="10478" y="1159"/>
                  <a:pt x="10488" y="1207"/>
                </a:cubicBezTo>
                <a:cubicBezTo>
                  <a:pt x="10497" y="1255"/>
                  <a:pt x="10504" y="1304"/>
                  <a:pt x="10509" y="1353"/>
                </a:cubicBezTo>
                <a:cubicBezTo>
                  <a:pt x="10514" y="1402"/>
                  <a:pt x="10516" y="1450"/>
                  <a:pt x="10516" y="1500"/>
                </a:cubicBezTo>
                <a:lnTo>
                  <a:pt x="10516" y="1957"/>
                </a:lnTo>
                <a:cubicBezTo>
                  <a:pt x="10516" y="2006"/>
                  <a:pt x="10514" y="2055"/>
                  <a:pt x="10509" y="2104"/>
                </a:cubicBezTo>
                <a:cubicBezTo>
                  <a:pt x="10504" y="2152"/>
                  <a:pt x="10497" y="2201"/>
                  <a:pt x="10488" y="2249"/>
                </a:cubicBezTo>
                <a:cubicBezTo>
                  <a:pt x="10478" y="2297"/>
                  <a:pt x="10466" y="2345"/>
                  <a:pt x="10452" y="2392"/>
                </a:cubicBezTo>
                <a:cubicBezTo>
                  <a:pt x="10438" y="2439"/>
                  <a:pt x="10421" y="2485"/>
                  <a:pt x="10402" y="2530"/>
                </a:cubicBezTo>
                <a:cubicBezTo>
                  <a:pt x="10383" y="2576"/>
                  <a:pt x="10362" y="2620"/>
                  <a:pt x="10339" y="2663"/>
                </a:cubicBezTo>
                <a:cubicBezTo>
                  <a:pt x="10316" y="2706"/>
                  <a:pt x="10291" y="2749"/>
                  <a:pt x="10264" y="2789"/>
                </a:cubicBezTo>
                <a:cubicBezTo>
                  <a:pt x="10236" y="2830"/>
                  <a:pt x="10207" y="2870"/>
                  <a:pt x="10176" y="2907"/>
                </a:cubicBezTo>
                <a:cubicBezTo>
                  <a:pt x="10145" y="2945"/>
                  <a:pt x="10112" y="2982"/>
                  <a:pt x="10077" y="3016"/>
                </a:cubicBezTo>
                <a:cubicBezTo>
                  <a:pt x="10043" y="3051"/>
                  <a:pt x="10006" y="3084"/>
                  <a:pt x="9968" y="3115"/>
                </a:cubicBezTo>
                <a:cubicBezTo>
                  <a:pt x="9930" y="3146"/>
                  <a:pt x="9891" y="3176"/>
                  <a:pt x="9850" y="3203"/>
                </a:cubicBezTo>
                <a:cubicBezTo>
                  <a:pt x="9809" y="3230"/>
                  <a:pt x="9767" y="3255"/>
                  <a:pt x="9724" y="3278"/>
                </a:cubicBezTo>
                <a:cubicBezTo>
                  <a:pt x="9681" y="3302"/>
                  <a:pt x="9637" y="3322"/>
                  <a:pt x="9591" y="3341"/>
                </a:cubicBezTo>
                <a:cubicBezTo>
                  <a:pt x="9546" y="3360"/>
                  <a:pt x="9500" y="3377"/>
                  <a:pt x="9453" y="3391"/>
                </a:cubicBezTo>
                <a:cubicBezTo>
                  <a:pt x="9406" y="3405"/>
                  <a:pt x="9358" y="3417"/>
                  <a:pt x="9310" y="3427"/>
                </a:cubicBezTo>
                <a:cubicBezTo>
                  <a:pt x="9262" y="3436"/>
                  <a:pt x="9213" y="3443"/>
                  <a:pt x="9165" y="3448"/>
                </a:cubicBezTo>
                <a:cubicBezTo>
                  <a:pt x="9116" y="3453"/>
                  <a:pt x="9067" y="3455"/>
                  <a:pt x="9018" y="3455"/>
                </a:cubicBezTo>
                <a:lnTo>
                  <a:pt x="1498" y="3455"/>
                </a:lnTo>
                <a:cubicBezTo>
                  <a:pt x="1449" y="3455"/>
                  <a:pt x="1400" y="3453"/>
                  <a:pt x="1351" y="3448"/>
                </a:cubicBezTo>
                <a:cubicBezTo>
                  <a:pt x="1303" y="3443"/>
                  <a:pt x="1254" y="3436"/>
                  <a:pt x="1206" y="3427"/>
                </a:cubicBezTo>
                <a:cubicBezTo>
                  <a:pt x="1158" y="3417"/>
                  <a:pt x="1110" y="3405"/>
                  <a:pt x="1063" y="3391"/>
                </a:cubicBezTo>
                <a:cubicBezTo>
                  <a:pt x="1016" y="3377"/>
                  <a:pt x="970" y="3360"/>
                  <a:pt x="925" y="3341"/>
                </a:cubicBezTo>
                <a:cubicBezTo>
                  <a:pt x="879" y="3322"/>
                  <a:pt x="835" y="3302"/>
                  <a:pt x="792" y="3278"/>
                </a:cubicBezTo>
                <a:cubicBezTo>
                  <a:pt x="749" y="3255"/>
                  <a:pt x="707" y="3230"/>
                  <a:pt x="666" y="3203"/>
                </a:cubicBezTo>
                <a:cubicBezTo>
                  <a:pt x="625" y="3176"/>
                  <a:pt x="586" y="3146"/>
                  <a:pt x="548" y="3115"/>
                </a:cubicBezTo>
                <a:cubicBezTo>
                  <a:pt x="510" y="3084"/>
                  <a:pt x="473" y="3051"/>
                  <a:pt x="439" y="3016"/>
                </a:cubicBezTo>
                <a:cubicBezTo>
                  <a:pt x="404" y="2982"/>
                  <a:pt x="371" y="2945"/>
                  <a:pt x="340" y="2907"/>
                </a:cubicBezTo>
                <a:cubicBezTo>
                  <a:pt x="309" y="2870"/>
                  <a:pt x="280" y="2830"/>
                  <a:pt x="252" y="2789"/>
                </a:cubicBezTo>
                <a:cubicBezTo>
                  <a:pt x="225" y="2749"/>
                  <a:pt x="200" y="2706"/>
                  <a:pt x="177" y="2663"/>
                </a:cubicBezTo>
                <a:cubicBezTo>
                  <a:pt x="154" y="2620"/>
                  <a:pt x="133" y="2576"/>
                  <a:pt x="114" y="2530"/>
                </a:cubicBezTo>
                <a:cubicBezTo>
                  <a:pt x="95" y="2485"/>
                  <a:pt x="78" y="2439"/>
                  <a:pt x="64" y="2392"/>
                </a:cubicBezTo>
                <a:cubicBezTo>
                  <a:pt x="50" y="2345"/>
                  <a:pt x="38" y="2297"/>
                  <a:pt x="28" y="2249"/>
                </a:cubicBezTo>
                <a:cubicBezTo>
                  <a:pt x="19" y="2201"/>
                  <a:pt x="12" y="2152"/>
                  <a:pt x="7" y="2104"/>
                </a:cubicBezTo>
                <a:cubicBezTo>
                  <a:pt x="2" y="2055"/>
                  <a:pt x="0" y="2006"/>
                  <a:pt x="0" y="195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4965120" y="3033360"/>
            <a:ext cx="3785760" cy="1243800"/>
          </a:xfrm>
          <a:custGeom>
            <a:avLst/>
            <a:gdLst/>
            <a:ahLst/>
            <a:rect l="0" t="0" r="r" b="b"/>
            <a:pathLst>
              <a:path fill="none" w="10516" h="3455">
                <a:moveTo>
                  <a:pt x="0" y="1957"/>
                </a:moveTo>
                <a:lnTo>
                  <a:pt x="0" y="1500"/>
                </a:lnTo>
                <a:cubicBezTo>
                  <a:pt x="0" y="1450"/>
                  <a:pt x="2" y="1402"/>
                  <a:pt x="7" y="1353"/>
                </a:cubicBezTo>
                <a:cubicBezTo>
                  <a:pt x="12" y="1304"/>
                  <a:pt x="19" y="1255"/>
                  <a:pt x="28" y="1207"/>
                </a:cubicBezTo>
                <a:cubicBezTo>
                  <a:pt x="38" y="1159"/>
                  <a:pt x="50" y="1111"/>
                  <a:pt x="64" y="1065"/>
                </a:cubicBezTo>
                <a:cubicBezTo>
                  <a:pt x="78" y="1018"/>
                  <a:pt x="95" y="971"/>
                  <a:pt x="114" y="926"/>
                </a:cubicBezTo>
                <a:cubicBezTo>
                  <a:pt x="133" y="881"/>
                  <a:pt x="154" y="836"/>
                  <a:pt x="177" y="793"/>
                </a:cubicBezTo>
                <a:cubicBezTo>
                  <a:pt x="200" y="750"/>
                  <a:pt x="225" y="708"/>
                  <a:pt x="252" y="667"/>
                </a:cubicBezTo>
                <a:cubicBezTo>
                  <a:pt x="280" y="626"/>
                  <a:pt x="309" y="587"/>
                  <a:pt x="340" y="549"/>
                </a:cubicBezTo>
                <a:cubicBezTo>
                  <a:pt x="371" y="511"/>
                  <a:pt x="404" y="475"/>
                  <a:pt x="439" y="440"/>
                </a:cubicBezTo>
                <a:cubicBezTo>
                  <a:pt x="473" y="405"/>
                  <a:pt x="510" y="372"/>
                  <a:pt x="548" y="341"/>
                </a:cubicBezTo>
                <a:cubicBezTo>
                  <a:pt x="586" y="310"/>
                  <a:pt x="625" y="281"/>
                  <a:pt x="666" y="254"/>
                </a:cubicBezTo>
                <a:cubicBezTo>
                  <a:pt x="707" y="226"/>
                  <a:pt x="749" y="200"/>
                  <a:pt x="792" y="177"/>
                </a:cubicBezTo>
                <a:cubicBezTo>
                  <a:pt x="835" y="154"/>
                  <a:pt x="879" y="133"/>
                  <a:pt x="925" y="114"/>
                </a:cubicBezTo>
                <a:cubicBezTo>
                  <a:pt x="970" y="95"/>
                  <a:pt x="1016" y="79"/>
                  <a:pt x="1063" y="64"/>
                </a:cubicBezTo>
                <a:cubicBezTo>
                  <a:pt x="1110" y="50"/>
                  <a:pt x="1158" y="38"/>
                  <a:pt x="1206" y="29"/>
                </a:cubicBezTo>
                <a:cubicBezTo>
                  <a:pt x="1254" y="19"/>
                  <a:pt x="1303" y="12"/>
                  <a:pt x="1351" y="7"/>
                </a:cubicBezTo>
                <a:cubicBezTo>
                  <a:pt x="1400" y="2"/>
                  <a:pt x="1449" y="0"/>
                  <a:pt x="1498" y="0"/>
                </a:cubicBezTo>
                <a:lnTo>
                  <a:pt x="9018" y="0"/>
                </a:lnTo>
                <a:cubicBezTo>
                  <a:pt x="9067" y="0"/>
                  <a:pt x="9116" y="2"/>
                  <a:pt x="9165" y="7"/>
                </a:cubicBezTo>
                <a:cubicBezTo>
                  <a:pt x="9213" y="12"/>
                  <a:pt x="9262" y="19"/>
                  <a:pt x="9310" y="29"/>
                </a:cubicBezTo>
                <a:cubicBezTo>
                  <a:pt x="9358" y="38"/>
                  <a:pt x="9406" y="50"/>
                  <a:pt x="9453" y="64"/>
                </a:cubicBezTo>
                <a:cubicBezTo>
                  <a:pt x="9500" y="79"/>
                  <a:pt x="9546" y="95"/>
                  <a:pt x="9591" y="114"/>
                </a:cubicBezTo>
                <a:cubicBezTo>
                  <a:pt x="9637" y="133"/>
                  <a:pt x="9681" y="154"/>
                  <a:pt x="9724" y="177"/>
                </a:cubicBezTo>
                <a:cubicBezTo>
                  <a:pt x="9767" y="200"/>
                  <a:pt x="9809" y="226"/>
                  <a:pt x="9850" y="254"/>
                </a:cubicBezTo>
                <a:cubicBezTo>
                  <a:pt x="9891" y="281"/>
                  <a:pt x="9930" y="310"/>
                  <a:pt x="9968" y="341"/>
                </a:cubicBezTo>
                <a:cubicBezTo>
                  <a:pt x="10006" y="372"/>
                  <a:pt x="10043" y="405"/>
                  <a:pt x="10077" y="440"/>
                </a:cubicBezTo>
                <a:cubicBezTo>
                  <a:pt x="10112" y="475"/>
                  <a:pt x="10145" y="511"/>
                  <a:pt x="10176" y="549"/>
                </a:cubicBezTo>
                <a:cubicBezTo>
                  <a:pt x="10207" y="587"/>
                  <a:pt x="10236" y="626"/>
                  <a:pt x="10264" y="667"/>
                </a:cubicBezTo>
                <a:cubicBezTo>
                  <a:pt x="10291" y="708"/>
                  <a:pt x="10316" y="750"/>
                  <a:pt x="10339" y="793"/>
                </a:cubicBezTo>
                <a:cubicBezTo>
                  <a:pt x="10362" y="836"/>
                  <a:pt x="10383" y="881"/>
                  <a:pt x="10402" y="926"/>
                </a:cubicBezTo>
                <a:cubicBezTo>
                  <a:pt x="10421" y="971"/>
                  <a:pt x="10438" y="1018"/>
                  <a:pt x="10452" y="1065"/>
                </a:cubicBezTo>
                <a:cubicBezTo>
                  <a:pt x="10466" y="1111"/>
                  <a:pt x="10478" y="1159"/>
                  <a:pt x="10488" y="1207"/>
                </a:cubicBezTo>
                <a:cubicBezTo>
                  <a:pt x="10497" y="1255"/>
                  <a:pt x="10504" y="1304"/>
                  <a:pt x="10509" y="1353"/>
                </a:cubicBezTo>
                <a:cubicBezTo>
                  <a:pt x="10514" y="1402"/>
                  <a:pt x="10516" y="1450"/>
                  <a:pt x="10516" y="1500"/>
                </a:cubicBezTo>
                <a:lnTo>
                  <a:pt x="10516" y="1957"/>
                </a:lnTo>
                <a:cubicBezTo>
                  <a:pt x="10516" y="2006"/>
                  <a:pt x="10514" y="2055"/>
                  <a:pt x="10509" y="2104"/>
                </a:cubicBezTo>
                <a:cubicBezTo>
                  <a:pt x="10504" y="2152"/>
                  <a:pt x="10497" y="2201"/>
                  <a:pt x="10488" y="2249"/>
                </a:cubicBezTo>
                <a:cubicBezTo>
                  <a:pt x="10478" y="2297"/>
                  <a:pt x="10466" y="2345"/>
                  <a:pt x="10452" y="2392"/>
                </a:cubicBezTo>
                <a:cubicBezTo>
                  <a:pt x="10438" y="2439"/>
                  <a:pt x="10421" y="2485"/>
                  <a:pt x="10402" y="2530"/>
                </a:cubicBezTo>
                <a:cubicBezTo>
                  <a:pt x="10383" y="2576"/>
                  <a:pt x="10362" y="2620"/>
                  <a:pt x="10339" y="2663"/>
                </a:cubicBezTo>
                <a:cubicBezTo>
                  <a:pt x="10316" y="2706"/>
                  <a:pt x="10291" y="2749"/>
                  <a:pt x="10264" y="2789"/>
                </a:cubicBezTo>
                <a:cubicBezTo>
                  <a:pt x="10236" y="2830"/>
                  <a:pt x="10207" y="2870"/>
                  <a:pt x="10176" y="2907"/>
                </a:cubicBezTo>
                <a:cubicBezTo>
                  <a:pt x="10145" y="2945"/>
                  <a:pt x="10112" y="2982"/>
                  <a:pt x="10077" y="3016"/>
                </a:cubicBezTo>
                <a:cubicBezTo>
                  <a:pt x="10043" y="3051"/>
                  <a:pt x="10006" y="3084"/>
                  <a:pt x="9968" y="3115"/>
                </a:cubicBezTo>
                <a:cubicBezTo>
                  <a:pt x="9930" y="3146"/>
                  <a:pt x="9891" y="3176"/>
                  <a:pt x="9850" y="3203"/>
                </a:cubicBezTo>
                <a:cubicBezTo>
                  <a:pt x="9809" y="3230"/>
                  <a:pt x="9767" y="3255"/>
                  <a:pt x="9724" y="3278"/>
                </a:cubicBezTo>
                <a:cubicBezTo>
                  <a:pt x="9681" y="3302"/>
                  <a:pt x="9637" y="3322"/>
                  <a:pt x="9591" y="3341"/>
                </a:cubicBezTo>
                <a:cubicBezTo>
                  <a:pt x="9546" y="3360"/>
                  <a:pt x="9500" y="3377"/>
                  <a:pt x="9453" y="3391"/>
                </a:cubicBezTo>
                <a:cubicBezTo>
                  <a:pt x="9406" y="3405"/>
                  <a:pt x="9358" y="3417"/>
                  <a:pt x="9310" y="3427"/>
                </a:cubicBezTo>
                <a:cubicBezTo>
                  <a:pt x="9262" y="3436"/>
                  <a:pt x="9213" y="3443"/>
                  <a:pt x="9165" y="3448"/>
                </a:cubicBezTo>
                <a:cubicBezTo>
                  <a:pt x="9116" y="3453"/>
                  <a:pt x="9067" y="3455"/>
                  <a:pt x="9018" y="3455"/>
                </a:cubicBezTo>
                <a:lnTo>
                  <a:pt x="1498" y="3455"/>
                </a:lnTo>
                <a:cubicBezTo>
                  <a:pt x="1449" y="3455"/>
                  <a:pt x="1400" y="3453"/>
                  <a:pt x="1351" y="3448"/>
                </a:cubicBezTo>
                <a:cubicBezTo>
                  <a:pt x="1303" y="3443"/>
                  <a:pt x="1254" y="3436"/>
                  <a:pt x="1206" y="3427"/>
                </a:cubicBezTo>
                <a:cubicBezTo>
                  <a:pt x="1158" y="3417"/>
                  <a:pt x="1110" y="3405"/>
                  <a:pt x="1063" y="3391"/>
                </a:cubicBezTo>
                <a:cubicBezTo>
                  <a:pt x="1016" y="3377"/>
                  <a:pt x="970" y="3360"/>
                  <a:pt x="925" y="3341"/>
                </a:cubicBezTo>
                <a:cubicBezTo>
                  <a:pt x="879" y="3322"/>
                  <a:pt x="835" y="3302"/>
                  <a:pt x="792" y="3278"/>
                </a:cubicBezTo>
                <a:cubicBezTo>
                  <a:pt x="749" y="3255"/>
                  <a:pt x="707" y="3230"/>
                  <a:pt x="666" y="3203"/>
                </a:cubicBezTo>
                <a:cubicBezTo>
                  <a:pt x="625" y="3176"/>
                  <a:pt x="586" y="3146"/>
                  <a:pt x="548" y="3115"/>
                </a:cubicBezTo>
                <a:cubicBezTo>
                  <a:pt x="510" y="3084"/>
                  <a:pt x="473" y="3051"/>
                  <a:pt x="439" y="3016"/>
                </a:cubicBezTo>
                <a:cubicBezTo>
                  <a:pt x="404" y="2982"/>
                  <a:pt x="371" y="2945"/>
                  <a:pt x="340" y="2907"/>
                </a:cubicBezTo>
                <a:cubicBezTo>
                  <a:pt x="309" y="2870"/>
                  <a:pt x="280" y="2830"/>
                  <a:pt x="252" y="2789"/>
                </a:cubicBezTo>
                <a:cubicBezTo>
                  <a:pt x="225" y="2749"/>
                  <a:pt x="200" y="2706"/>
                  <a:pt x="177" y="2663"/>
                </a:cubicBezTo>
                <a:cubicBezTo>
                  <a:pt x="154" y="2620"/>
                  <a:pt x="133" y="2576"/>
                  <a:pt x="114" y="2530"/>
                </a:cubicBezTo>
                <a:cubicBezTo>
                  <a:pt x="95" y="2485"/>
                  <a:pt x="78" y="2439"/>
                  <a:pt x="64" y="2392"/>
                </a:cubicBezTo>
                <a:cubicBezTo>
                  <a:pt x="50" y="2345"/>
                  <a:pt x="38" y="2297"/>
                  <a:pt x="28" y="2249"/>
                </a:cubicBezTo>
                <a:cubicBezTo>
                  <a:pt x="19" y="2201"/>
                  <a:pt x="12" y="2152"/>
                  <a:pt x="7" y="2104"/>
                </a:cubicBezTo>
                <a:cubicBezTo>
                  <a:pt x="2" y="2055"/>
                  <a:pt x="0" y="2006"/>
                  <a:pt x="0" y="1957"/>
                </a:cubicBezTo>
              </a:path>
            </a:pathLst>
          </a:custGeom>
          <a:ln w="18000">
            <a:solidFill>
              <a:srgbClr val="6a6a66"/>
            </a:solidFill>
            <a:miter/>
          </a:ln>
        </p:spPr>
        <p:txBody>
          <a:bodyPr lIns="9000" rIns="9000" tIns="9000" bIns="900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2349720" y="3743640"/>
            <a:ext cx="142560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C O R R E C T I O N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6307920" y="3380400"/>
            <a:ext cx="1284120" cy="34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960" strike="noStrike" u="none">
                <a:solidFill>
                  <a:srgbClr val="6a6a66"/>
                </a:solidFill>
                <a:effectLst/>
                <a:uFillTx/>
                <a:latin typeface="Fraunces-Regular_opsz1B3333_wght2580000"/>
                <a:ea typeface="Fraunces-Regular_opsz1B3333_wght2580000"/>
              </a:rPr>
              <a:t>Semantic</a:t>
            </a:r>
            <a:endParaRPr b="0" lang="en-IN" sz="19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932400" y="4578840"/>
            <a:ext cx="5889240" cy="292680"/>
          </a:xfrm>
          <a:custGeom>
            <a:avLst/>
            <a:gdLst/>
            <a:ahLst/>
            <a:rect l="0" t="0" r="r" b="b"/>
            <a:pathLst>
              <a:path w="16359" h="813">
                <a:moveTo>
                  <a:pt x="0" y="737"/>
                </a:moveTo>
                <a:lnTo>
                  <a:pt x="0" y="76"/>
                </a:lnTo>
                <a:cubicBezTo>
                  <a:pt x="0" y="66"/>
                  <a:pt x="2" y="56"/>
                  <a:pt x="6" y="47"/>
                </a:cubicBezTo>
                <a:cubicBezTo>
                  <a:pt x="10" y="37"/>
                  <a:pt x="15" y="29"/>
                  <a:pt x="23" y="22"/>
                </a:cubicBezTo>
                <a:cubicBezTo>
                  <a:pt x="30" y="15"/>
                  <a:pt x="38" y="9"/>
                  <a:pt x="47" y="5"/>
                </a:cubicBezTo>
                <a:cubicBezTo>
                  <a:pt x="57" y="1"/>
                  <a:pt x="66" y="0"/>
                  <a:pt x="76" y="0"/>
                </a:cubicBezTo>
                <a:lnTo>
                  <a:pt x="16283" y="0"/>
                </a:lnTo>
                <a:cubicBezTo>
                  <a:pt x="16293" y="0"/>
                  <a:pt x="16303" y="1"/>
                  <a:pt x="16312" y="5"/>
                </a:cubicBezTo>
                <a:cubicBezTo>
                  <a:pt x="16321" y="9"/>
                  <a:pt x="16329" y="15"/>
                  <a:pt x="16337" y="22"/>
                </a:cubicBezTo>
                <a:cubicBezTo>
                  <a:pt x="16344" y="29"/>
                  <a:pt x="16349" y="37"/>
                  <a:pt x="16353" y="47"/>
                </a:cubicBezTo>
                <a:cubicBezTo>
                  <a:pt x="16357" y="56"/>
                  <a:pt x="16359" y="66"/>
                  <a:pt x="16359" y="76"/>
                </a:cubicBezTo>
                <a:lnTo>
                  <a:pt x="16359" y="737"/>
                </a:lnTo>
                <a:cubicBezTo>
                  <a:pt x="16359" y="747"/>
                  <a:pt x="16357" y="757"/>
                  <a:pt x="16353" y="766"/>
                </a:cubicBezTo>
                <a:cubicBezTo>
                  <a:pt x="16349" y="776"/>
                  <a:pt x="16344" y="784"/>
                  <a:pt x="16337" y="791"/>
                </a:cubicBezTo>
                <a:cubicBezTo>
                  <a:pt x="16329" y="798"/>
                  <a:pt x="16321" y="804"/>
                  <a:pt x="16312" y="808"/>
                </a:cubicBezTo>
                <a:cubicBezTo>
                  <a:pt x="16303" y="811"/>
                  <a:pt x="16293" y="813"/>
                  <a:pt x="16283" y="813"/>
                </a:cubicBezTo>
                <a:lnTo>
                  <a:pt x="76" y="813"/>
                </a:lnTo>
                <a:cubicBezTo>
                  <a:pt x="66" y="813"/>
                  <a:pt x="57" y="811"/>
                  <a:pt x="47" y="808"/>
                </a:cubicBezTo>
                <a:cubicBezTo>
                  <a:pt x="38" y="804"/>
                  <a:pt x="30" y="798"/>
                  <a:pt x="23" y="791"/>
                </a:cubicBezTo>
                <a:cubicBezTo>
                  <a:pt x="15" y="784"/>
                  <a:pt x="10" y="776"/>
                  <a:pt x="6" y="766"/>
                </a:cubicBezTo>
                <a:cubicBezTo>
                  <a:pt x="2" y="757"/>
                  <a:pt x="0" y="747"/>
                  <a:pt x="0" y="737"/>
                </a:cubicBezTo>
                <a:close/>
              </a:path>
            </a:pathLst>
          </a:custGeom>
          <a:solidFill>
            <a:srgbClr val="000000">
              <a:alpha val="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6179040" y="3743640"/>
            <a:ext cx="105048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ABSTRACT CLASS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1057680" y="4664160"/>
            <a:ext cx="1665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09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SATISFIES</a:t>
            </a:r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   Attempt 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2696400" y="4651200"/>
            <a:ext cx="13860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Menlo"/>
                <a:ea typeface="Menlo"/>
              </a:rPr>
              <a:t>→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6894360" y="4578840"/>
            <a:ext cx="5889240" cy="292680"/>
          </a:xfrm>
          <a:custGeom>
            <a:avLst/>
            <a:gdLst/>
            <a:ahLst/>
            <a:rect l="0" t="0" r="r" b="b"/>
            <a:pathLst>
              <a:path w="16359" h="813">
                <a:moveTo>
                  <a:pt x="0" y="737"/>
                </a:moveTo>
                <a:lnTo>
                  <a:pt x="0" y="76"/>
                </a:lnTo>
                <a:cubicBezTo>
                  <a:pt x="0" y="66"/>
                  <a:pt x="2" y="56"/>
                  <a:pt x="6" y="47"/>
                </a:cubicBezTo>
                <a:cubicBezTo>
                  <a:pt x="10" y="37"/>
                  <a:pt x="15" y="29"/>
                  <a:pt x="22" y="22"/>
                </a:cubicBezTo>
                <a:cubicBezTo>
                  <a:pt x="30" y="15"/>
                  <a:pt x="38" y="9"/>
                  <a:pt x="47" y="5"/>
                </a:cubicBezTo>
                <a:cubicBezTo>
                  <a:pt x="56" y="1"/>
                  <a:pt x="66" y="0"/>
                  <a:pt x="76" y="0"/>
                </a:cubicBezTo>
                <a:lnTo>
                  <a:pt x="16282" y="0"/>
                </a:lnTo>
                <a:cubicBezTo>
                  <a:pt x="16293" y="0"/>
                  <a:pt x="16302" y="1"/>
                  <a:pt x="16312" y="5"/>
                </a:cubicBezTo>
                <a:cubicBezTo>
                  <a:pt x="16321" y="9"/>
                  <a:pt x="16329" y="15"/>
                  <a:pt x="16336" y="22"/>
                </a:cubicBezTo>
                <a:cubicBezTo>
                  <a:pt x="16344" y="29"/>
                  <a:pt x="16349" y="37"/>
                  <a:pt x="16353" y="47"/>
                </a:cubicBezTo>
                <a:cubicBezTo>
                  <a:pt x="16357" y="56"/>
                  <a:pt x="16359" y="66"/>
                  <a:pt x="16359" y="76"/>
                </a:cubicBezTo>
                <a:lnTo>
                  <a:pt x="16359" y="737"/>
                </a:lnTo>
                <a:cubicBezTo>
                  <a:pt x="16359" y="747"/>
                  <a:pt x="16357" y="757"/>
                  <a:pt x="16353" y="766"/>
                </a:cubicBezTo>
                <a:cubicBezTo>
                  <a:pt x="16349" y="776"/>
                  <a:pt x="16344" y="784"/>
                  <a:pt x="16336" y="791"/>
                </a:cubicBezTo>
                <a:cubicBezTo>
                  <a:pt x="16329" y="798"/>
                  <a:pt x="16321" y="804"/>
                  <a:pt x="16312" y="808"/>
                </a:cubicBezTo>
                <a:cubicBezTo>
                  <a:pt x="16302" y="811"/>
                  <a:pt x="16293" y="813"/>
                  <a:pt x="16282" y="813"/>
                </a:cubicBezTo>
                <a:lnTo>
                  <a:pt x="76" y="813"/>
                </a:lnTo>
                <a:cubicBezTo>
                  <a:pt x="66" y="813"/>
                  <a:pt x="56" y="811"/>
                  <a:pt x="47" y="808"/>
                </a:cubicBezTo>
                <a:cubicBezTo>
                  <a:pt x="38" y="804"/>
                  <a:pt x="30" y="798"/>
                  <a:pt x="22" y="791"/>
                </a:cubicBezTo>
                <a:cubicBezTo>
                  <a:pt x="15" y="784"/>
                  <a:pt x="10" y="776"/>
                  <a:pt x="6" y="766"/>
                </a:cubicBezTo>
                <a:cubicBezTo>
                  <a:pt x="2" y="757"/>
                  <a:pt x="0" y="747"/>
                  <a:pt x="0" y="737"/>
                </a:cubicBezTo>
                <a:close/>
              </a:path>
            </a:pathLst>
          </a:custGeom>
          <a:solidFill>
            <a:srgbClr val="000000">
              <a:alpha val="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2778480" y="4664160"/>
            <a:ext cx="58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 Policy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7019640" y="4664160"/>
            <a:ext cx="14155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09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CAUSES</a:t>
            </a:r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   Attempt 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8412480" y="4651200"/>
            <a:ext cx="13860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Menlo"/>
                <a:ea typeface="Menlo"/>
              </a:rPr>
              <a:t>→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932400" y="4944600"/>
            <a:ext cx="5889240" cy="292680"/>
          </a:xfrm>
          <a:custGeom>
            <a:avLst/>
            <a:gdLst/>
            <a:ahLst/>
            <a:rect l="0" t="0" r="r" b="b"/>
            <a:pathLst>
              <a:path w="16359" h="813">
                <a:moveTo>
                  <a:pt x="0" y="737"/>
                </a:moveTo>
                <a:lnTo>
                  <a:pt x="0" y="76"/>
                </a:lnTo>
                <a:cubicBezTo>
                  <a:pt x="0" y="66"/>
                  <a:pt x="2" y="56"/>
                  <a:pt x="6" y="47"/>
                </a:cubicBezTo>
                <a:cubicBezTo>
                  <a:pt x="10" y="37"/>
                  <a:pt x="15" y="29"/>
                  <a:pt x="23" y="22"/>
                </a:cubicBezTo>
                <a:cubicBezTo>
                  <a:pt x="30" y="15"/>
                  <a:pt x="38" y="9"/>
                  <a:pt x="47" y="5"/>
                </a:cubicBezTo>
                <a:cubicBezTo>
                  <a:pt x="57" y="1"/>
                  <a:pt x="66" y="0"/>
                  <a:pt x="76" y="0"/>
                </a:cubicBezTo>
                <a:lnTo>
                  <a:pt x="16283" y="0"/>
                </a:lnTo>
                <a:cubicBezTo>
                  <a:pt x="16293" y="0"/>
                  <a:pt x="16303" y="1"/>
                  <a:pt x="16312" y="5"/>
                </a:cubicBezTo>
                <a:cubicBezTo>
                  <a:pt x="16321" y="9"/>
                  <a:pt x="16329" y="15"/>
                  <a:pt x="16337" y="22"/>
                </a:cubicBezTo>
                <a:cubicBezTo>
                  <a:pt x="16344" y="29"/>
                  <a:pt x="16349" y="37"/>
                  <a:pt x="16353" y="47"/>
                </a:cubicBezTo>
                <a:cubicBezTo>
                  <a:pt x="16357" y="56"/>
                  <a:pt x="16359" y="66"/>
                  <a:pt x="16359" y="76"/>
                </a:cubicBezTo>
                <a:lnTo>
                  <a:pt x="16359" y="737"/>
                </a:lnTo>
                <a:cubicBezTo>
                  <a:pt x="16359" y="747"/>
                  <a:pt x="16357" y="757"/>
                  <a:pt x="16353" y="766"/>
                </a:cubicBezTo>
                <a:cubicBezTo>
                  <a:pt x="16349" y="776"/>
                  <a:pt x="16344" y="784"/>
                  <a:pt x="16337" y="791"/>
                </a:cubicBezTo>
                <a:cubicBezTo>
                  <a:pt x="16329" y="798"/>
                  <a:pt x="16321" y="804"/>
                  <a:pt x="16312" y="808"/>
                </a:cubicBezTo>
                <a:cubicBezTo>
                  <a:pt x="16303" y="811"/>
                  <a:pt x="16293" y="813"/>
                  <a:pt x="16283" y="813"/>
                </a:cubicBezTo>
                <a:lnTo>
                  <a:pt x="76" y="813"/>
                </a:lnTo>
                <a:cubicBezTo>
                  <a:pt x="66" y="813"/>
                  <a:pt x="57" y="811"/>
                  <a:pt x="47" y="808"/>
                </a:cubicBezTo>
                <a:cubicBezTo>
                  <a:pt x="38" y="804"/>
                  <a:pt x="30" y="798"/>
                  <a:pt x="23" y="791"/>
                </a:cubicBezTo>
                <a:cubicBezTo>
                  <a:pt x="15" y="784"/>
                  <a:pt x="10" y="776"/>
                  <a:pt x="6" y="766"/>
                </a:cubicBezTo>
                <a:cubicBezTo>
                  <a:pt x="2" y="757"/>
                  <a:pt x="0" y="747"/>
                  <a:pt x="0" y="737"/>
                </a:cubicBezTo>
                <a:close/>
              </a:path>
            </a:pathLst>
          </a:custGeom>
          <a:solidFill>
            <a:srgbClr val="000000">
              <a:alpha val="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8494560" y="4664160"/>
            <a:ext cx="5000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 Issue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1057680" y="5029920"/>
            <a:ext cx="12488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09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RESOLVES</a:t>
            </a:r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   Fix 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2286720" y="5016960"/>
            <a:ext cx="13860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Menlo"/>
                <a:ea typeface="Menlo"/>
              </a:rPr>
              <a:t>→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6894360" y="4944600"/>
            <a:ext cx="5889240" cy="292680"/>
          </a:xfrm>
          <a:custGeom>
            <a:avLst/>
            <a:gdLst/>
            <a:ahLst/>
            <a:rect l="0" t="0" r="r" b="b"/>
            <a:pathLst>
              <a:path w="16359" h="813">
                <a:moveTo>
                  <a:pt x="0" y="737"/>
                </a:moveTo>
                <a:lnTo>
                  <a:pt x="0" y="76"/>
                </a:lnTo>
                <a:cubicBezTo>
                  <a:pt x="0" y="66"/>
                  <a:pt x="2" y="56"/>
                  <a:pt x="6" y="47"/>
                </a:cubicBezTo>
                <a:cubicBezTo>
                  <a:pt x="10" y="37"/>
                  <a:pt x="15" y="29"/>
                  <a:pt x="22" y="22"/>
                </a:cubicBezTo>
                <a:cubicBezTo>
                  <a:pt x="30" y="15"/>
                  <a:pt x="38" y="9"/>
                  <a:pt x="47" y="5"/>
                </a:cubicBezTo>
                <a:cubicBezTo>
                  <a:pt x="56" y="1"/>
                  <a:pt x="66" y="0"/>
                  <a:pt x="76" y="0"/>
                </a:cubicBezTo>
                <a:lnTo>
                  <a:pt x="16282" y="0"/>
                </a:lnTo>
                <a:cubicBezTo>
                  <a:pt x="16293" y="0"/>
                  <a:pt x="16302" y="1"/>
                  <a:pt x="16312" y="5"/>
                </a:cubicBezTo>
                <a:cubicBezTo>
                  <a:pt x="16321" y="9"/>
                  <a:pt x="16329" y="15"/>
                  <a:pt x="16336" y="22"/>
                </a:cubicBezTo>
                <a:cubicBezTo>
                  <a:pt x="16344" y="29"/>
                  <a:pt x="16349" y="37"/>
                  <a:pt x="16353" y="47"/>
                </a:cubicBezTo>
                <a:cubicBezTo>
                  <a:pt x="16357" y="56"/>
                  <a:pt x="16359" y="66"/>
                  <a:pt x="16359" y="76"/>
                </a:cubicBezTo>
                <a:lnTo>
                  <a:pt x="16359" y="737"/>
                </a:lnTo>
                <a:cubicBezTo>
                  <a:pt x="16359" y="747"/>
                  <a:pt x="16357" y="757"/>
                  <a:pt x="16353" y="766"/>
                </a:cubicBezTo>
                <a:cubicBezTo>
                  <a:pt x="16349" y="776"/>
                  <a:pt x="16344" y="784"/>
                  <a:pt x="16336" y="791"/>
                </a:cubicBezTo>
                <a:cubicBezTo>
                  <a:pt x="16329" y="798"/>
                  <a:pt x="16321" y="804"/>
                  <a:pt x="16312" y="808"/>
                </a:cubicBezTo>
                <a:cubicBezTo>
                  <a:pt x="16302" y="811"/>
                  <a:pt x="16293" y="813"/>
                  <a:pt x="16282" y="813"/>
                </a:cubicBezTo>
                <a:lnTo>
                  <a:pt x="76" y="813"/>
                </a:lnTo>
                <a:cubicBezTo>
                  <a:pt x="66" y="813"/>
                  <a:pt x="56" y="811"/>
                  <a:pt x="47" y="808"/>
                </a:cubicBezTo>
                <a:cubicBezTo>
                  <a:pt x="38" y="804"/>
                  <a:pt x="30" y="798"/>
                  <a:pt x="22" y="791"/>
                </a:cubicBezTo>
                <a:cubicBezTo>
                  <a:pt x="15" y="784"/>
                  <a:pt x="10" y="776"/>
                  <a:pt x="6" y="766"/>
                </a:cubicBezTo>
                <a:cubicBezTo>
                  <a:pt x="2" y="757"/>
                  <a:pt x="0" y="747"/>
                  <a:pt x="0" y="737"/>
                </a:cubicBezTo>
                <a:close/>
              </a:path>
            </a:pathLst>
          </a:custGeom>
          <a:solidFill>
            <a:srgbClr val="000000">
              <a:alpha val="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2368800" y="5029920"/>
            <a:ext cx="5000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 Issue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7019640" y="5029920"/>
            <a:ext cx="17485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09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ABSTRACTS_TO</a:t>
            </a:r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   Issue 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8740080" y="5016960"/>
            <a:ext cx="13860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Menlo"/>
                <a:ea typeface="Menlo"/>
              </a:rPr>
              <a:t>→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8822520" y="5029920"/>
            <a:ext cx="7498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 Semantic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685800" y="8312040"/>
            <a:ext cx="2566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MEMORY-ASSISTED LLM AS A JUDGE VIA KNOWLEDGE GRAPHS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11460960" y="8312040"/>
            <a:ext cx="13086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4 / 36  ·  K. PATEL · 2026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273960" y="171360"/>
            <a:ext cx="13167720" cy="8229960"/>
          </a:xfrm>
          <a:custGeom>
            <a:avLst/>
            <a:gdLst/>
            <a:ahLst/>
            <a:rect l="0" t="0" r="r" b="b"/>
            <a:pathLst>
              <a:path w="36577" h="22861">
                <a:moveTo>
                  <a:pt x="0" y="0"/>
                </a:moveTo>
                <a:lnTo>
                  <a:pt x="36577" y="0"/>
                </a:lnTo>
                <a:lnTo>
                  <a:pt x="36577" y="22861"/>
                </a:lnTo>
                <a:lnTo>
                  <a:pt x="0" y="22861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932760" y="579960"/>
            <a:ext cx="292536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PROPOSED SOLUTION · WHAT THE JUDGE SEES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950760" y="1419480"/>
            <a:ext cx="11828160" cy="603720"/>
          </a:xfrm>
          <a:custGeom>
            <a:avLst/>
            <a:gdLst/>
            <a:ahLst/>
            <a:rect l="0" t="0" r="r" b="b"/>
            <a:pathLst>
              <a:path w="32856" h="1677">
                <a:moveTo>
                  <a:pt x="0" y="1538"/>
                </a:moveTo>
                <a:lnTo>
                  <a:pt x="0" y="140"/>
                </a:lnTo>
                <a:cubicBezTo>
                  <a:pt x="0" y="121"/>
                  <a:pt x="3" y="103"/>
                  <a:pt x="8" y="86"/>
                </a:cubicBezTo>
                <a:cubicBezTo>
                  <a:pt x="13" y="69"/>
                  <a:pt x="20" y="54"/>
                  <a:pt x="30" y="41"/>
                </a:cubicBezTo>
                <a:cubicBezTo>
                  <a:pt x="39" y="28"/>
                  <a:pt x="50" y="18"/>
                  <a:pt x="63" y="10"/>
                </a:cubicBezTo>
                <a:cubicBezTo>
                  <a:pt x="75" y="3"/>
                  <a:pt x="88" y="0"/>
                  <a:pt x="102" y="0"/>
                </a:cubicBezTo>
                <a:lnTo>
                  <a:pt x="32716" y="0"/>
                </a:lnTo>
                <a:cubicBezTo>
                  <a:pt x="32725" y="0"/>
                  <a:pt x="32735" y="1"/>
                  <a:pt x="32744" y="3"/>
                </a:cubicBezTo>
                <a:cubicBezTo>
                  <a:pt x="32753" y="4"/>
                  <a:pt x="32761" y="7"/>
                  <a:pt x="32770" y="10"/>
                </a:cubicBezTo>
                <a:cubicBezTo>
                  <a:pt x="32778" y="14"/>
                  <a:pt x="32786" y="18"/>
                  <a:pt x="32794" y="23"/>
                </a:cubicBezTo>
                <a:cubicBezTo>
                  <a:pt x="32802" y="28"/>
                  <a:pt x="32809" y="34"/>
                  <a:pt x="32815" y="41"/>
                </a:cubicBezTo>
                <a:cubicBezTo>
                  <a:pt x="32822" y="47"/>
                  <a:pt x="32827" y="54"/>
                  <a:pt x="32832" y="62"/>
                </a:cubicBezTo>
                <a:cubicBezTo>
                  <a:pt x="32838" y="70"/>
                  <a:pt x="32842" y="78"/>
                  <a:pt x="32845" y="86"/>
                </a:cubicBezTo>
                <a:cubicBezTo>
                  <a:pt x="32849" y="95"/>
                  <a:pt x="32852" y="103"/>
                  <a:pt x="32853" y="112"/>
                </a:cubicBezTo>
                <a:cubicBezTo>
                  <a:pt x="32855" y="121"/>
                  <a:pt x="32856" y="130"/>
                  <a:pt x="32856" y="140"/>
                </a:cubicBezTo>
                <a:lnTo>
                  <a:pt x="32856" y="1538"/>
                </a:lnTo>
                <a:cubicBezTo>
                  <a:pt x="32856" y="1547"/>
                  <a:pt x="32855" y="1556"/>
                  <a:pt x="32853" y="1565"/>
                </a:cubicBezTo>
                <a:cubicBezTo>
                  <a:pt x="32852" y="1574"/>
                  <a:pt x="32849" y="1583"/>
                  <a:pt x="32845" y="1591"/>
                </a:cubicBezTo>
                <a:cubicBezTo>
                  <a:pt x="32842" y="1599"/>
                  <a:pt x="32838" y="1608"/>
                  <a:pt x="32832" y="1615"/>
                </a:cubicBezTo>
                <a:cubicBezTo>
                  <a:pt x="32827" y="1623"/>
                  <a:pt x="32822" y="1630"/>
                  <a:pt x="32815" y="1636"/>
                </a:cubicBezTo>
                <a:cubicBezTo>
                  <a:pt x="32809" y="1643"/>
                  <a:pt x="32802" y="1649"/>
                  <a:pt x="32794" y="1654"/>
                </a:cubicBezTo>
                <a:cubicBezTo>
                  <a:pt x="32786" y="1659"/>
                  <a:pt x="32778" y="1663"/>
                  <a:pt x="32770" y="1667"/>
                </a:cubicBezTo>
                <a:cubicBezTo>
                  <a:pt x="32761" y="1670"/>
                  <a:pt x="32753" y="1673"/>
                  <a:pt x="32744" y="1675"/>
                </a:cubicBezTo>
                <a:cubicBezTo>
                  <a:pt x="32735" y="1676"/>
                  <a:pt x="32725" y="1677"/>
                  <a:pt x="32716" y="1677"/>
                </a:cubicBezTo>
                <a:lnTo>
                  <a:pt x="102" y="1677"/>
                </a:lnTo>
                <a:cubicBezTo>
                  <a:pt x="88" y="1677"/>
                  <a:pt x="75" y="1674"/>
                  <a:pt x="63" y="1667"/>
                </a:cubicBezTo>
                <a:cubicBezTo>
                  <a:pt x="50" y="1660"/>
                  <a:pt x="39" y="1649"/>
                  <a:pt x="30" y="1636"/>
                </a:cubicBezTo>
                <a:cubicBezTo>
                  <a:pt x="20" y="1623"/>
                  <a:pt x="13" y="1608"/>
                  <a:pt x="8" y="1591"/>
                </a:cubicBezTo>
                <a:cubicBezTo>
                  <a:pt x="3" y="1574"/>
                  <a:pt x="0" y="1556"/>
                  <a:pt x="0" y="153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980640" y="1424160"/>
            <a:ext cx="11780640" cy="23040"/>
          </a:xfrm>
          <a:custGeom>
            <a:avLst/>
            <a:gdLst/>
            <a:ahLst/>
            <a:rect l="0" t="0" r="r" b="b"/>
            <a:pathLst>
              <a:path w="32724" h="64">
                <a:moveTo>
                  <a:pt x="32699" y="64"/>
                </a:moveTo>
                <a:lnTo>
                  <a:pt x="219" y="64"/>
                </a:lnTo>
                <a:lnTo>
                  <a:pt x="0" y="8"/>
                </a:lnTo>
                <a:cubicBezTo>
                  <a:pt x="6" y="2"/>
                  <a:pt x="12" y="0"/>
                  <a:pt x="19" y="0"/>
                </a:cubicBezTo>
                <a:lnTo>
                  <a:pt x="32633" y="0"/>
                </a:lnTo>
                <a:cubicBezTo>
                  <a:pt x="32668" y="0"/>
                  <a:pt x="32698" y="12"/>
                  <a:pt x="32723" y="37"/>
                </a:cubicBezTo>
                <a:cubicBezTo>
                  <a:pt x="32724" y="37"/>
                  <a:pt x="32724" y="38"/>
                  <a:pt x="32724" y="38"/>
                </a:cubicBezTo>
                <a:lnTo>
                  <a:pt x="32699" y="64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980640" y="1995480"/>
            <a:ext cx="11780640" cy="23400"/>
          </a:xfrm>
          <a:custGeom>
            <a:avLst/>
            <a:gdLst/>
            <a:ahLst/>
            <a:rect l="0" t="0" r="r" b="b"/>
            <a:pathLst>
              <a:path w="32724" h="65">
                <a:moveTo>
                  <a:pt x="219" y="0"/>
                </a:moveTo>
                <a:lnTo>
                  <a:pt x="32699" y="0"/>
                </a:lnTo>
                <a:lnTo>
                  <a:pt x="32724" y="25"/>
                </a:lnTo>
                <a:cubicBezTo>
                  <a:pt x="32724" y="26"/>
                  <a:pt x="32724" y="26"/>
                  <a:pt x="32723" y="26"/>
                </a:cubicBezTo>
                <a:cubicBezTo>
                  <a:pt x="32698" y="52"/>
                  <a:pt x="32668" y="65"/>
                  <a:pt x="32633" y="65"/>
                </a:cubicBezTo>
                <a:lnTo>
                  <a:pt x="19" y="65"/>
                </a:lnTo>
                <a:cubicBezTo>
                  <a:pt x="12" y="65"/>
                  <a:pt x="6" y="62"/>
                  <a:pt x="0" y="56"/>
                </a:cubicBezTo>
                <a:lnTo>
                  <a:pt x="219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12751200" y="1437480"/>
            <a:ext cx="23040" cy="567720"/>
          </a:xfrm>
          <a:custGeom>
            <a:avLst/>
            <a:gdLst/>
            <a:ahLst/>
            <a:rect l="0" t="0" r="r" b="b"/>
            <a:pathLst>
              <a:path w="64" h="1577">
                <a:moveTo>
                  <a:pt x="0" y="1551"/>
                </a:moveTo>
                <a:lnTo>
                  <a:pt x="0" y="26"/>
                </a:lnTo>
                <a:lnTo>
                  <a:pt x="27" y="0"/>
                </a:lnTo>
                <a:cubicBezTo>
                  <a:pt x="52" y="25"/>
                  <a:pt x="64" y="54"/>
                  <a:pt x="64" y="90"/>
                </a:cubicBezTo>
                <a:lnTo>
                  <a:pt x="64" y="1487"/>
                </a:lnTo>
                <a:cubicBezTo>
                  <a:pt x="64" y="1522"/>
                  <a:pt x="52" y="1553"/>
                  <a:pt x="27" y="1577"/>
                </a:cubicBezTo>
                <a:lnTo>
                  <a:pt x="0" y="1551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969120" y="1427040"/>
            <a:ext cx="16920" cy="588600"/>
          </a:xfrm>
          <a:custGeom>
            <a:avLst/>
            <a:gdLst/>
            <a:ahLst/>
            <a:rect l="0" t="0" r="r" b="b"/>
            <a:pathLst>
              <a:path w="47" h="1635">
                <a:moveTo>
                  <a:pt x="47" y="3"/>
                </a:moveTo>
                <a:lnTo>
                  <a:pt x="47" y="1632"/>
                </a:lnTo>
                <a:lnTo>
                  <a:pt x="32" y="1635"/>
                </a:lnTo>
                <a:cubicBezTo>
                  <a:pt x="26" y="1629"/>
                  <a:pt x="20" y="1620"/>
                  <a:pt x="15" y="1606"/>
                </a:cubicBezTo>
                <a:cubicBezTo>
                  <a:pt x="5" y="1582"/>
                  <a:pt x="0" y="1552"/>
                  <a:pt x="0" y="1517"/>
                </a:cubicBezTo>
                <a:lnTo>
                  <a:pt x="0" y="119"/>
                </a:lnTo>
                <a:cubicBezTo>
                  <a:pt x="0" y="83"/>
                  <a:pt x="5" y="54"/>
                  <a:pt x="15" y="29"/>
                </a:cubicBezTo>
                <a:cubicBezTo>
                  <a:pt x="20" y="16"/>
                  <a:pt x="26" y="6"/>
                  <a:pt x="32" y="0"/>
                </a:cubicBezTo>
                <a:lnTo>
                  <a:pt x="47" y="3"/>
                </a:lnTo>
                <a:close/>
              </a:path>
            </a:pathLst>
          </a:custGeom>
          <a:solidFill>
            <a:srgbClr val="1a3d6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932760" y="802080"/>
            <a:ext cx="451944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2760" strike="noStrike" u="none">
                <a:solidFill>
                  <a:srgbClr val="0a0a0a"/>
                </a:solidFill>
                <a:effectLst/>
                <a:uFillTx/>
                <a:latin typeface="Fraunces-Regular_opsz266666_wght2580000"/>
                <a:ea typeface="Fraunces-Regular_opsz266666_wght2580000"/>
              </a:rPr>
              <a:t>An end-to-end example.</a:t>
            </a:r>
            <a:endParaRPr b="0" lang="en-IN" sz="27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1130040" y="1683360"/>
            <a:ext cx="5191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750" strike="noStrike" u="none">
                <a:solidFill>
                  <a:srgbClr val="1a3d6e"/>
                </a:solidFill>
                <a:effectLst/>
                <a:uFillTx/>
                <a:latin typeface="JetBrainsMono-Regular_wght2580000"/>
                <a:ea typeface="JetBrainsMono-Regular_wght2580000"/>
              </a:rPr>
              <a:t>I N P U T</a:t>
            </a:r>
            <a:endParaRPr b="0" lang="en-IN" sz="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2506680" y="1558080"/>
            <a:ext cx="28764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20" strike="noStrike" u="none">
                <a:solidFill>
                  <a:srgbClr val="0a0a0a"/>
                </a:solidFill>
                <a:effectLst/>
                <a:uFillTx/>
                <a:latin typeface="Fraunces-Regular_opszC7ADA_wght12C0000"/>
                <a:ea typeface="Fraunces-Regular_opszC7ADA_wght12C0000"/>
              </a:rPr>
              <a:t>Task:</a:t>
            </a:r>
            <a:endParaRPr b="0" lang="en-IN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2739240" y="1558080"/>
            <a:ext cx="53424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 "Explain key methods for determining the pre-money valuation of a tech startup before a Series A round."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2506680" y="1722960"/>
            <a:ext cx="56160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20" strike="noStrike" u="none">
                <a:solidFill>
                  <a:srgbClr val="0a0a0a"/>
                </a:solidFill>
                <a:effectLst/>
                <a:uFillTx/>
                <a:latin typeface="Fraunces-Regular_opszC7ADA_wght12C0000"/>
                <a:ea typeface="Fraunces-Regular_opszC7ADA_wght12C0000"/>
              </a:rPr>
              <a:t>Response:</a:t>
            </a:r>
            <a:endParaRPr b="0" lang="en-IN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950760" y="2123640"/>
            <a:ext cx="11828160" cy="603720"/>
          </a:xfrm>
          <a:custGeom>
            <a:avLst/>
            <a:gdLst/>
            <a:ahLst/>
            <a:rect l="0" t="0" r="r" b="b"/>
            <a:pathLst>
              <a:path w="32856" h="1677">
                <a:moveTo>
                  <a:pt x="0" y="1536"/>
                </a:moveTo>
                <a:lnTo>
                  <a:pt x="0" y="139"/>
                </a:lnTo>
                <a:cubicBezTo>
                  <a:pt x="0" y="121"/>
                  <a:pt x="3" y="103"/>
                  <a:pt x="8" y="86"/>
                </a:cubicBezTo>
                <a:cubicBezTo>
                  <a:pt x="13" y="69"/>
                  <a:pt x="20" y="54"/>
                  <a:pt x="30" y="41"/>
                </a:cubicBezTo>
                <a:cubicBezTo>
                  <a:pt x="39" y="27"/>
                  <a:pt x="50" y="17"/>
                  <a:pt x="63" y="10"/>
                </a:cubicBezTo>
                <a:cubicBezTo>
                  <a:pt x="75" y="3"/>
                  <a:pt x="88" y="0"/>
                  <a:pt x="102" y="0"/>
                </a:cubicBezTo>
                <a:lnTo>
                  <a:pt x="32716" y="0"/>
                </a:lnTo>
                <a:cubicBezTo>
                  <a:pt x="32725" y="0"/>
                  <a:pt x="32735" y="1"/>
                  <a:pt x="32744" y="2"/>
                </a:cubicBezTo>
                <a:cubicBezTo>
                  <a:pt x="32753" y="4"/>
                  <a:pt x="32761" y="7"/>
                  <a:pt x="32770" y="10"/>
                </a:cubicBezTo>
                <a:cubicBezTo>
                  <a:pt x="32778" y="14"/>
                  <a:pt x="32786" y="18"/>
                  <a:pt x="32794" y="23"/>
                </a:cubicBezTo>
                <a:cubicBezTo>
                  <a:pt x="32802" y="28"/>
                  <a:pt x="32809" y="34"/>
                  <a:pt x="32815" y="41"/>
                </a:cubicBezTo>
                <a:cubicBezTo>
                  <a:pt x="32822" y="47"/>
                  <a:pt x="32827" y="54"/>
                  <a:pt x="32832" y="62"/>
                </a:cubicBezTo>
                <a:cubicBezTo>
                  <a:pt x="32838" y="69"/>
                  <a:pt x="32842" y="77"/>
                  <a:pt x="32845" y="86"/>
                </a:cubicBezTo>
                <a:cubicBezTo>
                  <a:pt x="32849" y="94"/>
                  <a:pt x="32852" y="103"/>
                  <a:pt x="32853" y="112"/>
                </a:cubicBezTo>
                <a:cubicBezTo>
                  <a:pt x="32855" y="121"/>
                  <a:pt x="32856" y="130"/>
                  <a:pt x="32856" y="139"/>
                </a:cubicBezTo>
                <a:lnTo>
                  <a:pt x="32856" y="1536"/>
                </a:lnTo>
                <a:cubicBezTo>
                  <a:pt x="32856" y="1546"/>
                  <a:pt x="32855" y="1555"/>
                  <a:pt x="32853" y="1564"/>
                </a:cubicBezTo>
                <a:cubicBezTo>
                  <a:pt x="32852" y="1573"/>
                  <a:pt x="32849" y="1581"/>
                  <a:pt x="32845" y="1590"/>
                </a:cubicBezTo>
                <a:cubicBezTo>
                  <a:pt x="32842" y="1598"/>
                  <a:pt x="32838" y="1606"/>
                  <a:pt x="32832" y="1614"/>
                </a:cubicBezTo>
                <a:cubicBezTo>
                  <a:pt x="32827" y="1622"/>
                  <a:pt x="32822" y="1629"/>
                  <a:pt x="32815" y="1635"/>
                </a:cubicBezTo>
                <a:cubicBezTo>
                  <a:pt x="32809" y="1642"/>
                  <a:pt x="32802" y="1648"/>
                  <a:pt x="32794" y="1654"/>
                </a:cubicBezTo>
                <a:cubicBezTo>
                  <a:pt x="32786" y="1659"/>
                  <a:pt x="32778" y="1663"/>
                  <a:pt x="32770" y="1666"/>
                </a:cubicBezTo>
                <a:cubicBezTo>
                  <a:pt x="32761" y="1670"/>
                  <a:pt x="32753" y="1673"/>
                  <a:pt x="32744" y="1674"/>
                </a:cubicBezTo>
                <a:cubicBezTo>
                  <a:pt x="32735" y="1676"/>
                  <a:pt x="32725" y="1677"/>
                  <a:pt x="32716" y="1677"/>
                </a:cubicBezTo>
                <a:lnTo>
                  <a:pt x="102" y="1677"/>
                </a:lnTo>
                <a:cubicBezTo>
                  <a:pt x="88" y="1677"/>
                  <a:pt x="75" y="1674"/>
                  <a:pt x="63" y="1666"/>
                </a:cubicBezTo>
                <a:cubicBezTo>
                  <a:pt x="50" y="1659"/>
                  <a:pt x="39" y="1649"/>
                  <a:pt x="30" y="1635"/>
                </a:cubicBezTo>
                <a:cubicBezTo>
                  <a:pt x="20" y="1622"/>
                  <a:pt x="13" y="1607"/>
                  <a:pt x="8" y="1590"/>
                </a:cubicBezTo>
                <a:cubicBezTo>
                  <a:pt x="3" y="1573"/>
                  <a:pt x="0" y="1555"/>
                  <a:pt x="0" y="153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980640" y="2127960"/>
            <a:ext cx="11780640" cy="23400"/>
          </a:xfrm>
          <a:custGeom>
            <a:avLst/>
            <a:gdLst/>
            <a:ahLst/>
            <a:rect l="0" t="0" r="r" b="b"/>
            <a:pathLst>
              <a:path w="32724" h="65">
                <a:moveTo>
                  <a:pt x="32699" y="65"/>
                </a:moveTo>
                <a:lnTo>
                  <a:pt x="219" y="65"/>
                </a:lnTo>
                <a:lnTo>
                  <a:pt x="0" y="9"/>
                </a:lnTo>
                <a:cubicBezTo>
                  <a:pt x="6" y="3"/>
                  <a:pt x="12" y="0"/>
                  <a:pt x="19" y="0"/>
                </a:cubicBezTo>
                <a:lnTo>
                  <a:pt x="32633" y="0"/>
                </a:lnTo>
                <a:cubicBezTo>
                  <a:pt x="32668" y="0"/>
                  <a:pt x="32698" y="13"/>
                  <a:pt x="32723" y="38"/>
                </a:cubicBezTo>
                <a:cubicBezTo>
                  <a:pt x="32724" y="38"/>
                  <a:pt x="32724" y="38"/>
                  <a:pt x="32724" y="39"/>
                </a:cubicBezTo>
                <a:lnTo>
                  <a:pt x="32699" y="65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980640" y="2699640"/>
            <a:ext cx="11780640" cy="23040"/>
          </a:xfrm>
          <a:custGeom>
            <a:avLst/>
            <a:gdLst/>
            <a:ahLst/>
            <a:rect l="0" t="0" r="r" b="b"/>
            <a:pathLst>
              <a:path w="32724" h="64">
                <a:moveTo>
                  <a:pt x="219" y="0"/>
                </a:moveTo>
                <a:lnTo>
                  <a:pt x="32699" y="0"/>
                </a:lnTo>
                <a:lnTo>
                  <a:pt x="32724" y="25"/>
                </a:lnTo>
                <a:cubicBezTo>
                  <a:pt x="32724" y="25"/>
                  <a:pt x="32724" y="26"/>
                  <a:pt x="32723" y="26"/>
                </a:cubicBezTo>
                <a:cubicBezTo>
                  <a:pt x="32698" y="52"/>
                  <a:pt x="32668" y="64"/>
                  <a:pt x="32633" y="64"/>
                </a:cubicBezTo>
                <a:lnTo>
                  <a:pt x="19" y="64"/>
                </a:lnTo>
                <a:cubicBezTo>
                  <a:pt x="12" y="64"/>
                  <a:pt x="6" y="61"/>
                  <a:pt x="0" y="56"/>
                </a:cubicBezTo>
                <a:lnTo>
                  <a:pt x="219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12751200" y="2141640"/>
            <a:ext cx="23040" cy="567720"/>
          </a:xfrm>
          <a:custGeom>
            <a:avLst/>
            <a:gdLst/>
            <a:ahLst/>
            <a:rect l="0" t="0" r="r" b="b"/>
            <a:pathLst>
              <a:path w="64" h="1577">
                <a:moveTo>
                  <a:pt x="0" y="1551"/>
                </a:moveTo>
                <a:lnTo>
                  <a:pt x="0" y="26"/>
                </a:lnTo>
                <a:lnTo>
                  <a:pt x="27" y="0"/>
                </a:lnTo>
                <a:cubicBezTo>
                  <a:pt x="52" y="24"/>
                  <a:pt x="64" y="54"/>
                  <a:pt x="64" y="89"/>
                </a:cubicBezTo>
                <a:lnTo>
                  <a:pt x="64" y="1487"/>
                </a:lnTo>
                <a:cubicBezTo>
                  <a:pt x="64" y="1522"/>
                  <a:pt x="52" y="1552"/>
                  <a:pt x="27" y="1577"/>
                </a:cubicBezTo>
                <a:lnTo>
                  <a:pt x="0" y="1551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969120" y="2130840"/>
            <a:ext cx="16920" cy="588960"/>
          </a:xfrm>
          <a:custGeom>
            <a:avLst/>
            <a:gdLst/>
            <a:ahLst/>
            <a:rect l="0" t="0" r="r" b="b"/>
            <a:pathLst>
              <a:path w="47" h="1636">
                <a:moveTo>
                  <a:pt x="47" y="4"/>
                </a:moveTo>
                <a:lnTo>
                  <a:pt x="47" y="1633"/>
                </a:lnTo>
                <a:lnTo>
                  <a:pt x="32" y="1636"/>
                </a:lnTo>
                <a:cubicBezTo>
                  <a:pt x="26" y="1630"/>
                  <a:pt x="20" y="1620"/>
                  <a:pt x="15" y="1607"/>
                </a:cubicBezTo>
                <a:cubicBezTo>
                  <a:pt x="5" y="1582"/>
                  <a:pt x="0" y="1552"/>
                  <a:pt x="0" y="1517"/>
                </a:cubicBezTo>
                <a:lnTo>
                  <a:pt x="0" y="119"/>
                </a:lnTo>
                <a:cubicBezTo>
                  <a:pt x="0" y="84"/>
                  <a:pt x="5" y="54"/>
                  <a:pt x="15" y="30"/>
                </a:cubicBezTo>
                <a:cubicBezTo>
                  <a:pt x="20" y="16"/>
                  <a:pt x="26" y="7"/>
                  <a:pt x="32" y="0"/>
                </a:cubicBezTo>
                <a:lnTo>
                  <a:pt x="47" y="4"/>
                </a:lnTo>
                <a:close/>
              </a:path>
            </a:pathLst>
          </a:custGeom>
          <a:solidFill>
            <a:srgbClr val="8b15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2984760" y="1722960"/>
            <a:ext cx="44607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 a 4-paragraph candidate answer covering DCF, comparable-company, and VC method.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1130040" y="2378160"/>
            <a:ext cx="69228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75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RETRIEVE · 1</a:t>
            </a:r>
            <a:endParaRPr b="0" lang="en-IN" sz="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2476080" y="2249640"/>
            <a:ext cx="13402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900" strike="noStrike" u="none">
                <a:solidFill>
                  <a:srgbClr val="0a0a0a"/>
                </a:solidFill>
                <a:effectLst/>
                <a:uFillTx/>
                <a:latin typeface="Inter-Regular_Semi"/>
                <a:ea typeface="Inter-Regular_Semi"/>
              </a:rPr>
              <a:t>Contrastive Attempts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3616560" y="2253240"/>
            <a:ext cx="52164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  ·  cosine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4142160" y="2287440"/>
            <a:ext cx="1137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Arial"/>
                <a:ea typeface="Arial"/>
              </a:rPr>
              <a:t>≥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4205520" y="2253240"/>
            <a:ext cx="2548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 0.85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2506680" y="2417760"/>
            <a:ext cx="51624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20" strike="noStrike" u="none">
                <a:solidFill>
                  <a:srgbClr val="0a0a0a"/>
                </a:solidFill>
                <a:effectLst/>
                <a:uFillTx/>
                <a:latin typeface="Fraunces-Regular_opszC7ADA_wght12C0000"/>
                <a:ea typeface="Fraunces-Regular_opszC7ADA_wght12C0000"/>
              </a:rPr>
              <a:t>Returned:</a:t>
            </a:r>
            <a:endParaRPr b="0" lang="en-IN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950760" y="2818440"/>
            <a:ext cx="11828160" cy="603720"/>
          </a:xfrm>
          <a:custGeom>
            <a:avLst/>
            <a:gdLst/>
            <a:ahLst/>
            <a:rect l="0" t="0" r="r" b="b"/>
            <a:pathLst>
              <a:path w="32856" h="1677">
                <a:moveTo>
                  <a:pt x="0" y="1538"/>
                </a:moveTo>
                <a:lnTo>
                  <a:pt x="0" y="140"/>
                </a:lnTo>
                <a:cubicBezTo>
                  <a:pt x="0" y="121"/>
                  <a:pt x="3" y="103"/>
                  <a:pt x="8" y="86"/>
                </a:cubicBezTo>
                <a:cubicBezTo>
                  <a:pt x="13" y="69"/>
                  <a:pt x="20" y="54"/>
                  <a:pt x="30" y="41"/>
                </a:cubicBezTo>
                <a:cubicBezTo>
                  <a:pt x="39" y="28"/>
                  <a:pt x="50" y="18"/>
                  <a:pt x="63" y="11"/>
                </a:cubicBezTo>
                <a:cubicBezTo>
                  <a:pt x="75" y="4"/>
                  <a:pt x="88" y="0"/>
                  <a:pt x="102" y="0"/>
                </a:cubicBezTo>
                <a:lnTo>
                  <a:pt x="32716" y="0"/>
                </a:lnTo>
                <a:cubicBezTo>
                  <a:pt x="32725" y="0"/>
                  <a:pt x="32735" y="1"/>
                  <a:pt x="32744" y="3"/>
                </a:cubicBezTo>
                <a:cubicBezTo>
                  <a:pt x="32753" y="5"/>
                  <a:pt x="32761" y="7"/>
                  <a:pt x="32770" y="11"/>
                </a:cubicBezTo>
                <a:cubicBezTo>
                  <a:pt x="32778" y="14"/>
                  <a:pt x="32786" y="18"/>
                  <a:pt x="32794" y="24"/>
                </a:cubicBezTo>
                <a:cubicBezTo>
                  <a:pt x="32802" y="29"/>
                  <a:pt x="32809" y="34"/>
                  <a:pt x="32815" y="41"/>
                </a:cubicBezTo>
                <a:cubicBezTo>
                  <a:pt x="32822" y="47"/>
                  <a:pt x="32827" y="55"/>
                  <a:pt x="32832" y="62"/>
                </a:cubicBezTo>
                <a:cubicBezTo>
                  <a:pt x="32838" y="70"/>
                  <a:pt x="32842" y="78"/>
                  <a:pt x="32845" y="86"/>
                </a:cubicBezTo>
                <a:cubicBezTo>
                  <a:pt x="32849" y="95"/>
                  <a:pt x="32852" y="103"/>
                  <a:pt x="32853" y="112"/>
                </a:cubicBezTo>
                <a:cubicBezTo>
                  <a:pt x="32855" y="121"/>
                  <a:pt x="32856" y="131"/>
                  <a:pt x="32856" y="140"/>
                </a:cubicBezTo>
                <a:lnTo>
                  <a:pt x="32856" y="1538"/>
                </a:lnTo>
                <a:cubicBezTo>
                  <a:pt x="32856" y="1547"/>
                  <a:pt x="32855" y="1556"/>
                  <a:pt x="32853" y="1565"/>
                </a:cubicBezTo>
                <a:cubicBezTo>
                  <a:pt x="32852" y="1574"/>
                  <a:pt x="32849" y="1583"/>
                  <a:pt x="32845" y="1591"/>
                </a:cubicBezTo>
                <a:cubicBezTo>
                  <a:pt x="32842" y="1600"/>
                  <a:pt x="32838" y="1608"/>
                  <a:pt x="32832" y="1615"/>
                </a:cubicBezTo>
                <a:cubicBezTo>
                  <a:pt x="32827" y="1623"/>
                  <a:pt x="32822" y="1630"/>
                  <a:pt x="32815" y="1637"/>
                </a:cubicBezTo>
                <a:cubicBezTo>
                  <a:pt x="32809" y="1643"/>
                  <a:pt x="32802" y="1649"/>
                  <a:pt x="32794" y="1654"/>
                </a:cubicBezTo>
                <a:cubicBezTo>
                  <a:pt x="32786" y="1659"/>
                  <a:pt x="32778" y="1663"/>
                  <a:pt x="32770" y="1667"/>
                </a:cubicBezTo>
                <a:cubicBezTo>
                  <a:pt x="32761" y="1670"/>
                  <a:pt x="32753" y="1673"/>
                  <a:pt x="32744" y="1675"/>
                </a:cubicBezTo>
                <a:cubicBezTo>
                  <a:pt x="32735" y="1677"/>
                  <a:pt x="32725" y="1677"/>
                  <a:pt x="32716" y="1677"/>
                </a:cubicBezTo>
                <a:lnTo>
                  <a:pt x="102" y="1677"/>
                </a:lnTo>
                <a:cubicBezTo>
                  <a:pt x="88" y="1677"/>
                  <a:pt x="75" y="1674"/>
                  <a:pt x="63" y="1667"/>
                </a:cubicBezTo>
                <a:cubicBezTo>
                  <a:pt x="50" y="1660"/>
                  <a:pt x="39" y="1650"/>
                  <a:pt x="30" y="1637"/>
                </a:cubicBezTo>
                <a:cubicBezTo>
                  <a:pt x="20" y="1623"/>
                  <a:pt x="13" y="1608"/>
                  <a:pt x="8" y="1591"/>
                </a:cubicBezTo>
                <a:cubicBezTo>
                  <a:pt x="3" y="1574"/>
                  <a:pt x="0" y="1556"/>
                  <a:pt x="0" y="153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980640" y="2823120"/>
            <a:ext cx="11780640" cy="23040"/>
          </a:xfrm>
          <a:custGeom>
            <a:avLst/>
            <a:gdLst/>
            <a:ahLst/>
            <a:rect l="0" t="0" r="r" b="b"/>
            <a:pathLst>
              <a:path w="32724" h="64">
                <a:moveTo>
                  <a:pt x="32699" y="64"/>
                </a:moveTo>
                <a:lnTo>
                  <a:pt x="219" y="64"/>
                </a:lnTo>
                <a:lnTo>
                  <a:pt x="0" y="9"/>
                </a:lnTo>
                <a:cubicBezTo>
                  <a:pt x="6" y="4"/>
                  <a:pt x="12" y="0"/>
                  <a:pt x="19" y="0"/>
                </a:cubicBezTo>
                <a:lnTo>
                  <a:pt x="32633" y="0"/>
                </a:lnTo>
                <a:cubicBezTo>
                  <a:pt x="32668" y="0"/>
                  <a:pt x="32698" y="13"/>
                  <a:pt x="32723" y="38"/>
                </a:cubicBezTo>
                <a:cubicBezTo>
                  <a:pt x="32724" y="38"/>
                  <a:pt x="32724" y="39"/>
                  <a:pt x="32724" y="39"/>
                </a:cubicBezTo>
                <a:lnTo>
                  <a:pt x="32699" y="64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980640" y="3394440"/>
            <a:ext cx="11780640" cy="23400"/>
          </a:xfrm>
          <a:custGeom>
            <a:avLst/>
            <a:gdLst/>
            <a:ahLst/>
            <a:rect l="0" t="0" r="r" b="b"/>
            <a:pathLst>
              <a:path w="32724" h="65">
                <a:moveTo>
                  <a:pt x="219" y="0"/>
                </a:moveTo>
                <a:lnTo>
                  <a:pt x="32699" y="0"/>
                </a:lnTo>
                <a:lnTo>
                  <a:pt x="32724" y="25"/>
                </a:lnTo>
                <a:cubicBezTo>
                  <a:pt x="32724" y="26"/>
                  <a:pt x="32724" y="26"/>
                  <a:pt x="32723" y="27"/>
                </a:cubicBezTo>
                <a:cubicBezTo>
                  <a:pt x="32698" y="51"/>
                  <a:pt x="32668" y="65"/>
                  <a:pt x="32633" y="65"/>
                </a:cubicBezTo>
                <a:lnTo>
                  <a:pt x="19" y="65"/>
                </a:lnTo>
                <a:cubicBezTo>
                  <a:pt x="12" y="65"/>
                  <a:pt x="6" y="62"/>
                  <a:pt x="0" y="56"/>
                </a:cubicBezTo>
                <a:lnTo>
                  <a:pt x="219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12751200" y="2836440"/>
            <a:ext cx="23040" cy="568080"/>
          </a:xfrm>
          <a:custGeom>
            <a:avLst/>
            <a:gdLst/>
            <a:ahLst/>
            <a:rect l="0" t="0" r="r" b="b"/>
            <a:pathLst>
              <a:path w="64" h="1578">
                <a:moveTo>
                  <a:pt x="0" y="1551"/>
                </a:moveTo>
                <a:lnTo>
                  <a:pt x="0" y="26"/>
                </a:lnTo>
                <a:lnTo>
                  <a:pt x="27" y="0"/>
                </a:lnTo>
                <a:cubicBezTo>
                  <a:pt x="52" y="25"/>
                  <a:pt x="64" y="55"/>
                  <a:pt x="64" y="90"/>
                </a:cubicBezTo>
                <a:lnTo>
                  <a:pt x="64" y="1488"/>
                </a:lnTo>
                <a:cubicBezTo>
                  <a:pt x="64" y="1523"/>
                  <a:pt x="52" y="1553"/>
                  <a:pt x="27" y="1578"/>
                </a:cubicBezTo>
                <a:lnTo>
                  <a:pt x="0" y="1551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969120" y="2826000"/>
            <a:ext cx="16920" cy="588960"/>
          </a:xfrm>
          <a:custGeom>
            <a:avLst/>
            <a:gdLst/>
            <a:ahLst/>
            <a:rect l="0" t="0" r="r" b="b"/>
            <a:pathLst>
              <a:path w="47" h="1636">
                <a:moveTo>
                  <a:pt x="47" y="3"/>
                </a:moveTo>
                <a:lnTo>
                  <a:pt x="47" y="1632"/>
                </a:lnTo>
                <a:lnTo>
                  <a:pt x="32" y="1636"/>
                </a:lnTo>
                <a:cubicBezTo>
                  <a:pt x="26" y="1629"/>
                  <a:pt x="20" y="1620"/>
                  <a:pt x="15" y="1607"/>
                </a:cubicBezTo>
                <a:cubicBezTo>
                  <a:pt x="5" y="1582"/>
                  <a:pt x="0" y="1552"/>
                  <a:pt x="0" y="1517"/>
                </a:cubicBezTo>
                <a:lnTo>
                  <a:pt x="0" y="119"/>
                </a:lnTo>
                <a:cubicBezTo>
                  <a:pt x="0" y="84"/>
                  <a:pt x="5" y="54"/>
                  <a:pt x="15" y="29"/>
                </a:cubicBezTo>
                <a:cubicBezTo>
                  <a:pt x="20" y="16"/>
                  <a:pt x="26" y="6"/>
                  <a:pt x="32" y="0"/>
                </a:cubicBezTo>
                <a:lnTo>
                  <a:pt x="47" y="3"/>
                </a:lnTo>
                <a:close/>
              </a:path>
            </a:pathLst>
          </a:custGeom>
          <a:solidFill>
            <a:srgbClr val="8b15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2971440" y="2417760"/>
            <a:ext cx="374292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 2 past responses that </a:t>
            </a:r>
            <a:r>
              <a:rPr b="0" lang="en-IN" sz="900" strike="noStrike" u="none">
                <a:solidFill>
                  <a:srgbClr val="1f7a3a"/>
                </a:solidFill>
                <a:effectLst/>
                <a:uFillTx/>
                <a:latin typeface="Inter-Regular_"/>
                <a:ea typeface="Inter-Regular_"/>
              </a:rPr>
              <a:t>passed</a:t>
            </a:r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 on similar valuation questions, 1 that </a:t>
            </a:r>
            <a:r>
              <a:rPr b="0" lang="en-IN" sz="900" strike="noStrike" u="none">
                <a:solidFill>
                  <a:srgbClr val="8b1538"/>
                </a:solidFill>
                <a:effectLst/>
                <a:uFillTx/>
                <a:latin typeface="Inter-Regular_"/>
                <a:ea typeface="Inter-Regular_"/>
              </a:rPr>
              <a:t>failed</a:t>
            </a:r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.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1130040" y="3082320"/>
            <a:ext cx="69228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75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RETRIEVE · 2</a:t>
            </a:r>
            <a:endParaRPr b="0" lang="en-IN" sz="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2476080" y="2953440"/>
            <a:ext cx="8830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900" strike="noStrike" u="none">
                <a:solidFill>
                  <a:srgbClr val="0a0a0a"/>
                </a:solidFill>
                <a:effectLst/>
                <a:uFillTx/>
                <a:latin typeface="Inter-Regular_Semi"/>
                <a:ea typeface="Inter-Regular_Semi"/>
              </a:rPr>
              <a:t>Similar Issues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3218760" y="2957400"/>
            <a:ext cx="52164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  ·  cosine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3744000" y="2991240"/>
            <a:ext cx="1137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Arial"/>
                <a:ea typeface="Arial"/>
              </a:rPr>
              <a:t>≥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3807360" y="2957400"/>
            <a:ext cx="2548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 0.90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2506680" y="3121920"/>
            <a:ext cx="51624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20" strike="noStrike" u="none">
                <a:solidFill>
                  <a:srgbClr val="0a0a0a"/>
                </a:solidFill>
                <a:effectLst/>
                <a:uFillTx/>
                <a:latin typeface="Fraunces-Regular_opszC7ADA_wght12C0000"/>
                <a:ea typeface="Fraunces-Regular_opszC7ADA_wght12C0000"/>
              </a:rPr>
              <a:t>Returned:</a:t>
            </a:r>
            <a:endParaRPr b="0" lang="en-IN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950760" y="3522600"/>
            <a:ext cx="11828160" cy="603720"/>
          </a:xfrm>
          <a:custGeom>
            <a:avLst/>
            <a:gdLst/>
            <a:ahLst/>
            <a:rect l="0" t="0" r="r" b="b"/>
            <a:pathLst>
              <a:path w="32856" h="1677">
                <a:moveTo>
                  <a:pt x="0" y="1538"/>
                </a:moveTo>
                <a:lnTo>
                  <a:pt x="0" y="140"/>
                </a:lnTo>
                <a:cubicBezTo>
                  <a:pt x="0" y="121"/>
                  <a:pt x="3" y="103"/>
                  <a:pt x="8" y="86"/>
                </a:cubicBezTo>
                <a:cubicBezTo>
                  <a:pt x="13" y="69"/>
                  <a:pt x="20" y="54"/>
                  <a:pt x="30" y="41"/>
                </a:cubicBezTo>
                <a:cubicBezTo>
                  <a:pt x="39" y="28"/>
                  <a:pt x="50" y="18"/>
                  <a:pt x="63" y="10"/>
                </a:cubicBezTo>
                <a:cubicBezTo>
                  <a:pt x="75" y="3"/>
                  <a:pt x="88" y="0"/>
                  <a:pt x="102" y="0"/>
                </a:cubicBezTo>
                <a:lnTo>
                  <a:pt x="32716" y="0"/>
                </a:lnTo>
                <a:cubicBezTo>
                  <a:pt x="32725" y="0"/>
                  <a:pt x="32735" y="1"/>
                  <a:pt x="32744" y="3"/>
                </a:cubicBezTo>
                <a:cubicBezTo>
                  <a:pt x="32753" y="4"/>
                  <a:pt x="32761" y="7"/>
                  <a:pt x="32770" y="10"/>
                </a:cubicBezTo>
                <a:cubicBezTo>
                  <a:pt x="32778" y="14"/>
                  <a:pt x="32786" y="18"/>
                  <a:pt x="32794" y="23"/>
                </a:cubicBezTo>
                <a:cubicBezTo>
                  <a:pt x="32802" y="28"/>
                  <a:pt x="32809" y="34"/>
                  <a:pt x="32815" y="41"/>
                </a:cubicBezTo>
                <a:cubicBezTo>
                  <a:pt x="32822" y="47"/>
                  <a:pt x="32827" y="54"/>
                  <a:pt x="32832" y="62"/>
                </a:cubicBezTo>
                <a:cubicBezTo>
                  <a:pt x="32838" y="70"/>
                  <a:pt x="32842" y="78"/>
                  <a:pt x="32845" y="86"/>
                </a:cubicBezTo>
                <a:cubicBezTo>
                  <a:pt x="32849" y="95"/>
                  <a:pt x="32852" y="103"/>
                  <a:pt x="32853" y="112"/>
                </a:cubicBezTo>
                <a:cubicBezTo>
                  <a:pt x="32855" y="121"/>
                  <a:pt x="32856" y="130"/>
                  <a:pt x="32856" y="140"/>
                </a:cubicBezTo>
                <a:lnTo>
                  <a:pt x="32856" y="1538"/>
                </a:lnTo>
                <a:cubicBezTo>
                  <a:pt x="32856" y="1547"/>
                  <a:pt x="32855" y="1556"/>
                  <a:pt x="32853" y="1565"/>
                </a:cubicBezTo>
                <a:cubicBezTo>
                  <a:pt x="32852" y="1574"/>
                  <a:pt x="32849" y="1583"/>
                  <a:pt x="32845" y="1591"/>
                </a:cubicBezTo>
                <a:cubicBezTo>
                  <a:pt x="32842" y="1599"/>
                  <a:pt x="32838" y="1608"/>
                  <a:pt x="32832" y="1615"/>
                </a:cubicBezTo>
                <a:cubicBezTo>
                  <a:pt x="32827" y="1623"/>
                  <a:pt x="32822" y="1630"/>
                  <a:pt x="32815" y="1636"/>
                </a:cubicBezTo>
                <a:cubicBezTo>
                  <a:pt x="32809" y="1643"/>
                  <a:pt x="32802" y="1649"/>
                  <a:pt x="32794" y="1654"/>
                </a:cubicBezTo>
                <a:cubicBezTo>
                  <a:pt x="32786" y="1659"/>
                  <a:pt x="32778" y="1663"/>
                  <a:pt x="32770" y="1667"/>
                </a:cubicBezTo>
                <a:cubicBezTo>
                  <a:pt x="32761" y="1670"/>
                  <a:pt x="32753" y="1673"/>
                  <a:pt x="32744" y="1675"/>
                </a:cubicBezTo>
                <a:cubicBezTo>
                  <a:pt x="32735" y="1676"/>
                  <a:pt x="32725" y="1677"/>
                  <a:pt x="32716" y="1677"/>
                </a:cubicBezTo>
                <a:lnTo>
                  <a:pt x="102" y="1677"/>
                </a:lnTo>
                <a:cubicBezTo>
                  <a:pt x="88" y="1677"/>
                  <a:pt x="75" y="1674"/>
                  <a:pt x="63" y="1667"/>
                </a:cubicBezTo>
                <a:cubicBezTo>
                  <a:pt x="50" y="1660"/>
                  <a:pt x="39" y="1649"/>
                  <a:pt x="30" y="1636"/>
                </a:cubicBezTo>
                <a:cubicBezTo>
                  <a:pt x="20" y="1623"/>
                  <a:pt x="13" y="1608"/>
                  <a:pt x="8" y="1591"/>
                </a:cubicBezTo>
                <a:cubicBezTo>
                  <a:pt x="3" y="1574"/>
                  <a:pt x="0" y="1556"/>
                  <a:pt x="0" y="153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980640" y="3527280"/>
            <a:ext cx="11780640" cy="23040"/>
          </a:xfrm>
          <a:custGeom>
            <a:avLst/>
            <a:gdLst/>
            <a:ahLst/>
            <a:rect l="0" t="0" r="r" b="b"/>
            <a:pathLst>
              <a:path w="32724" h="64">
                <a:moveTo>
                  <a:pt x="32699" y="64"/>
                </a:moveTo>
                <a:lnTo>
                  <a:pt x="219" y="64"/>
                </a:lnTo>
                <a:lnTo>
                  <a:pt x="0" y="8"/>
                </a:lnTo>
                <a:cubicBezTo>
                  <a:pt x="6" y="2"/>
                  <a:pt x="12" y="0"/>
                  <a:pt x="19" y="0"/>
                </a:cubicBezTo>
                <a:lnTo>
                  <a:pt x="32633" y="0"/>
                </a:lnTo>
                <a:cubicBezTo>
                  <a:pt x="32668" y="0"/>
                  <a:pt x="32698" y="12"/>
                  <a:pt x="32723" y="37"/>
                </a:cubicBezTo>
                <a:cubicBezTo>
                  <a:pt x="32724" y="37"/>
                  <a:pt x="32724" y="38"/>
                  <a:pt x="32724" y="38"/>
                </a:cubicBezTo>
                <a:lnTo>
                  <a:pt x="32699" y="64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980640" y="4098600"/>
            <a:ext cx="11780640" cy="23400"/>
          </a:xfrm>
          <a:custGeom>
            <a:avLst/>
            <a:gdLst/>
            <a:ahLst/>
            <a:rect l="0" t="0" r="r" b="b"/>
            <a:pathLst>
              <a:path w="32724" h="65">
                <a:moveTo>
                  <a:pt x="219" y="0"/>
                </a:moveTo>
                <a:lnTo>
                  <a:pt x="32699" y="0"/>
                </a:lnTo>
                <a:lnTo>
                  <a:pt x="32724" y="25"/>
                </a:lnTo>
                <a:cubicBezTo>
                  <a:pt x="32724" y="26"/>
                  <a:pt x="32724" y="26"/>
                  <a:pt x="32723" y="26"/>
                </a:cubicBezTo>
                <a:cubicBezTo>
                  <a:pt x="32698" y="52"/>
                  <a:pt x="32668" y="65"/>
                  <a:pt x="32633" y="65"/>
                </a:cubicBezTo>
                <a:lnTo>
                  <a:pt x="19" y="65"/>
                </a:lnTo>
                <a:cubicBezTo>
                  <a:pt x="12" y="65"/>
                  <a:pt x="6" y="62"/>
                  <a:pt x="0" y="56"/>
                </a:cubicBezTo>
                <a:lnTo>
                  <a:pt x="219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12751200" y="3540600"/>
            <a:ext cx="23040" cy="567720"/>
          </a:xfrm>
          <a:custGeom>
            <a:avLst/>
            <a:gdLst/>
            <a:ahLst/>
            <a:rect l="0" t="0" r="r" b="b"/>
            <a:pathLst>
              <a:path w="64" h="1577">
                <a:moveTo>
                  <a:pt x="0" y="1551"/>
                </a:moveTo>
                <a:lnTo>
                  <a:pt x="0" y="26"/>
                </a:lnTo>
                <a:lnTo>
                  <a:pt x="27" y="0"/>
                </a:lnTo>
                <a:cubicBezTo>
                  <a:pt x="52" y="25"/>
                  <a:pt x="64" y="54"/>
                  <a:pt x="64" y="90"/>
                </a:cubicBezTo>
                <a:lnTo>
                  <a:pt x="64" y="1488"/>
                </a:lnTo>
                <a:cubicBezTo>
                  <a:pt x="64" y="1523"/>
                  <a:pt x="52" y="1553"/>
                  <a:pt x="27" y="1577"/>
                </a:cubicBezTo>
                <a:lnTo>
                  <a:pt x="0" y="1551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969120" y="3530160"/>
            <a:ext cx="16920" cy="588600"/>
          </a:xfrm>
          <a:custGeom>
            <a:avLst/>
            <a:gdLst/>
            <a:ahLst/>
            <a:rect l="0" t="0" r="r" b="b"/>
            <a:pathLst>
              <a:path w="47" h="1635">
                <a:moveTo>
                  <a:pt x="47" y="3"/>
                </a:moveTo>
                <a:lnTo>
                  <a:pt x="47" y="1632"/>
                </a:lnTo>
                <a:lnTo>
                  <a:pt x="32" y="1635"/>
                </a:lnTo>
                <a:cubicBezTo>
                  <a:pt x="26" y="1629"/>
                  <a:pt x="20" y="1620"/>
                  <a:pt x="15" y="1606"/>
                </a:cubicBezTo>
                <a:cubicBezTo>
                  <a:pt x="5" y="1582"/>
                  <a:pt x="0" y="1552"/>
                  <a:pt x="0" y="1517"/>
                </a:cubicBezTo>
                <a:lnTo>
                  <a:pt x="0" y="119"/>
                </a:lnTo>
                <a:cubicBezTo>
                  <a:pt x="0" y="83"/>
                  <a:pt x="5" y="54"/>
                  <a:pt x="15" y="29"/>
                </a:cubicBezTo>
                <a:cubicBezTo>
                  <a:pt x="20" y="16"/>
                  <a:pt x="26" y="6"/>
                  <a:pt x="32" y="0"/>
                </a:cubicBezTo>
                <a:lnTo>
                  <a:pt x="47" y="3"/>
                </a:lnTo>
                <a:close/>
              </a:path>
            </a:pathLst>
          </a:custGeom>
          <a:solidFill>
            <a:srgbClr val="8b15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2971440" y="3121920"/>
            <a:ext cx="382212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 "missed discount-rate justification", "vague comparable-company criterion".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1130040" y="3777120"/>
            <a:ext cx="69228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75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RETRIEVE · 3</a:t>
            </a:r>
            <a:endParaRPr b="0" lang="en-IN" sz="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2476080" y="3648600"/>
            <a:ext cx="11628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900" strike="noStrike" u="none">
                <a:solidFill>
                  <a:srgbClr val="0a0a0a"/>
                </a:solidFill>
                <a:effectLst/>
                <a:uFillTx/>
                <a:latin typeface="Inter-Regular_Semi"/>
                <a:ea typeface="Inter-Regular_Semi"/>
              </a:rPr>
              <a:t>Semantic Patterns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3459600" y="3652200"/>
            <a:ext cx="52164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  ·  cosine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3985200" y="3686400"/>
            <a:ext cx="1137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Arial"/>
                <a:ea typeface="Arial"/>
              </a:rPr>
              <a:t>≥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4048560" y="3652200"/>
            <a:ext cx="2548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 0.90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2506680" y="3826080"/>
            <a:ext cx="51624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20" strike="noStrike" u="none">
                <a:solidFill>
                  <a:srgbClr val="0a0a0a"/>
                </a:solidFill>
                <a:effectLst/>
                <a:uFillTx/>
                <a:latin typeface="Fraunces-Regular_opszC7ADA_wght12C0000"/>
                <a:ea typeface="Fraunces-Regular_opszC7ADA_wght12C0000"/>
              </a:rPr>
              <a:t>Returned:</a:t>
            </a:r>
            <a:endParaRPr b="0" lang="en-IN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950760" y="4226760"/>
            <a:ext cx="11828160" cy="429840"/>
          </a:xfrm>
          <a:custGeom>
            <a:avLst/>
            <a:gdLst/>
            <a:ahLst/>
            <a:rect l="0" t="0" r="r" b="b"/>
            <a:pathLst>
              <a:path w="32856" h="1194">
                <a:moveTo>
                  <a:pt x="0" y="1055"/>
                </a:moveTo>
                <a:lnTo>
                  <a:pt x="0" y="139"/>
                </a:lnTo>
                <a:cubicBezTo>
                  <a:pt x="0" y="121"/>
                  <a:pt x="3" y="103"/>
                  <a:pt x="8" y="86"/>
                </a:cubicBezTo>
                <a:cubicBezTo>
                  <a:pt x="13" y="69"/>
                  <a:pt x="20" y="54"/>
                  <a:pt x="30" y="41"/>
                </a:cubicBezTo>
                <a:cubicBezTo>
                  <a:pt x="39" y="27"/>
                  <a:pt x="50" y="17"/>
                  <a:pt x="63" y="10"/>
                </a:cubicBezTo>
                <a:cubicBezTo>
                  <a:pt x="75" y="3"/>
                  <a:pt x="88" y="0"/>
                  <a:pt x="102" y="0"/>
                </a:cubicBezTo>
                <a:lnTo>
                  <a:pt x="32716" y="0"/>
                </a:lnTo>
                <a:cubicBezTo>
                  <a:pt x="32725" y="0"/>
                  <a:pt x="32735" y="1"/>
                  <a:pt x="32744" y="2"/>
                </a:cubicBezTo>
                <a:cubicBezTo>
                  <a:pt x="32753" y="4"/>
                  <a:pt x="32761" y="7"/>
                  <a:pt x="32770" y="10"/>
                </a:cubicBezTo>
                <a:cubicBezTo>
                  <a:pt x="32778" y="14"/>
                  <a:pt x="32786" y="18"/>
                  <a:pt x="32794" y="23"/>
                </a:cubicBezTo>
                <a:cubicBezTo>
                  <a:pt x="32802" y="28"/>
                  <a:pt x="32809" y="34"/>
                  <a:pt x="32815" y="41"/>
                </a:cubicBezTo>
                <a:cubicBezTo>
                  <a:pt x="32822" y="47"/>
                  <a:pt x="32827" y="54"/>
                  <a:pt x="32832" y="62"/>
                </a:cubicBezTo>
                <a:cubicBezTo>
                  <a:pt x="32838" y="69"/>
                  <a:pt x="32842" y="77"/>
                  <a:pt x="32845" y="86"/>
                </a:cubicBezTo>
                <a:cubicBezTo>
                  <a:pt x="32849" y="94"/>
                  <a:pt x="32852" y="103"/>
                  <a:pt x="32853" y="112"/>
                </a:cubicBezTo>
                <a:cubicBezTo>
                  <a:pt x="32855" y="121"/>
                  <a:pt x="32856" y="130"/>
                  <a:pt x="32856" y="139"/>
                </a:cubicBezTo>
                <a:lnTo>
                  <a:pt x="32856" y="1055"/>
                </a:lnTo>
                <a:cubicBezTo>
                  <a:pt x="32856" y="1064"/>
                  <a:pt x="32855" y="1073"/>
                  <a:pt x="32853" y="1082"/>
                </a:cubicBezTo>
                <a:cubicBezTo>
                  <a:pt x="32852" y="1091"/>
                  <a:pt x="32849" y="1100"/>
                  <a:pt x="32845" y="1108"/>
                </a:cubicBezTo>
                <a:cubicBezTo>
                  <a:pt x="32842" y="1117"/>
                  <a:pt x="32838" y="1125"/>
                  <a:pt x="32832" y="1132"/>
                </a:cubicBezTo>
                <a:cubicBezTo>
                  <a:pt x="32827" y="1140"/>
                  <a:pt x="32822" y="1147"/>
                  <a:pt x="32815" y="1154"/>
                </a:cubicBezTo>
                <a:cubicBezTo>
                  <a:pt x="32809" y="1160"/>
                  <a:pt x="32802" y="1166"/>
                  <a:pt x="32794" y="1171"/>
                </a:cubicBezTo>
                <a:cubicBezTo>
                  <a:pt x="32786" y="1176"/>
                  <a:pt x="32778" y="1180"/>
                  <a:pt x="32770" y="1184"/>
                </a:cubicBezTo>
                <a:cubicBezTo>
                  <a:pt x="32761" y="1187"/>
                  <a:pt x="32753" y="1190"/>
                  <a:pt x="32744" y="1192"/>
                </a:cubicBezTo>
                <a:cubicBezTo>
                  <a:pt x="32735" y="1194"/>
                  <a:pt x="32725" y="1194"/>
                  <a:pt x="32716" y="1194"/>
                </a:cubicBezTo>
                <a:lnTo>
                  <a:pt x="102" y="1194"/>
                </a:lnTo>
                <a:cubicBezTo>
                  <a:pt x="88" y="1194"/>
                  <a:pt x="75" y="1191"/>
                  <a:pt x="63" y="1184"/>
                </a:cubicBezTo>
                <a:cubicBezTo>
                  <a:pt x="50" y="1177"/>
                  <a:pt x="39" y="1167"/>
                  <a:pt x="30" y="1154"/>
                </a:cubicBezTo>
                <a:cubicBezTo>
                  <a:pt x="20" y="1140"/>
                  <a:pt x="13" y="1125"/>
                  <a:pt x="8" y="1108"/>
                </a:cubicBezTo>
                <a:cubicBezTo>
                  <a:pt x="3" y="1091"/>
                  <a:pt x="0" y="1073"/>
                  <a:pt x="0" y="10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980640" y="4231080"/>
            <a:ext cx="11780640" cy="23400"/>
          </a:xfrm>
          <a:custGeom>
            <a:avLst/>
            <a:gdLst/>
            <a:ahLst/>
            <a:rect l="0" t="0" r="r" b="b"/>
            <a:pathLst>
              <a:path w="32724" h="65">
                <a:moveTo>
                  <a:pt x="32699" y="65"/>
                </a:moveTo>
                <a:lnTo>
                  <a:pt x="219" y="65"/>
                </a:lnTo>
                <a:lnTo>
                  <a:pt x="0" y="9"/>
                </a:lnTo>
                <a:cubicBezTo>
                  <a:pt x="6" y="3"/>
                  <a:pt x="12" y="0"/>
                  <a:pt x="19" y="0"/>
                </a:cubicBezTo>
                <a:lnTo>
                  <a:pt x="32633" y="0"/>
                </a:lnTo>
                <a:cubicBezTo>
                  <a:pt x="32668" y="0"/>
                  <a:pt x="32698" y="13"/>
                  <a:pt x="32723" y="38"/>
                </a:cubicBezTo>
                <a:cubicBezTo>
                  <a:pt x="32724" y="38"/>
                  <a:pt x="32724" y="38"/>
                  <a:pt x="32724" y="39"/>
                </a:cubicBezTo>
                <a:lnTo>
                  <a:pt x="32699" y="65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980640" y="4628880"/>
            <a:ext cx="11780640" cy="23400"/>
          </a:xfrm>
          <a:custGeom>
            <a:avLst/>
            <a:gdLst/>
            <a:ahLst/>
            <a:rect l="0" t="0" r="r" b="b"/>
            <a:pathLst>
              <a:path w="32724" h="65">
                <a:moveTo>
                  <a:pt x="219" y="0"/>
                </a:moveTo>
                <a:lnTo>
                  <a:pt x="32699" y="0"/>
                </a:lnTo>
                <a:lnTo>
                  <a:pt x="32724" y="25"/>
                </a:lnTo>
                <a:cubicBezTo>
                  <a:pt x="32724" y="27"/>
                  <a:pt x="32724" y="27"/>
                  <a:pt x="32723" y="28"/>
                </a:cubicBezTo>
                <a:cubicBezTo>
                  <a:pt x="32698" y="52"/>
                  <a:pt x="32668" y="65"/>
                  <a:pt x="32633" y="65"/>
                </a:cubicBezTo>
                <a:lnTo>
                  <a:pt x="19" y="65"/>
                </a:lnTo>
                <a:cubicBezTo>
                  <a:pt x="12" y="65"/>
                  <a:pt x="6" y="62"/>
                  <a:pt x="0" y="56"/>
                </a:cubicBezTo>
                <a:lnTo>
                  <a:pt x="219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12751200" y="4244760"/>
            <a:ext cx="23040" cy="394200"/>
          </a:xfrm>
          <a:custGeom>
            <a:avLst/>
            <a:gdLst/>
            <a:ahLst/>
            <a:rect l="0" t="0" r="r" b="b"/>
            <a:pathLst>
              <a:path w="64" h="1095">
                <a:moveTo>
                  <a:pt x="0" y="1068"/>
                </a:moveTo>
                <a:lnTo>
                  <a:pt x="0" y="26"/>
                </a:lnTo>
                <a:lnTo>
                  <a:pt x="27" y="0"/>
                </a:lnTo>
                <a:cubicBezTo>
                  <a:pt x="52" y="24"/>
                  <a:pt x="64" y="54"/>
                  <a:pt x="64" y="89"/>
                </a:cubicBezTo>
                <a:lnTo>
                  <a:pt x="64" y="1005"/>
                </a:lnTo>
                <a:cubicBezTo>
                  <a:pt x="64" y="1040"/>
                  <a:pt x="52" y="1070"/>
                  <a:pt x="27" y="1095"/>
                </a:cubicBezTo>
                <a:lnTo>
                  <a:pt x="0" y="1068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969120" y="4233960"/>
            <a:ext cx="16920" cy="415440"/>
          </a:xfrm>
          <a:custGeom>
            <a:avLst/>
            <a:gdLst/>
            <a:ahLst/>
            <a:rect l="0" t="0" r="r" b="b"/>
            <a:pathLst>
              <a:path w="47" h="1154">
                <a:moveTo>
                  <a:pt x="47" y="4"/>
                </a:moveTo>
                <a:lnTo>
                  <a:pt x="47" y="1150"/>
                </a:lnTo>
                <a:lnTo>
                  <a:pt x="32" y="1154"/>
                </a:lnTo>
                <a:cubicBezTo>
                  <a:pt x="26" y="1147"/>
                  <a:pt x="20" y="1138"/>
                  <a:pt x="15" y="1125"/>
                </a:cubicBezTo>
                <a:cubicBezTo>
                  <a:pt x="5" y="1100"/>
                  <a:pt x="0" y="1070"/>
                  <a:pt x="0" y="1035"/>
                </a:cubicBezTo>
                <a:lnTo>
                  <a:pt x="0" y="119"/>
                </a:lnTo>
                <a:cubicBezTo>
                  <a:pt x="0" y="84"/>
                  <a:pt x="5" y="54"/>
                  <a:pt x="15" y="30"/>
                </a:cubicBezTo>
                <a:cubicBezTo>
                  <a:pt x="20" y="16"/>
                  <a:pt x="26" y="7"/>
                  <a:pt x="32" y="0"/>
                </a:cubicBezTo>
                <a:lnTo>
                  <a:pt x="47" y="4"/>
                </a:lnTo>
                <a:close/>
              </a:path>
            </a:pathLst>
          </a:custGeom>
          <a:solidFill>
            <a:srgbClr val="b886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2971440" y="3826080"/>
            <a:ext cx="43192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 recurring category — "incomplete-methodology" — observed across 4 past attempts.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1130040" y="4399200"/>
            <a:ext cx="86508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750" strike="noStrike" u="none">
                <a:solidFill>
                  <a:srgbClr val="b8860b"/>
                </a:solidFill>
                <a:effectLst/>
                <a:uFillTx/>
                <a:latin typeface="JetBrainsMono-Regular_wght2580000"/>
                <a:ea typeface="JetBrainsMono-Regular_wght2580000"/>
              </a:rPr>
              <a:t>A S S E M B L E</a:t>
            </a:r>
            <a:endParaRPr b="0" lang="en-IN" sz="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950760" y="4757040"/>
            <a:ext cx="11828160" cy="439200"/>
          </a:xfrm>
          <a:custGeom>
            <a:avLst/>
            <a:gdLst/>
            <a:ahLst/>
            <a:rect l="0" t="0" r="r" b="b"/>
            <a:pathLst>
              <a:path w="32856" h="1220">
                <a:moveTo>
                  <a:pt x="0" y="1080"/>
                </a:moveTo>
                <a:lnTo>
                  <a:pt x="0" y="140"/>
                </a:lnTo>
                <a:cubicBezTo>
                  <a:pt x="0" y="121"/>
                  <a:pt x="3" y="103"/>
                  <a:pt x="8" y="86"/>
                </a:cubicBezTo>
                <a:cubicBezTo>
                  <a:pt x="13" y="69"/>
                  <a:pt x="20" y="54"/>
                  <a:pt x="30" y="41"/>
                </a:cubicBezTo>
                <a:cubicBezTo>
                  <a:pt x="39" y="28"/>
                  <a:pt x="50" y="18"/>
                  <a:pt x="63" y="10"/>
                </a:cubicBezTo>
                <a:cubicBezTo>
                  <a:pt x="75" y="3"/>
                  <a:pt x="88" y="0"/>
                  <a:pt x="102" y="0"/>
                </a:cubicBezTo>
                <a:lnTo>
                  <a:pt x="32716" y="0"/>
                </a:lnTo>
                <a:cubicBezTo>
                  <a:pt x="32725" y="0"/>
                  <a:pt x="32735" y="1"/>
                  <a:pt x="32744" y="3"/>
                </a:cubicBezTo>
                <a:cubicBezTo>
                  <a:pt x="32753" y="4"/>
                  <a:pt x="32761" y="7"/>
                  <a:pt x="32770" y="10"/>
                </a:cubicBezTo>
                <a:cubicBezTo>
                  <a:pt x="32778" y="14"/>
                  <a:pt x="32786" y="18"/>
                  <a:pt x="32794" y="23"/>
                </a:cubicBezTo>
                <a:cubicBezTo>
                  <a:pt x="32802" y="28"/>
                  <a:pt x="32809" y="34"/>
                  <a:pt x="32815" y="41"/>
                </a:cubicBezTo>
                <a:cubicBezTo>
                  <a:pt x="32822" y="47"/>
                  <a:pt x="32827" y="54"/>
                  <a:pt x="32832" y="62"/>
                </a:cubicBezTo>
                <a:cubicBezTo>
                  <a:pt x="32838" y="70"/>
                  <a:pt x="32842" y="78"/>
                  <a:pt x="32845" y="86"/>
                </a:cubicBezTo>
                <a:cubicBezTo>
                  <a:pt x="32849" y="95"/>
                  <a:pt x="32852" y="103"/>
                  <a:pt x="32853" y="112"/>
                </a:cubicBezTo>
                <a:cubicBezTo>
                  <a:pt x="32855" y="121"/>
                  <a:pt x="32856" y="130"/>
                  <a:pt x="32856" y="140"/>
                </a:cubicBezTo>
                <a:lnTo>
                  <a:pt x="32856" y="1080"/>
                </a:lnTo>
                <a:cubicBezTo>
                  <a:pt x="32856" y="1090"/>
                  <a:pt x="32855" y="1099"/>
                  <a:pt x="32853" y="1108"/>
                </a:cubicBezTo>
                <a:cubicBezTo>
                  <a:pt x="32852" y="1117"/>
                  <a:pt x="32849" y="1125"/>
                  <a:pt x="32845" y="1134"/>
                </a:cubicBezTo>
                <a:cubicBezTo>
                  <a:pt x="32842" y="1142"/>
                  <a:pt x="32838" y="1150"/>
                  <a:pt x="32832" y="1158"/>
                </a:cubicBezTo>
                <a:cubicBezTo>
                  <a:pt x="32827" y="1166"/>
                  <a:pt x="32822" y="1173"/>
                  <a:pt x="32815" y="1179"/>
                </a:cubicBezTo>
                <a:cubicBezTo>
                  <a:pt x="32809" y="1186"/>
                  <a:pt x="32802" y="1191"/>
                  <a:pt x="32794" y="1197"/>
                </a:cubicBezTo>
                <a:cubicBezTo>
                  <a:pt x="32786" y="1202"/>
                  <a:pt x="32778" y="1206"/>
                  <a:pt x="32770" y="1209"/>
                </a:cubicBezTo>
                <a:cubicBezTo>
                  <a:pt x="32761" y="1213"/>
                  <a:pt x="32753" y="1216"/>
                  <a:pt x="32744" y="1217"/>
                </a:cubicBezTo>
                <a:cubicBezTo>
                  <a:pt x="32735" y="1219"/>
                  <a:pt x="32725" y="1220"/>
                  <a:pt x="32716" y="1220"/>
                </a:cubicBezTo>
                <a:lnTo>
                  <a:pt x="102" y="1220"/>
                </a:lnTo>
                <a:cubicBezTo>
                  <a:pt x="88" y="1220"/>
                  <a:pt x="75" y="1217"/>
                  <a:pt x="63" y="1209"/>
                </a:cubicBezTo>
                <a:cubicBezTo>
                  <a:pt x="50" y="1202"/>
                  <a:pt x="39" y="1192"/>
                  <a:pt x="30" y="1179"/>
                </a:cubicBezTo>
                <a:cubicBezTo>
                  <a:pt x="20" y="1166"/>
                  <a:pt x="13" y="1151"/>
                  <a:pt x="8" y="1134"/>
                </a:cubicBezTo>
                <a:cubicBezTo>
                  <a:pt x="3" y="1117"/>
                  <a:pt x="0" y="1099"/>
                  <a:pt x="0" y="108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980640" y="4761720"/>
            <a:ext cx="11780640" cy="23040"/>
          </a:xfrm>
          <a:custGeom>
            <a:avLst/>
            <a:gdLst/>
            <a:ahLst/>
            <a:rect l="0" t="0" r="r" b="b"/>
            <a:pathLst>
              <a:path w="32724" h="64">
                <a:moveTo>
                  <a:pt x="32699" y="64"/>
                </a:moveTo>
                <a:lnTo>
                  <a:pt x="219" y="64"/>
                </a:lnTo>
                <a:lnTo>
                  <a:pt x="0" y="8"/>
                </a:lnTo>
                <a:cubicBezTo>
                  <a:pt x="6" y="2"/>
                  <a:pt x="12" y="0"/>
                  <a:pt x="19" y="0"/>
                </a:cubicBezTo>
                <a:lnTo>
                  <a:pt x="32633" y="0"/>
                </a:lnTo>
                <a:cubicBezTo>
                  <a:pt x="32668" y="0"/>
                  <a:pt x="32698" y="12"/>
                  <a:pt x="32723" y="38"/>
                </a:cubicBezTo>
                <a:cubicBezTo>
                  <a:pt x="32724" y="38"/>
                  <a:pt x="32724" y="39"/>
                  <a:pt x="32724" y="39"/>
                </a:cubicBezTo>
                <a:lnTo>
                  <a:pt x="32699" y="64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980640" y="5168520"/>
            <a:ext cx="11780640" cy="23040"/>
          </a:xfrm>
          <a:custGeom>
            <a:avLst/>
            <a:gdLst/>
            <a:ahLst/>
            <a:rect l="0" t="0" r="r" b="b"/>
            <a:pathLst>
              <a:path w="32724" h="64">
                <a:moveTo>
                  <a:pt x="219" y="0"/>
                </a:moveTo>
                <a:lnTo>
                  <a:pt x="32699" y="0"/>
                </a:lnTo>
                <a:lnTo>
                  <a:pt x="32724" y="25"/>
                </a:lnTo>
                <a:cubicBezTo>
                  <a:pt x="32724" y="25"/>
                  <a:pt x="32724" y="26"/>
                  <a:pt x="32723" y="26"/>
                </a:cubicBezTo>
                <a:cubicBezTo>
                  <a:pt x="32698" y="52"/>
                  <a:pt x="32668" y="64"/>
                  <a:pt x="32633" y="64"/>
                </a:cubicBezTo>
                <a:lnTo>
                  <a:pt x="19" y="64"/>
                </a:lnTo>
                <a:cubicBezTo>
                  <a:pt x="12" y="64"/>
                  <a:pt x="6" y="61"/>
                  <a:pt x="0" y="56"/>
                </a:cubicBezTo>
                <a:lnTo>
                  <a:pt x="219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12751200" y="4775040"/>
            <a:ext cx="23040" cy="403200"/>
          </a:xfrm>
          <a:custGeom>
            <a:avLst/>
            <a:gdLst/>
            <a:ahLst/>
            <a:rect l="0" t="0" r="r" b="b"/>
            <a:pathLst>
              <a:path w="64" h="1120">
                <a:moveTo>
                  <a:pt x="0" y="1094"/>
                </a:moveTo>
                <a:lnTo>
                  <a:pt x="0" y="26"/>
                </a:lnTo>
                <a:lnTo>
                  <a:pt x="27" y="0"/>
                </a:lnTo>
                <a:cubicBezTo>
                  <a:pt x="52" y="25"/>
                  <a:pt x="64" y="54"/>
                  <a:pt x="64" y="90"/>
                </a:cubicBezTo>
                <a:lnTo>
                  <a:pt x="64" y="1030"/>
                </a:lnTo>
                <a:cubicBezTo>
                  <a:pt x="64" y="1065"/>
                  <a:pt x="52" y="1095"/>
                  <a:pt x="27" y="1120"/>
                </a:cubicBezTo>
                <a:lnTo>
                  <a:pt x="0" y="1094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969120" y="4764600"/>
            <a:ext cx="16920" cy="424080"/>
          </a:xfrm>
          <a:custGeom>
            <a:avLst/>
            <a:gdLst/>
            <a:ahLst/>
            <a:rect l="0" t="0" r="r" b="b"/>
            <a:pathLst>
              <a:path w="47" h="1178">
                <a:moveTo>
                  <a:pt x="47" y="3"/>
                </a:moveTo>
                <a:lnTo>
                  <a:pt x="47" y="1175"/>
                </a:lnTo>
                <a:lnTo>
                  <a:pt x="32" y="1178"/>
                </a:lnTo>
                <a:cubicBezTo>
                  <a:pt x="26" y="1172"/>
                  <a:pt x="20" y="1162"/>
                  <a:pt x="15" y="1149"/>
                </a:cubicBezTo>
                <a:cubicBezTo>
                  <a:pt x="5" y="1124"/>
                  <a:pt x="0" y="1094"/>
                  <a:pt x="0" y="1059"/>
                </a:cubicBezTo>
                <a:lnTo>
                  <a:pt x="0" y="119"/>
                </a:lnTo>
                <a:cubicBezTo>
                  <a:pt x="0" y="83"/>
                  <a:pt x="5" y="54"/>
                  <a:pt x="15" y="29"/>
                </a:cubicBezTo>
                <a:cubicBezTo>
                  <a:pt x="20" y="16"/>
                  <a:pt x="26" y="6"/>
                  <a:pt x="32" y="0"/>
                </a:cubicBezTo>
                <a:lnTo>
                  <a:pt x="47" y="3"/>
                </a:lnTo>
                <a:close/>
              </a:path>
            </a:pathLst>
          </a:custGeom>
          <a:solidFill>
            <a:srgbClr val="1f7a3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2476080" y="4356360"/>
            <a:ext cx="79390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All three stages are formatted into a single context block — examples, issues, patterns — and prepended to the judge's prompt alongside the task and rubric.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1130040" y="4929480"/>
            <a:ext cx="5191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750" strike="noStrike" u="none">
                <a:solidFill>
                  <a:srgbClr val="1f7a3a"/>
                </a:solidFill>
                <a:effectLst/>
                <a:uFillTx/>
                <a:latin typeface="JetBrainsMono-Regular_wght2580000"/>
                <a:ea typeface="JetBrainsMono-Regular_wght2580000"/>
              </a:rPr>
              <a:t>J U D G E</a:t>
            </a:r>
            <a:endParaRPr b="0" lang="en-IN" sz="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2476080" y="4886640"/>
            <a:ext cx="88992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GPT-4o receives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3407040" y="4886640"/>
            <a:ext cx="28022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20" strike="noStrike" u="none">
                <a:solidFill>
                  <a:srgbClr val="8b1538"/>
                </a:solidFill>
                <a:effectLst/>
                <a:uFillTx/>
                <a:latin typeface="Inter"/>
                <a:ea typeface="Inter"/>
              </a:rPr>
              <a:t>task + rubric + retrieved context + candidate response</a:t>
            </a:r>
            <a:endParaRPr b="0" lang="en-IN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6237720" y="4886640"/>
            <a:ext cx="171612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, and returns a structured verdict (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8015760" y="4886640"/>
            <a:ext cx="49644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20" strike="noStrike" u="none">
                <a:solidFill>
                  <a:srgbClr val="0a0a0a"/>
                </a:solidFill>
                <a:effectLst/>
                <a:uFillTx/>
                <a:latin typeface="Fraunces-Regular_opszC7ADA_wght12C0000"/>
                <a:ea typeface="Fraunces-Regular_opszC7ADA_wght12C0000"/>
              </a:rPr>
              <a:t>pass / fail</a:t>
            </a:r>
            <a:endParaRPr b="0" lang="en-IN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8470800" y="4886640"/>
            <a:ext cx="70272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 + reasoning).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685800" y="8312040"/>
            <a:ext cx="2566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MEMORY-ASSISTED LLM AS A JUDGE VIA KNOWLEDGE GRAPHS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11460960" y="8312040"/>
            <a:ext cx="13086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5 / 36  ·  K. PATEL · 2026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273960" y="171360"/>
            <a:ext cx="13167720" cy="8229960"/>
          </a:xfrm>
          <a:custGeom>
            <a:avLst/>
            <a:gdLst/>
            <a:ahLst/>
            <a:rect l="0" t="0" r="r" b="b"/>
            <a:pathLst>
              <a:path w="36577" h="22861">
                <a:moveTo>
                  <a:pt x="0" y="0"/>
                </a:moveTo>
                <a:lnTo>
                  <a:pt x="36577" y="0"/>
                </a:lnTo>
                <a:lnTo>
                  <a:pt x="36577" y="22861"/>
                </a:lnTo>
                <a:lnTo>
                  <a:pt x="0" y="22861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932760" y="579960"/>
            <a:ext cx="300060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PROPOSED SOLUTION · THE ASSEMBLED PROMPT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974520" y="1424160"/>
            <a:ext cx="11786760" cy="23040"/>
          </a:xfrm>
          <a:custGeom>
            <a:avLst/>
            <a:gdLst/>
            <a:ahLst/>
            <a:rect l="0" t="0" r="r" b="b"/>
            <a:pathLst>
              <a:path w="32741" h="64">
                <a:moveTo>
                  <a:pt x="32716" y="64"/>
                </a:moveTo>
                <a:lnTo>
                  <a:pt x="147" y="64"/>
                </a:lnTo>
                <a:lnTo>
                  <a:pt x="0" y="14"/>
                </a:lnTo>
                <a:cubicBezTo>
                  <a:pt x="11" y="4"/>
                  <a:pt x="23" y="0"/>
                  <a:pt x="36" y="0"/>
                </a:cubicBezTo>
                <a:lnTo>
                  <a:pt x="32650" y="0"/>
                </a:lnTo>
                <a:cubicBezTo>
                  <a:pt x="32685" y="0"/>
                  <a:pt x="32715" y="12"/>
                  <a:pt x="32740" y="37"/>
                </a:cubicBezTo>
                <a:cubicBezTo>
                  <a:pt x="32741" y="37"/>
                  <a:pt x="32741" y="38"/>
                  <a:pt x="32741" y="38"/>
                </a:cubicBezTo>
                <a:lnTo>
                  <a:pt x="32716" y="64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974520" y="6878520"/>
            <a:ext cx="11786760" cy="23040"/>
          </a:xfrm>
          <a:custGeom>
            <a:avLst/>
            <a:gdLst/>
            <a:ahLst/>
            <a:rect l="0" t="0" r="r" b="b"/>
            <a:pathLst>
              <a:path w="32741" h="64">
                <a:moveTo>
                  <a:pt x="147" y="0"/>
                </a:moveTo>
                <a:lnTo>
                  <a:pt x="32716" y="0"/>
                </a:lnTo>
                <a:lnTo>
                  <a:pt x="32741" y="26"/>
                </a:lnTo>
                <a:cubicBezTo>
                  <a:pt x="32741" y="26"/>
                  <a:pt x="32741" y="27"/>
                  <a:pt x="32740" y="27"/>
                </a:cubicBezTo>
                <a:cubicBezTo>
                  <a:pt x="32715" y="52"/>
                  <a:pt x="32685" y="64"/>
                  <a:pt x="32650" y="64"/>
                </a:cubicBezTo>
                <a:lnTo>
                  <a:pt x="36" y="64"/>
                </a:lnTo>
                <a:cubicBezTo>
                  <a:pt x="23" y="64"/>
                  <a:pt x="11" y="59"/>
                  <a:pt x="0" y="50"/>
                </a:cubicBezTo>
                <a:lnTo>
                  <a:pt x="147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12751200" y="1437480"/>
            <a:ext cx="23040" cy="5450760"/>
          </a:xfrm>
          <a:custGeom>
            <a:avLst/>
            <a:gdLst/>
            <a:ahLst/>
            <a:rect l="0" t="0" r="r" b="b"/>
            <a:pathLst>
              <a:path w="64" h="15141">
                <a:moveTo>
                  <a:pt x="0" y="15115"/>
                </a:moveTo>
                <a:lnTo>
                  <a:pt x="0" y="26"/>
                </a:lnTo>
                <a:lnTo>
                  <a:pt x="27" y="0"/>
                </a:lnTo>
                <a:cubicBezTo>
                  <a:pt x="52" y="25"/>
                  <a:pt x="64" y="54"/>
                  <a:pt x="64" y="90"/>
                </a:cubicBezTo>
                <a:lnTo>
                  <a:pt x="64" y="15051"/>
                </a:lnTo>
                <a:cubicBezTo>
                  <a:pt x="64" y="15086"/>
                  <a:pt x="52" y="15116"/>
                  <a:pt x="27" y="15141"/>
                </a:cubicBezTo>
                <a:lnTo>
                  <a:pt x="0" y="15115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959760" y="1428840"/>
            <a:ext cx="23400" cy="5467680"/>
          </a:xfrm>
          <a:custGeom>
            <a:avLst/>
            <a:gdLst/>
            <a:ahLst/>
            <a:rect l="0" t="0" r="r" b="b"/>
            <a:pathLst>
              <a:path w="65" h="15188">
                <a:moveTo>
                  <a:pt x="65" y="8"/>
                </a:moveTo>
                <a:lnTo>
                  <a:pt x="65" y="15181"/>
                </a:lnTo>
                <a:lnTo>
                  <a:pt x="43" y="15188"/>
                </a:lnTo>
                <a:cubicBezTo>
                  <a:pt x="36" y="15182"/>
                  <a:pt x="30" y="15175"/>
                  <a:pt x="24" y="15165"/>
                </a:cubicBezTo>
                <a:cubicBezTo>
                  <a:pt x="8" y="15140"/>
                  <a:pt x="0" y="15110"/>
                  <a:pt x="0" y="15075"/>
                </a:cubicBezTo>
                <a:lnTo>
                  <a:pt x="0" y="114"/>
                </a:lnTo>
                <a:cubicBezTo>
                  <a:pt x="0" y="78"/>
                  <a:pt x="8" y="49"/>
                  <a:pt x="24" y="24"/>
                </a:cubicBezTo>
                <a:cubicBezTo>
                  <a:pt x="30" y="14"/>
                  <a:pt x="36" y="6"/>
                  <a:pt x="43" y="0"/>
                </a:cubicBezTo>
                <a:lnTo>
                  <a:pt x="65" y="8"/>
                </a:lnTo>
                <a:close/>
              </a:path>
            </a:pathLst>
          </a:custGeom>
          <a:solidFill>
            <a:srgbClr val="8b15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959760" y="1424160"/>
            <a:ext cx="11814480" cy="5477400"/>
          </a:xfrm>
          <a:custGeom>
            <a:avLst/>
            <a:gdLst/>
            <a:ahLst/>
            <a:rect l="0" t="0" r="r" b="b"/>
            <a:pathLst>
              <a:path w="32818" h="15215">
                <a:moveTo>
                  <a:pt x="0" y="15088"/>
                </a:moveTo>
                <a:lnTo>
                  <a:pt x="0" y="127"/>
                </a:lnTo>
                <a:cubicBezTo>
                  <a:pt x="0" y="91"/>
                  <a:pt x="8" y="62"/>
                  <a:pt x="23" y="37"/>
                </a:cubicBezTo>
                <a:cubicBezTo>
                  <a:pt x="38" y="12"/>
                  <a:pt x="56" y="0"/>
                  <a:pt x="77" y="0"/>
                </a:cubicBezTo>
                <a:lnTo>
                  <a:pt x="32691" y="0"/>
                </a:lnTo>
                <a:cubicBezTo>
                  <a:pt x="32726" y="0"/>
                  <a:pt x="32756" y="12"/>
                  <a:pt x="32781" y="37"/>
                </a:cubicBezTo>
                <a:cubicBezTo>
                  <a:pt x="32806" y="62"/>
                  <a:pt x="32818" y="91"/>
                  <a:pt x="32818" y="127"/>
                </a:cubicBezTo>
                <a:lnTo>
                  <a:pt x="32818" y="15088"/>
                </a:lnTo>
                <a:cubicBezTo>
                  <a:pt x="32818" y="15123"/>
                  <a:pt x="32806" y="15153"/>
                  <a:pt x="32781" y="15178"/>
                </a:cubicBezTo>
                <a:cubicBezTo>
                  <a:pt x="32756" y="15203"/>
                  <a:pt x="32726" y="15215"/>
                  <a:pt x="32691" y="15215"/>
                </a:cubicBezTo>
                <a:lnTo>
                  <a:pt x="77" y="15215"/>
                </a:lnTo>
                <a:cubicBezTo>
                  <a:pt x="56" y="15215"/>
                  <a:pt x="38" y="15203"/>
                  <a:pt x="23" y="15178"/>
                </a:cubicBezTo>
                <a:cubicBezTo>
                  <a:pt x="8" y="15153"/>
                  <a:pt x="0" y="15123"/>
                  <a:pt x="0" y="15088"/>
                </a:cubicBez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932760" y="802080"/>
            <a:ext cx="632916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2760" strike="noStrike" u="none">
                <a:solidFill>
                  <a:srgbClr val="0a0a0a"/>
                </a:solidFill>
                <a:effectLst/>
                <a:uFillTx/>
                <a:latin typeface="Fraunces-Regular_opsz266666_wght2580000"/>
                <a:ea typeface="Fraunces-Regular_opsz266666_wght2580000"/>
              </a:rPr>
              <a:t>What the judge literally receives.</a:t>
            </a:r>
            <a:endParaRPr b="0" lang="en-IN" sz="27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1096920" y="1574280"/>
            <a:ext cx="37944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83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[TASK]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1096920" y="1747800"/>
            <a:ext cx="372384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Explain key methods for determining the pre-money valuation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1096920" y="1921680"/>
            <a:ext cx="265104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of a tech startup before a Series A round.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1096920" y="2269080"/>
            <a:ext cx="50544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83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[RUBRIC]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1096920" y="2442960"/>
            <a:ext cx="359748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DCF (future cash flows, projections); Comparable analysis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1096920" y="2616480"/>
            <a:ext cx="385020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(similar-co. multiples); VC method (rev × multiple − post-$);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1096920" y="2790360"/>
            <a:ext cx="321912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founder's share matters; strategic buyers pay more.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1096920" y="3137760"/>
            <a:ext cx="164160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83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[RETRIEVED MEMORY CONTEXT]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1096920" y="3311640"/>
            <a:ext cx="416556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b8860b"/>
                </a:solidFill>
                <a:effectLst/>
                <a:uFillTx/>
                <a:latin typeface="JetBrainsMono"/>
                <a:ea typeface="JetBrainsMono"/>
              </a:rPr>
              <a:t>IMPORTANT: these are REFERENCE examples only. Each case is UNIQUE.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1096920" y="3485160"/>
            <a:ext cx="416556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b8860b"/>
                </a:solidFill>
                <a:effectLst/>
                <a:uFillTx/>
                <a:latin typeface="JetBrainsMono"/>
                <a:ea typeface="JetBrainsMono"/>
              </a:rPr>
              <a:t>Do NOT assume this case will have the same outcome as similar past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1096920" y="3659040"/>
            <a:ext cx="403920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b8860b"/>
                </a:solidFill>
                <a:effectLst/>
                <a:uFillTx/>
                <a:latin typeface="JetBrainsMono"/>
                <a:ea typeface="JetBrainsMono"/>
              </a:rPr>
              <a:t>cases. Judge THIS response on its own merits against the rubric.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1096920" y="4006440"/>
            <a:ext cx="328212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1f7a3a"/>
                </a:solidFill>
                <a:effectLst/>
                <a:uFillTx/>
                <a:latin typeface="JetBrainsMono"/>
                <a:ea typeface="JetBrainsMono"/>
              </a:rPr>
              <a:t>SUCCESSFUL EXAMPLES (similar responses that passed):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1220760" y="4180320"/>
            <a:ext cx="441792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1. [similarity: 91%] Response excerpt: "DCF projects future cash flows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1405800" y="4353840"/>
            <a:ext cx="435492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at a stage-appropriate discount rate, while VC method back-solves..."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1405800" y="4527720"/>
            <a:ext cx="460728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Why it passed: "covers all three methods, names discount-rate trade-off."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1220760" y="4701600"/>
            <a:ext cx="429192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2. [similarity: 88%] Response excerpt: "Valuation triangulates DCF +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1405800" y="4875120"/>
            <a:ext cx="378684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comparable + VC; founder dilution drives the negotiation..."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1405800" y="5049000"/>
            <a:ext cx="271404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Why it passed: "explicit on founder share."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1096920" y="5396400"/>
            <a:ext cx="302976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b8860b"/>
                </a:solidFill>
                <a:effectLst/>
                <a:uFillTx/>
                <a:latin typeface="JetBrainsMono"/>
                <a:ea typeface="JetBrainsMono"/>
              </a:rPr>
              <a:t>FAILED EXAMPLES (similar responses that failed):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1220760" y="5570280"/>
            <a:ext cx="416556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1. [similarity: 93%] Response excerpt: "Pre-money valuation is the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1405800" y="5743800"/>
            <a:ext cx="265104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value of the company before investment..."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1405800" y="5917680"/>
            <a:ext cx="328212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Why it failed: "tautological; never names a method."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1096920" y="6265080"/>
            <a:ext cx="151524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83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SIMILAR ISSUES OBSERVED: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1220760" y="6438960"/>
            <a:ext cx="309276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· "missed discount-rate justification" (sim 0.91)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1220760" y="6612480"/>
            <a:ext cx="315576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· "vague comparable-company criterion"  (sim 0.90)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932760" y="6980040"/>
            <a:ext cx="118080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30" strike="noStrike" u="none">
                <a:solidFill>
                  <a:srgbClr val="6a6a66"/>
                </a:solidFill>
                <a:effectLst/>
                <a:uFillTx/>
                <a:latin typeface="Inter-Regular_"/>
                <a:ea typeface="Inter-Regular_"/>
              </a:rPr>
              <a:t>Reconstructed from </a:t>
            </a:r>
            <a:endParaRPr b="0" lang="en-IN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2149200" y="7016760"/>
            <a:ext cx="262548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judge.py · _format_memory_context()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4723200" y="6980040"/>
            <a:ext cx="205524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30" strike="noStrike" u="none">
                <a:solidFill>
                  <a:srgbClr val="6a6a66"/>
                </a:solidFill>
                <a:effectLst/>
                <a:uFillTx/>
                <a:latin typeface="Inter-Regular_"/>
                <a:ea typeface="Inter-Regular_"/>
              </a:rPr>
              <a:t>. Real run on EvalsBench item #41.</a:t>
            </a:r>
            <a:endParaRPr b="0" lang="en-IN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685800" y="8312040"/>
            <a:ext cx="2566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MEMORY-ASSISTED LLM AS A JUDGE VIA KNOWLEDGE GRAPHS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11460960" y="8312040"/>
            <a:ext cx="13086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6 / 36  ·  K. PATEL · 2026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273960" y="171360"/>
            <a:ext cx="13167720" cy="8229960"/>
          </a:xfrm>
          <a:custGeom>
            <a:avLst/>
            <a:gdLst/>
            <a:ahLst/>
            <a:rect l="0" t="0" r="r" b="b"/>
            <a:pathLst>
              <a:path w="36577" h="22861">
                <a:moveTo>
                  <a:pt x="0" y="0"/>
                </a:moveTo>
                <a:lnTo>
                  <a:pt x="36577" y="0"/>
                </a:lnTo>
                <a:lnTo>
                  <a:pt x="36577" y="22861"/>
                </a:lnTo>
                <a:lnTo>
                  <a:pt x="0" y="22861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932760" y="579960"/>
            <a:ext cx="255060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PROPOSED SOLUTION · BUILDS #2 &amp; #3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946080" y="1419480"/>
            <a:ext cx="5834520" cy="1353600"/>
          </a:xfrm>
          <a:custGeom>
            <a:avLst/>
            <a:gdLst/>
            <a:ahLst/>
            <a:rect l="0" t="0" r="r" b="b"/>
            <a:pathLst>
              <a:path w="16207" h="3760">
                <a:moveTo>
                  <a:pt x="0" y="3671"/>
                </a:moveTo>
                <a:lnTo>
                  <a:pt x="0" y="89"/>
                </a:lnTo>
                <a:cubicBezTo>
                  <a:pt x="0" y="77"/>
                  <a:pt x="2" y="66"/>
                  <a:pt x="5" y="55"/>
                </a:cubicBezTo>
                <a:cubicBezTo>
                  <a:pt x="8" y="44"/>
                  <a:pt x="13" y="34"/>
                  <a:pt x="19" y="26"/>
                </a:cubicBezTo>
                <a:cubicBezTo>
                  <a:pt x="25" y="18"/>
                  <a:pt x="32" y="11"/>
                  <a:pt x="40" y="7"/>
                </a:cubicBezTo>
                <a:cubicBezTo>
                  <a:pt x="47" y="2"/>
                  <a:pt x="55" y="0"/>
                  <a:pt x="64" y="0"/>
                </a:cubicBezTo>
                <a:lnTo>
                  <a:pt x="16118" y="0"/>
                </a:lnTo>
                <a:cubicBezTo>
                  <a:pt x="16129" y="0"/>
                  <a:pt x="16141" y="2"/>
                  <a:pt x="16152" y="7"/>
                </a:cubicBezTo>
                <a:cubicBezTo>
                  <a:pt x="16163" y="11"/>
                  <a:pt x="16172" y="18"/>
                  <a:pt x="16181" y="26"/>
                </a:cubicBezTo>
                <a:cubicBezTo>
                  <a:pt x="16189" y="34"/>
                  <a:pt x="16195" y="44"/>
                  <a:pt x="16200" y="55"/>
                </a:cubicBezTo>
                <a:cubicBezTo>
                  <a:pt x="16204" y="66"/>
                  <a:pt x="16207" y="77"/>
                  <a:pt x="16207" y="89"/>
                </a:cubicBezTo>
                <a:lnTo>
                  <a:pt x="16207" y="3671"/>
                </a:lnTo>
                <a:cubicBezTo>
                  <a:pt x="16207" y="3683"/>
                  <a:pt x="16204" y="3694"/>
                  <a:pt x="16200" y="3705"/>
                </a:cubicBezTo>
                <a:cubicBezTo>
                  <a:pt x="16195" y="3716"/>
                  <a:pt x="16189" y="3726"/>
                  <a:pt x="16181" y="3734"/>
                </a:cubicBezTo>
                <a:cubicBezTo>
                  <a:pt x="16172" y="3742"/>
                  <a:pt x="16163" y="3749"/>
                  <a:pt x="16152" y="3753"/>
                </a:cubicBezTo>
                <a:cubicBezTo>
                  <a:pt x="16141" y="3758"/>
                  <a:pt x="16129" y="3760"/>
                  <a:pt x="16118" y="3760"/>
                </a:cubicBezTo>
                <a:lnTo>
                  <a:pt x="64" y="3760"/>
                </a:lnTo>
                <a:cubicBezTo>
                  <a:pt x="55" y="3760"/>
                  <a:pt x="47" y="3758"/>
                  <a:pt x="40" y="3753"/>
                </a:cubicBezTo>
                <a:cubicBezTo>
                  <a:pt x="32" y="3749"/>
                  <a:pt x="25" y="3742"/>
                  <a:pt x="19" y="3734"/>
                </a:cubicBezTo>
                <a:cubicBezTo>
                  <a:pt x="13" y="3726"/>
                  <a:pt x="8" y="3716"/>
                  <a:pt x="5" y="3705"/>
                </a:cubicBezTo>
                <a:cubicBezTo>
                  <a:pt x="2" y="3694"/>
                  <a:pt x="0" y="3683"/>
                  <a:pt x="0" y="367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948960" y="1414800"/>
            <a:ext cx="5825880" cy="18000"/>
          </a:xfrm>
          <a:custGeom>
            <a:avLst/>
            <a:gdLst/>
            <a:ahLst/>
            <a:rect l="0" t="0" r="r" b="b"/>
            <a:pathLst>
              <a:path w="16183" h="50">
                <a:moveTo>
                  <a:pt x="16165" y="50"/>
                </a:moveTo>
                <a:cubicBezTo>
                  <a:pt x="16164" y="50"/>
                  <a:pt x="16164" y="49"/>
                  <a:pt x="16164" y="49"/>
                </a:cubicBezTo>
                <a:cubicBezTo>
                  <a:pt x="16149" y="34"/>
                  <a:pt x="16131" y="27"/>
                  <a:pt x="16110" y="27"/>
                </a:cubicBezTo>
                <a:lnTo>
                  <a:pt x="56" y="27"/>
                </a:lnTo>
                <a:cubicBezTo>
                  <a:pt x="52" y="27"/>
                  <a:pt x="49" y="29"/>
                  <a:pt x="46" y="33"/>
                </a:cubicBezTo>
                <a:lnTo>
                  <a:pt x="0" y="17"/>
                </a:lnTo>
                <a:cubicBezTo>
                  <a:pt x="17" y="6"/>
                  <a:pt x="35" y="0"/>
                  <a:pt x="56" y="0"/>
                </a:cubicBezTo>
                <a:lnTo>
                  <a:pt x="16110" y="0"/>
                </a:lnTo>
                <a:cubicBezTo>
                  <a:pt x="16138" y="0"/>
                  <a:pt x="16162" y="10"/>
                  <a:pt x="16182" y="31"/>
                </a:cubicBezTo>
                <a:cubicBezTo>
                  <a:pt x="16182" y="31"/>
                  <a:pt x="16182" y="32"/>
                  <a:pt x="16183" y="32"/>
                </a:cubicBezTo>
                <a:lnTo>
                  <a:pt x="16165" y="5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948960" y="2759760"/>
            <a:ext cx="5825880" cy="18000"/>
          </a:xfrm>
          <a:custGeom>
            <a:avLst/>
            <a:gdLst/>
            <a:ahLst/>
            <a:rect l="0" t="0" r="r" b="b"/>
            <a:pathLst>
              <a:path w="16183" h="50">
                <a:moveTo>
                  <a:pt x="46" y="18"/>
                </a:moveTo>
                <a:cubicBezTo>
                  <a:pt x="49" y="22"/>
                  <a:pt x="52" y="24"/>
                  <a:pt x="56" y="24"/>
                </a:cubicBezTo>
                <a:lnTo>
                  <a:pt x="16110" y="24"/>
                </a:lnTo>
                <a:cubicBezTo>
                  <a:pt x="16131" y="24"/>
                  <a:pt x="16149" y="17"/>
                  <a:pt x="16164" y="1"/>
                </a:cubicBezTo>
                <a:cubicBezTo>
                  <a:pt x="16164" y="1"/>
                  <a:pt x="16164" y="0"/>
                  <a:pt x="16165" y="0"/>
                </a:cubicBezTo>
                <a:lnTo>
                  <a:pt x="16183" y="19"/>
                </a:lnTo>
                <a:cubicBezTo>
                  <a:pt x="16182" y="19"/>
                  <a:pt x="16182" y="20"/>
                  <a:pt x="16182" y="20"/>
                </a:cubicBezTo>
                <a:cubicBezTo>
                  <a:pt x="16162" y="40"/>
                  <a:pt x="16138" y="50"/>
                  <a:pt x="16110" y="50"/>
                </a:cubicBezTo>
                <a:lnTo>
                  <a:pt x="56" y="50"/>
                </a:lnTo>
                <a:cubicBezTo>
                  <a:pt x="35" y="50"/>
                  <a:pt x="17" y="44"/>
                  <a:pt x="0" y="34"/>
                </a:cubicBezTo>
                <a:lnTo>
                  <a:pt x="46" y="18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6767640" y="1425600"/>
            <a:ext cx="17280" cy="1341360"/>
          </a:xfrm>
          <a:custGeom>
            <a:avLst/>
            <a:gdLst/>
            <a:ahLst/>
            <a:rect l="0" t="0" r="r" b="b"/>
            <a:pathLst>
              <a:path w="48" h="3726">
                <a:moveTo>
                  <a:pt x="0" y="3708"/>
                </a:moveTo>
                <a:cubicBezTo>
                  <a:pt x="14" y="3693"/>
                  <a:pt x="22" y="3675"/>
                  <a:pt x="22" y="3654"/>
                </a:cubicBezTo>
                <a:lnTo>
                  <a:pt x="22" y="72"/>
                </a:lnTo>
                <a:cubicBezTo>
                  <a:pt x="22" y="51"/>
                  <a:pt x="14" y="33"/>
                  <a:pt x="0" y="18"/>
                </a:cubicBezTo>
                <a:lnTo>
                  <a:pt x="18" y="0"/>
                </a:lnTo>
                <a:cubicBezTo>
                  <a:pt x="38" y="20"/>
                  <a:pt x="48" y="44"/>
                  <a:pt x="48" y="72"/>
                </a:cubicBezTo>
                <a:lnTo>
                  <a:pt x="48" y="3654"/>
                </a:lnTo>
                <a:cubicBezTo>
                  <a:pt x="48" y="3682"/>
                  <a:pt x="38" y="3706"/>
                  <a:pt x="18" y="3726"/>
                </a:cubicBezTo>
                <a:lnTo>
                  <a:pt x="0" y="3708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932400" y="1420560"/>
            <a:ext cx="33480" cy="1351440"/>
          </a:xfrm>
          <a:custGeom>
            <a:avLst/>
            <a:gdLst/>
            <a:ahLst/>
            <a:rect l="0" t="0" r="r" b="b"/>
            <a:pathLst>
              <a:path w="93" h="3754">
                <a:moveTo>
                  <a:pt x="93" y="15"/>
                </a:moveTo>
                <a:cubicBezTo>
                  <a:pt x="90" y="19"/>
                  <a:pt x="87" y="24"/>
                  <a:pt x="85" y="32"/>
                </a:cubicBezTo>
                <a:cubicBezTo>
                  <a:pt x="80" y="47"/>
                  <a:pt x="77" y="65"/>
                  <a:pt x="77" y="86"/>
                </a:cubicBezTo>
                <a:lnTo>
                  <a:pt x="77" y="3668"/>
                </a:lnTo>
                <a:cubicBezTo>
                  <a:pt x="77" y="3689"/>
                  <a:pt x="80" y="3707"/>
                  <a:pt x="85" y="3722"/>
                </a:cubicBezTo>
                <a:cubicBezTo>
                  <a:pt x="87" y="3730"/>
                  <a:pt x="90" y="3735"/>
                  <a:pt x="93" y="3739"/>
                </a:cubicBezTo>
                <a:lnTo>
                  <a:pt x="48" y="3754"/>
                </a:lnTo>
                <a:cubicBezTo>
                  <a:pt x="42" y="3750"/>
                  <a:pt x="36" y="3745"/>
                  <a:pt x="30" y="3740"/>
                </a:cubicBezTo>
                <a:cubicBezTo>
                  <a:pt x="10" y="3720"/>
                  <a:pt x="0" y="3696"/>
                  <a:pt x="0" y="3668"/>
                </a:cubicBezTo>
                <a:lnTo>
                  <a:pt x="0" y="86"/>
                </a:lnTo>
                <a:cubicBezTo>
                  <a:pt x="0" y="58"/>
                  <a:pt x="10" y="34"/>
                  <a:pt x="30" y="14"/>
                </a:cubicBezTo>
                <a:cubicBezTo>
                  <a:pt x="36" y="8"/>
                  <a:pt x="42" y="4"/>
                  <a:pt x="48" y="0"/>
                </a:cubicBezTo>
                <a:lnTo>
                  <a:pt x="93" y="15"/>
                </a:lnTo>
                <a:close/>
              </a:path>
            </a:pathLst>
          </a:custGeom>
          <a:solidFill>
            <a:srgbClr val="8b15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932760" y="802080"/>
            <a:ext cx="438192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2760" strike="noStrike" u="none">
                <a:solidFill>
                  <a:srgbClr val="0a0a0a"/>
                </a:solidFill>
                <a:effectLst/>
                <a:uFillTx/>
                <a:latin typeface="Fraunces-Regular_opsz266666_wght2580000"/>
                <a:ea typeface="Fraunces-Regular_opsz266666_wght2580000"/>
              </a:rPr>
              <a:t>Two MCTS extensions.</a:t>
            </a:r>
            <a:endParaRPr b="0" lang="en-IN" sz="27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1150200" y="1585800"/>
            <a:ext cx="159372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81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BUILD #2 · RETRIEVAL LAYER</a:t>
            </a:r>
            <a:endParaRPr b="0" lang="en-IN" sz="8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1150200" y="1687320"/>
            <a:ext cx="1608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500" strike="noStrike" u="none">
                <a:solidFill>
                  <a:srgbClr val="0a0a0a"/>
                </a:solidFill>
                <a:effectLst/>
                <a:uFillTx/>
                <a:latin typeface="Fraunces-Regular_opsz14CCC6_wght2580000"/>
                <a:ea typeface="Fraunces-Regular_opsz14CCC6_wght2580000"/>
              </a:rPr>
              <a:t>MCTS-Retrieval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1150200" y="1979640"/>
            <a:ext cx="10875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Tree search over 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2253960" y="1975320"/>
            <a:ext cx="13874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090" strike="noStrike" u="none">
                <a:solidFill>
                  <a:srgbClr val="0a0a0a"/>
                </a:solidFill>
                <a:effectLst/>
                <a:uFillTx/>
                <a:latin typeface="Inter-Regular_Semi"/>
                <a:ea typeface="Inter-Regular_Semi"/>
              </a:rPr>
              <a:t>7 retrieval actions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3420720" y="1979640"/>
            <a:ext cx="18122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 on the graph — four of them 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5324760" y="1979640"/>
            <a:ext cx="125064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130" strike="noStrike" u="none">
                <a:solidFill>
                  <a:srgbClr val="8b1538"/>
                </a:solidFill>
                <a:effectLst/>
                <a:uFillTx/>
                <a:latin typeface="Inter"/>
                <a:ea typeface="Inter"/>
              </a:rPr>
              <a:t>multi-hop traversals</a:t>
            </a:r>
            <a:endParaRPr b="0" lang="en-IN" sz="1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1150200" y="2180880"/>
            <a:ext cx="4478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(Issues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1602360" y="2194920"/>
            <a:ext cx="13932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1739880" y="2180880"/>
            <a:ext cx="10566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Fixes, Semantics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2803320" y="2194920"/>
            <a:ext cx="13932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2940840" y="2180880"/>
            <a:ext cx="8485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Issues, Policy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3798720" y="2194920"/>
            <a:ext cx="13932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3936240" y="2180880"/>
            <a:ext cx="11721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Attempts, Attempts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5129640" y="2194920"/>
            <a:ext cx="13932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5267160" y="2180880"/>
            <a:ext cx="7329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Semantics).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6944760" y="1419480"/>
            <a:ext cx="5834160" cy="1353600"/>
          </a:xfrm>
          <a:custGeom>
            <a:avLst/>
            <a:gdLst/>
            <a:ahLst/>
            <a:rect l="0" t="0" r="r" b="b"/>
            <a:pathLst>
              <a:path w="16206" h="3760">
                <a:moveTo>
                  <a:pt x="0" y="3671"/>
                </a:moveTo>
                <a:lnTo>
                  <a:pt x="0" y="89"/>
                </a:lnTo>
                <a:cubicBezTo>
                  <a:pt x="0" y="77"/>
                  <a:pt x="1" y="66"/>
                  <a:pt x="5" y="55"/>
                </a:cubicBezTo>
                <a:cubicBezTo>
                  <a:pt x="8" y="44"/>
                  <a:pt x="12" y="34"/>
                  <a:pt x="18" y="26"/>
                </a:cubicBezTo>
                <a:cubicBezTo>
                  <a:pt x="24" y="18"/>
                  <a:pt x="31" y="11"/>
                  <a:pt x="39" y="7"/>
                </a:cubicBezTo>
                <a:cubicBezTo>
                  <a:pt x="47" y="2"/>
                  <a:pt x="55" y="0"/>
                  <a:pt x="63" y="0"/>
                </a:cubicBezTo>
                <a:lnTo>
                  <a:pt x="16117" y="0"/>
                </a:lnTo>
                <a:cubicBezTo>
                  <a:pt x="16129" y="0"/>
                  <a:pt x="16140" y="2"/>
                  <a:pt x="16151" y="7"/>
                </a:cubicBezTo>
                <a:cubicBezTo>
                  <a:pt x="16162" y="11"/>
                  <a:pt x="16172" y="18"/>
                  <a:pt x="16180" y="26"/>
                </a:cubicBezTo>
                <a:cubicBezTo>
                  <a:pt x="16188" y="34"/>
                  <a:pt x="16195" y="44"/>
                  <a:pt x="16199" y="55"/>
                </a:cubicBezTo>
                <a:cubicBezTo>
                  <a:pt x="16204" y="66"/>
                  <a:pt x="16206" y="77"/>
                  <a:pt x="16206" y="89"/>
                </a:cubicBezTo>
                <a:lnTo>
                  <a:pt x="16206" y="3671"/>
                </a:lnTo>
                <a:cubicBezTo>
                  <a:pt x="16206" y="3683"/>
                  <a:pt x="16204" y="3694"/>
                  <a:pt x="16199" y="3705"/>
                </a:cubicBezTo>
                <a:cubicBezTo>
                  <a:pt x="16195" y="3716"/>
                  <a:pt x="16188" y="3726"/>
                  <a:pt x="16180" y="3734"/>
                </a:cubicBezTo>
                <a:cubicBezTo>
                  <a:pt x="16172" y="3742"/>
                  <a:pt x="16162" y="3749"/>
                  <a:pt x="16151" y="3753"/>
                </a:cubicBezTo>
                <a:cubicBezTo>
                  <a:pt x="16140" y="3758"/>
                  <a:pt x="16129" y="3760"/>
                  <a:pt x="16117" y="3760"/>
                </a:cubicBezTo>
                <a:lnTo>
                  <a:pt x="63" y="3760"/>
                </a:lnTo>
                <a:cubicBezTo>
                  <a:pt x="55" y="3760"/>
                  <a:pt x="47" y="3758"/>
                  <a:pt x="39" y="3753"/>
                </a:cubicBezTo>
                <a:cubicBezTo>
                  <a:pt x="31" y="3749"/>
                  <a:pt x="24" y="3742"/>
                  <a:pt x="18" y="3734"/>
                </a:cubicBezTo>
                <a:cubicBezTo>
                  <a:pt x="12" y="3726"/>
                  <a:pt x="8" y="3716"/>
                  <a:pt x="5" y="3705"/>
                </a:cubicBezTo>
                <a:cubicBezTo>
                  <a:pt x="1" y="3694"/>
                  <a:pt x="0" y="3683"/>
                  <a:pt x="0" y="367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6947640" y="1414800"/>
            <a:ext cx="5825520" cy="18000"/>
          </a:xfrm>
          <a:custGeom>
            <a:avLst/>
            <a:gdLst/>
            <a:ahLst/>
            <a:rect l="0" t="0" r="r" b="b"/>
            <a:pathLst>
              <a:path w="16182" h="50">
                <a:moveTo>
                  <a:pt x="16164" y="50"/>
                </a:moveTo>
                <a:lnTo>
                  <a:pt x="16163" y="49"/>
                </a:lnTo>
                <a:cubicBezTo>
                  <a:pt x="16148" y="34"/>
                  <a:pt x="16130" y="27"/>
                  <a:pt x="16109" y="27"/>
                </a:cubicBezTo>
                <a:lnTo>
                  <a:pt x="55" y="27"/>
                </a:lnTo>
                <a:cubicBezTo>
                  <a:pt x="52" y="27"/>
                  <a:pt x="48" y="29"/>
                  <a:pt x="45" y="33"/>
                </a:cubicBezTo>
                <a:lnTo>
                  <a:pt x="0" y="17"/>
                </a:lnTo>
                <a:cubicBezTo>
                  <a:pt x="16" y="6"/>
                  <a:pt x="35" y="0"/>
                  <a:pt x="55" y="0"/>
                </a:cubicBezTo>
                <a:lnTo>
                  <a:pt x="16109" y="0"/>
                </a:lnTo>
                <a:cubicBezTo>
                  <a:pt x="16137" y="0"/>
                  <a:pt x="16161" y="10"/>
                  <a:pt x="16181" y="31"/>
                </a:cubicBezTo>
                <a:lnTo>
                  <a:pt x="16182" y="32"/>
                </a:lnTo>
                <a:lnTo>
                  <a:pt x="16164" y="5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6947640" y="2759760"/>
            <a:ext cx="5825520" cy="18000"/>
          </a:xfrm>
          <a:custGeom>
            <a:avLst/>
            <a:gdLst/>
            <a:ahLst/>
            <a:rect l="0" t="0" r="r" b="b"/>
            <a:pathLst>
              <a:path w="16182" h="50">
                <a:moveTo>
                  <a:pt x="45" y="18"/>
                </a:moveTo>
                <a:cubicBezTo>
                  <a:pt x="48" y="22"/>
                  <a:pt x="52" y="24"/>
                  <a:pt x="55" y="24"/>
                </a:cubicBezTo>
                <a:lnTo>
                  <a:pt x="16109" y="24"/>
                </a:lnTo>
                <a:cubicBezTo>
                  <a:pt x="16130" y="24"/>
                  <a:pt x="16148" y="17"/>
                  <a:pt x="16163" y="1"/>
                </a:cubicBezTo>
                <a:lnTo>
                  <a:pt x="16164" y="0"/>
                </a:lnTo>
                <a:lnTo>
                  <a:pt x="16182" y="19"/>
                </a:lnTo>
                <a:lnTo>
                  <a:pt x="16181" y="20"/>
                </a:lnTo>
                <a:cubicBezTo>
                  <a:pt x="16161" y="40"/>
                  <a:pt x="16137" y="50"/>
                  <a:pt x="16109" y="50"/>
                </a:cubicBezTo>
                <a:lnTo>
                  <a:pt x="55" y="50"/>
                </a:lnTo>
                <a:cubicBezTo>
                  <a:pt x="35" y="50"/>
                  <a:pt x="16" y="44"/>
                  <a:pt x="0" y="34"/>
                </a:cubicBezTo>
                <a:lnTo>
                  <a:pt x="45" y="18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12765960" y="1425600"/>
            <a:ext cx="18000" cy="1341360"/>
          </a:xfrm>
          <a:custGeom>
            <a:avLst/>
            <a:gdLst/>
            <a:ahLst/>
            <a:rect l="0" t="0" r="r" b="b"/>
            <a:pathLst>
              <a:path w="50" h="3726">
                <a:moveTo>
                  <a:pt x="0" y="3708"/>
                </a:moveTo>
                <a:cubicBezTo>
                  <a:pt x="16" y="3693"/>
                  <a:pt x="23" y="3675"/>
                  <a:pt x="23" y="3654"/>
                </a:cubicBezTo>
                <a:lnTo>
                  <a:pt x="23" y="72"/>
                </a:lnTo>
                <a:cubicBezTo>
                  <a:pt x="23" y="51"/>
                  <a:pt x="16" y="33"/>
                  <a:pt x="0" y="18"/>
                </a:cubicBezTo>
                <a:lnTo>
                  <a:pt x="19" y="0"/>
                </a:lnTo>
                <a:cubicBezTo>
                  <a:pt x="39" y="20"/>
                  <a:pt x="50" y="44"/>
                  <a:pt x="50" y="72"/>
                </a:cubicBezTo>
                <a:lnTo>
                  <a:pt x="50" y="3654"/>
                </a:lnTo>
                <a:cubicBezTo>
                  <a:pt x="50" y="3682"/>
                  <a:pt x="39" y="3706"/>
                  <a:pt x="19" y="3726"/>
                </a:cubicBezTo>
                <a:lnTo>
                  <a:pt x="0" y="3708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6931080" y="1420560"/>
            <a:ext cx="33480" cy="1351440"/>
          </a:xfrm>
          <a:custGeom>
            <a:avLst/>
            <a:gdLst/>
            <a:ahLst/>
            <a:rect l="0" t="0" r="r" b="b"/>
            <a:pathLst>
              <a:path w="93" h="3754">
                <a:moveTo>
                  <a:pt x="93" y="15"/>
                </a:moveTo>
                <a:cubicBezTo>
                  <a:pt x="90" y="19"/>
                  <a:pt x="87" y="24"/>
                  <a:pt x="84" y="32"/>
                </a:cubicBezTo>
                <a:cubicBezTo>
                  <a:pt x="79" y="47"/>
                  <a:pt x="77" y="65"/>
                  <a:pt x="77" y="86"/>
                </a:cubicBezTo>
                <a:lnTo>
                  <a:pt x="77" y="3668"/>
                </a:lnTo>
                <a:cubicBezTo>
                  <a:pt x="77" y="3689"/>
                  <a:pt x="79" y="3707"/>
                  <a:pt x="84" y="3722"/>
                </a:cubicBezTo>
                <a:cubicBezTo>
                  <a:pt x="87" y="3730"/>
                  <a:pt x="90" y="3735"/>
                  <a:pt x="93" y="3739"/>
                </a:cubicBezTo>
                <a:lnTo>
                  <a:pt x="48" y="3754"/>
                </a:lnTo>
                <a:cubicBezTo>
                  <a:pt x="42" y="3750"/>
                  <a:pt x="36" y="3745"/>
                  <a:pt x="30" y="3740"/>
                </a:cubicBezTo>
                <a:cubicBezTo>
                  <a:pt x="10" y="3720"/>
                  <a:pt x="0" y="3696"/>
                  <a:pt x="0" y="3668"/>
                </a:cubicBezTo>
                <a:lnTo>
                  <a:pt x="0" y="86"/>
                </a:lnTo>
                <a:cubicBezTo>
                  <a:pt x="0" y="58"/>
                  <a:pt x="10" y="34"/>
                  <a:pt x="30" y="14"/>
                </a:cubicBezTo>
                <a:cubicBezTo>
                  <a:pt x="36" y="8"/>
                  <a:pt x="42" y="4"/>
                  <a:pt x="48" y="0"/>
                </a:cubicBezTo>
                <a:lnTo>
                  <a:pt x="93" y="15"/>
                </a:lnTo>
                <a:close/>
              </a:path>
            </a:pathLst>
          </a:custGeom>
          <a:solidFill>
            <a:srgbClr val="8b15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1150200" y="2391120"/>
            <a:ext cx="31532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Trajectories scored by relevance, diversity, volume.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7148880" y="1585800"/>
            <a:ext cx="159372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81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BUILD #3 · REASONING LAYER</a:t>
            </a:r>
            <a:endParaRPr b="0" lang="en-IN" sz="8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7148880" y="1687320"/>
            <a:ext cx="1302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500" strike="noStrike" u="none">
                <a:solidFill>
                  <a:srgbClr val="0a0a0a"/>
                </a:solidFill>
                <a:effectLst/>
                <a:uFillTx/>
                <a:latin typeface="Fraunces-Regular_opsz14CCC6_wght2580000"/>
                <a:ea typeface="Fraunces-Regular_opsz14CCC6_wght2580000"/>
              </a:rPr>
              <a:t>MCTS-Judge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7148880" y="1979640"/>
            <a:ext cx="20512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Decomposes evaluation into 5–7 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9272520" y="1979640"/>
            <a:ext cx="139392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130" strike="noStrike" u="none">
                <a:solidFill>
                  <a:srgbClr val="8b1538"/>
                </a:solidFill>
                <a:effectLst/>
                <a:uFillTx/>
                <a:latin typeface="Inter"/>
                <a:ea typeface="Inter"/>
              </a:rPr>
              <a:t>task-specific subtasks</a:t>
            </a:r>
            <a:endParaRPr b="0" lang="en-IN" sz="1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10678680" y="1979640"/>
            <a:ext cx="18662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. Each rollout selects subtasks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7148880" y="2180880"/>
            <a:ext cx="47062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via UCT + LLM self-assessment. Final verdict aggregates the best trajectory.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932760" y="2921400"/>
            <a:ext cx="9334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Combined into 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1894320" y="2917080"/>
            <a:ext cx="16110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090" strike="noStrike" u="none">
                <a:solidFill>
                  <a:srgbClr val="0a0a0a"/>
                </a:solidFill>
                <a:effectLst/>
                <a:uFillTx/>
                <a:latin typeface="Inter-Regular_Semi"/>
                <a:ea typeface="Inter-Regular_Semi"/>
              </a:rPr>
              <a:t>six evaluation modes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3278160" y="2921400"/>
            <a:ext cx="27684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, ablating memory and search independently.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685800" y="8312040"/>
            <a:ext cx="2566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MEMORY-ASSISTED LLM AS A JUDGE VIA KNOWLEDGE GRAPHS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11460960" y="8312040"/>
            <a:ext cx="13086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7 / 36  ·  K. PATEL · 2026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273960" y="171360"/>
            <a:ext cx="13167720" cy="8229960"/>
          </a:xfrm>
          <a:custGeom>
            <a:avLst/>
            <a:gdLst/>
            <a:ahLst/>
            <a:rect l="0" t="0" r="r" b="b"/>
            <a:pathLst>
              <a:path w="36577" h="22861">
                <a:moveTo>
                  <a:pt x="0" y="0"/>
                </a:moveTo>
                <a:lnTo>
                  <a:pt x="36577" y="0"/>
                </a:lnTo>
                <a:lnTo>
                  <a:pt x="36577" y="22861"/>
                </a:lnTo>
                <a:lnTo>
                  <a:pt x="0" y="22861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932760" y="579960"/>
            <a:ext cx="330048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PROPOSED SOLUTION · MCTS-JUDGE · WALKTHROUGH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950760" y="1419480"/>
            <a:ext cx="11828160" cy="439200"/>
          </a:xfrm>
          <a:custGeom>
            <a:avLst/>
            <a:gdLst/>
            <a:ahLst/>
            <a:rect l="0" t="0" r="r" b="b"/>
            <a:pathLst>
              <a:path w="32856" h="1220">
                <a:moveTo>
                  <a:pt x="0" y="1080"/>
                </a:moveTo>
                <a:lnTo>
                  <a:pt x="0" y="140"/>
                </a:lnTo>
                <a:cubicBezTo>
                  <a:pt x="0" y="121"/>
                  <a:pt x="3" y="103"/>
                  <a:pt x="8" y="86"/>
                </a:cubicBezTo>
                <a:cubicBezTo>
                  <a:pt x="13" y="69"/>
                  <a:pt x="20" y="54"/>
                  <a:pt x="30" y="41"/>
                </a:cubicBezTo>
                <a:cubicBezTo>
                  <a:pt x="39" y="28"/>
                  <a:pt x="50" y="18"/>
                  <a:pt x="63" y="10"/>
                </a:cubicBezTo>
                <a:cubicBezTo>
                  <a:pt x="75" y="3"/>
                  <a:pt x="88" y="0"/>
                  <a:pt x="102" y="0"/>
                </a:cubicBezTo>
                <a:lnTo>
                  <a:pt x="32716" y="0"/>
                </a:lnTo>
                <a:cubicBezTo>
                  <a:pt x="32725" y="0"/>
                  <a:pt x="32735" y="1"/>
                  <a:pt x="32744" y="3"/>
                </a:cubicBezTo>
                <a:cubicBezTo>
                  <a:pt x="32753" y="4"/>
                  <a:pt x="32761" y="7"/>
                  <a:pt x="32770" y="10"/>
                </a:cubicBezTo>
                <a:cubicBezTo>
                  <a:pt x="32778" y="14"/>
                  <a:pt x="32786" y="18"/>
                  <a:pt x="32794" y="23"/>
                </a:cubicBezTo>
                <a:cubicBezTo>
                  <a:pt x="32802" y="28"/>
                  <a:pt x="32809" y="34"/>
                  <a:pt x="32815" y="41"/>
                </a:cubicBezTo>
                <a:cubicBezTo>
                  <a:pt x="32822" y="47"/>
                  <a:pt x="32827" y="54"/>
                  <a:pt x="32832" y="62"/>
                </a:cubicBezTo>
                <a:cubicBezTo>
                  <a:pt x="32838" y="70"/>
                  <a:pt x="32842" y="78"/>
                  <a:pt x="32845" y="86"/>
                </a:cubicBezTo>
                <a:cubicBezTo>
                  <a:pt x="32849" y="95"/>
                  <a:pt x="32852" y="103"/>
                  <a:pt x="32853" y="112"/>
                </a:cubicBezTo>
                <a:cubicBezTo>
                  <a:pt x="32855" y="121"/>
                  <a:pt x="32856" y="130"/>
                  <a:pt x="32856" y="140"/>
                </a:cubicBezTo>
                <a:lnTo>
                  <a:pt x="32856" y="1080"/>
                </a:lnTo>
                <a:cubicBezTo>
                  <a:pt x="32856" y="1090"/>
                  <a:pt x="32855" y="1099"/>
                  <a:pt x="32853" y="1108"/>
                </a:cubicBezTo>
                <a:cubicBezTo>
                  <a:pt x="32852" y="1117"/>
                  <a:pt x="32849" y="1125"/>
                  <a:pt x="32845" y="1134"/>
                </a:cubicBezTo>
                <a:cubicBezTo>
                  <a:pt x="32842" y="1142"/>
                  <a:pt x="32838" y="1150"/>
                  <a:pt x="32832" y="1158"/>
                </a:cubicBezTo>
                <a:cubicBezTo>
                  <a:pt x="32827" y="1166"/>
                  <a:pt x="32822" y="1173"/>
                  <a:pt x="32815" y="1179"/>
                </a:cubicBezTo>
                <a:cubicBezTo>
                  <a:pt x="32809" y="1186"/>
                  <a:pt x="32802" y="1191"/>
                  <a:pt x="32794" y="1197"/>
                </a:cubicBezTo>
                <a:cubicBezTo>
                  <a:pt x="32786" y="1202"/>
                  <a:pt x="32778" y="1206"/>
                  <a:pt x="32770" y="1209"/>
                </a:cubicBezTo>
                <a:cubicBezTo>
                  <a:pt x="32761" y="1213"/>
                  <a:pt x="32753" y="1216"/>
                  <a:pt x="32744" y="1217"/>
                </a:cubicBezTo>
                <a:cubicBezTo>
                  <a:pt x="32735" y="1219"/>
                  <a:pt x="32725" y="1220"/>
                  <a:pt x="32716" y="1220"/>
                </a:cubicBezTo>
                <a:lnTo>
                  <a:pt x="102" y="1220"/>
                </a:lnTo>
                <a:cubicBezTo>
                  <a:pt x="88" y="1220"/>
                  <a:pt x="75" y="1217"/>
                  <a:pt x="63" y="1209"/>
                </a:cubicBezTo>
                <a:cubicBezTo>
                  <a:pt x="50" y="1202"/>
                  <a:pt x="39" y="1192"/>
                  <a:pt x="30" y="1179"/>
                </a:cubicBezTo>
                <a:cubicBezTo>
                  <a:pt x="20" y="1166"/>
                  <a:pt x="13" y="1151"/>
                  <a:pt x="8" y="1134"/>
                </a:cubicBezTo>
                <a:cubicBezTo>
                  <a:pt x="3" y="1117"/>
                  <a:pt x="0" y="1099"/>
                  <a:pt x="0" y="108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980640" y="1424160"/>
            <a:ext cx="11780640" cy="23040"/>
          </a:xfrm>
          <a:custGeom>
            <a:avLst/>
            <a:gdLst/>
            <a:ahLst/>
            <a:rect l="0" t="0" r="r" b="b"/>
            <a:pathLst>
              <a:path w="32724" h="64">
                <a:moveTo>
                  <a:pt x="32699" y="64"/>
                </a:moveTo>
                <a:lnTo>
                  <a:pt x="219" y="64"/>
                </a:lnTo>
                <a:lnTo>
                  <a:pt x="0" y="8"/>
                </a:lnTo>
                <a:cubicBezTo>
                  <a:pt x="6" y="2"/>
                  <a:pt x="12" y="0"/>
                  <a:pt x="19" y="0"/>
                </a:cubicBezTo>
                <a:lnTo>
                  <a:pt x="32633" y="0"/>
                </a:lnTo>
                <a:cubicBezTo>
                  <a:pt x="32668" y="0"/>
                  <a:pt x="32698" y="12"/>
                  <a:pt x="32723" y="37"/>
                </a:cubicBezTo>
                <a:cubicBezTo>
                  <a:pt x="32724" y="37"/>
                  <a:pt x="32724" y="38"/>
                  <a:pt x="32724" y="38"/>
                </a:cubicBezTo>
                <a:lnTo>
                  <a:pt x="32699" y="64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980640" y="1830960"/>
            <a:ext cx="11780640" cy="23040"/>
          </a:xfrm>
          <a:custGeom>
            <a:avLst/>
            <a:gdLst/>
            <a:ahLst/>
            <a:rect l="0" t="0" r="r" b="b"/>
            <a:pathLst>
              <a:path w="32724" h="64">
                <a:moveTo>
                  <a:pt x="219" y="0"/>
                </a:moveTo>
                <a:lnTo>
                  <a:pt x="32699" y="0"/>
                </a:lnTo>
                <a:lnTo>
                  <a:pt x="32724" y="25"/>
                </a:lnTo>
                <a:cubicBezTo>
                  <a:pt x="32724" y="25"/>
                  <a:pt x="32724" y="26"/>
                  <a:pt x="32723" y="26"/>
                </a:cubicBezTo>
                <a:cubicBezTo>
                  <a:pt x="32698" y="52"/>
                  <a:pt x="32668" y="64"/>
                  <a:pt x="32633" y="64"/>
                </a:cubicBezTo>
                <a:lnTo>
                  <a:pt x="19" y="64"/>
                </a:lnTo>
                <a:cubicBezTo>
                  <a:pt x="12" y="64"/>
                  <a:pt x="6" y="61"/>
                  <a:pt x="0" y="56"/>
                </a:cubicBezTo>
                <a:lnTo>
                  <a:pt x="219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12751200" y="1437480"/>
            <a:ext cx="23040" cy="403200"/>
          </a:xfrm>
          <a:custGeom>
            <a:avLst/>
            <a:gdLst/>
            <a:ahLst/>
            <a:rect l="0" t="0" r="r" b="b"/>
            <a:pathLst>
              <a:path w="64" h="1120">
                <a:moveTo>
                  <a:pt x="0" y="1094"/>
                </a:moveTo>
                <a:lnTo>
                  <a:pt x="0" y="26"/>
                </a:lnTo>
                <a:lnTo>
                  <a:pt x="27" y="0"/>
                </a:lnTo>
                <a:cubicBezTo>
                  <a:pt x="52" y="25"/>
                  <a:pt x="64" y="54"/>
                  <a:pt x="64" y="90"/>
                </a:cubicBezTo>
                <a:lnTo>
                  <a:pt x="64" y="1029"/>
                </a:lnTo>
                <a:cubicBezTo>
                  <a:pt x="64" y="1065"/>
                  <a:pt x="52" y="1095"/>
                  <a:pt x="27" y="1120"/>
                </a:cubicBezTo>
                <a:lnTo>
                  <a:pt x="0" y="1094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969120" y="1427040"/>
            <a:ext cx="16920" cy="424080"/>
          </a:xfrm>
          <a:custGeom>
            <a:avLst/>
            <a:gdLst/>
            <a:ahLst/>
            <a:rect l="0" t="0" r="r" b="b"/>
            <a:pathLst>
              <a:path w="47" h="1178">
                <a:moveTo>
                  <a:pt x="47" y="3"/>
                </a:moveTo>
                <a:lnTo>
                  <a:pt x="47" y="1175"/>
                </a:lnTo>
                <a:lnTo>
                  <a:pt x="32" y="1178"/>
                </a:lnTo>
                <a:cubicBezTo>
                  <a:pt x="26" y="1172"/>
                  <a:pt x="20" y="1162"/>
                  <a:pt x="15" y="1149"/>
                </a:cubicBezTo>
                <a:cubicBezTo>
                  <a:pt x="5" y="1124"/>
                  <a:pt x="0" y="1094"/>
                  <a:pt x="0" y="1059"/>
                </a:cubicBezTo>
                <a:lnTo>
                  <a:pt x="0" y="119"/>
                </a:lnTo>
                <a:cubicBezTo>
                  <a:pt x="0" y="83"/>
                  <a:pt x="5" y="54"/>
                  <a:pt x="15" y="29"/>
                </a:cubicBezTo>
                <a:cubicBezTo>
                  <a:pt x="20" y="16"/>
                  <a:pt x="26" y="6"/>
                  <a:pt x="32" y="0"/>
                </a:cubicBezTo>
                <a:lnTo>
                  <a:pt x="47" y="3"/>
                </a:lnTo>
                <a:close/>
              </a:path>
            </a:pathLst>
          </a:custGeom>
          <a:solidFill>
            <a:srgbClr val="1a3d6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932760" y="802080"/>
            <a:ext cx="625140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2760" strike="noStrike" u="none">
                <a:solidFill>
                  <a:srgbClr val="0a0a0a"/>
                </a:solidFill>
                <a:effectLst/>
                <a:uFillTx/>
                <a:latin typeface="Fraunces-Regular_opsz266666_wght2580000"/>
                <a:ea typeface="Fraunces-Regular_opsz266666_wght2580000"/>
              </a:rPr>
              <a:t>How tree-search reasoning runs.</a:t>
            </a:r>
            <a:endParaRPr b="0" lang="en-IN" sz="27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1130040" y="1600920"/>
            <a:ext cx="5191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750" strike="noStrike" u="none">
                <a:solidFill>
                  <a:srgbClr val="1a3d6e"/>
                </a:solidFill>
                <a:effectLst/>
                <a:uFillTx/>
                <a:latin typeface="JetBrainsMono-Regular_wght2580000"/>
                <a:ea typeface="JetBrainsMono-Regular_wght2580000"/>
              </a:rPr>
              <a:t>I N P U T</a:t>
            </a:r>
            <a:endParaRPr b="0" lang="en-IN" sz="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2506680" y="1558080"/>
            <a:ext cx="94968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20" strike="noStrike" u="none">
                <a:solidFill>
                  <a:srgbClr val="0a0a0a"/>
                </a:solidFill>
                <a:effectLst/>
                <a:uFillTx/>
                <a:latin typeface="Fraunces-Regular_opszC7ADA_wght12C0000"/>
                <a:ea typeface="Fraunces-Regular_opszC7ADA_wght12C0000"/>
              </a:rPr>
              <a:t>Task + Response.</a:t>
            </a:r>
            <a:endParaRPr b="0" lang="en-IN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950760" y="1958760"/>
            <a:ext cx="11828160" cy="604080"/>
          </a:xfrm>
          <a:custGeom>
            <a:avLst/>
            <a:gdLst/>
            <a:ahLst/>
            <a:rect l="0" t="0" r="r" b="b"/>
            <a:pathLst>
              <a:path w="32856" h="1678">
                <a:moveTo>
                  <a:pt x="0" y="1538"/>
                </a:moveTo>
                <a:lnTo>
                  <a:pt x="0" y="140"/>
                </a:lnTo>
                <a:cubicBezTo>
                  <a:pt x="0" y="122"/>
                  <a:pt x="3" y="104"/>
                  <a:pt x="8" y="87"/>
                </a:cubicBezTo>
                <a:cubicBezTo>
                  <a:pt x="13" y="70"/>
                  <a:pt x="20" y="54"/>
                  <a:pt x="30" y="41"/>
                </a:cubicBezTo>
                <a:cubicBezTo>
                  <a:pt x="39" y="28"/>
                  <a:pt x="50" y="18"/>
                  <a:pt x="63" y="11"/>
                </a:cubicBezTo>
                <a:cubicBezTo>
                  <a:pt x="75" y="4"/>
                  <a:pt x="88" y="0"/>
                  <a:pt x="102" y="0"/>
                </a:cubicBezTo>
                <a:lnTo>
                  <a:pt x="32716" y="0"/>
                </a:lnTo>
                <a:cubicBezTo>
                  <a:pt x="32725" y="0"/>
                  <a:pt x="32735" y="1"/>
                  <a:pt x="32744" y="3"/>
                </a:cubicBezTo>
                <a:cubicBezTo>
                  <a:pt x="32753" y="5"/>
                  <a:pt x="32761" y="8"/>
                  <a:pt x="32770" y="11"/>
                </a:cubicBezTo>
                <a:cubicBezTo>
                  <a:pt x="32778" y="15"/>
                  <a:pt x="32786" y="19"/>
                  <a:pt x="32794" y="24"/>
                </a:cubicBezTo>
                <a:cubicBezTo>
                  <a:pt x="32802" y="29"/>
                  <a:pt x="32809" y="35"/>
                  <a:pt x="32815" y="41"/>
                </a:cubicBezTo>
                <a:cubicBezTo>
                  <a:pt x="32822" y="48"/>
                  <a:pt x="32827" y="55"/>
                  <a:pt x="32832" y="63"/>
                </a:cubicBezTo>
                <a:cubicBezTo>
                  <a:pt x="32838" y="70"/>
                  <a:pt x="32842" y="78"/>
                  <a:pt x="32845" y="87"/>
                </a:cubicBezTo>
                <a:cubicBezTo>
                  <a:pt x="32849" y="95"/>
                  <a:pt x="32852" y="104"/>
                  <a:pt x="32853" y="113"/>
                </a:cubicBezTo>
                <a:cubicBezTo>
                  <a:pt x="32855" y="122"/>
                  <a:pt x="32856" y="131"/>
                  <a:pt x="32856" y="140"/>
                </a:cubicBezTo>
                <a:lnTo>
                  <a:pt x="32856" y="1538"/>
                </a:lnTo>
                <a:cubicBezTo>
                  <a:pt x="32856" y="1547"/>
                  <a:pt x="32855" y="1556"/>
                  <a:pt x="32853" y="1565"/>
                </a:cubicBezTo>
                <a:cubicBezTo>
                  <a:pt x="32852" y="1574"/>
                  <a:pt x="32849" y="1583"/>
                  <a:pt x="32845" y="1592"/>
                </a:cubicBezTo>
                <a:cubicBezTo>
                  <a:pt x="32842" y="1600"/>
                  <a:pt x="32838" y="1608"/>
                  <a:pt x="32832" y="1616"/>
                </a:cubicBezTo>
                <a:cubicBezTo>
                  <a:pt x="32827" y="1623"/>
                  <a:pt x="32822" y="1630"/>
                  <a:pt x="32815" y="1637"/>
                </a:cubicBezTo>
                <a:cubicBezTo>
                  <a:pt x="32809" y="1643"/>
                  <a:pt x="32802" y="1649"/>
                  <a:pt x="32794" y="1654"/>
                </a:cubicBezTo>
                <a:cubicBezTo>
                  <a:pt x="32786" y="1659"/>
                  <a:pt x="32778" y="1664"/>
                  <a:pt x="32770" y="1667"/>
                </a:cubicBezTo>
                <a:cubicBezTo>
                  <a:pt x="32761" y="1671"/>
                  <a:pt x="32753" y="1673"/>
                  <a:pt x="32744" y="1675"/>
                </a:cubicBezTo>
                <a:cubicBezTo>
                  <a:pt x="32735" y="1677"/>
                  <a:pt x="32725" y="1678"/>
                  <a:pt x="32716" y="1678"/>
                </a:cubicBezTo>
                <a:lnTo>
                  <a:pt x="102" y="1678"/>
                </a:lnTo>
                <a:cubicBezTo>
                  <a:pt x="88" y="1678"/>
                  <a:pt x="75" y="1674"/>
                  <a:pt x="63" y="1667"/>
                </a:cubicBezTo>
                <a:cubicBezTo>
                  <a:pt x="50" y="1660"/>
                  <a:pt x="39" y="1650"/>
                  <a:pt x="30" y="1637"/>
                </a:cubicBezTo>
                <a:cubicBezTo>
                  <a:pt x="20" y="1624"/>
                  <a:pt x="13" y="1609"/>
                  <a:pt x="8" y="1592"/>
                </a:cubicBezTo>
                <a:cubicBezTo>
                  <a:pt x="3" y="1574"/>
                  <a:pt x="0" y="1557"/>
                  <a:pt x="0" y="153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980640" y="1963440"/>
            <a:ext cx="11780640" cy="23400"/>
          </a:xfrm>
          <a:custGeom>
            <a:avLst/>
            <a:gdLst/>
            <a:ahLst/>
            <a:rect l="0" t="0" r="r" b="b"/>
            <a:pathLst>
              <a:path w="32724" h="65">
                <a:moveTo>
                  <a:pt x="32699" y="65"/>
                </a:moveTo>
                <a:lnTo>
                  <a:pt x="219" y="65"/>
                </a:lnTo>
                <a:lnTo>
                  <a:pt x="0" y="9"/>
                </a:lnTo>
                <a:cubicBezTo>
                  <a:pt x="6" y="3"/>
                  <a:pt x="12" y="0"/>
                  <a:pt x="19" y="0"/>
                </a:cubicBezTo>
                <a:lnTo>
                  <a:pt x="32633" y="0"/>
                </a:lnTo>
                <a:cubicBezTo>
                  <a:pt x="32668" y="0"/>
                  <a:pt x="32698" y="13"/>
                  <a:pt x="32723" y="37"/>
                </a:cubicBezTo>
                <a:cubicBezTo>
                  <a:pt x="32724" y="38"/>
                  <a:pt x="32724" y="38"/>
                  <a:pt x="32724" y="39"/>
                </a:cubicBezTo>
                <a:lnTo>
                  <a:pt x="32699" y="65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980640" y="2535120"/>
            <a:ext cx="11780640" cy="23040"/>
          </a:xfrm>
          <a:custGeom>
            <a:avLst/>
            <a:gdLst/>
            <a:ahLst/>
            <a:rect l="0" t="0" r="r" b="b"/>
            <a:pathLst>
              <a:path w="32724" h="64">
                <a:moveTo>
                  <a:pt x="219" y="0"/>
                </a:moveTo>
                <a:lnTo>
                  <a:pt x="32699" y="0"/>
                </a:lnTo>
                <a:lnTo>
                  <a:pt x="32724" y="25"/>
                </a:lnTo>
                <a:cubicBezTo>
                  <a:pt x="32724" y="25"/>
                  <a:pt x="32724" y="26"/>
                  <a:pt x="32723" y="26"/>
                </a:cubicBezTo>
                <a:cubicBezTo>
                  <a:pt x="32698" y="52"/>
                  <a:pt x="32668" y="64"/>
                  <a:pt x="32633" y="64"/>
                </a:cubicBezTo>
                <a:lnTo>
                  <a:pt x="19" y="64"/>
                </a:lnTo>
                <a:cubicBezTo>
                  <a:pt x="12" y="64"/>
                  <a:pt x="6" y="61"/>
                  <a:pt x="0" y="56"/>
                </a:cubicBezTo>
                <a:lnTo>
                  <a:pt x="219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12751200" y="1976760"/>
            <a:ext cx="23040" cy="568080"/>
          </a:xfrm>
          <a:custGeom>
            <a:avLst/>
            <a:gdLst/>
            <a:ahLst/>
            <a:rect l="0" t="0" r="r" b="b"/>
            <a:pathLst>
              <a:path w="64" h="1578">
                <a:moveTo>
                  <a:pt x="0" y="1552"/>
                </a:moveTo>
                <a:lnTo>
                  <a:pt x="0" y="28"/>
                </a:lnTo>
                <a:lnTo>
                  <a:pt x="27" y="0"/>
                </a:lnTo>
                <a:cubicBezTo>
                  <a:pt x="52" y="26"/>
                  <a:pt x="64" y="56"/>
                  <a:pt x="64" y="91"/>
                </a:cubicBezTo>
                <a:lnTo>
                  <a:pt x="64" y="1488"/>
                </a:lnTo>
                <a:cubicBezTo>
                  <a:pt x="64" y="1523"/>
                  <a:pt x="52" y="1553"/>
                  <a:pt x="27" y="1578"/>
                </a:cubicBezTo>
                <a:lnTo>
                  <a:pt x="0" y="1552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969120" y="1966320"/>
            <a:ext cx="16920" cy="588960"/>
          </a:xfrm>
          <a:custGeom>
            <a:avLst/>
            <a:gdLst/>
            <a:ahLst/>
            <a:rect l="0" t="0" r="r" b="b"/>
            <a:pathLst>
              <a:path w="47" h="1636">
                <a:moveTo>
                  <a:pt x="47" y="4"/>
                </a:moveTo>
                <a:lnTo>
                  <a:pt x="47" y="1633"/>
                </a:lnTo>
                <a:lnTo>
                  <a:pt x="32" y="1636"/>
                </a:lnTo>
                <a:cubicBezTo>
                  <a:pt x="26" y="1630"/>
                  <a:pt x="20" y="1620"/>
                  <a:pt x="15" y="1607"/>
                </a:cubicBezTo>
                <a:cubicBezTo>
                  <a:pt x="5" y="1582"/>
                  <a:pt x="0" y="1552"/>
                  <a:pt x="0" y="1517"/>
                </a:cubicBezTo>
                <a:lnTo>
                  <a:pt x="0" y="119"/>
                </a:lnTo>
                <a:cubicBezTo>
                  <a:pt x="0" y="84"/>
                  <a:pt x="5" y="54"/>
                  <a:pt x="15" y="29"/>
                </a:cubicBezTo>
                <a:cubicBezTo>
                  <a:pt x="20" y="16"/>
                  <a:pt x="26" y="6"/>
                  <a:pt x="32" y="0"/>
                </a:cubicBezTo>
                <a:lnTo>
                  <a:pt x="47" y="4"/>
                </a:lnTo>
                <a:close/>
              </a:path>
            </a:pathLst>
          </a:custGeom>
          <a:solidFill>
            <a:srgbClr val="8b15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3334680" y="1558080"/>
            <a:ext cx="17542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 Same EvalsBench item as before.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1130040" y="2213640"/>
            <a:ext cx="98028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75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D E C O M P O S E</a:t>
            </a:r>
            <a:endParaRPr b="0" lang="en-IN" sz="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2476080" y="2088720"/>
            <a:ext cx="14238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LLM dynamically generates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3929040" y="2084760"/>
            <a:ext cx="16581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900" strike="noStrike" u="none">
                <a:solidFill>
                  <a:srgbClr val="0a0a0a"/>
                </a:solidFill>
                <a:effectLst/>
                <a:uFillTx/>
                <a:latin typeface="Inter-Regular_Semi"/>
                <a:ea typeface="Inter-Regular_Semi"/>
              </a:rPr>
              <a:t>5–7 task-specific subtasks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5362200" y="2088720"/>
            <a:ext cx="264384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 — each probes the response from a different angle.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950760" y="2653920"/>
            <a:ext cx="11828160" cy="439200"/>
          </a:xfrm>
          <a:custGeom>
            <a:avLst/>
            <a:gdLst/>
            <a:ahLst/>
            <a:rect l="0" t="0" r="r" b="b"/>
            <a:pathLst>
              <a:path w="32856" h="1220">
                <a:moveTo>
                  <a:pt x="0" y="1080"/>
                </a:moveTo>
                <a:lnTo>
                  <a:pt x="0" y="140"/>
                </a:lnTo>
                <a:cubicBezTo>
                  <a:pt x="0" y="121"/>
                  <a:pt x="3" y="103"/>
                  <a:pt x="8" y="86"/>
                </a:cubicBezTo>
                <a:cubicBezTo>
                  <a:pt x="13" y="69"/>
                  <a:pt x="20" y="54"/>
                  <a:pt x="30" y="41"/>
                </a:cubicBezTo>
                <a:cubicBezTo>
                  <a:pt x="39" y="28"/>
                  <a:pt x="50" y="18"/>
                  <a:pt x="63" y="10"/>
                </a:cubicBezTo>
                <a:cubicBezTo>
                  <a:pt x="75" y="3"/>
                  <a:pt x="88" y="0"/>
                  <a:pt x="102" y="0"/>
                </a:cubicBezTo>
                <a:lnTo>
                  <a:pt x="32716" y="0"/>
                </a:lnTo>
                <a:cubicBezTo>
                  <a:pt x="32725" y="0"/>
                  <a:pt x="32735" y="1"/>
                  <a:pt x="32744" y="3"/>
                </a:cubicBezTo>
                <a:cubicBezTo>
                  <a:pt x="32753" y="4"/>
                  <a:pt x="32761" y="7"/>
                  <a:pt x="32770" y="10"/>
                </a:cubicBezTo>
                <a:cubicBezTo>
                  <a:pt x="32778" y="14"/>
                  <a:pt x="32786" y="18"/>
                  <a:pt x="32794" y="23"/>
                </a:cubicBezTo>
                <a:cubicBezTo>
                  <a:pt x="32802" y="28"/>
                  <a:pt x="32809" y="34"/>
                  <a:pt x="32815" y="41"/>
                </a:cubicBezTo>
                <a:cubicBezTo>
                  <a:pt x="32822" y="47"/>
                  <a:pt x="32827" y="54"/>
                  <a:pt x="32832" y="62"/>
                </a:cubicBezTo>
                <a:cubicBezTo>
                  <a:pt x="32838" y="70"/>
                  <a:pt x="32842" y="78"/>
                  <a:pt x="32845" y="86"/>
                </a:cubicBezTo>
                <a:cubicBezTo>
                  <a:pt x="32849" y="95"/>
                  <a:pt x="32852" y="103"/>
                  <a:pt x="32853" y="112"/>
                </a:cubicBezTo>
                <a:cubicBezTo>
                  <a:pt x="32855" y="121"/>
                  <a:pt x="32856" y="130"/>
                  <a:pt x="32856" y="140"/>
                </a:cubicBezTo>
                <a:lnTo>
                  <a:pt x="32856" y="1080"/>
                </a:lnTo>
                <a:cubicBezTo>
                  <a:pt x="32856" y="1090"/>
                  <a:pt x="32855" y="1099"/>
                  <a:pt x="32853" y="1108"/>
                </a:cubicBezTo>
                <a:cubicBezTo>
                  <a:pt x="32852" y="1117"/>
                  <a:pt x="32849" y="1125"/>
                  <a:pt x="32845" y="1134"/>
                </a:cubicBezTo>
                <a:cubicBezTo>
                  <a:pt x="32842" y="1142"/>
                  <a:pt x="32838" y="1150"/>
                  <a:pt x="32832" y="1158"/>
                </a:cubicBezTo>
                <a:cubicBezTo>
                  <a:pt x="32827" y="1166"/>
                  <a:pt x="32822" y="1173"/>
                  <a:pt x="32815" y="1179"/>
                </a:cubicBezTo>
                <a:cubicBezTo>
                  <a:pt x="32809" y="1186"/>
                  <a:pt x="32802" y="1191"/>
                  <a:pt x="32794" y="1197"/>
                </a:cubicBezTo>
                <a:cubicBezTo>
                  <a:pt x="32786" y="1202"/>
                  <a:pt x="32778" y="1206"/>
                  <a:pt x="32770" y="1209"/>
                </a:cubicBezTo>
                <a:cubicBezTo>
                  <a:pt x="32761" y="1213"/>
                  <a:pt x="32753" y="1216"/>
                  <a:pt x="32744" y="1217"/>
                </a:cubicBezTo>
                <a:cubicBezTo>
                  <a:pt x="32735" y="1219"/>
                  <a:pt x="32725" y="1220"/>
                  <a:pt x="32716" y="1220"/>
                </a:cubicBezTo>
                <a:lnTo>
                  <a:pt x="102" y="1220"/>
                </a:lnTo>
                <a:cubicBezTo>
                  <a:pt x="88" y="1220"/>
                  <a:pt x="75" y="1217"/>
                  <a:pt x="63" y="1209"/>
                </a:cubicBezTo>
                <a:cubicBezTo>
                  <a:pt x="50" y="1202"/>
                  <a:pt x="39" y="1192"/>
                  <a:pt x="30" y="1179"/>
                </a:cubicBezTo>
                <a:cubicBezTo>
                  <a:pt x="20" y="1166"/>
                  <a:pt x="13" y="1151"/>
                  <a:pt x="8" y="1134"/>
                </a:cubicBezTo>
                <a:cubicBezTo>
                  <a:pt x="3" y="1117"/>
                  <a:pt x="0" y="1099"/>
                  <a:pt x="0" y="108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980640" y="2658600"/>
            <a:ext cx="11780640" cy="23040"/>
          </a:xfrm>
          <a:custGeom>
            <a:avLst/>
            <a:gdLst/>
            <a:ahLst/>
            <a:rect l="0" t="0" r="r" b="b"/>
            <a:pathLst>
              <a:path w="32724" h="64">
                <a:moveTo>
                  <a:pt x="32699" y="64"/>
                </a:moveTo>
                <a:lnTo>
                  <a:pt x="219" y="64"/>
                </a:lnTo>
                <a:lnTo>
                  <a:pt x="0" y="8"/>
                </a:lnTo>
                <a:cubicBezTo>
                  <a:pt x="6" y="2"/>
                  <a:pt x="12" y="0"/>
                  <a:pt x="19" y="0"/>
                </a:cubicBezTo>
                <a:lnTo>
                  <a:pt x="32633" y="0"/>
                </a:lnTo>
                <a:cubicBezTo>
                  <a:pt x="32668" y="0"/>
                  <a:pt x="32698" y="12"/>
                  <a:pt x="32723" y="38"/>
                </a:cubicBezTo>
                <a:cubicBezTo>
                  <a:pt x="32724" y="38"/>
                  <a:pt x="32724" y="39"/>
                  <a:pt x="32724" y="39"/>
                </a:cubicBezTo>
                <a:lnTo>
                  <a:pt x="32699" y="64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980640" y="3065400"/>
            <a:ext cx="11780640" cy="23040"/>
          </a:xfrm>
          <a:custGeom>
            <a:avLst/>
            <a:gdLst/>
            <a:ahLst/>
            <a:rect l="0" t="0" r="r" b="b"/>
            <a:pathLst>
              <a:path w="32724" h="64">
                <a:moveTo>
                  <a:pt x="219" y="0"/>
                </a:moveTo>
                <a:lnTo>
                  <a:pt x="32699" y="0"/>
                </a:lnTo>
                <a:lnTo>
                  <a:pt x="32724" y="26"/>
                </a:lnTo>
                <a:cubicBezTo>
                  <a:pt x="32724" y="26"/>
                  <a:pt x="32724" y="27"/>
                  <a:pt x="32723" y="27"/>
                </a:cubicBezTo>
                <a:cubicBezTo>
                  <a:pt x="32698" y="52"/>
                  <a:pt x="32668" y="64"/>
                  <a:pt x="32633" y="64"/>
                </a:cubicBezTo>
                <a:lnTo>
                  <a:pt x="19" y="64"/>
                </a:lnTo>
                <a:cubicBezTo>
                  <a:pt x="12" y="64"/>
                  <a:pt x="6" y="61"/>
                  <a:pt x="0" y="56"/>
                </a:cubicBezTo>
                <a:lnTo>
                  <a:pt x="219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12751200" y="2671920"/>
            <a:ext cx="23040" cy="403200"/>
          </a:xfrm>
          <a:custGeom>
            <a:avLst/>
            <a:gdLst/>
            <a:ahLst/>
            <a:rect l="0" t="0" r="r" b="b"/>
            <a:pathLst>
              <a:path w="64" h="1120">
                <a:moveTo>
                  <a:pt x="0" y="1094"/>
                </a:moveTo>
                <a:lnTo>
                  <a:pt x="0" y="26"/>
                </a:lnTo>
                <a:lnTo>
                  <a:pt x="27" y="0"/>
                </a:lnTo>
                <a:cubicBezTo>
                  <a:pt x="52" y="25"/>
                  <a:pt x="64" y="54"/>
                  <a:pt x="64" y="90"/>
                </a:cubicBezTo>
                <a:lnTo>
                  <a:pt x="64" y="1030"/>
                </a:lnTo>
                <a:cubicBezTo>
                  <a:pt x="64" y="1065"/>
                  <a:pt x="52" y="1095"/>
                  <a:pt x="27" y="1120"/>
                </a:cubicBezTo>
                <a:lnTo>
                  <a:pt x="0" y="1094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969120" y="2661480"/>
            <a:ext cx="16920" cy="424080"/>
          </a:xfrm>
          <a:custGeom>
            <a:avLst/>
            <a:gdLst/>
            <a:ahLst/>
            <a:rect l="0" t="0" r="r" b="b"/>
            <a:pathLst>
              <a:path w="47" h="1178">
                <a:moveTo>
                  <a:pt x="47" y="3"/>
                </a:moveTo>
                <a:lnTo>
                  <a:pt x="47" y="1175"/>
                </a:lnTo>
                <a:lnTo>
                  <a:pt x="32" y="1178"/>
                </a:lnTo>
                <a:cubicBezTo>
                  <a:pt x="26" y="1172"/>
                  <a:pt x="20" y="1162"/>
                  <a:pt x="15" y="1149"/>
                </a:cubicBezTo>
                <a:cubicBezTo>
                  <a:pt x="5" y="1124"/>
                  <a:pt x="0" y="1094"/>
                  <a:pt x="0" y="1059"/>
                </a:cubicBezTo>
                <a:lnTo>
                  <a:pt x="0" y="119"/>
                </a:lnTo>
                <a:cubicBezTo>
                  <a:pt x="0" y="83"/>
                  <a:pt x="5" y="54"/>
                  <a:pt x="15" y="29"/>
                </a:cubicBezTo>
                <a:cubicBezTo>
                  <a:pt x="20" y="16"/>
                  <a:pt x="26" y="6"/>
                  <a:pt x="32" y="0"/>
                </a:cubicBezTo>
                <a:lnTo>
                  <a:pt x="47" y="3"/>
                </a:lnTo>
                <a:close/>
              </a:path>
            </a:pathLst>
          </a:custGeom>
          <a:solidFill>
            <a:srgbClr val="8b15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2503440" y="2265480"/>
            <a:ext cx="460368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9" strike="noStrike" u="none">
                <a:solidFill>
                  <a:srgbClr val="6a6a66"/>
                </a:solidFill>
                <a:effectLst/>
                <a:uFillTx/>
                <a:latin typeface="Inter-Regular_"/>
                <a:ea typeface="Inter-Regular_"/>
              </a:rPr>
              <a:t>e.g. "Does it cover DCF?" · "Is the discount-rate logic correct?" · "Does it mention founder share?"</a:t>
            </a:r>
            <a:endParaRPr b="0" lang="en-IN" sz="83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1130040" y="2835360"/>
            <a:ext cx="63468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75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S E A R C H</a:t>
            </a:r>
            <a:endParaRPr b="0" lang="en-IN" sz="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2476080" y="2792520"/>
            <a:ext cx="32662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4 rollouts, max depth 5. At each step, the child node maximising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5796000" y="2788920"/>
            <a:ext cx="17334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900" strike="noStrike" u="none">
                <a:solidFill>
                  <a:srgbClr val="0a0a0a"/>
                </a:solidFill>
                <a:effectLst/>
                <a:uFillTx/>
                <a:latin typeface="Inter-Regular_Semi"/>
                <a:ea typeface="Inter-Regular_Semi"/>
              </a:rPr>
              <a:t>UCT + LLM self-assessment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950760" y="3193200"/>
            <a:ext cx="11828160" cy="439560"/>
          </a:xfrm>
          <a:custGeom>
            <a:avLst/>
            <a:gdLst/>
            <a:ahLst/>
            <a:rect l="0" t="0" r="r" b="b"/>
            <a:pathLst>
              <a:path w="32856" h="1221">
                <a:moveTo>
                  <a:pt x="0" y="1081"/>
                </a:moveTo>
                <a:lnTo>
                  <a:pt x="0" y="140"/>
                </a:lnTo>
                <a:cubicBezTo>
                  <a:pt x="0" y="122"/>
                  <a:pt x="3" y="104"/>
                  <a:pt x="8" y="87"/>
                </a:cubicBezTo>
                <a:cubicBezTo>
                  <a:pt x="13" y="70"/>
                  <a:pt x="20" y="54"/>
                  <a:pt x="30" y="41"/>
                </a:cubicBezTo>
                <a:cubicBezTo>
                  <a:pt x="39" y="28"/>
                  <a:pt x="50" y="18"/>
                  <a:pt x="63" y="11"/>
                </a:cubicBezTo>
                <a:cubicBezTo>
                  <a:pt x="75" y="4"/>
                  <a:pt x="88" y="0"/>
                  <a:pt x="102" y="0"/>
                </a:cubicBezTo>
                <a:lnTo>
                  <a:pt x="32716" y="0"/>
                </a:lnTo>
                <a:cubicBezTo>
                  <a:pt x="32725" y="0"/>
                  <a:pt x="32735" y="1"/>
                  <a:pt x="32744" y="3"/>
                </a:cubicBezTo>
                <a:cubicBezTo>
                  <a:pt x="32753" y="5"/>
                  <a:pt x="32761" y="8"/>
                  <a:pt x="32770" y="11"/>
                </a:cubicBezTo>
                <a:cubicBezTo>
                  <a:pt x="32778" y="15"/>
                  <a:pt x="32786" y="19"/>
                  <a:pt x="32794" y="24"/>
                </a:cubicBezTo>
                <a:cubicBezTo>
                  <a:pt x="32802" y="29"/>
                  <a:pt x="32809" y="35"/>
                  <a:pt x="32815" y="41"/>
                </a:cubicBezTo>
                <a:cubicBezTo>
                  <a:pt x="32822" y="48"/>
                  <a:pt x="32827" y="55"/>
                  <a:pt x="32832" y="63"/>
                </a:cubicBezTo>
                <a:cubicBezTo>
                  <a:pt x="32838" y="70"/>
                  <a:pt x="32842" y="78"/>
                  <a:pt x="32845" y="87"/>
                </a:cubicBezTo>
                <a:cubicBezTo>
                  <a:pt x="32849" y="95"/>
                  <a:pt x="32852" y="104"/>
                  <a:pt x="32853" y="113"/>
                </a:cubicBezTo>
                <a:cubicBezTo>
                  <a:pt x="32855" y="122"/>
                  <a:pt x="32856" y="131"/>
                  <a:pt x="32856" y="140"/>
                </a:cubicBezTo>
                <a:lnTo>
                  <a:pt x="32856" y="1081"/>
                </a:lnTo>
                <a:cubicBezTo>
                  <a:pt x="32856" y="1090"/>
                  <a:pt x="32855" y="1099"/>
                  <a:pt x="32853" y="1108"/>
                </a:cubicBezTo>
                <a:cubicBezTo>
                  <a:pt x="32852" y="1117"/>
                  <a:pt x="32849" y="1126"/>
                  <a:pt x="32845" y="1134"/>
                </a:cubicBezTo>
                <a:cubicBezTo>
                  <a:pt x="32842" y="1143"/>
                  <a:pt x="32838" y="1151"/>
                  <a:pt x="32832" y="1159"/>
                </a:cubicBezTo>
                <a:cubicBezTo>
                  <a:pt x="32827" y="1166"/>
                  <a:pt x="32822" y="1173"/>
                  <a:pt x="32815" y="1180"/>
                </a:cubicBezTo>
                <a:cubicBezTo>
                  <a:pt x="32809" y="1186"/>
                  <a:pt x="32802" y="1192"/>
                  <a:pt x="32794" y="1197"/>
                </a:cubicBezTo>
                <a:cubicBezTo>
                  <a:pt x="32786" y="1202"/>
                  <a:pt x="32778" y="1207"/>
                  <a:pt x="32770" y="1210"/>
                </a:cubicBezTo>
                <a:cubicBezTo>
                  <a:pt x="32761" y="1214"/>
                  <a:pt x="32753" y="1216"/>
                  <a:pt x="32744" y="1218"/>
                </a:cubicBezTo>
                <a:cubicBezTo>
                  <a:pt x="32735" y="1220"/>
                  <a:pt x="32725" y="1221"/>
                  <a:pt x="32716" y="1221"/>
                </a:cubicBezTo>
                <a:lnTo>
                  <a:pt x="102" y="1221"/>
                </a:lnTo>
                <a:cubicBezTo>
                  <a:pt x="88" y="1221"/>
                  <a:pt x="75" y="1217"/>
                  <a:pt x="63" y="1210"/>
                </a:cubicBezTo>
                <a:cubicBezTo>
                  <a:pt x="50" y="1203"/>
                  <a:pt x="39" y="1193"/>
                  <a:pt x="30" y="1180"/>
                </a:cubicBezTo>
                <a:cubicBezTo>
                  <a:pt x="20" y="1167"/>
                  <a:pt x="13" y="1152"/>
                  <a:pt x="8" y="1134"/>
                </a:cubicBezTo>
                <a:cubicBezTo>
                  <a:pt x="3" y="1117"/>
                  <a:pt x="0" y="1099"/>
                  <a:pt x="0" y="108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980640" y="3197880"/>
            <a:ext cx="11780640" cy="23400"/>
          </a:xfrm>
          <a:custGeom>
            <a:avLst/>
            <a:gdLst/>
            <a:ahLst/>
            <a:rect l="0" t="0" r="r" b="b"/>
            <a:pathLst>
              <a:path w="32724" h="65">
                <a:moveTo>
                  <a:pt x="32699" y="65"/>
                </a:moveTo>
                <a:lnTo>
                  <a:pt x="219" y="65"/>
                </a:lnTo>
                <a:lnTo>
                  <a:pt x="0" y="9"/>
                </a:lnTo>
                <a:cubicBezTo>
                  <a:pt x="6" y="3"/>
                  <a:pt x="12" y="0"/>
                  <a:pt x="19" y="0"/>
                </a:cubicBezTo>
                <a:lnTo>
                  <a:pt x="32633" y="0"/>
                </a:lnTo>
                <a:cubicBezTo>
                  <a:pt x="32668" y="0"/>
                  <a:pt x="32698" y="13"/>
                  <a:pt x="32723" y="38"/>
                </a:cubicBezTo>
                <a:cubicBezTo>
                  <a:pt x="32724" y="39"/>
                  <a:pt x="32724" y="39"/>
                  <a:pt x="32724" y="40"/>
                </a:cubicBezTo>
                <a:lnTo>
                  <a:pt x="32699" y="65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980640" y="3604680"/>
            <a:ext cx="11780640" cy="23400"/>
          </a:xfrm>
          <a:custGeom>
            <a:avLst/>
            <a:gdLst/>
            <a:ahLst/>
            <a:rect l="0" t="0" r="r" b="b"/>
            <a:pathLst>
              <a:path w="32724" h="65">
                <a:moveTo>
                  <a:pt x="219" y="0"/>
                </a:moveTo>
                <a:lnTo>
                  <a:pt x="32699" y="0"/>
                </a:lnTo>
                <a:lnTo>
                  <a:pt x="32724" y="25"/>
                </a:lnTo>
                <a:cubicBezTo>
                  <a:pt x="32724" y="26"/>
                  <a:pt x="32724" y="26"/>
                  <a:pt x="32723" y="27"/>
                </a:cubicBezTo>
                <a:cubicBezTo>
                  <a:pt x="32698" y="53"/>
                  <a:pt x="32668" y="65"/>
                  <a:pt x="32633" y="65"/>
                </a:cubicBezTo>
                <a:lnTo>
                  <a:pt x="19" y="65"/>
                </a:lnTo>
                <a:cubicBezTo>
                  <a:pt x="12" y="65"/>
                  <a:pt x="6" y="62"/>
                  <a:pt x="0" y="56"/>
                </a:cubicBezTo>
                <a:lnTo>
                  <a:pt x="219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12751200" y="3211200"/>
            <a:ext cx="23040" cy="403560"/>
          </a:xfrm>
          <a:custGeom>
            <a:avLst/>
            <a:gdLst/>
            <a:ahLst/>
            <a:rect l="0" t="0" r="r" b="b"/>
            <a:pathLst>
              <a:path w="64" h="1121">
                <a:moveTo>
                  <a:pt x="0" y="1094"/>
                </a:moveTo>
                <a:lnTo>
                  <a:pt x="0" y="27"/>
                </a:lnTo>
                <a:lnTo>
                  <a:pt x="27" y="0"/>
                </a:lnTo>
                <a:cubicBezTo>
                  <a:pt x="52" y="25"/>
                  <a:pt x="64" y="55"/>
                  <a:pt x="64" y="90"/>
                </a:cubicBezTo>
                <a:lnTo>
                  <a:pt x="64" y="1031"/>
                </a:lnTo>
                <a:cubicBezTo>
                  <a:pt x="64" y="1066"/>
                  <a:pt x="52" y="1096"/>
                  <a:pt x="27" y="1121"/>
                </a:cubicBezTo>
                <a:lnTo>
                  <a:pt x="0" y="1094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969120" y="3200760"/>
            <a:ext cx="16920" cy="424440"/>
          </a:xfrm>
          <a:custGeom>
            <a:avLst/>
            <a:gdLst/>
            <a:ahLst/>
            <a:rect l="0" t="0" r="r" b="b"/>
            <a:pathLst>
              <a:path w="47" h="1179">
                <a:moveTo>
                  <a:pt x="47" y="4"/>
                </a:moveTo>
                <a:lnTo>
                  <a:pt x="47" y="1175"/>
                </a:lnTo>
                <a:lnTo>
                  <a:pt x="32" y="1179"/>
                </a:lnTo>
                <a:cubicBezTo>
                  <a:pt x="26" y="1173"/>
                  <a:pt x="20" y="1163"/>
                  <a:pt x="15" y="1150"/>
                </a:cubicBezTo>
                <a:cubicBezTo>
                  <a:pt x="5" y="1125"/>
                  <a:pt x="0" y="1094"/>
                  <a:pt x="0" y="1059"/>
                </a:cubicBezTo>
                <a:lnTo>
                  <a:pt x="0" y="119"/>
                </a:lnTo>
                <a:cubicBezTo>
                  <a:pt x="0" y="84"/>
                  <a:pt x="5" y="54"/>
                  <a:pt x="15" y="29"/>
                </a:cubicBezTo>
                <a:cubicBezTo>
                  <a:pt x="20" y="16"/>
                  <a:pt x="26" y="6"/>
                  <a:pt x="32" y="0"/>
                </a:cubicBezTo>
                <a:lnTo>
                  <a:pt x="47" y="4"/>
                </a:lnTo>
                <a:close/>
              </a:path>
            </a:pathLst>
          </a:custGeom>
          <a:solidFill>
            <a:srgbClr val="b886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7319160" y="2792520"/>
            <a:ext cx="3809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 is selected. Each leaf scores the response from that subtask's perspective.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1130040" y="3365640"/>
            <a:ext cx="98028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750" strike="noStrike" u="none">
                <a:solidFill>
                  <a:srgbClr val="b8860b"/>
                </a:solidFill>
                <a:effectLst/>
                <a:uFillTx/>
                <a:latin typeface="JetBrainsMono-Regular_wght2580000"/>
                <a:ea typeface="JetBrainsMono-Regular_wght2580000"/>
              </a:rPr>
              <a:t>A G G R E G A T E</a:t>
            </a:r>
            <a:endParaRPr b="0" lang="en-IN" sz="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2476080" y="3323160"/>
            <a:ext cx="84204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Best trajectory's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3371040" y="3323160"/>
            <a:ext cx="666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20" strike="noStrike" u="none">
                <a:solidFill>
                  <a:srgbClr val="8b1538"/>
                </a:solidFill>
                <a:effectLst/>
                <a:uFillTx/>
                <a:latin typeface="Inter"/>
                <a:ea typeface="Inter"/>
              </a:rPr>
              <a:t>majority vote</a:t>
            </a:r>
            <a:endParaRPr b="0" lang="en-IN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4022640" y="3323160"/>
            <a:ext cx="22644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 + a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4279320" y="3323160"/>
            <a:ext cx="8355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20" strike="noStrike" u="none">
                <a:solidFill>
                  <a:srgbClr val="8b1538"/>
                </a:solidFill>
                <a:effectLst/>
                <a:uFillTx/>
                <a:latin typeface="Inter"/>
                <a:ea typeface="Inter"/>
              </a:rPr>
              <a:t>global synthesis</a:t>
            </a:r>
            <a:endParaRPr b="0" lang="en-IN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950760" y="3723840"/>
            <a:ext cx="11828160" cy="439200"/>
          </a:xfrm>
          <a:custGeom>
            <a:avLst/>
            <a:gdLst/>
            <a:ahLst/>
            <a:rect l="0" t="0" r="r" b="b"/>
            <a:pathLst>
              <a:path w="32856" h="1220">
                <a:moveTo>
                  <a:pt x="0" y="1080"/>
                </a:moveTo>
                <a:lnTo>
                  <a:pt x="0" y="140"/>
                </a:lnTo>
                <a:cubicBezTo>
                  <a:pt x="0" y="122"/>
                  <a:pt x="3" y="104"/>
                  <a:pt x="8" y="87"/>
                </a:cubicBezTo>
                <a:cubicBezTo>
                  <a:pt x="13" y="70"/>
                  <a:pt x="20" y="55"/>
                  <a:pt x="30" y="42"/>
                </a:cubicBezTo>
                <a:cubicBezTo>
                  <a:pt x="39" y="28"/>
                  <a:pt x="50" y="17"/>
                  <a:pt x="63" y="10"/>
                </a:cubicBezTo>
                <a:cubicBezTo>
                  <a:pt x="75" y="3"/>
                  <a:pt x="88" y="0"/>
                  <a:pt x="102" y="0"/>
                </a:cubicBezTo>
                <a:lnTo>
                  <a:pt x="32716" y="0"/>
                </a:lnTo>
                <a:cubicBezTo>
                  <a:pt x="32725" y="0"/>
                  <a:pt x="32735" y="1"/>
                  <a:pt x="32744" y="2"/>
                </a:cubicBezTo>
                <a:cubicBezTo>
                  <a:pt x="32753" y="4"/>
                  <a:pt x="32761" y="7"/>
                  <a:pt x="32770" y="10"/>
                </a:cubicBezTo>
                <a:cubicBezTo>
                  <a:pt x="32778" y="14"/>
                  <a:pt x="32786" y="19"/>
                  <a:pt x="32794" y="24"/>
                </a:cubicBezTo>
                <a:cubicBezTo>
                  <a:pt x="32802" y="29"/>
                  <a:pt x="32809" y="35"/>
                  <a:pt x="32815" y="42"/>
                </a:cubicBezTo>
                <a:cubicBezTo>
                  <a:pt x="32822" y="48"/>
                  <a:pt x="32827" y="55"/>
                  <a:pt x="32832" y="63"/>
                </a:cubicBezTo>
                <a:cubicBezTo>
                  <a:pt x="32838" y="70"/>
                  <a:pt x="32842" y="78"/>
                  <a:pt x="32845" y="87"/>
                </a:cubicBezTo>
                <a:cubicBezTo>
                  <a:pt x="32849" y="95"/>
                  <a:pt x="32852" y="104"/>
                  <a:pt x="32853" y="113"/>
                </a:cubicBezTo>
                <a:cubicBezTo>
                  <a:pt x="32855" y="122"/>
                  <a:pt x="32856" y="131"/>
                  <a:pt x="32856" y="140"/>
                </a:cubicBezTo>
                <a:lnTo>
                  <a:pt x="32856" y="1080"/>
                </a:lnTo>
                <a:cubicBezTo>
                  <a:pt x="32856" y="1089"/>
                  <a:pt x="32855" y="1098"/>
                  <a:pt x="32853" y="1107"/>
                </a:cubicBezTo>
                <a:cubicBezTo>
                  <a:pt x="32852" y="1116"/>
                  <a:pt x="32849" y="1125"/>
                  <a:pt x="32845" y="1134"/>
                </a:cubicBezTo>
                <a:cubicBezTo>
                  <a:pt x="32842" y="1142"/>
                  <a:pt x="32838" y="1150"/>
                  <a:pt x="32832" y="1158"/>
                </a:cubicBezTo>
                <a:cubicBezTo>
                  <a:pt x="32827" y="1165"/>
                  <a:pt x="32822" y="1172"/>
                  <a:pt x="32815" y="1179"/>
                </a:cubicBezTo>
                <a:cubicBezTo>
                  <a:pt x="32809" y="1185"/>
                  <a:pt x="32802" y="1191"/>
                  <a:pt x="32794" y="1196"/>
                </a:cubicBezTo>
                <a:cubicBezTo>
                  <a:pt x="32786" y="1201"/>
                  <a:pt x="32778" y="1206"/>
                  <a:pt x="32770" y="1209"/>
                </a:cubicBezTo>
                <a:cubicBezTo>
                  <a:pt x="32761" y="1213"/>
                  <a:pt x="32753" y="1215"/>
                  <a:pt x="32744" y="1217"/>
                </a:cubicBezTo>
                <a:cubicBezTo>
                  <a:pt x="32735" y="1219"/>
                  <a:pt x="32725" y="1220"/>
                  <a:pt x="32716" y="1220"/>
                </a:cubicBezTo>
                <a:lnTo>
                  <a:pt x="102" y="1220"/>
                </a:lnTo>
                <a:cubicBezTo>
                  <a:pt x="88" y="1220"/>
                  <a:pt x="75" y="1216"/>
                  <a:pt x="63" y="1209"/>
                </a:cubicBezTo>
                <a:cubicBezTo>
                  <a:pt x="50" y="1202"/>
                  <a:pt x="39" y="1192"/>
                  <a:pt x="30" y="1179"/>
                </a:cubicBezTo>
                <a:cubicBezTo>
                  <a:pt x="20" y="1166"/>
                  <a:pt x="13" y="1151"/>
                  <a:pt x="8" y="1134"/>
                </a:cubicBezTo>
                <a:cubicBezTo>
                  <a:pt x="3" y="1116"/>
                  <a:pt x="0" y="1099"/>
                  <a:pt x="0" y="108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980640" y="3728160"/>
            <a:ext cx="11780640" cy="23400"/>
          </a:xfrm>
          <a:custGeom>
            <a:avLst/>
            <a:gdLst/>
            <a:ahLst/>
            <a:rect l="0" t="0" r="r" b="b"/>
            <a:pathLst>
              <a:path w="32724" h="65">
                <a:moveTo>
                  <a:pt x="32699" y="65"/>
                </a:moveTo>
                <a:lnTo>
                  <a:pt x="219" y="65"/>
                </a:lnTo>
                <a:lnTo>
                  <a:pt x="0" y="10"/>
                </a:lnTo>
                <a:cubicBezTo>
                  <a:pt x="6" y="3"/>
                  <a:pt x="12" y="0"/>
                  <a:pt x="19" y="0"/>
                </a:cubicBezTo>
                <a:lnTo>
                  <a:pt x="32633" y="0"/>
                </a:lnTo>
                <a:cubicBezTo>
                  <a:pt x="32668" y="0"/>
                  <a:pt x="32698" y="14"/>
                  <a:pt x="32723" y="39"/>
                </a:cubicBezTo>
                <a:cubicBezTo>
                  <a:pt x="32724" y="39"/>
                  <a:pt x="32724" y="39"/>
                  <a:pt x="32724" y="40"/>
                </a:cubicBezTo>
                <a:lnTo>
                  <a:pt x="32699" y="65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980640" y="4135320"/>
            <a:ext cx="11780640" cy="23040"/>
          </a:xfrm>
          <a:custGeom>
            <a:avLst/>
            <a:gdLst/>
            <a:ahLst/>
            <a:rect l="0" t="0" r="r" b="b"/>
            <a:pathLst>
              <a:path w="32724" h="64">
                <a:moveTo>
                  <a:pt x="219" y="0"/>
                </a:moveTo>
                <a:lnTo>
                  <a:pt x="32699" y="0"/>
                </a:lnTo>
                <a:lnTo>
                  <a:pt x="32724" y="26"/>
                </a:lnTo>
                <a:cubicBezTo>
                  <a:pt x="32724" y="26"/>
                  <a:pt x="32724" y="27"/>
                  <a:pt x="32723" y="27"/>
                </a:cubicBezTo>
                <a:cubicBezTo>
                  <a:pt x="32698" y="52"/>
                  <a:pt x="32668" y="64"/>
                  <a:pt x="32633" y="64"/>
                </a:cubicBezTo>
                <a:lnTo>
                  <a:pt x="19" y="64"/>
                </a:lnTo>
                <a:cubicBezTo>
                  <a:pt x="12" y="64"/>
                  <a:pt x="6" y="61"/>
                  <a:pt x="0" y="56"/>
                </a:cubicBezTo>
                <a:lnTo>
                  <a:pt x="219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12751200" y="3741840"/>
            <a:ext cx="23040" cy="403200"/>
          </a:xfrm>
          <a:custGeom>
            <a:avLst/>
            <a:gdLst/>
            <a:ahLst/>
            <a:rect l="0" t="0" r="r" b="b"/>
            <a:pathLst>
              <a:path w="64" h="1120">
                <a:moveTo>
                  <a:pt x="0" y="1094"/>
                </a:moveTo>
                <a:lnTo>
                  <a:pt x="0" y="26"/>
                </a:lnTo>
                <a:lnTo>
                  <a:pt x="27" y="0"/>
                </a:lnTo>
                <a:cubicBezTo>
                  <a:pt x="52" y="24"/>
                  <a:pt x="64" y="54"/>
                  <a:pt x="64" y="89"/>
                </a:cubicBezTo>
                <a:lnTo>
                  <a:pt x="64" y="1030"/>
                </a:lnTo>
                <a:cubicBezTo>
                  <a:pt x="64" y="1065"/>
                  <a:pt x="52" y="1095"/>
                  <a:pt x="27" y="1120"/>
                </a:cubicBezTo>
                <a:lnTo>
                  <a:pt x="0" y="1094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969120" y="3731040"/>
            <a:ext cx="16920" cy="424440"/>
          </a:xfrm>
          <a:custGeom>
            <a:avLst/>
            <a:gdLst/>
            <a:ahLst/>
            <a:rect l="0" t="0" r="r" b="b"/>
            <a:pathLst>
              <a:path w="47" h="1179">
                <a:moveTo>
                  <a:pt x="47" y="4"/>
                </a:moveTo>
                <a:lnTo>
                  <a:pt x="47" y="1176"/>
                </a:lnTo>
                <a:lnTo>
                  <a:pt x="32" y="1179"/>
                </a:lnTo>
                <a:cubicBezTo>
                  <a:pt x="26" y="1173"/>
                  <a:pt x="20" y="1163"/>
                  <a:pt x="15" y="1150"/>
                </a:cubicBezTo>
                <a:cubicBezTo>
                  <a:pt x="5" y="1125"/>
                  <a:pt x="0" y="1095"/>
                  <a:pt x="0" y="1060"/>
                </a:cubicBezTo>
                <a:lnTo>
                  <a:pt x="0" y="119"/>
                </a:lnTo>
                <a:cubicBezTo>
                  <a:pt x="0" y="84"/>
                  <a:pt x="5" y="54"/>
                  <a:pt x="15" y="30"/>
                </a:cubicBezTo>
                <a:cubicBezTo>
                  <a:pt x="20" y="16"/>
                  <a:pt x="26" y="7"/>
                  <a:pt x="32" y="0"/>
                </a:cubicBezTo>
                <a:lnTo>
                  <a:pt x="47" y="4"/>
                </a:lnTo>
                <a:close/>
              </a:path>
            </a:pathLst>
          </a:custGeom>
          <a:solidFill>
            <a:srgbClr val="1f7a3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5097600" y="3323160"/>
            <a:ext cx="127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 over all visited subtasks.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1130040" y="3905280"/>
            <a:ext cx="74988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750" strike="noStrike" u="none">
                <a:solidFill>
                  <a:srgbClr val="1f7a3a"/>
                </a:solidFill>
                <a:effectLst/>
                <a:uFillTx/>
                <a:latin typeface="JetBrainsMono-Regular_wght2580000"/>
                <a:ea typeface="JetBrainsMono-Regular_wght2580000"/>
              </a:rPr>
              <a:t>V E R D I C T</a:t>
            </a:r>
            <a:endParaRPr b="0" lang="en-IN" sz="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2476080" y="3862440"/>
            <a:ext cx="94104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Structured output: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3467160" y="3862440"/>
            <a:ext cx="179244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20" strike="noStrike" u="none">
                <a:solidFill>
                  <a:srgbClr val="0a0a0a"/>
                </a:solidFill>
                <a:effectLst/>
                <a:uFillTx/>
                <a:latin typeface="Fraunces-Regular_opszC7ADA_wght12C0000"/>
                <a:ea typeface="Fraunces-Regular_opszC7ADA_wght12C0000"/>
              </a:rPr>
              <a:t>{ verdict: pass | fail, reasoning: ... }</a:t>
            </a:r>
            <a:endParaRPr b="0" lang="en-IN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685800" y="8312040"/>
            <a:ext cx="2566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MEMORY-ASSISTED LLM AS A JUDGE VIA KNOWLEDGE GRAPHS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11460960" y="8312040"/>
            <a:ext cx="13086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8 / 36  ·  K. PATEL · 2026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273960" y="171360"/>
            <a:ext cx="13167720" cy="8229960"/>
          </a:xfrm>
          <a:custGeom>
            <a:avLst/>
            <a:gdLst/>
            <a:ahLst/>
            <a:rect l="0" t="0" r="r" b="b"/>
            <a:pathLst>
              <a:path w="36577" h="22861">
                <a:moveTo>
                  <a:pt x="0" y="0"/>
                </a:moveTo>
                <a:lnTo>
                  <a:pt x="36577" y="0"/>
                </a:lnTo>
                <a:lnTo>
                  <a:pt x="36577" y="22861"/>
                </a:lnTo>
                <a:lnTo>
                  <a:pt x="0" y="22861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932760" y="579960"/>
            <a:ext cx="352548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PROPOSED SOLUTION · MCTS-JUDGE · TREE EXPANSION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946080" y="1419480"/>
            <a:ext cx="11832840" cy="2953800"/>
          </a:xfrm>
          <a:custGeom>
            <a:avLst/>
            <a:gdLst/>
            <a:ahLst/>
            <a:rect l="0" t="0" r="r" b="b"/>
            <a:pathLst>
              <a:path w="32869" h="8205">
                <a:moveTo>
                  <a:pt x="0" y="8065"/>
                </a:moveTo>
                <a:lnTo>
                  <a:pt x="0" y="140"/>
                </a:lnTo>
                <a:cubicBezTo>
                  <a:pt x="0" y="121"/>
                  <a:pt x="3" y="103"/>
                  <a:pt x="9" y="86"/>
                </a:cubicBezTo>
                <a:cubicBezTo>
                  <a:pt x="15" y="69"/>
                  <a:pt x="23" y="54"/>
                  <a:pt x="34" y="41"/>
                </a:cubicBezTo>
                <a:cubicBezTo>
                  <a:pt x="45" y="28"/>
                  <a:pt x="57" y="18"/>
                  <a:pt x="71" y="10"/>
                </a:cubicBezTo>
                <a:cubicBezTo>
                  <a:pt x="85" y="3"/>
                  <a:pt x="100" y="0"/>
                  <a:pt x="115" y="0"/>
                </a:cubicBezTo>
                <a:lnTo>
                  <a:pt x="32729" y="0"/>
                </a:lnTo>
                <a:cubicBezTo>
                  <a:pt x="32738" y="0"/>
                  <a:pt x="32748" y="1"/>
                  <a:pt x="32757" y="3"/>
                </a:cubicBezTo>
                <a:cubicBezTo>
                  <a:pt x="32766" y="4"/>
                  <a:pt x="32774" y="7"/>
                  <a:pt x="32783" y="10"/>
                </a:cubicBezTo>
                <a:cubicBezTo>
                  <a:pt x="32791" y="14"/>
                  <a:pt x="32799" y="18"/>
                  <a:pt x="32807" y="23"/>
                </a:cubicBezTo>
                <a:cubicBezTo>
                  <a:pt x="32815" y="28"/>
                  <a:pt x="32822" y="34"/>
                  <a:pt x="32828" y="41"/>
                </a:cubicBezTo>
                <a:cubicBezTo>
                  <a:pt x="32835" y="47"/>
                  <a:pt x="32840" y="54"/>
                  <a:pt x="32845" y="62"/>
                </a:cubicBezTo>
                <a:cubicBezTo>
                  <a:pt x="32851" y="70"/>
                  <a:pt x="32855" y="78"/>
                  <a:pt x="32858" y="86"/>
                </a:cubicBezTo>
                <a:cubicBezTo>
                  <a:pt x="32862" y="95"/>
                  <a:pt x="32865" y="103"/>
                  <a:pt x="32866" y="112"/>
                </a:cubicBezTo>
                <a:cubicBezTo>
                  <a:pt x="32868" y="121"/>
                  <a:pt x="32869" y="130"/>
                  <a:pt x="32869" y="140"/>
                </a:cubicBezTo>
                <a:lnTo>
                  <a:pt x="32869" y="8065"/>
                </a:lnTo>
                <a:cubicBezTo>
                  <a:pt x="32869" y="8075"/>
                  <a:pt x="32868" y="8084"/>
                  <a:pt x="32866" y="8093"/>
                </a:cubicBezTo>
                <a:cubicBezTo>
                  <a:pt x="32865" y="8102"/>
                  <a:pt x="32862" y="8110"/>
                  <a:pt x="32858" y="8119"/>
                </a:cubicBezTo>
                <a:cubicBezTo>
                  <a:pt x="32855" y="8127"/>
                  <a:pt x="32851" y="8135"/>
                  <a:pt x="32845" y="8143"/>
                </a:cubicBezTo>
                <a:cubicBezTo>
                  <a:pt x="32840" y="8151"/>
                  <a:pt x="32835" y="8158"/>
                  <a:pt x="32828" y="8164"/>
                </a:cubicBezTo>
                <a:cubicBezTo>
                  <a:pt x="32822" y="8171"/>
                  <a:pt x="32815" y="8176"/>
                  <a:pt x="32807" y="8182"/>
                </a:cubicBezTo>
                <a:cubicBezTo>
                  <a:pt x="32799" y="8187"/>
                  <a:pt x="32791" y="8191"/>
                  <a:pt x="32783" y="8194"/>
                </a:cubicBezTo>
                <a:cubicBezTo>
                  <a:pt x="32774" y="8198"/>
                  <a:pt x="32766" y="8201"/>
                  <a:pt x="32757" y="8202"/>
                </a:cubicBezTo>
                <a:cubicBezTo>
                  <a:pt x="32748" y="8204"/>
                  <a:pt x="32738" y="8205"/>
                  <a:pt x="32729" y="8205"/>
                </a:cubicBezTo>
                <a:lnTo>
                  <a:pt x="115" y="8205"/>
                </a:lnTo>
                <a:cubicBezTo>
                  <a:pt x="100" y="8205"/>
                  <a:pt x="85" y="8202"/>
                  <a:pt x="71" y="8194"/>
                </a:cubicBezTo>
                <a:cubicBezTo>
                  <a:pt x="57" y="8187"/>
                  <a:pt x="45" y="8177"/>
                  <a:pt x="34" y="8164"/>
                </a:cubicBezTo>
                <a:cubicBezTo>
                  <a:pt x="23" y="8151"/>
                  <a:pt x="15" y="8136"/>
                  <a:pt x="9" y="8119"/>
                </a:cubicBezTo>
                <a:cubicBezTo>
                  <a:pt x="3" y="8102"/>
                  <a:pt x="0" y="8084"/>
                  <a:pt x="0" y="8065"/>
                </a:cubicBez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974520" y="1424160"/>
            <a:ext cx="11786760" cy="23040"/>
          </a:xfrm>
          <a:custGeom>
            <a:avLst/>
            <a:gdLst/>
            <a:ahLst/>
            <a:rect l="0" t="0" r="r" b="b"/>
            <a:pathLst>
              <a:path w="32741" h="64">
                <a:moveTo>
                  <a:pt x="32716" y="64"/>
                </a:moveTo>
                <a:lnTo>
                  <a:pt x="147" y="64"/>
                </a:lnTo>
                <a:lnTo>
                  <a:pt x="0" y="14"/>
                </a:lnTo>
                <a:cubicBezTo>
                  <a:pt x="11" y="4"/>
                  <a:pt x="23" y="0"/>
                  <a:pt x="36" y="0"/>
                </a:cubicBezTo>
                <a:lnTo>
                  <a:pt x="32650" y="0"/>
                </a:lnTo>
                <a:cubicBezTo>
                  <a:pt x="32685" y="0"/>
                  <a:pt x="32715" y="12"/>
                  <a:pt x="32740" y="37"/>
                </a:cubicBezTo>
                <a:cubicBezTo>
                  <a:pt x="32741" y="37"/>
                  <a:pt x="32741" y="38"/>
                  <a:pt x="32741" y="38"/>
                </a:cubicBezTo>
                <a:lnTo>
                  <a:pt x="32716" y="64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974520" y="4345560"/>
            <a:ext cx="11786760" cy="23040"/>
          </a:xfrm>
          <a:custGeom>
            <a:avLst/>
            <a:gdLst/>
            <a:ahLst/>
            <a:rect l="0" t="0" r="r" b="b"/>
            <a:pathLst>
              <a:path w="32741" h="64">
                <a:moveTo>
                  <a:pt x="147" y="0"/>
                </a:moveTo>
                <a:lnTo>
                  <a:pt x="32716" y="0"/>
                </a:lnTo>
                <a:lnTo>
                  <a:pt x="32741" y="25"/>
                </a:lnTo>
                <a:cubicBezTo>
                  <a:pt x="32741" y="25"/>
                  <a:pt x="32741" y="26"/>
                  <a:pt x="32740" y="26"/>
                </a:cubicBezTo>
                <a:cubicBezTo>
                  <a:pt x="32715" y="51"/>
                  <a:pt x="32685" y="64"/>
                  <a:pt x="32650" y="64"/>
                </a:cubicBezTo>
                <a:lnTo>
                  <a:pt x="36" y="64"/>
                </a:lnTo>
                <a:cubicBezTo>
                  <a:pt x="23" y="64"/>
                  <a:pt x="11" y="60"/>
                  <a:pt x="0" y="49"/>
                </a:cubicBezTo>
                <a:lnTo>
                  <a:pt x="147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12751200" y="1437480"/>
            <a:ext cx="23040" cy="2917800"/>
          </a:xfrm>
          <a:custGeom>
            <a:avLst/>
            <a:gdLst/>
            <a:ahLst/>
            <a:rect l="0" t="0" r="r" b="b"/>
            <a:pathLst>
              <a:path w="64" h="8105">
                <a:moveTo>
                  <a:pt x="0" y="8079"/>
                </a:moveTo>
                <a:lnTo>
                  <a:pt x="0" y="26"/>
                </a:lnTo>
                <a:lnTo>
                  <a:pt x="27" y="0"/>
                </a:lnTo>
                <a:cubicBezTo>
                  <a:pt x="52" y="25"/>
                  <a:pt x="64" y="54"/>
                  <a:pt x="64" y="91"/>
                </a:cubicBezTo>
                <a:lnTo>
                  <a:pt x="64" y="8015"/>
                </a:lnTo>
                <a:cubicBezTo>
                  <a:pt x="64" y="8050"/>
                  <a:pt x="52" y="8080"/>
                  <a:pt x="27" y="8105"/>
                </a:cubicBezTo>
                <a:lnTo>
                  <a:pt x="0" y="8079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959760" y="1428840"/>
            <a:ext cx="23400" cy="2935080"/>
          </a:xfrm>
          <a:custGeom>
            <a:avLst/>
            <a:gdLst/>
            <a:ahLst/>
            <a:rect l="0" t="0" r="r" b="b"/>
            <a:pathLst>
              <a:path w="65" h="8153">
                <a:moveTo>
                  <a:pt x="65" y="8"/>
                </a:moveTo>
                <a:lnTo>
                  <a:pt x="65" y="8145"/>
                </a:lnTo>
                <a:lnTo>
                  <a:pt x="43" y="8153"/>
                </a:lnTo>
                <a:cubicBezTo>
                  <a:pt x="36" y="8147"/>
                  <a:pt x="30" y="8139"/>
                  <a:pt x="24" y="8129"/>
                </a:cubicBezTo>
                <a:cubicBezTo>
                  <a:pt x="8" y="8104"/>
                  <a:pt x="0" y="8074"/>
                  <a:pt x="0" y="8039"/>
                </a:cubicBezTo>
                <a:lnTo>
                  <a:pt x="0" y="115"/>
                </a:lnTo>
                <a:cubicBezTo>
                  <a:pt x="0" y="78"/>
                  <a:pt x="8" y="49"/>
                  <a:pt x="24" y="24"/>
                </a:cubicBezTo>
                <a:cubicBezTo>
                  <a:pt x="30" y="14"/>
                  <a:pt x="36" y="6"/>
                  <a:pt x="43" y="0"/>
                </a:cubicBezTo>
                <a:lnTo>
                  <a:pt x="65" y="8"/>
                </a:lnTo>
                <a:close/>
              </a:path>
            </a:pathLst>
          </a:custGeom>
          <a:solidFill>
            <a:srgbClr val="8b15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932760" y="802080"/>
            <a:ext cx="371988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2760" strike="noStrike" u="none">
                <a:solidFill>
                  <a:srgbClr val="0a0a0a"/>
                </a:solidFill>
                <a:effectLst/>
                <a:uFillTx/>
                <a:latin typeface="Fraunces-Regular_opsz266666_wght2580000"/>
                <a:ea typeface="Fraunces-Regular_opsz266666_wght2580000"/>
              </a:rPr>
              <a:t>One rollout, traced.</a:t>
            </a:r>
            <a:endParaRPr b="0" lang="en-IN" sz="27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1108440" y="1585080"/>
            <a:ext cx="27504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900" strike="noStrike" u="none">
                <a:solidFill>
                  <a:srgbClr val="1a3d6e"/>
                </a:solidFill>
                <a:effectLst/>
                <a:uFillTx/>
                <a:latin typeface="JetBrainsMono-Regular_wght2580000"/>
                <a:ea typeface="JetBrainsMono-Regular_wght2580000"/>
              </a:rPr>
              <a:t>ROOT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1534320" y="1585080"/>
            <a:ext cx="119772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2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(task + response)</a:t>
            </a:r>
            <a:endParaRPr b="0" lang="en-IN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1108440" y="1777320"/>
            <a:ext cx="11376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1175400" y="1766160"/>
            <a:ext cx="1137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Menlo"/>
                <a:ea typeface="Menlo"/>
              </a:rPr>
              <a:t>│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1108440" y="1969200"/>
            <a:ext cx="11376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1175400" y="1958400"/>
            <a:ext cx="2070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Menlo"/>
                <a:ea typeface="Menlo"/>
              </a:rPr>
              <a:t>├──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1377000" y="1969200"/>
            <a:ext cx="418500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r>
              <a:rPr b="1" lang="en-IN" sz="900" strike="noStrike" u="none">
                <a:solidFill>
                  <a:srgbClr val="1f7a3a"/>
                </a:solidFill>
                <a:effectLst/>
                <a:uFillTx/>
                <a:latin typeface="JetBrainsMono-Regular_wght2580000"/>
                <a:ea typeface="JetBrainsMono-Regular_wght2580000"/>
              </a:rPr>
              <a:t>[subtask 1]</a:t>
            </a:r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 "DCF coverage?"           </a:t>
            </a:r>
            <a:r>
              <a:rPr b="0" lang="en-IN" sz="900" strike="noStrike" u="none">
                <a:solidFill>
                  <a:srgbClr val="8b1538"/>
                </a:solidFill>
                <a:effectLst/>
                <a:uFillTx/>
                <a:latin typeface="JetBrainsMono"/>
                <a:ea typeface="JetBrainsMono"/>
              </a:rPr>
              <a:t>Q=0.92  N=4  UCT=1.18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5598720" y="1958400"/>
            <a:ext cx="1137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900" strike="noStrike" u="none">
                <a:solidFill>
                  <a:srgbClr val="1f7a3a"/>
                </a:solidFill>
                <a:effectLst/>
                <a:uFillTx/>
                <a:latin typeface="Menlo"/>
                <a:ea typeface="Menlo"/>
              </a:rPr>
              <a:t>←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5666040" y="1969200"/>
            <a:ext cx="61812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900" strike="noStrike" u="none">
                <a:solidFill>
                  <a:srgbClr val="1f7a3a"/>
                </a:solidFill>
                <a:effectLst/>
                <a:uFillTx/>
                <a:latin typeface="JetBrainsMono-Regular_wght2580000"/>
                <a:ea typeface="JetBrainsMono-Regular_wght2580000"/>
              </a:rPr>
              <a:t> selected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1108440" y="2161080"/>
            <a:ext cx="11376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1175400" y="2150280"/>
            <a:ext cx="1137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Menlo"/>
                <a:ea typeface="Menlo"/>
              </a:rPr>
              <a:t>│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1242720" y="2161080"/>
            <a:ext cx="34380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   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1577880" y="2150280"/>
            <a:ext cx="1137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Menlo"/>
                <a:ea typeface="Menlo"/>
              </a:rPr>
              <a:t>│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1108440" y="2362320"/>
            <a:ext cx="11376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1175400" y="2351520"/>
            <a:ext cx="1137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Menlo"/>
                <a:ea typeface="Menlo"/>
              </a:rPr>
              <a:t>│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1242720" y="2362320"/>
            <a:ext cx="34380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   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1577880" y="2351520"/>
            <a:ext cx="2070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Menlo"/>
                <a:ea typeface="Menlo"/>
              </a:rPr>
              <a:t>├──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1779480" y="2362320"/>
            <a:ext cx="322488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r>
              <a:rPr b="1" lang="en-IN" sz="900" strike="noStrike" u="none">
                <a:solidFill>
                  <a:srgbClr val="1f7a3a"/>
                </a:solidFill>
                <a:effectLst/>
                <a:uFillTx/>
                <a:latin typeface="JetBrainsMono-Regular_wght2580000"/>
                <a:ea typeface="JetBrainsMono-Regular_wght2580000"/>
              </a:rPr>
              <a:t>[subtask 3]</a:t>
            </a:r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 "Discount rate?"      </a:t>
            </a:r>
            <a:r>
              <a:rPr b="0" lang="en-IN" sz="900" strike="noStrike" u="none">
                <a:solidFill>
                  <a:srgbClr val="8b1538"/>
                </a:solidFill>
                <a:effectLst/>
                <a:uFillTx/>
                <a:latin typeface="JetBrainsMono"/>
                <a:ea typeface="JetBrainsMono"/>
              </a:rPr>
              <a:t>Q=0.88  N=2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5263920" y="2351520"/>
            <a:ext cx="1137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900" strike="noStrike" u="none">
                <a:solidFill>
                  <a:srgbClr val="1f7a3a"/>
                </a:solidFill>
                <a:effectLst/>
                <a:uFillTx/>
                <a:latin typeface="Menlo"/>
                <a:ea typeface="Menlo"/>
              </a:rPr>
              <a:t>←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5331240" y="2362320"/>
            <a:ext cx="61812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900" strike="noStrike" u="none">
                <a:solidFill>
                  <a:srgbClr val="1f7a3a"/>
                </a:solidFill>
                <a:effectLst/>
                <a:uFillTx/>
                <a:latin typeface="JetBrainsMono-Regular_wght2580000"/>
                <a:ea typeface="JetBrainsMono-Regular_wght2580000"/>
              </a:rPr>
              <a:t> selected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1108440" y="2554560"/>
            <a:ext cx="11376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1175400" y="2543400"/>
            <a:ext cx="1137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Menlo"/>
                <a:ea typeface="Menlo"/>
              </a:rPr>
              <a:t>│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1242720" y="2554560"/>
            <a:ext cx="34380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   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1577880" y="2543400"/>
            <a:ext cx="1137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Menlo"/>
                <a:ea typeface="Menlo"/>
              </a:rPr>
              <a:t>│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1644840" y="2554560"/>
            <a:ext cx="34380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   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1980000" y="2543400"/>
            <a:ext cx="1137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Menlo"/>
                <a:ea typeface="Menlo"/>
              </a:rPr>
              <a:t>│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1108440" y="2746440"/>
            <a:ext cx="11376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1175400" y="2735640"/>
            <a:ext cx="1137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Menlo"/>
                <a:ea typeface="Menlo"/>
              </a:rPr>
              <a:t>│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1242720" y="2746440"/>
            <a:ext cx="34380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   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1577880" y="2735640"/>
            <a:ext cx="1137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Menlo"/>
                <a:ea typeface="Menlo"/>
              </a:rPr>
              <a:t>│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1644840" y="2746440"/>
            <a:ext cx="34380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   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1980000" y="2735640"/>
            <a:ext cx="2070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Menlo"/>
                <a:ea typeface="Menlo"/>
              </a:rPr>
              <a:t>└──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2181600" y="2746440"/>
            <a:ext cx="315612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r>
              <a:rPr b="1" lang="en-IN" sz="900" strike="noStrike" u="none">
                <a:solidFill>
                  <a:srgbClr val="1f7a3a"/>
                </a:solidFill>
                <a:effectLst/>
                <a:uFillTx/>
                <a:latin typeface="JetBrainsMono-Regular_wght2580000"/>
                <a:ea typeface="JetBrainsMono-Regular_wght2580000"/>
              </a:rPr>
              <a:t>[subtask 5]</a:t>
            </a:r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 "Comparable co.?"  </a:t>
            </a:r>
            <a:r>
              <a:rPr b="0" lang="en-IN" sz="900" strike="noStrike" u="none">
                <a:solidFill>
                  <a:srgbClr val="8b1538"/>
                </a:solidFill>
                <a:effectLst/>
                <a:uFillTx/>
                <a:latin typeface="JetBrainsMono"/>
                <a:ea typeface="JetBrainsMono"/>
              </a:rPr>
              <a:t>Q=0.85  N=1</a:t>
            </a:r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5264280" y="2735640"/>
            <a:ext cx="1137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Menlo"/>
                <a:ea typeface="Menlo"/>
              </a:rPr>
              <a:t>→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5331600" y="2746440"/>
            <a:ext cx="34380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r>
              <a:rPr b="1" lang="en-IN" sz="900" strike="noStrike" u="none">
                <a:solidFill>
                  <a:srgbClr val="1f7a3a"/>
                </a:solidFill>
                <a:effectLst/>
                <a:uFillTx/>
                <a:latin typeface="JetBrainsMono-Regular_wght2580000"/>
                <a:ea typeface="JetBrainsMono-Regular_wght2580000"/>
              </a:rPr>
              <a:t>PASS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1108440" y="2938320"/>
            <a:ext cx="11376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1175400" y="2927520"/>
            <a:ext cx="1137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Menlo"/>
                <a:ea typeface="Menlo"/>
              </a:rPr>
              <a:t>│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1242720" y="2938320"/>
            <a:ext cx="34380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   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1577880" y="2927520"/>
            <a:ext cx="1137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Menlo"/>
                <a:ea typeface="Menlo"/>
              </a:rPr>
              <a:t>│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1108440" y="3139560"/>
            <a:ext cx="11376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1175400" y="3128760"/>
            <a:ext cx="1137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Menlo"/>
                <a:ea typeface="Menlo"/>
              </a:rPr>
              <a:t>│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1242720" y="3139560"/>
            <a:ext cx="34380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   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1577880" y="3128760"/>
            <a:ext cx="2070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Menlo"/>
                <a:ea typeface="Menlo"/>
              </a:rPr>
              <a:t>└──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1779480" y="3139560"/>
            <a:ext cx="322488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r>
              <a:rPr b="0" lang="en-IN" sz="90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[subtask 4]</a:t>
            </a:r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 "Founder share?"      </a:t>
            </a:r>
            <a:r>
              <a:rPr b="0" lang="en-IN" sz="900" strike="noStrike" u="none">
                <a:solidFill>
                  <a:srgbClr val="8b1538"/>
                </a:solidFill>
                <a:effectLst/>
                <a:uFillTx/>
                <a:latin typeface="JetBrainsMono"/>
                <a:ea typeface="JetBrainsMono"/>
              </a:rPr>
              <a:t>Q=0.71  N=1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5263920" y="3128760"/>
            <a:ext cx="1137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6a6a66"/>
                </a:solidFill>
                <a:effectLst/>
                <a:uFillTx/>
                <a:latin typeface="Menlo"/>
                <a:ea typeface="Menlo"/>
              </a:rPr>
              <a:t>←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5331240" y="3139560"/>
            <a:ext cx="75528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 unselected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1108440" y="3331800"/>
            <a:ext cx="11376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1175400" y="3320640"/>
            <a:ext cx="1137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Menlo"/>
                <a:ea typeface="Menlo"/>
              </a:rPr>
              <a:t>│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1108440" y="3523680"/>
            <a:ext cx="11376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1175400" y="3512880"/>
            <a:ext cx="2070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Menlo"/>
                <a:ea typeface="Menlo"/>
              </a:rPr>
              <a:t>├──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1377000" y="3523680"/>
            <a:ext cx="349920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r>
              <a:rPr b="0" lang="en-IN" sz="90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[subtask 2]</a:t>
            </a:r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 "VC method?"              </a:t>
            </a:r>
            <a:r>
              <a:rPr b="0" lang="en-IN" sz="900" strike="noStrike" u="none">
                <a:solidFill>
                  <a:srgbClr val="8b1538"/>
                </a:solidFill>
                <a:effectLst/>
                <a:uFillTx/>
                <a:latin typeface="JetBrainsMono"/>
                <a:ea typeface="JetBrainsMono"/>
              </a:rPr>
              <a:t>Q=0.60  N=1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5129640" y="3512880"/>
            <a:ext cx="1137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6a6a66"/>
                </a:solidFill>
                <a:effectLst/>
                <a:uFillTx/>
                <a:latin typeface="Menlo"/>
                <a:ea typeface="Menlo"/>
              </a:rPr>
              <a:t>←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5196960" y="3523680"/>
            <a:ext cx="75528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 unselected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1108440" y="3715560"/>
            <a:ext cx="11376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1175400" y="3704760"/>
            <a:ext cx="2070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Menlo"/>
                <a:ea typeface="Menlo"/>
              </a:rPr>
              <a:t>└──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1377000" y="3715560"/>
            <a:ext cx="349920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r>
              <a:rPr b="0" lang="en-IN" sz="90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[subtask 6]</a:t>
            </a:r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 "Strategic buyer?"        </a:t>
            </a:r>
            <a:r>
              <a:rPr b="0" lang="en-IN" sz="900" strike="noStrike" u="none">
                <a:solidFill>
                  <a:srgbClr val="8b1538"/>
                </a:solidFill>
                <a:effectLst/>
                <a:uFillTx/>
                <a:latin typeface="JetBrainsMono"/>
                <a:ea typeface="JetBrainsMono"/>
              </a:rPr>
              <a:t>Q=0.55  N=1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5129640" y="3704760"/>
            <a:ext cx="1137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6a6a66"/>
                </a:solidFill>
                <a:effectLst/>
                <a:uFillTx/>
                <a:latin typeface="Menlo"/>
                <a:ea typeface="Menlo"/>
              </a:rPr>
              <a:t>←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5196960" y="3715560"/>
            <a:ext cx="75528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 unselected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1132200" y="4109040"/>
            <a:ext cx="1409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2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final trajectory: 1 </a:t>
            </a:r>
            <a:endParaRPr b="0" lang="en-IN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2448720" y="4097880"/>
            <a:ext cx="1137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IN" sz="900" strike="noStrike" u="none">
                <a:solidFill>
                  <a:srgbClr val="6a6a66"/>
                </a:solidFill>
                <a:effectLst/>
                <a:uFillTx/>
                <a:latin typeface="Menlo"/>
                <a:ea typeface="Menlo"/>
              </a:rPr>
              <a:t>→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2539440" y="4109040"/>
            <a:ext cx="212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2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 3 </a:t>
            </a:r>
            <a:endParaRPr b="0" lang="en-IN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2716920" y="4097880"/>
            <a:ext cx="1137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IN" sz="900" strike="noStrike" u="none">
                <a:solidFill>
                  <a:srgbClr val="6a6a66"/>
                </a:solidFill>
                <a:effectLst/>
                <a:uFillTx/>
                <a:latin typeface="Menlo"/>
                <a:ea typeface="Menlo"/>
              </a:rPr>
              <a:t>→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2808000" y="4109040"/>
            <a:ext cx="352188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2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 5  ·  majority = PASS  ·  global synthesis = PASS</a:t>
            </a:r>
            <a:endParaRPr b="0" lang="en-IN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932760" y="4455000"/>
            <a:ext cx="82728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6a6a66"/>
                </a:solidFill>
                <a:effectLst/>
                <a:uFillTx/>
                <a:latin typeface="Inter-Regular_"/>
                <a:ea typeface="Inter-Regular_"/>
              </a:rPr>
              <a:t>UCT balances 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1765440" y="4451040"/>
            <a:ext cx="2782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980" strike="noStrike" u="none">
                <a:solidFill>
                  <a:srgbClr val="0a0a0a"/>
                </a:solidFill>
                <a:effectLst/>
                <a:uFillTx/>
                <a:latin typeface="Inter-Regular_Semi"/>
                <a:ea typeface="Inter-Regular_Semi"/>
              </a:rPr>
              <a:t>Q(s)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2017080" y="4455000"/>
            <a:ext cx="317520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6a6a66"/>
                </a:solidFill>
                <a:effectLst/>
                <a:uFillTx/>
                <a:latin typeface="Inter-Regular_"/>
                <a:ea typeface="Inter-Regular_"/>
              </a:rPr>
              <a:t> (mean reward) with an exploration bonus that decays as 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5240160" y="4451040"/>
            <a:ext cx="2782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980" strike="noStrike" u="none">
                <a:solidFill>
                  <a:srgbClr val="0a0a0a"/>
                </a:solidFill>
                <a:effectLst/>
                <a:uFillTx/>
                <a:latin typeface="Inter-Regular_Semi"/>
                <a:ea typeface="Inter-Regular_Semi"/>
              </a:rPr>
              <a:t>N(s)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5490000" y="4455000"/>
            <a:ext cx="40356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6a6a66"/>
                </a:solidFill>
                <a:effectLst/>
                <a:uFillTx/>
                <a:latin typeface="Inter-Regular_"/>
                <a:ea typeface="Inter-Regular_"/>
              </a:rPr>
              <a:t> grows.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685800" y="8312040"/>
            <a:ext cx="2566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MEMORY-ASSISTED LLM AS A JUDGE VIA KNOWLEDGE GRAPHS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11460960" y="8312040"/>
            <a:ext cx="13086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9 / 36  ·  K. PATEL · 2026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273960" y="171360"/>
            <a:ext cx="13167720" cy="8229960"/>
          </a:xfrm>
          <a:custGeom>
            <a:avLst/>
            <a:gdLst/>
            <a:ahLst/>
            <a:rect l="0" t="0" r="r" b="b"/>
            <a:pathLst>
              <a:path w="36577" h="22861">
                <a:moveTo>
                  <a:pt x="0" y="0"/>
                </a:moveTo>
                <a:lnTo>
                  <a:pt x="36577" y="0"/>
                </a:lnTo>
                <a:lnTo>
                  <a:pt x="36577" y="22861"/>
                </a:lnTo>
                <a:lnTo>
                  <a:pt x="0" y="22861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932400" y="1689120"/>
            <a:ext cx="7160040" cy="9720"/>
          </a:xfrm>
          <a:custGeom>
            <a:avLst/>
            <a:gdLst/>
            <a:ahLst/>
            <a:rect l="0" t="0" r="r" b="b"/>
            <a:pathLst>
              <a:path w="19889" h="27">
                <a:moveTo>
                  <a:pt x="0" y="0"/>
                </a:moveTo>
                <a:lnTo>
                  <a:pt x="19889" y="0"/>
                </a:lnTo>
                <a:lnTo>
                  <a:pt x="198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8092080" y="1689120"/>
            <a:ext cx="2441880" cy="9720"/>
          </a:xfrm>
          <a:custGeom>
            <a:avLst/>
            <a:gdLst/>
            <a:ahLst/>
            <a:rect l="0" t="0" r="r" b="b"/>
            <a:pathLst>
              <a:path w="6783" h="27">
                <a:moveTo>
                  <a:pt x="0" y="0"/>
                </a:moveTo>
                <a:lnTo>
                  <a:pt x="6783" y="0"/>
                </a:lnTo>
                <a:lnTo>
                  <a:pt x="67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10533600" y="1689120"/>
            <a:ext cx="2250000" cy="9720"/>
          </a:xfrm>
          <a:custGeom>
            <a:avLst/>
            <a:gdLst/>
            <a:ahLst/>
            <a:rect l="0" t="0" r="r" b="b"/>
            <a:pathLst>
              <a:path w="6250" h="27">
                <a:moveTo>
                  <a:pt x="0" y="0"/>
                </a:moveTo>
                <a:lnTo>
                  <a:pt x="6250" y="0"/>
                </a:lnTo>
                <a:lnTo>
                  <a:pt x="62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932400" y="2137320"/>
            <a:ext cx="7160040" cy="9360"/>
          </a:xfrm>
          <a:custGeom>
            <a:avLst/>
            <a:gdLst/>
            <a:ahLst/>
            <a:rect l="0" t="0" r="r" b="b"/>
            <a:pathLst>
              <a:path w="19889" h="26">
                <a:moveTo>
                  <a:pt x="0" y="0"/>
                </a:moveTo>
                <a:lnTo>
                  <a:pt x="19889" y="0"/>
                </a:lnTo>
                <a:lnTo>
                  <a:pt x="19889" y="2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8092080" y="2137320"/>
            <a:ext cx="2441880" cy="9360"/>
          </a:xfrm>
          <a:custGeom>
            <a:avLst/>
            <a:gdLst/>
            <a:ahLst/>
            <a:rect l="0" t="0" r="r" b="b"/>
            <a:pathLst>
              <a:path w="6783" h="26">
                <a:moveTo>
                  <a:pt x="0" y="0"/>
                </a:moveTo>
                <a:lnTo>
                  <a:pt x="6783" y="0"/>
                </a:lnTo>
                <a:lnTo>
                  <a:pt x="6783" y="2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10533600" y="2137320"/>
            <a:ext cx="2250000" cy="9360"/>
          </a:xfrm>
          <a:custGeom>
            <a:avLst/>
            <a:gdLst/>
            <a:ahLst/>
            <a:rect l="0" t="0" r="r" b="b"/>
            <a:pathLst>
              <a:path w="6250" h="26">
                <a:moveTo>
                  <a:pt x="0" y="0"/>
                </a:moveTo>
                <a:lnTo>
                  <a:pt x="6250" y="0"/>
                </a:lnTo>
                <a:lnTo>
                  <a:pt x="6250" y="2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932400" y="2594520"/>
            <a:ext cx="7160040" cy="9360"/>
          </a:xfrm>
          <a:custGeom>
            <a:avLst/>
            <a:gdLst/>
            <a:ahLst/>
            <a:rect l="0" t="0" r="r" b="b"/>
            <a:pathLst>
              <a:path w="19889" h="26">
                <a:moveTo>
                  <a:pt x="0" y="0"/>
                </a:moveTo>
                <a:lnTo>
                  <a:pt x="19889" y="0"/>
                </a:lnTo>
                <a:lnTo>
                  <a:pt x="19889" y="2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8092080" y="2594520"/>
            <a:ext cx="2441880" cy="9360"/>
          </a:xfrm>
          <a:custGeom>
            <a:avLst/>
            <a:gdLst/>
            <a:ahLst/>
            <a:rect l="0" t="0" r="r" b="b"/>
            <a:pathLst>
              <a:path w="6783" h="26">
                <a:moveTo>
                  <a:pt x="0" y="0"/>
                </a:moveTo>
                <a:lnTo>
                  <a:pt x="6783" y="0"/>
                </a:lnTo>
                <a:lnTo>
                  <a:pt x="6783" y="2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10533600" y="2594520"/>
            <a:ext cx="2250000" cy="9360"/>
          </a:xfrm>
          <a:custGeom>
            <a:avLst/>
            <a:gdLst/>
            <a:ahLst/>
            <a:rect l="0" t="0" r="r" b="b"/>
            <a:pathLst>
              <a:path w="6250" h="26">
                <a:moveTo>
                  <a:pt x="0" y="0"/>
                </a:moveTo>
                <a:lnTo>
                  <a:pt x="6250" y="0"/>
                </a:lnTo>
                <a:lnTo>
                  <a:pt x="6250" y="2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932400" y="3051720"/>
            <a:ext cx="7160040" cy="9360"/>
          </a:xfrm>
          <a:custGeom>
            <a:avLst/>
            <a:gdLst/>
            <a:ahLst/>
            <a:rect l="0" t="0" r="r" b="b"/>
            <a:pathLst>
              <a:path w="19889" h="26">
                <a:moveTo>
                  <a:pt x="0" y="0"/>
                </a:moveTo>
                <a:lnTo>
                  <a:pt x="19889" y="0"/>
                </a:lnTo>
                <a:lnTo>
                  <a:pt x="19889" y="2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8092080" y="3051720"/>
            <a:ext cx="2441880" cy="9360"/>
          </a:xfrm>
          <a:custGeom>
            <a:avLst/>
            <a:gdLst/>
            <a:ahLst/>
            <a:rect l="0" t="0" r="r" b="b"/>
            <a:pathLst>
              <a:path w="6783" h="26">
                <a:moveTo>
                  <a:pt x="0" y="0"/>
                </a:moveTo>
                <a:lnTo>
                  <a:pt x="6783" y="0"/>
                </a:lnTo>
                <a:lnTo>
                  <a:pt x="6783" y="2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10533600" y="3051720"/>
            <a:ext cx="2250000" cy="9360"/>
          </a:xfrm>
          <a:custGeom>
            <a:avLst/>
            <a:gdLst/>
            <a:ahLst/>
            <a:rect l="0" t="0" r="r" b="b"/>
            <a:pathLst>
              <a:path w="6250" h="26">
                <a:moveTo>
                  <a:pt x="0" y="0"/>
                </a:moveTo>
                <a:lnTo>
                  <a:pt x="6250" y="0"/>
                </a:lnTo>
                <a:lnTo>
                  <a:pt x="6250" y="2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932400" y="3499560"/>
            <a:ext cx="7160040" cy="9720"/>
          </a:xfrm>
          <a:custGeom>
            <a:avLst/>
            <a:gdLst/>
            <a:ahLst/>
            <a:rect l="0" t="0" r="r" b="b"/>
            <a:pathLst>
              <a:path w="19889" h="27">
                <a:moveTo>
                  <a:pt x="0" y="0"/>
                </a:moveTo>
                <a:lnTo>
                  <a:pt x="19889" y="0"/>
                </a:lnTo>
                <a:lnTo>
                  <a:pt x="198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8092080" y="3499560"/>
            <a:ext cx="2441880" cy="9720"/>
          </a:xfrm>
          <a:custGeom>
            <a:avLst/>
            <a:gdLst/>
            <a:ahLst/>
            <a:rect l="0" t="0" r="r" b="b"/>
            <a:pathLst>
              <a:path w="6783" h="27">
                <a:moveTo>
                  <a:pt x="0" y="0"/>
                </a:moveTo>
                <a:lnTo>
                  <a:pt x="6783" y="0"/>
                </a:lnTo>
                <a:lnTo>
                  <a:pt x="67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10533600" y="3499560"/>
            <a:ext cx="2250000" cy="9720"/>
          </a:xfrm>
          <a:custGeom>
            <a:avLst/>
            <a:gdLst/>
            <a:ahLst/>
            <a:rect l="0" t="0" r="r" b="b"/>
            <a:pathLst>
              <a:path w="6250" h="27">
                <a:moveTo>
                  <a:pt x="0" y="0"/>
                </a:moveTo>
                <a:lnTo>
                  <a:pt x="6250" y="0"/>
                </a:lnTo>
                <a:lnTo>
                  <a:pt x="62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932400" y="3956760"/>
            <a:ext cx="7160040" cy="9720"/>
          </a:xfrm>
          <a:custGeom>
            <a:avLst/>
            <a:gdLst/>
            <a:ahLst/>
            <a:rect l="0" t="0" r="r" b="b"/>
            <a:pathLst>
              <a:path w="19889" h="27">
                <a:moveTo>
                  <a:pt x="0" y="0"/>
                </a:moveTo>
                <a:lnTo>
                  <a:pt x="19889" y="0"/>
                </a:lnTo>
                <a:lnTo>
                  <a:pt x="198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8092080" y="3956760"/>
            <a:ext cx="2441880" cy="9720"/>
          </a:xfrm>
          <a:custGeom>
            <a:avLst/>
            <a:gdLst/>
            <a:ahLst/>
            <a:rect l="0" t="0" r="r" b="b"/>
            <a:pathLst>
              <a:path w="6783" h="27">
                <a:moveTo>
                  <a:pt x="0" y="0"/>
                </a:moveTo>
                <a:lnTo>
                  <a:pt x="6783" y="0"/>
                </a:lnTo>
                <a:lnTo>
                  <a:pt x="67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10533600" y="3956760"/>
            <a:ext cx="2250000" cy="9720"/>
          </a:xfrm>
          <a:custGeom>
            <a:avLst/>
            <a:gdLst/>
            <a:ahLst/>
            <a:rect l="0" t="0" r="r" b="b"/>
            <a:pathLst>
              <a:path w="6250" h="27">
                <a:moveTo>
                  <a:pt x="0" y="0"/>
                </a:moveTo>
                <a:lnTo>
                  <a:pt x="6250" y="0"/>
                </a:lnTo>
                <a:lnTo>
                  <a:pt x="62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932400" y="4404960"/>
            <a:ext cx="7160040" cy="9360"/>
          </a:xfrm>
          <a:custGeom>
            <a:avLst/>
            <a:gdLst/>
            <a:ahLst/>
            <a:rect l="0" t="0" r="r" b="b"/>
            <a:pathLst>
              <a:path w="19889" h="26">
                <a:moveTo>
                  <a:pt x="0" y="0"/>
                </a:moveTo>
                <a:lnTo>
                  <a:pt x="19889" y="0"/>
                </a:lnTo>
                <a:lnTo>
                  <a:pt x="19889" y="2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8092080" y="4404960"/>
            <a:ext cx="2441880" cy="9360"/>
          </a:xfrm>
          <a:custGeom>
            <a:avLst/>
            <a:gdLst/>
            <a:ahLst/>
            <a:rect l="0" t="0" r="r" b="b"/>
            <a:pathLst>
              <a:path w="6783" h="26">
                <a:moveTo>
                  <a:pt x="0" y="0"/>
                </a:moveTo>
                <a:lnTo>
                  <a:pt x="6783" y="0"/>
                </a:lnTo>
                <a:lnTo>
                  <a:pt x="6783" y="2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10533600" y="4404960"/>
            <a:ext cx="2250000" cy="9360"/>
          </a:xfrm>
          <a:custGeom>
            <a:avLst/>
            <a:gdLst/>
            <a:ahLst/>
            <a:rect l="0" t="0" r="r" b="b"/>
            <a:pathLst>
              <a:path w="6250" h="26">
                <a:moveTo>
                  <a:pt x="0" y="0"/>
                </a:moveTo>
                <a:lnTo>
                  <a:pt x="6250" y="0"/>
                </a:lnTo>
                <a:lnTo>
                  <a:pt x="6250" y="2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932760" y="579960"/>
            <a:ext cx="330048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PROPOSED SOLUTION · EARLY SIX-MODE BENCHMARK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932760" y="802080"/>
            <a:ext cx="432396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2760" strike="noStrike" u="none">
                <a:solidFill>
                  <a:srgbClr val="0a0a0a"/>
                </a:solidFill>
                <a:effectLst/>
                <a:uFillTx/>
                <a:latin typeface="Fraunces-Regular_opsz266666_wght2580000"/>
                <a:ea typeface="Fraunces-Regular_opsz266666_wght2580000"/>
              </a:rPr>
              <a:t>And then — a surprise.</a:t>
            </a:r>
            <a:endParaRPr b="0" lang="en-IN" sz="27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1033920" y="1495080"/>
            <a:ext cx="474480" cy="128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80" strike="noStrike" u="none">
                <a:solidFill>
                  <a:srgbClr val="6a6a66"/>
                </a:solidFill>
                <a:effectLst/>
                <a:uFillTx/>
                <a:latin typeface="JetBrainsMonoRoman"/>
                <a:ea typeface="JetBrainsMonoRoman"/>
              </a:rPr>
              <a:t>M O D E</a:t>
            </a:r>
            <a:endParaRPr b="0" lang="en-IN" sz="8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8190000" y="1495080"/>
            <a:ext cx="1015920" cy="128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80" strike="noStrike" u="none">
                <a:solidFill>
                  <a:srgbClr val="6a6a66"/>
                </a:solidFill>
                <a:effectLst/>
                <a:uFillTx/>
                <a:latin typeface="JetBrainsMonoRoman"/>
                <a:ea typeface="JetBrainsMonoRoman"/>
              </a:rPr>
              <a:t>A C C U R A C Y</a:t>
            </a:r>
            <a:endParaRPr b="0" lang="en-IN" sz="8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932400" y="1698480"/>
            <a:ext cx="7160040" cy="439200"/>
          </a:xfrm>
          <a:custGeom>
            <a:avLst/>
            <a:gdLst/>
            <a:ahLst/>
            <a:rect l="0" t="0" r="r" b="b"/>
            <a:pathLst>
              <a:path w="19889" h="1220">
                <a:moveTo>
                  <a:pt x="0" y="0"/>
                </a:moveTo>
                <a:lnTo>
                  <a:pt x="19889" y="0"/>
                </a:lnTo>
                <a:lnTo>
                  <a:pt x="19889" y="1220"/>
                </a:lnTo>
                <a:lnTo>
                  <a:pt x="0" y="1220"/>
                </a:lnTo>
                <a:lnTo>
                  <a:pt x="0" y="0"/>
                </a:lnTo>
                <a:close/>
              </a:path>
            </a:pathLst>
          </a:custGeom>
          <a:solidFill>
            <a:srgbClr val="1a3d6e">
              <a:alpha val="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8092080" y="1698480"/>
            <a:ext cx="2441880" cy="439200"/>
          </a:xfrm>
          <a:custGeom>
            <a:avLst/>
            <a:gdLst/>
            <a:ahLst/>
            <a:rect l="0" t="0" r="r" b="b"/>
            <a:pathLst>
              <a:path w="6783" h="1220">
                <a:moveTo>
                  <a:pt x="0" y="0"/>
                </a:moveTo>
                <a:lnTo>
                  <a:pt x="6783" y="0"/>
                </a:lnTo>
                <a:lnTo>
                  <a:pt x="6783" y="1220"/>
                </a:lnTo>
                <a:lnTo>
                  <a:pt x="0" y="1220"/>
                </a:lnTo>
                <a:lnTo>
                  <a:pt x="0" y="0"/>
                </a:lnTo>
                <a:close/>
              </a:path>
            </a:pathLst>
          </a:custGeom>
          <a:solidFill>
            <a:srgbClr val="1a3d6e">
              <a:alpha val="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10533600" y="1698480"/>
            <a:ext cx="2250000" cy="439200"/>
          </a:xfrm>
          <a:custGeom>
            <a:avLst/>
            <a:gdLst/>
            <a:ahLst/>
            <a:rect l="0" t="0" r="r" b="b"/>
            <a:pathLst>
              <a:path w="6250" h="1220">
                <a:moveTo>
                  <a:pt x="0" y="0"/>
                </a:moveTo>
                <a:lnTo>
                  <a:pt x="6250" y="0"/>
                </a:lnTo>
                <a:lnTo>
                  <a:pt x="6250" y="1220"/>
                </a:lnTo>
                <a:lnTo>
                  <a:pt x="0" y="1220"/>
                </a:lnTo>
                <a:lnTo>
                  <a:pt x="0" y="0"/>
                </a:lnTo>
                <a:close/>
              </a:path>
            </a:pathLst>
          </a:custGeom>
          <a:solidFill>
            <a:srgbClr val="1a3d6e">
              <a:alpha val="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10631880" y="1495080"/>
            <a:ext cx="880560" cy="128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80" strike="noStrike" u="none">
                <a:solidFill>
                  <a:srgbClr val="6a6a66"/>
                </a:solidFill>
                <a:effectLst/>
                <a:uFillTx/>
                <a:latin typeface="JetBrainsMonoRoman"/>
                <a:ea typeface="JetBrainsMonoRoman"/>
              </a:rPr>
              <a:t>L A T E N C Y</a:t>
            </a:r>
            <a:endParaRPr b="0" lang="en-IN" sz="8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1099080" y="1784160"/>
            <a:ext cx="7592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450" strike="noStrike" u="none">
                <a:solidFill>
                  <a:srgbClr val="0a0a0a"/>
                </a:solidFill>
                <a:effectLst/>
                <a:uFillTx/>
                <a:latin typeface="Fraunces-Regular_opsz143D6A_wght1900000"/>
                <a:ea typeface="Fraunces-Regular_opsz143D6A_wght1900000"/>
              </a:rPr>
              <a:t>Stateless</a:t>
            </a:r>
            <a:endParaRPr b="0" lang="en-IN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8233560" y="1847880"/>
            <a:ext cx="48096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260" strike="noStrike" u="none">
                <a:solidFill>
                  <a:srgbClr val="0a0a0a"/>
                </a:solidFill>
                <a:effectLst/>
                <a:uFillTx/>
                <a:latin typeface="JetBrainsMonoRoman"/>
                <a:ea typeface="JetBrainsMonoRoman"/>
              </a:rPr>
              <a:t>60.0%</a:t>
            </a:r>
            <a:endParaRPr b="0" lang="en-IN" sz="12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 txBox="1"/>
          <p:nvPr/>
        </p:nvSpPr>
        <p:spPr>
          <a:xfrm>
            <a:off x="10653480" y="1868040"/>
            <a:ext cx="4122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3.8 s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1099080" y="2241360"/>
            <a:ext cx="12096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450" strike="noStrike" u="none">
                <a:solidFill>
                  <a:srgbClr val="0a0a0a"/>
                </a:solidFill>
                <a:effectLst/>
                <a:uFillTx/>
                <a:latin typeface="Fraunces-Regular_opsz143D6A_wght1900000"/>
                <a:ea typeface="Fraunces-Regular_opsz143D6A_wght1900000"/>
              </a:rPr>
              <a:t>MAJ (memory)</a:t>
            </a:r>
            <a:endParaRPr b="0" lang="en-IN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8233560" y="2305080"/>
            <a:ext cx="48096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260" strike="noStrike" u="none">
                <a:solidFill>
                  <a:srgbClr val="0a0a0a"/>
                </a:solidFill>
                <a:effectLst/>
                <a:uFillTx/>
                <a:latin typeface="JetBrainsMonoRoman"/>
                <a:ea typeface="JetBrainsMonoRoman"/>
              </a:rPr>
              <a:t>63.3%</a:t>
            </a:r>
            <a:endParaRPr b="0" lang="en-IN" sz="12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10653480" y="2325240"/>
            <a:ext cx="4122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6.4 s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1099080" y="2689200"/>
            <a:ext cx="21834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450" strike="noStrike" u="none">
                <a:solidFill>
                  <a:srgbClr val="0a0a0a"/>
                </a:solidFill>
                <a:effectLst/>
                <a:uFillTx/>
                <a:latin typeface="Fraunces-Regular_opsz143D6A_wght1900000"/>
                <a:ea typeface="Fraunces-Regular_opsz143D6A_wght1900000"/>
              </a:rPr>
              <a:t>MCTS-Judge (no memory)</a:t>
            </a:r>
            <a:endParaRPr b="0" lang="en-IN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8233560" y="2753280"/>
            <a:ext cx="48096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260" strike="noStrike" u="none">
                <a:solidFill>
                  <a:srgbClr val="0a0a0a"/>
                </a:solidFill>
                <a:effectLst/>
                <a:uFillTx/>
                <a:latin typeface="JetBrainsMonoRoman"/>
                <a:ea typeface="JetBrainsMonoRoman"/>
              </a:rPr>
              <a:t>56.7%</a:t>
            </a:r>
            <a:endParaRPr b="0" lang="en-IN" sz="12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10653480" y="2773440"/>
            <a:ext cx="5767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126.7 s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1099080" y="3146400"/>
            <a:ext cx="19630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450" strike="noStrike" u="none">
                <a:solidFill>
                  <a:srgbClr val="0a0a0a"/>
                </a:solidFill>
                <a:effectLst/>
                <a:uFillTx/>
                <a:latin typeface="Fraunces-Regular_opsz143D6A_wght1900000"/>
                <a:ea typeface="Fraunces-Regular_opsz143D6A_wght1900000"/>
              </a:rPr>
              <a:t>MCTS-Judge + Memory</a:t>
            </a:r>
            <a:endParaRPr b="0" lang="en-IN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8233560" y="3210480"/>
            <a:ext cx="48096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260" strike="noStrike" u="none">
                <a:solidFill>
                  <a:srgbClr val="0a0a0a"/>
                </a:solidFill>
                <a:effectLst/>
                <a:uFillTx/>
                <a:latin typeface="JetBrainsMonoRoman"/>
                <a:ea typeface="JetBrainsMonoRoman"/>
              </a:rPr>
              <a:t>60.0%</a:t>
            </a:r>
            <a:endParaRPr b="0" lang="en-IN" sz="12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10653480" y="3230640"/>
            <a:ext cx="4946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51.2 s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1099080" y="3594600"/>
            <a:ext cx="2024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450" strike="noStrike" u="none">
                <a:solidFill>
                  <a:srgbClr val="0a0a0a"/>
                </a:solidFill>
                <a:effectLst/>
                <a:uFillTx/>
                <a:latin typeface="Fraunces-Regular_opsz143D6A_wght1900000"/>
                <a:ea typeface="Fraunces-Regular_opsz143D6A_wght1900000"/>
              </a:rPr>
              <a:t>MCTS-Retrieval + Judge</a:t>
            </a:r>
            <a:endParaRPr b="0" lang="en-IN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8233560" y="3658320"/>
            <a:ext cx="48096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260" strike="noStrike" u="none">
                <a:solidFill>
                  <a:srgbClr val="0a0a0a"/>
                </a:solidFill>
                <a:effectLst/>
                <a:uFillTx/>
                <a:latin typeface="JetBrainsMonoRoman"/>
                <a:ea typeface="JetBrainsMonoRoman"/>
              </a:rPr>
              <a:t>60.0%</a:t>
            </a:r>
            <a:endParaRPr b="0" lang="en-IN" sz="12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 txBox="1"/>
          <p:nvPr/>
        </p:nvSpPr>
        <p:spPr>
          <a:xfrm>
            <a:off x="10653480" y="3678480"/>
            <a:ext cx="4122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3.4 s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1099080" y="4051800"/>
            <a:ext cx="101484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450" strike="noStrike" u="none">
                <a:solidFill>
                  <a:srgbClr val="8b1538"/>
                </a:solidFill>
                <a:effectLst/>
                <a:uFillTx/>
                <a:latin typeface="Fraunces-Regular_opsz143D6A_wght2580000"/>
                <a:ea typeface="Fraunces-Regular_opsz143D6A_wght2580000"/>
              </a:rPr>
              <a:t>Full MCTS</a:t>
            </a:r>
            <a:endParaRPr b="0" lang="en-IN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8233560" y="4115520"/>
            <a:ext cx="48096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26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46.7%</a:t>
            </a:r>
            <a:endParaRPr b="0" lang="en-IN" sz="12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10653480" y="4135680"/>
            <a:ext cx="4946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48.6 s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965880" y="4583160"/>
            <a:ext cx="239868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10" strike="noStrike" u="none">
                <a:solidFill>
                  <a:srgbClr val="8b1538"/>
                </a:solidFill>
                <a:effectLst/>
                <a:uFillTx/>
                <a:latin typeface="Inter"/>
                <a:ea typeface="Inter"/>
              </a:rPr>
              <a:t>Early benchmark, 30 samples, un-audited.</a:t>
            </a:r>
            <a:endParaRPr b="0" lang="en-IN" sz="10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3364200" y="4583160"/>
            <a:ext cx="155664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6a6a66"/>
                </a:solidFill>
                <a:effectLst/>
                <a:uFillTx/>
                <a:latin typeface="Inter-Regular_"/>
                <a:ea typeface="Inter-Regular_"/>
              </a:rPr>
              <a:t> Reported in the thesis as a 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4952520" y="4583160"/>
            <a:ext cx="12816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10" strike="noStrike" u="none">
                <a:solidFill>
                  <a:srgbClr val="8b1538"/>
                </a:solidFill>
                <a:effectLst/>
                <a:uFillTx/>
                <a:latin typeface="Inter"/>
                <a:ea typeface="Inter"/>
              </a:rPr>
              <a:t>motivating observation</a:t>
            </a:r>
            <a:endParaRPr b="0" lang="en-IN" sz="10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6231600" y="4583160"/>
            <a:ext cx="116064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6a6a66"/>
                </a:solidFill>
                <a:effectLst/>
                <a:uFillTx/>
                <a:latin typeface="Inter-Regular_"/>
                <a:ea typeface="Inter-Regular_"/>
              </a:rPr>
              <a:t>, not a verified result.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977760" y="4838040"/>
            <a:ext cx="496332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370" strike="noStrike" u="none">
                <a:solidFill>
                  <a:srgbClr val="8b1538"/>
                </a:solidFill>
                <a:effectLst/>
                <a:uFillTx/>
                <a:latin typeface="Fraunces-Regular_opsz12665F_wght12C0000"/>
                <a:ea typeface="Fraunces-Regular_opsz12665F_wght12C0000"/>
              </a:rPr>
              <a:t>But the qualitative picture was clear: </a:t>
            </a:r>
            <a:r>
              <a:rPr b="1" lang="en-IN" sz="1370" strike="noStrike" u="none">
                <a:solidFill>
                  <a:srgbClr val="0a0a0a"/>
                </a:solidFill>
                <a:effectLst/>
                <a:uFillTx/>
                <a:latin typeface="Fraunces-Regular_opsz12665F_wght2580000"/>
                <a:ea typeface="Fraunces-Regular_opsz12665F_wght2580000"/>
              </a:rPr>
              <a:t>something was wrong</a:t>
            </a:r>
            <a:r>
              <a:rPr b="0" lang="en-IN" sz="1370" strike="noStrike" u="none">
                <a:solidFill>
                  <a:srgbClr val="8b1538"/>
                </a:solidFill>
                <a:effectLst/>
                <a:uFillTx/>
                <a:latin typeface="Fraunces-Regular_opsz12665F_wght12C0000"/>
                <a:ea typeface="Fraunces-Regular_opsz12665F_wght12C0000"/>
              </a:rPr>
              <a:t>.</a:t>
            </a:r>
            <a:endParaRPr b="0" lang="en-IN" sz="1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932760" y="5130000"/>
            <a:ext cx="34164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130" strike="noStrike" u="none">
                <a:solidFill>
                  <a:srgbClr val="2a2a2a"/>
                </a:solidFill>
                <a:effectLst/>
                <a:uFillTx/>
                <a:latin typeface="Fraunces-Regular_opszFA3D0_wght12C0000"/>
                <a:ea typeface="Fraunces-Regular_opszFA3D0_wght12C0000"/>
              </a:rPr>
              <a:t>Either the system is broken — or the measurement is.</a:t>
            </a:r>
            <a:endParaRPr b="0" lang="en-IN" sz="1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685800" y="8312040"/>
            <a:ext cx="2566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MEMORY-ASSISTED LLM AS A JUDGE VIA KNOWLEDGE GRAPHS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11400480" y="8312040"/>
            <a:ext cx="13590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10 / 36  ·  K. PATEL · 2026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273960" y="171360"/>
            <a:ext cx="13167720" cy="8229960"/>
          </a:xfrm>
          <a:custGeom>
            <a:avLst/>
            <a:gdLst/>
            <a:ahLst/>
            <a:rect l="0" t="0" r="r" b="b"/>
            <a:pathLst>
              <a:path w="36577" h="22861">
                <a:moveTo>
                  <a:pt x="0" y="0"/>
                </a:moveTo>
                <a:lnTo>
                  <a:pt x="36577" y="0"/>
                </a:lnTo>
                <a:lnTo>
                  <a:pt x="36577" y="22861"/>
                </a:lnTo>
                <a:lnTo>
                  <a:pt x="0" y="22861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932760" y="3399480"/>
            <a:ext cx="171288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60" strike="noStrike" u="none">
                <a:solidFill>
                  <a:srgbClr val="8b1538"/>
                </a:solidFill>
                <a:effectLst/>
                <a:uFillTx/>
                <a:latin typeface="JetBrainsMono"/>
                <a:ea typeface="JetBrainsMono"/>
              </a:rPr>
              <a:t>PROPOSED SOLUTION · PART 3</a:t>
            </a:r>
            <a:endParaRPr b="0" lang="en-IN" sz="8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932760" y="3545640"/>
            <a:ext cx="8220600" cy="785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4380" strike="noStrike" u="none">
                <a:solidFill>
                  <a:srgbClr val="0a0a0a"/>
                </a:solidFill>
                <a:effectLst/>
                <a:uFillTx/>
                <a:latin typeface="Fraunces-Regular_opsz3CCCC6_wght2580000"/>
                <a:ea typeface="Fraunces-Regular_opsz3CCCC6_wght2580000"/>
              </a:rPr>
              <a:t>Can we trust the numbers?</a:t>
            </a:r>
            <a:endParaRPr b="0" lang="en-IN" sz="43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983520" y="4466880"/>
            <a:ext cx="28854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540" strike="noStrike" u="none">
                <a:solidFill>
                  <a:srgbClr val="8b1538"/>
                </a:solidFill>
                <a:effectLst/>
                <a:uFillTx/>
                <a:latin typeface="Fraunces-Regular_opsz14CCC6_wght12C0000"/>
                <a:ea typeface="Fraunces-Regular_opsz14CCC6_wght12C0000"/>
              </a:rPr>
              <a:t>The first numbers were too good.</a:t>
            </a:r>
            <a:endParaRPr b="0" lang="en-IN" sz="15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983520" y="4659120"/>
            <a:ext cx="31590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540" strike="noStrike" u="none">
                <a:solidFill>
                  <a:srgbClr val="8b1538"/>
                </a:solidFill>
                <a:effectLst/>
                <a:uFillTx/>
                <a:latin typeface="Fraunces-Regular_opsz14CCC6_wght12C0000"/>
                <a:ea typeface="Fraunces-Regular_opsz14CCC6_wght12C0000"/>
              </a:rPr>
              <a:t>The next numbers were too strange.</a:t>
            </a:r>
            <a:endParaRPr b="0" lang="en-IN" sz="15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983520" y="4851000"/>
            <a:ext cx="314820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540" strike="noStrike" u="none">
                <a:solidFill>
                  <a:srgbClr val="8b1538"/>
                </a:solidFill>
                <a:effectLst/>
                <a:uFillTx/>
                <a:latin typeface="Fraunces-Regular_opsz14CCC6_wght12C0000"/>
                <a:ea typeface="Fraunces-Regular_opsz14CCC6_wght12C0000"/>
              </a:rPr>
              <a:t>So I went back to the </a:t>
            </a:r>
            <a:r>
              <a:rPr b="0" lang="en-IN" sz="1540" strike="noStrike" u="none">
                <a:solidFill>
                  <a:srgbClr val="8b1538"/>
                </a:solidFill>
                <a:effectLst/>
                <a:uFillTx/>
                <a:latin typeface="Fraunces-Regular_opsz14CCC6_wght1900000"/>
                <a:ea typeface="Fraunces-Regular_opsz14CCC6_wght1900000"/>
              </a:rPr>
              <a:t>measurement</a:t>
            </a:r>
            <a:r>
              <a:rPr b="0" lang="en-IN" sz="1540" strike="noStrike" u="none">
                <a:solidFill>
                  <a:srgbClr val="8b1538"/>
                </a:solidFill>
                <a:effectLst/>
                <a:uFillTx/>
                <a:latin typeface="Fraunces-Regular_opsz14CCC6_wght12C0000"/>
                <a:ea typeface="Fraunces-Regular_opsz14CCC6_wght12C0000"/>
              </a:rPr>
              <a:t>.</a:t>
            </a:r>
            <a:endParaRPr b="0" lang="en-IN" sz="15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685800" y="8312040"/>
            <a:ext cx="2566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MEMORY-ASSISTED LLM AS A JUDGE VIA KNOWLEDGE GRAPHS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11400480" y="8312040"/>
            <a:ext cx="13590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11 / 36  ·  K. PATEL · 2026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273960" y="171360"/>
            <a:ext cx="13167720" cy="8229960"/>
          </a:xfrm>
          <a:custGeom>
            <a:avLst/>
            <a:gdLst/>
            <a:ahLst/>
            <a:rect l="0" t="0" r="r" b="b"/>
            <a:pathLst>
              <a:path w="36577" h="22861">
                <a:moveTo>
                  <a:pt x="0" y="0"/>
                </a:moveTo>
                <a:lnTo>
                  <a:pt x="36577" y="0"/>
                </a:lnTo>
                <a:lnTo>
                  <a:pt x="36577" y="22861"/>
                </a:lnTo>
                <a:lnTo>
                  <a:pt x="0" y="22861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932760" y="579960"/>
            <a:ext cx="292536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PROPOSED SOLUTION · THE LEAKAGE PROBLEM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937080" y="1419480"/>
            <a:ext cx="5806800" cy="2167560"/>
          </a:xfrm>
          <a:custGeom>
            <a:avLst/>
            <a:gdLst/>
            <a:ahLst/>
            <a:rect l="0" t="0" r="r" b="b"/>
            <a:pathLst>
              <a:path w="16130" h="6021">
                <a:moveTo>
                  <a:pt x="0" y="5881"/>
                </a:moveTo>
                <a:lnTo>
                  <a:pt x="0" y="140"/>
                </a:lnTo>
                <a:cubicBezTo>
                  <a:pt x="0" y="130"/>
                  <a:pt x="1" y="121"/>
                  <a:pt x="3" y="112"/>
                </a:cubicBezTo>
                <a:cubicBezTo>
                  <a:pt x="4" y="103"/>
                  <a:pt x="7" y="95"/>
                  <a:pt x="11" y="86"/>
                </a:cubicBezTo>
                <a:cubicBezTo>
                  <a:pt x="14" y="78"/>
                  <a:pt x="18" y="70"/>
                  <a:pt x="24" y="62"/>
                </a:cubicBezTo>
                <a:cubicBezTo>
                  <a:pt x="29" y="54"/>
                  <a:pt x="34" y="47"/>
                  <a:pt x="41" y="41"/>
                </a:cubicBezTo>
                <a:cubicBezTo>
                  <a:pt x="47" y="34"/>
                  <a:pt x="54" y="28"/>
                  <a:pt x="62" y="23"/>
                </a:cubicBezTo>
                <a:cubicBezTo>
                  <a:pt x="70" y="18"/>
                  <a:pt x="78" y="14"/>
                  <a:pt x="86" y="10"/>
                </a:cubicBezTo>
                <a:cubicBezTo>
                  <a:pt x="95" y="7"/>
                  <a:pt x="103" y="4"/>
                  <a:pt x="112" y="3"/>
                </a:cubicBezTo>
                <a:cubicBezTo>
                  <a:pt x="121" y="1"/>
                  <a:pt x="131" y="0"/>
                  <a:pt x="140" y="0"/>
                </a:cubicBezTo>
                <a:lnTo>
                  <a:pt x="15990" y="0"/>
                </a:lnTo>
                <a:cubicBezTo>
                  <a:pt x="15999" y="0"/>
                  <a:pt x="16009" y="1"/>
                  <a:pt x="16018" y="3"/>
                </a:cubicBezTo>
                <a:cubicBezTo>
                  <a:pt x="16027" y="4"/>
                  <a:pt x="16035" y="7"/>
                  <a:pt x="16044" y="10"/>
                </a:cubicBezTo>
                <a:cubicBezTo>
                  <a:pt x="16052" y="14"/>
                  <a:pt x="16060" y="18"/>
                  <a:pt x="16068" y="23"/>
                </a:cubicBezTo>
                <a:cubicBezTo>
                  <a:pt x="16076" y="28"/>
                  <a:pt x="16083" y="34"/>
                  <a:pt x="16089" y="41"/>
                </a:cubicBezTo>
                <a:cubicBezTo>
                  <a:pt x="16096" y="47"/>
                  <a:pt x="16101" y="54"/>
                  <a:pt x="16106" y="62"/>
                </a:cubicBezTo>
                <a:cubicBezTo>
                  <a:pt x="16112" y="70"/>
                  <a:pt x="16116" y="78"/>
                  <a:pt x="16119" y="86"/>
                </a:cubicBezTo>
                <a:cubicBezTo>
                  <a:pt x="16123" y="95"/>
                  <a:pt x="16126" y="103"/>
                  <a:pt x="16127" y="112"/>
                </a:cubicBezTo>
                <a:cubicBezTo>
                  <a:pt x="16129" y="121"/>
                  <a:pt x="16130" y="130"/>
                  <a:pt x="16130" y="140"/>
                </a:cubicBezTo>
                <a:lnTo>
                  <a:pt x="16130" y="5881"/>
                </a:lnTo>
                <a:cubicBezTo>
                  <a:pt x="16130" y="5890"/>
                  <a:pt x="16129" y="5899"/>
                  <a:pt x="16127" y="5908"/>
                </a:cubicBezTo>
                <a:cubicBezTo>
                  <a:pt x="16126" y="5917"/>
                  <a:pt x="16123" y="5926"/>
                  <a:pt x="16119" y="5934"/>
                </a:cubicBezTo>
                <a:cubicBezTo>
                  <a:pt x="16116" y="5943"/>
                  <a:pt x="16112" y="5951"/>
                  <a:pt x="16106" y="5959"/>
                </a:cubicBezTo>
                <a:cubicBezTo>
                  <a:pt x="16101" y="5966"/>
                  <a:pt x="16096" y="5973"/>
                  <a:pt x="16089" y="5980"/>
                </a:cubicBezTo>
                <a:cubicBezTo>
                  <a:pt x="16083" y="5986"/>
                  <a:pt x="16076" y="5992"/>
                  <a:pt x="16068" y="5997"/>
                </a:cubicBezTo>
                <a:cubicBezTo>
                  <a:pt x="16060" y="6002"/>
                  <a:pt x="16052" y="6007"/>
                  <a:pt x="16044" y="6010"/>
                </a:cubicBezTo>
                <a:cubicBezTo>
                  <a:pt x="16035" y="6014"/>
                  <a:pt x="16027" y="6016"/>
                  <a:pt x="16018" y="6018"/>
                </a:cubicBezTo>
                <a:cubicBezTo>
                  <a:pt x="16009" y="6020"/>
                  <a:pt x="15999" y="6021"/>
                  <a:pt x="15990" y="6021"/>
                </a:cubicBezTo>
                <a:lnTo>
                  <a:pt x="140" y="6021"/>
                </a:lnTo>
                <a:cubicBezTo>
                  <a:pt x="131" y="6021"/>
                  <a:pt x="121" y="6020"/>
                  <a:pt x="112" y="6018"/>
                </a:cubicBezTo>
                <a:cubicBezTo>
                  <a:pt x="103" y="6016"/>
                  <a:pt x="95" y="6014"/>
                  <a:pt x="86" y="6010"/>
                </a:cubicBezTo>
                <a:cubicBezTo>
                  <a:pt x="78" y="6007"/>
                  <a:pt x="70" y="6002"/>
                  <a:pt x="62" y="5997"/>
                </a:cubicBezTo>
                <a:cubicBezTo>
                  <a:pt x="54" y="5992"/>
                  <a:pt x="47" y="5986"/>
                  <a:pt x="41" y="5980"/>
                </a:cubicBezTo>
                <a:cubicBezTo>
                  <a:pt x="34" y="5973"/>
                  <a:pt x="29" y="5966"/>
                  <a:pt x="24" y="5959"/>
                </a:cubicBezTo>
                <a:cubicBezTo>
                  <a:pt x="18" y="5951"/>
                  <a:pt x="14" y="5943"/>
                  <a:pt x="11" y="5934"/>
                </a:cubicBezTo>
                <a:cubicBezTo>
                  <a:pt x="7" y="5926"/>
                  <a:pt x="4" y="5917"/>
                  <a:pt x="3" y="5908"/>
                </a:cubicBezTo>
                <a:cubicBezTo>
                  <a:pt x="1" y="5899"/>
                  <a:pt x="0" y="5890"/>
                  <a:pt x="0" y="5881"/>
                </a:cubicBezTo>
                <a:close/>
              </a:path>
            </a:pathLst>
          </a:custGeom>
          <a:solidFill>
            <a:srgbClr val="8b1538">
              <a:alpha val="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937080" y="1419480"/>
            <a:ext cx="5806800" cy="2167560"/>
          </a:xfrm>
          <a:custGeom>
            <a:avLst/>
            <a:gdLst/>
            <a:ahLst/>
            <a:rect l="0" t="0" r="r" b="b"/>
            <a:pathLst>
              <a:path fill="none" w="16130" h="6021">
                <a:moveTo>
                  <a:pt x="0" y="5881"/>
                </a:moveTo>
                <a:lnTo>
                  <a:pt x="0" y="140"/>
                </a:lnTo>
                <a:cubicBezTo>
                  <a:pt x="0" y="130"/>
                  <a:pt x="1" y="121"/>
                  <a:pt x="3" y="112"/>
                </a:cubicBezTo>
                <a:cubicBezTo>
                  <a:pt x="4" y="103"/>
                  <a:pt x="7" y="95"/>
                  <a:pt x="11" y="86"/>
                </a:cubicBezTo>
                <a:cubicBezTo>
                  <a:pt x="14" y="78"/>
                  <a:pt x="18" y="70"/>
                  <a:pt x="24" y="62"/>
                </a:cubicBezTo>
                <a:cubicBezTo>
                  <a:pt x="29" y="54"/>
                  <a:pt x="34" y="47"/>
                  <a:pt x="41" y="41"/>
                </a:cubicBezTo>
                <a:cubicBezTo>
                  <a:pt x="47" y="34"/>
                  <a:pt x="54" y="28"/>
                  <a:pt x="62" y="23"/>
                </a:cubicBezTo>
                <a:cubicBezTo>
                  <a:pt x="70" y="18"/>
                  <a:pt x="78" y="14"/>
                  <a:pt x="86" y="10"/>
                </a:cubicBezTo>
                <a:cubicBezTo>
                  <a:pt x="95" y="7"/>
                  <a:pt x="103" y="4"/>
                  <a:pt x="112" y="3"/>
                </a:cubicBezTo>
                <a:cubicBezTo>
                  <a:pt x="121" y="1"/>
                  <a:pt x="131" y="0"/>
                  <a:pt x="140" y="0"/>
                </a:cubicBezTo>
                <a:lnTo>
                  <a:pt x="15990" y="0"/>
                </a:lnTo>
                <a:cubicBezTo>
                  <a:pt x="15999" y="0"/>
                  <a:pt x="16009" y="1"/>
                  <a:pt x="16018" y="3"/>
                </a:cubicBezTo>
                <a:cubicBezTo>
                  <a:pt x="16027" y="4"/>
                  <a:pt x="16035" y="7"/>
                  <a:pt x="16044" y="10"/>
                </a:cubicBezTo>
                <a:cubicBezTo>
                  <a:pt x="16052" y="14"/>
                  <a:pt x="16060" y="18"/>
                  <a:pt x="16068" y="23"/>
                </a:cubicBezTo>
                <a:cubicBezTo>
                  <a:pt x="16076" y="28"/>
                  <a:pt x="16083" y="34"/>
                  <a:pt x="16089" y="41"/>
                </a:cubicBezTo>
                <a:cubicBezTo>
                  <a:pt x="16096" y="47"/>
                  <a:pt x="16101" y="54"/>
                  <a:pt x="16106" y="62"/>
                </a:cubicBezTo>
                <a:cubicBezTo>
                  <a:pt x="16112" y="70"/>
                  <a:pt x="16116" y="78"/>
                  <a:pt x="16119" y="86"/>
                </a:cubicBezTo>
                <a:cubicBezTo>
                  <a:pt x="16123" y="95"/>
                  <a:pt x="16126" y="103"/>
                  <a:pt x="16127" y="112"/>
                </a:cubicBezTo>
                <a:cubicBezTo>
                  <a:pt x="16129" y="121"/>
                  <a:pt x="16130" y="130"/>
                  <a:pt x="16130" y="140"/>
                </a:cubicBezTo>
                <a:lnTo>
                  <a:pt x="16130" y="5881"/>
                </a:lnTo>
                <a:cubicBezTo>
                  <a:pt x="16130" y="5890"/>
                  <a:pt x="16129" y="5899"/>
                  <a:pt x="16127" y="5908"/>
                </a:cubicBezTo>
                <a:cubicBezTo>
                  <a:pt x="16126" y="5917"/>
                  <a:pt x="16123" y="5926"/>
                  <a:pt x="16119" y="5934"/>
                </a:cubicBezTo>
                <a:cubicBezTo>
                  <a:pt x="16116" y="5943"/>
                  <a:pt x="16112" y="5951"/>
                  <a:pt x="16106" y="5959"/>
                </a:cubicBezTo>
                <a:cubicBezTo>
                  <a:pt x="16101" y="5966"/>
                  <a:pt x="16096" y="5973"/>
                  <a:pt x="16089" y="5980"/>
                </a:cubicBezTo>
                <a:cubicBezTo>
                  <a:pt x="16083" y="5986"/>
                  <a:pt x="16076" y="5992"/>
                  <a:pt x="16068" y="5997"/>
                </a:cubicBezTo>
                <a:cubicBezTo>
                  <a:pt x="16060" y="6002"/>
                  <a:pt x="16052" y="6007"/>
                  <a:pt x="16044" y="6010"/>
                </a:cubicBezTo>
                <a:cubicBezTo>
                  <a:pt x="16035" y="6014"/>
                  <a:pt x="16027" y="6016"/>
                  <a:pt x="16018" y="6018"/>
                </a:cubicBezTo>
                <a:cubicBezTo>
                  <a:pt x="16009" y="6020"/>
                  <a:pt x="15999" y="6021"/>
                  <a:pt x="15990" y="6021"/>
                </a:cubicBezTo>
                <a:lnTo>
                  <a:pt x="140" y="6021"/>
                </a:lnTo>
                <a:cubicBezTo>
                  <a:pt x="131" y="6021"/>
                  <a:pt x="121" y="6020"/>
                  <a:pt x="112" y="6018"/>
                </a:cubicBezTo>
                <a:cubicBezTo>
                  <a:pt x="103" y="6016"/>
                  <a:pt x="95" y="6014"/>
                  <a:pt x="86" y="6010"/>
                </a:cubicBezTo>
                <a:cubicBezTo>
                  <a:pt x="78" y="6007"/>
                  <a:pt x="70" y="6002"/>
                  <a:pt x="62" y="5997"/>
                </a:cubicBezTo>
                <a:cubicBezTo>
                  <a:pt x="54" y="5992"/>
                  <a:pt x="47" y="5986"/>
                  <a:pt x="41" y="5980"/>
                </a:cubicBezTo>
                <a:cubicBezTo>
                  <a:pt x="34" y="5973"/>
                  <a:pt x="29" y="5966"/>
                  <a:pt x="24" y="5959"/>
                </a:cubicBezTo>
                <a:cubicBezTo>
                  <a:pt x="18" y="5951"/>
                  <a:pt x="14" y="5943"/>
                  <a:pt x="11" y="5934"/>
                </a:cubicBezTo>
                <a:cubicBezTo>
                  <a:pt x="7" y="5926"/>
                  <a:pt x="4" y="5917"/>
                  <a:pt x="3" y="5908"/>
                </a:cubicBezTo>
                <a:cubicBezTo>
                  <a:pt x="1" y="5899"/>
                  <a:pt x="0" y="5890"/>
                  <a:pt x="0" y="5881"/>
                </a:cubicBezTo>
              </a:path>
            </a:pathLst>
          </a:custGeom>
          <a:ln w="9000">
            <a:solidFill>
              <a:srgbClr val="8b1538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932760" y="802080"/>
            <a:ext cx="442224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2760" strike="noStrike" u="none">
                <a:solidFill>
                  <a:srgbClr val="0a0a0a"/>
                </a:solidFill>
                <a:effectLst/>
                <a:uFillTx/>
                <a:latin typeface="Fraunces-Regular_opsz266666_wght2580000"/>
                <a:ea typeface="Fraunces-Regular_opsz266666_wght2580000"/>
              </a:rPr>
              <a:t>Two leakage channels.</a:t>
            </a:r>
            <a:endParaRPr b="0" lang="en-IN" sz="27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1131840" y="1616400"/>
            <a:ext cx="469800" cy="97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69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CHANNEL I</a:t>
            </a:r>
            <a:endParaRPr b="0" lang="en-IN" sz="6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1131840" y="1706760"/>
            <a:ext cx="21693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560" strike="noStrike" u="none">
                <a:solidFill>
                  <a:srgbClr val="0a0a0a"/>
                </a:solidFill>
                <a:effectLst/>
                <a:uFillTx/>
                <a:latin typeface="Fraunces-Regular_opsz159999_wght2580000"/>
                <a:ea typeface="Fraunces-Regular_opsz159999_wght2580000"/>
              </a:rPr>
              <a:t>Paired-item leakage</a:t>
            </a:r>
            <a:endParaRPr b="0" lang="en-IN" sz="15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1131840" y="2091600"/>
            <a:ext cx="787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Question Q</a:t>
            </a:r>
            <a:endParaRPr b="0" lang="en-IN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1131840" y="2298600"/>
            <a:ext cx="1584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30" strike="noStrike" u="none">
                <a:solidFill>
                  <a:srgbClr val="0a0a0a"/>
                </a:solidFill>
                <a:effectLst/>
                <a:uFillTx/>
                <a:latin typeface="Menlo"/>
                <a:ea typeface="Menlo"/>
              </a:rPr>
              <a:t>├─</a:t>
            </a:r>
            <a:endParaRPr b="0" lang="en-IN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1287720" y="2311200"/>
            <a:ext cx="6296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Q.</a:t>
            </a:r>
            <a:r>
              <a:rPr b="0" lang="en-IN" sz="1030" strike="noStrike" u="none">
                <a:solidFill>
                  <a:srgbClr val="82d4ff"/>
                </a:solidFill>
                <a:effectLst/>
                <a:uFillTx/>
                <a:latin typeface="JetBrainsMono"/>
                <a:ea typeface="JetBrainsMono"/>
              </a:rPr>
              <a:t>PASS</a:t>
            </a:r>
            <a:r>
              <a:rPr b="0" lang="en-IN" sz="10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endParaRPr b="0" lang="en-IN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1908000" y="2298600"/>
            <a:ext cx="1314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30" strike="noStrike" u="none">
                <a:solidFill>
                  <a:srgbClr val="0a0a0a"/>
                </a:solidFill>
                <a:effectLst/>
                <a:uFillTx/>
                <a:latin typeface="Menlo"/>
                <a:ea typeface="Menlo"/>
              </a:rPr>
              <a:t>→</a:t>
            </a:r>
            <a:endParaRPr b="0" lang="en-IN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1985760" y="2311200"/>
            <a:ext cx="472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r>
              <a:rPr b="0" lang="en-IN" sz="1030" strike="noStrike" u="none">
                <a:solidFill>
                  <a:srgbClr val="8b1538"/>
                </a:solidFill>
                <a:effectLst/>
                <a:uFillTx/>
                <a:latin typeface="JetBrainsMono"/>
                <a:ea typeface="JetBrainsMono"/>
              </a:rPr>
              <a:t>train</a:t>
            </a:r>
            <a:endParaRPr b="0" lang="en-IN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 txBox="1"/>
          <p:nvPr/>
        </p:nvSpPr>
        <p:spPr>
          <a:xfrm>
            <a:off x="1131840" y="2527200"/>
            <a:ext cx="1584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30" strike="noStrike" u="none">
                <a:solidFill>
                  <a:srgbClr val="0a0a0a"/>
                </a:solidFill>
                <a:effectLst/>
                <a:uFillTx/>
                <a:latin typeface="Menlo"/>
                <a:ea typeface="Menlo"/>
              </a:rPr>
              <a:t>└─</a:t>
            </a:r>
            <a:endParaRPr b="0" lang="en-IN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1287720" y="2539800"/>
            <a:ext cx="6296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Q.</a:t>
            </a:r>
            <a:r>
              <a:rPr b="0" lang="en-IN" sz="1030" strike="noStrike" u="none">
                <a:solidFill>
                  <a:srgbClr val="ff7b9c"/>
                </a:solidFill>
                <a:effectLst/>
                <a:uFillTx/>
                <a:latin typeface="JetBrainsMono"/>
                <a:ea typeface="JetBrainsMono"/>
              </a:rPr>
              <a:t>FAIL</a:t>
            </a:r>
            <a:r>
              <a:rPr b="0" lang="en-IN" sz="10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endParaRPr b="0" lang="en-IN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1908000" y="2527200"/>
            <a:ext cx="1314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30" strike="noStrike" u="none">
                <a:solidFill>
                  <a:srgbClr val="0a0a0a"/>
                </a:solidFill>
                <a:effectLst/>
                <a:uFillTx/>
                <a:latin typeface="Menlo"/>
                <a:ea typeface="Menlo"/>
              </a:rPr>
              <a:t>→</a:t>
            </a:r>
            <a:endParaRPr b="0" lang="en-IN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1985760" y="2539800"/>
            <a:ext cx="3938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r>
              <a:rPr b="0" lang="en-IN" sz="1030" strike="noStrike" u="none">
                <a:solidFill>
                  <a:srgbClr val="8b1538"/>
                </a:solidFill>
                <a:effectLst/>
                <a:uFillTx/>
                <a:latin typeface="JetBrainsMono"/>
                <a:ea typeface="JetBrainsMono"/>
              </a:rPr>
              <a:t>test</a:t>
            </a:r>
            <a:endParaRPr b="0" lang="en-IN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 txBox="1"/>
          <p:nvPr/>
        </p:nvSpPr>
        <p:spPr>
          <a:xfrm>
            <a:off x="1131840" y="2988000"/>
            <a:ext cx="2439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The judge sees Q.PASS in memory</a:t>
            </a:r>
            <a:endParaRPr b="0" lang="en-IN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6972120" y="1419480"/>
            <a:ext cx="5806800" cy="2167560"/>
          </a:xfrm>
          <a:custGeom>
            <a:avLst/>
            <a:gdLst/>
            <a:ahLst/>
            <a:rect l="0" t="0" r="r" b="b"/>
            <a:pathLst>
              <a:path w="16130" h="6021">
                <a:moveTo>
                  <a:pt x="0" y="5881"/>
                </a:moveTo>
                <a:lnTo>
                  <a:pt x="0" y="140"/>
                </a:lnTo>
                <a:cubicBezTo>
                  <a:pt x="0" y="130"/>
                  <a:pt x="1" y="121"/>
                  <a:pt x="3" y="112"/>
                </a:cubicBezTo>
                <a:cubicBezTo>
                  <a:pt x="4" y="103"/>
                  <a:pt x="7" y="95"/>
                  <a:pt x="11" y="86"/>
                </a:cubicBezTo>
                <a:cubicBezTo>
                  <a:pt x="14" y="78"/>
                  <a:pt x="18" y="70"/>
                  <a:pt x="24" y="62"/>
                </a:cubicBezTo>
                <a:cubicBezTo>
                  <a:pt x="29" y="54"/>
                  <a:pt x="34" y="47"/>
                  <a:pt x="41" y="41"/>
                </a:cubicBezTo>
                <a:cubicBezTo>
                  <a:pt x="47" y="34"/>
                  <a:pt x="54" y="28"/>
                  <a:pt x="62" y="23"/>
                </a:cubicBezTo>
                <a:cubicBezTo>
                  <a:pt x="70" y="18"/>
                  <a:pt x="78" y="14"/>
                  <a:pt x="86" y="10"/>
                </a:cubicBezTo>
                <a:cubicBezTo>
                  <a:pt x="95" y="7"/>
                  <a:pt x="103" y="4"/>
                  <a:pt x="112" y="3"/>
                </a:cubicBezTo>
                <a:cubicBezTo>
                  <a:pt x="121" y="1"/>
                  <a:pt x="131" y="0"/>
                  <a:pt x="140" y="0"/>
                </a:cubicBezTo>
                <a:lnTo>
                  <a:pt x="15990" y="0"/>
                </a:lnTo>
                <a:cubicBezTo>
                  <a:pt x="15999" y="0"/>
                  <a:pt x="16009" y="1"/>
                  <a:pt x="16018" y="3"/>
                </a:cubicBezTo>
                <a:cubicBezTo>
                  <a:pt x="16027" y="4"/>
                  <a:pt x="16035" y="7"/>
                  <a:pt x="16044" y="10"/>
                </a:cubicBezTo>
                <a:cubicBezTo>
                  <a:pt x="16052" y="14"/>
                  <a:pt x="16060" y="18"/>
                  <a:pt x="16068" y="23"/>
                </a:cubicBezTo>
                <a:cubicBezTo>
                  <a:pt x="16076" y="28"/>
                  <a:pt x="16083" y="34"/>
                  <a:pt x="16089" y="41"/>
                </a:cubicBezTo>
                <a:cubicBezTo>
                  <a:pt x="16096" y="47"/>
                  <a:pt x="16101" y="54"/>
                  <a:pt x="16106" y="62"/>
                </a:cubicBezTo>
                <a:cubicBezTo>
                  <a:pt x="16112" y="70"/>
                  <a:pt x="16116" y="78"/>
                  <a:pt x="16119" y="86"/>
                </a:cubicBezTo>
                <a:cubicBezTo>
                  <a:pt x="16123" y="95"/>
                  <a:pt x="16126" y="103"/>
                  <a:pt x="16127" y="112"/>
                </a:cubicBezTo>
                <a:cubicBezTo>
                  <a:pt x="16129" y="121"/>
                  <a:pt x="16130" y="130"/>
                  <a:pt x="16130" y="140"/>
                </a:cubicBezTo>
                <a:lnTo>
                  <a:pt x="16130" y="5881"/>
                </a:lnTo>
                <a:cubicBezTo>
                  <a:pt x="16130" y="5890"/>
                  <a:pt x="16129" y="5899"/>
                  <a:pt x="16127" y="5908"/>
                </a:cubicBezTo>
                <a:cubicBezTo>
                  <a:pt x="16126" y="5917"/>
                  <a:pt x="16123" y="5926"/>
                  <a:pt x="16119" y="5934"/>
                </a:cubicBezTo>
                <a:cubicBezTo>
                  <a:pt x="16116" y="5943"/>
                  <a:pt x="16112" y="5951"/>
                  <a:pt x="16106" y="5959"/>
                </a:cubicBezTo>
                <a:cubicBezTo>
                  <a:pt x="16101" y="5966"/>
                  <a:pt x="16096" y="5973"/>
                  <a:pt x="16089" y="5980"/>
                </a:cubicBezTo>
                <a:cubicBezTo>
                  <a:pt x="16083" y="5986"/>
                  <a:pt x="16076" y="5992"/>
                  <a:pt x="16068" y="5997"/>
                </a:cubicBezTo>
                <a:cubicBezTo>
                  <a:pt x="16060" y="6002"/>
                  <a:pt x="16052" y="6007"/>
                  <a:pt x="16044" y="6010"/>
                </a:cubicBezTo>
                <a:cubicBezTo>
                  <a:pt x="16035" y="6014"/>
                  <a:pt x="16027" y="6016"/>
                  <a:pt x="16018" y="6018"/>
                </a:cubicBezTo>
                <a:cubicBezTo>
                  <a:pt x="16009" y="6020"/>
                  <a:pt x="15999" y="6021"/>
                  <a:pt x="15990" y="6021"/>
                </a:cubicBezTo>
                <a:lnTo>
                  <a:pt x="140" y="6021"/>
                </a:lnTo>
                <a:cubicBezTo>
                  <a:pt x="131" y="6021"/>
                  <a:pt x="121" y="6020"/>
                  <a:pt x="112" y="6018"/>
                </a:cubicBezTo>
                <a:cubicBezTo>
                  <a:pt x="103" y="6016"/>
                  <a:pt x="95" y="6014"/>
                  <a:pt x="86" y="6010"/>
                </a:cubicBezTo>
                <a:cubicBezTo>
                  <a:pt x="78" y="6007"/>
                  <a:pt x="70" y="6002"/>
                  <a:pt x="62" y="5997"/>
                </a:cubicBezTo>
                <a:cubicBezTo>
                  <a:pt x="54" y="5992"/>
                  <a:pt x="47" y="5986"/>
                  <a:pt x="41" y="5980"/>
                </a:cubicBezTo>
                <a:cubicBezTo>
                  <a:pt x="34" y="5973"/>
                  <a:pt x="29" y="5966"/>
                  <a:pt x="24" y="5959"/>
                </a:cubicBezTo>
                <a:cubicBezTo>
                  <a:pt x="18" y="5951"/>
                  <a:pt x="14" y="5943"/>
                  <a:pt x="11" y="5934"/>
                </a:cubicBezTo>
                <a:cubicBezTo>
                  <a:pt x="7" y="5926"/>
                  <a:pt x="4" y="5917"/>
                  <a:pt x="3" y="5908"/>
                </a:cubicBezTo>
                <a:cubicBezTo>
                  <a:pt x="1" y="5899"/>
                  <a:pt x="0" y="5890"/>
                  <a:pt x="0" y="5881"/>
                </a:cubicBezTo>
                <a:close/>
              </a:path>
            </a:pathLst>
          </a:custGeom>
          <a:solidFill>
            <a:srgbClr val="8b1538">
              <a:alpha val="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6972120" y="1419480"/>
            <a:ext cx="5806800" cy="2167560"/>
          </a:xfrm>
          <a:custGeom>
            <a:avLst/>
            <a:gdLst/>
            <a:ahLst/>
            <a:rect l="0" t="0" r="r" b="b"/>
            <a:pathLst>
              <a:path fill="none" w="16130" h="6021">
                <a:moveTo>
                  <a:pt x="0" y="5881"/>
                </a:moveTo>
                <a:lnTo>
                  <a:pt x="0" y="140"/>
                </a:lnTo>
                <a:cubicBezTo>
                  <a:pt x="0" y="130"/>
                  <a:pt x="1" y="121"/>
                  <a:pt x="3" y="112"/>
                </a:cubicBezTo>
                <a:cubicBezTo>
                  <a:pt x="4" y="103"/>
                  <a:pt x="7" y="95"/>
                  <a:pt x="11" y="86"/>
                </a:cubicBezTo>
                <a:cubicBezTo>
                  <a:pt x="14" y="78"/>
                  <a:pt x="18" y="70"/>
                  <a:pt x="24" y="62"/>
                </a:cubicBezTo>
                <a:cubicBezTo>
                  <a:pt x="29" y="54"/>
                  <a:pt x="34" y="47"/>
                  <a:pt x="41" y="41"/>
                </a:cubicBezTo>
                <a:cubicBezTo>
                  <a:pt x="47" y="34"/>
                  <a:pt x="54" y="28"/>
                  <a:pt x="62" y="23"/>
                </a:cubicBezTo>
                <a:cubicBezTo>
                  <a:pt x="70" y="18"/>
                  <a:pt x="78" y="14"/>
                  <a:pt x="86" y="10"/>
                </a:cubicBezTo>
                <a:cubicBezTo>
                  <a:pt x="95" y="7"/>
                  <a:pt x="103" y="4"/>
                  <a:pt x="112" y="3"/>
                </a:cubicBezTo>
                <a:cubicBezTo>
                  <a:pt x="121" y="1"/>
                  <a:pt x="131" y="0"/>
                  <a:pt x="140" y="0"/>
                </a:cubicBezTo>
                <a:lnTo>
                  <a:pt x="15990" y="0"/>
                </a:lnTo>
                <a:cubicBezTo>
                  <a:pt x="15999" y="0"/>
                  <a:pt x="16009" y="1"/>
                  <a:pt x="16018" y="3"/>
                </a:cubicBezTo>
                <a:cubicBezTo>
                  <a:pt x="16027" y="4"/>
                  <a:pt x="16035" y="7"/>
                  <a:pt x="16044" y="10"/>
                </a:cubicBezTo>
                <a:cubicBezTo>
                  <a:pt x="16052" y="14"/>
                  <a:pt x="16060" y="18"/>
                  <a:pt x="16068" y="23"/>
                </a:cubicBezTo>
                <a:cubicBezTo>
                  <a:pt x="16076" y="28"/>
                  <a:pt x="16083" y="34"/>
                  <a:pt x="16089" y="41"/>
                </a:cubicBezTo>
                <a:cubicBezTo>
                  <a:pt x="16096" y="47"/>
                  <a:pt x="16101" y="54"/>
                  <a:pt x="16106" y="62"/>
                </a:cubicBezTo>
                <a:cubicBezTo>
                  <a:pt x="16112" y="70"/>
                  <a:pt x="16116" y="78"/>
                  <a:pt x="16119" y="86"/>
                </a:cubicBezTo>
                <a:cubicBezTo>
                  <a:pt x="16123" y="95"/>
                  <a:pt x="16126" y="103"/>
                  <a:pt x="16127" y="112"/>
                </a:cubicBezTo>
                <a:cubicBezTo>
                  <a:pt x="16129" y="121"/>
                  <a:pt x="16130" y="130"/>
                  <a:pt x="16130" y="140"/>
                </a:cubicBezTo>
                <a:lnTo>
                  <a:pt x="16130" y="5881"/>
                </a:lnTo>
                <a:cubicBezTo>
                  <a:pt x="16130" y="5890"/>
                  <a:pt x="16129" y="5899"/>
                  <a:pt x="16127" y="5908"/>
                </a:cubicBezTo>
                <a:cubicBezTo>
                  <a:pt x="16126" y="5917"/>
                  <a:pt x="16123" y="5926"/>
                  <a:pt x="16119" y="5934"/>
                </a:cubicBezTo>
                <a:cubicBezTo>
                  <a:pt x="16116" y="5943"/>
                  <a:pt x="16112" y="5951"/>
                  <a:pt x="16106" y="5959"/>
                </a:cubicBezTo>
                <a:cubicBezTo>
                  <a:pt x="16101" y="5966"/>
                  <a:pt x="16096" y="5973"/>
                  <a:pt x="16089" y="5980"/>
                </a:cubicBezTo>
                <a:cubicBezTo>
                  <a:pt x="16083" y="5986"/>
                  <a:pt x="16076" y="5992"/>
                  <a:pt x="16068" y="5997"/>
                </a:cubicBezTo>
                <a:cubicBezTo>
                  <a:pt x="16060" y="6002"/>
                  <a:pt x="16052" y="6007"/>
                  <a:pt x="16044" y="6010"/>
                </a:cubicBezTo>
                <a:cubicBezTo>
                  <a:pt x="16035" y="6014"/>
                  <a:pt x="16027" y="6016"/>
                  <a:pt x="16018" y="6018"/>
                </a:cubicBezTo>
                <a:cubicBezTo>
                  <a:pt x="16009" y="6020"/>
                  <a:pt x="15999" y="6021"/>
                  <a:pt x="15990" y="6021"/>
                </a:cubicBezTo>
                <a:lnTo>
                  <a:pt x="140" y="6021"/>
                </a:lnTo>
                <a:cubicBezTo>
                  <a:pt x="131" y="6021"/>
                  <a:pt x="121" y="6020"/>
                  <a:pt x="112" y="6018"/>
                </a:cubicBezTo>
                <a:cubicBezTo>
                  <a:pt x="103" y="6016"/>
                  <a:pt x="95" y="6014"/>
                  <a:pt x="86" y="6010"/>
                </a:cubicBezTo>
                <a:cubicBezTo>
                  <a:pt x="78" y="6007"/>
                  <a:pt x="70" y="6002"/>
                  <a:pt x="62" y="5997"/>
                </a:cubicBezTo>
                <a:cubicBezTo>
                  <a:pt x="54" y="5992"/>
                  <a:pt x="47" y="5986"/>
                  <a:pt x="41" y="5980"/>
                </a:cubicBezTo>
                <a:cubicBezTo>
                  <a:pt x="34" y="5973"/>
                  <a:pt x="29" y="5966"/>
                  <a:pt x="24" y="5959"/>
                </a:cubicBezTo>
                <a:cubicBezTo>
                  <a:pt x="18" y="5951"/>
                  <a:pt x="14" y="5943"/>
                  <a:pt x="11" y="5934"/>
                </a:cubicBezTo>
                <a:cubicBezTo>
                  <a:pt x="7" y="5926"/>
                  <a:pt x="4" y="5917"/>
                  <a:pt x="3" y="5908"/>
                </a:cubicBezTo>
                <a:cubicBezTo>
                  <a:pt x="1" y="5899"/>
                  <a:pt x="0" y="5890"/>
                  <a:pt x="0" y="5881"/>
                </a:cubicBezTo>
              </a:path>
            </a:pathLst>
          </a:custGeom>
          <a:ln w="9000">
            <a:solidFill>
              <a:srgbClr val="8b1538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1131840" y="3207240"/>
            <a:ext cx="1652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while scoring Q.FAIL.</a:t>
            </a:r>
            <a:endParaRPr b="0" lang="en-IN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 txBox="1"/>
          <p:nvPr/>
        </p:nvSpPr>
        <p:spPr>
          <a:xfrm>
            <a:off x="7166880" y="1616400"/>
            <a:ext cx="522000" cy="97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69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CHANNEL II</a:t>
            </a:r>
            <a:endParaRPr b="0" lang="en-IN" sz="6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 txBox="1"/>
          <p:nvPr/>
        </p:nvSpPr>
        <p:spPr>
          <a:xfrm>
            <a:off x="7166880" y="1706760"/>
            <a:ext cx="2092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560" strike="noStrike" u="none">
                <a:solidFill>
                  <a:srgbClr val="0a0a0a"/>
                </a:solidFill>
                <a:effectLst/>
                <a:uFillTx/>
                <a:latin typeface="Fraunces-Regular_opsz159999_wght2580000"/>
                <a:ea typeface="Fraunces-Regular_opsz159999_wght2580000"/>
              </a:rPr>
              <a:t>Write-back leakage</a:t>
            </a:r>
            <a:endParaRPr b="0" lang="en-IN" sz="15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 txBox="1"/>
          <p:nvPr/>
        </p:nvSpPr>
        <p:spPr>
          <a:xfrm>
            <a:off x="7166880" y="2091600"/>
            <a:ext cx="11019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t=0   score A </a:t>
            </a:r>
            <a:endParaRPr b="0" lang="en-IN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8252640" y="2079360"/>
            <a:ext cx="1314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30" strike="noStrike" u="none">
                <a:solidFill>
                  <a:srgbClr val="0a0a0a"/>
                </a:solidFill>
                <a:effectLst/>
                <a:uFillTx/>
                <a:latin typeface="Menlo"/>
                <a:ea typeface="Menlo"/>
              </a:rPr>
              <a:t>→</a:t>
            </a:r>
            <a:endParaRPr b="0" lang="en-IN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8330400" y="2091600"/>
            <a:ext cx="12589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r>
              <a:rPr b="0" lang="en-IN" sz="1030" strike="noStrike" u="none">
                <a:solidFill>
                  <a:srgbClr val="8b1538"/>
                </a:solidFill>
                <a:effectLst/>
                <a:uFillTx/>
                <a:latin typeface="JetBrainsMono"/>
                <a:ea typeface="JetBrainsMono"/>
              </a:rPr>
              <a:t>write to memory</a:t>
            </a:r>
            <a:endParaRPr b="0" lang="en-IN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7166880" y="2311200"/>
            <a:ext cx="22028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t=1   score B (related to A)</a:t>
            </a:r>
            <a:endParaRPr b="0" lang="en-IN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7166880" y="2539800"/>
            <a:ext cx="28321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    memory now contains A's verdict</a:t>
            </a:r>
            <a:endParaRPr b="0" lang="en-IN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7166880" y="2988000"/>
            <a:ext cx="23601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Every early write contaminates</a:t>
            </a:r>
            <a:endParaRPr b="0" lang="en-IN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7166880" y="3207240"/>
            <a:ext cx="13377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every later read.</a:t>
            </a:r>
            <a:endParaRPr b="0" lang="en-IN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 txBox="1"/>
          <p:nvPr/>
        </p:nvSpPr>
        <p:spPr>
          <a:xfrm>
            <a:off x="685800" y="8312040"/>
            <a:ext cx="2566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MEMORY-ASSISTED LLM AS A JUDGE VIA KNOWLEDGE GRAPHS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 txBox="1"/>
          <p:nvPr/>
        </p:nvSpPr>
        <p:spPr>
          <a:xfrm>
            <a:off x="11400480" y="8312040"/>
            <a:ext cx="13590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12 / 36  ·  K. PATEL · 2026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273960" y="171360"/>
            <a:ext cx="13167720" cy="8229960"/>
          </a:xfrm>
          <a:custGeom>
            <a:avLst/>
            <a:gdLst/>
            <a:ahLst/>
            <a:rect l="0" t="0" r="r" b="b"/>
            <a:pathLst>
              <a:path w="36577" h="22861">
                <a:moveTo>
                  <a:pt x="0" y="0"/>
                </a:moveTo>
                <a:lnTo>
                  <a:pt x="36577" y="0"/>
                </a:lnTo>
                <a:lnTo>
                  <a:pt x="36577" y="22861"/>
                </a:lnTo>
                <a:lnTo>
                  <a:pt x="0" y="22861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932400" y="2813760"/>
            <a:ext cx="11851200" cy="9720"/>
          </a:xfrm>
          <a:custGeom>
            <a:avLst/>
            <a:gdLst/>
            <a:ahLst/>
            <a:rect l="0" t="0" r="r" b="b"/>
            <a:pathLst>
              <a:path w="32920" h="27">
                <a:moveTo>
                  <a:pt x="0" y="0"/>
                </a:moveTo>
                <a:lnTo>
                  <a:pt x="32920" y="0"/>
                </a:lnTo>
                <a:lnTo>
                  <a:pt x="329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932760" y="579960"/>
            <a:ext cx="322524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PROPOSED SOLUTION · BUILD #4 · THE PROTOCOL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932760" y="802080"/>
            <a:ext cx="436356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2760" strike="noStrike" u="none">
                <a:solidFill>
                  <a:srgbClr val="0a0a0a"/>
                </a:solidFill>
                <a:effectLst/>
                <a:uFillTx/>
                <a:latin typeface="Fraunces-Regular_opsz266666_wght2580000"/>
                <a:ea typeface="Fraunces-Regular_opsz266666_wght2580000"/>
              </a:rPr>
              <a:t>Closing both channels.</a:t>
            </a:r>
            <a:endParaRPr b="0" lang="en-IN" sz="27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932760" y="1695600"/>
            <a:ext cx="407520" cy="154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FIX I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1541880" y="1518840"/>
            <a:ext cx="96012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2130" strike="noStrike" u="none">
                <a:solidFill>
                  <a:srgbClr val="0a0a0a"/>
                </a:solidFill>
                <a:effectLst/>
                <a:uFillTx/>
                <a:latin typeface="Fraunces-Regular_opsz1D9999_wght1900000"/>
                <a:ea typeface="Fraunces-Regular_opsz1D9999_wght1900000"/>
              </a:rPr>
              <a:t>Split by </a:t>
            </a:r>
            <a:endParaRPr b="0" lang="en-IN" sz="2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2597760" y="1518840"/>
            <a:ext cx="1055160" cy="37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2190" strike="noStrike" u="none">
                <a:solidFill>
                  <a:srgbClr val="8b1538"/>
                </a:solidFill>
                <a:effectLst/>
                <a:uFillTx/>
                <a:latin typeface="Fraunces-Regular_opsz1D9999_wght1900000"/>
                <a:ea typeface="Fraunces-Regular_opsz1D9999_wght1900000"/>
              </a:rPr>
              <a:t>question</a:t>
            </a:r>
            <a:endParaRPr b="0" lang="en-IN" sz="21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3591360" y="1518840"/>
            <a:ext cx="111024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2130" strike="noStrike" u="none">
                <a:solidFill>
                  <a:srgbClr val="0a0a0a"/>
                </a:solidFill>
                <a:effectLst/>
                <a:uFillTx/>
                <a:latin typeface="Fraunces-Regular_opsz1D9999_wght1900000"/>
                <a:ea typeface="Fraunces-Regular_opsz1D9999_wght1900000"/>
              </a:rPr>
              <a:t>, not row.</a:t>
            </a:r>
            <a:endParaRPr b="0" lang="en-IN" sz="2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932760" y="2289960"/>
            <a:ext cx="489240" cy="154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FIX II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 txBox="1"/>
          <p:nvPr/>
        </p:nvSpPr>
        <p:spPr>
          <a:xfrm>
            <a:off x="1708920" y="2113200"/>
            <a:ext cx="868680" cy="37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2190" strike="noStrike" u="none">
                <a:solidFill>
                  <a:srgbClr val="8b1538"/>
                </a:solidFill>
                <a:effectLst/>
                <a:uFillTx/>
                <a:latin typeface="Fraunces-Regular_opsz1D9999_wght1900000"/>
                <a:ea typeface="Fraunces-Regular_opsz1D9999_wght1900000"/>
              </a:rPr>
              <a:t>Freeze</a:t>
            </a:r>
            <a:endParaRPr b="0" lang="en-IN" sz="21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2446560" y="2113200"/>
            <a:ext cx="290916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2130" strike="noStrike" u="none">
                <a:solidFill>
                  <a:srgbClr val="0a0a0a"/>
                </a:solidFill>
                <a:effectLst/>
                <a:uFillTx/>
                <a:latin typeface="Fraunces-Regular_opsz1D9999_wght1900000"/>
                <a:ea typeface="Fraunces-Regular_opsz1D9999_wght1900000"/>
              </a:rPr>
              <a:t> memory during the test.</a:t>
            </a:r>
            <a:endParaRPr b="0" lang="en-IN" sz="2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 txBox="1"/>
          <p:nvPr/>
        </p:nvSpPr>
        <p:spPr>
          <a:xfrm>
            <a:off x="932760" y="3034080"/>
            <a:ext cx="1523520" cy="154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21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A claim is not a proof. </a:t>
            </a:r>
            <a:endParaRPr b="0" lang="en-IN" sz="12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2477160" y="3029040"/>
            <a:ext cx="339624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210" strike="noStrike" u="none">
                <a:solidFill>
                  <a:srgbClr val="0a0a0a"/>
                </a:solidFill>
                <a:effectLst/>
                <a:uFillTx/>
                <a:latin typeface="Inter-Regular_Semi"/>
                <a:ea typeface="Inter-Regular_Semi"/>
              </a:rPr>
              <a:t>How do I prove the freeze actually held?</a:t>
            </a:r>
            <a:endParaRPr b="0" lang="en-IN" sz="12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685800" y="8312040"/>
            <a:ext cx="2566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MEMORY-ASSISTED LLM AS A JUDGE VIA KNOWLEDGE GRAPHS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11400480" y="8312040"/>
            <a:ext cx="13590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13 / 36  ·  K. PATEL · 2026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273960" y="171360"/>
            <a:ext cx="13167720" cy="8229960"/>
          </a:xfrm>
          <a:custGeom>
            <a:avLst/>
            <a:gdLst/>
            <a:ahLst/>
            <a:rect l="0" t="0" r="r" b="b"/>
            <a:pathLst>
              <a:path w="36577" h="22861">
                <a:moveTo>
                  <a:pt x="0" y="0"/>
                </a:moveTo>
                <a:lnTo>
                  <a:pt x="36577" y="0"/>
                </a:lnTo>
                <a:lnTo>
                  <a:pt x="36577" y="22861"/>
                </a:lnTo>
                <a:lnTo>
                  <a:pt x="0" y="22861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 txBox="1"/>
          <p:nvPr/>
        </p:nvSpPr>
        <p:spPr>
          <a:xfrm>
            <a:off x="932760" y="579960"/>
            <a:ext cx="292536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PROPOSED SOLUTION · THE TWO-LAYER AUDIT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937080" y="1419480"/>
            <a:ext cx="5825160" cy="1938960"/>
          </a:xfrm>
          <a:custGeom>
            <a:avLst/>
            <a:gdLst/>
            <a:ahLst/>
            <a:rect l="0" t="0" r="r" b="b"/>
            <a:pathLst>
              <a:path w="16181" h="5386">
                <a:moveTo>
                  <a:pt x="0" y="5246"/>
                </a:moveTo>
                <a:lnTo>
                  <a:pt x="0" y="140"/>
                </a:lnTo>
                <a:cubicBezTo>
                  <a:pt x="0" y="130"/>
                  <a:pt x="1" y="121"/>
                  <a:pt x="3" y="112"/>
                </a:cubicBezTo>
                <a:cubicBezTo>
                  <a:pt x="4" y="103"/>
                  <a:pt x="7" y="95"/>
                  <a:pt x="11" y="86"/>
                </a:cubicBezTo>
                <a:cubicBezTo>
                  <a:pt x="14" y="78"/>
                  <a:pt x="18" y="70"/>
                  <a:pt x="24" y="62"/>
                </a:cubicBezTo>
                <a:cubicBezTo>
                  <a:pt x="29" y="54"/>
                  <a:pt x="34" y="47"/>
                  <a:pt x="41" y="41"/>
                </a:cubicBezTo>
                <a:cubicBezTo>
                  <a:pt x="47" y="34"/>
                  <a:pt x="54" y="28"/>
                  <a:pt x="62" y="23"/>
                </a:cubicBezTo>
                <a:cubicBezTo>
                  <a:pt x="70" y="18"/>
                  <a:pt x="78" y="14"/>
                  <a:pt x="86" y="10"/>
                </a:cubicBezTo>
                <a:cubicBezTo>
                  <a:pt x="95" y="7"/>
                  <a:pt x="103" y="4"/>
                  <a:pt x="112" y="3"/>
                </a:cubicBezTo>
                <a:cubicBezTo>
                  <a:pt x="121" y="1"/>
                  <a:pt x="131" y="0"/>
                  <a:pt x="140" y="0"/>
                </a:cubicBezTo>
                <a:lnTo>
                  <a:pt x="16041" y="0"/>
                </a:lnTo>
                <a:cubicBezTo>
                  <a:pt x="16050" y="0"/>
                  <a:pt x="16059" y="1"/>
                  <a:pt x="16068" y="3"/>
                </a:cubicBezTo>
                <a:cubicBezTo>
                  <a:pt x="16077" y="4"/>
                  <a:pt x="16086" y="7"/>
                  <a:pt x="16095" y="10"/>
                </a:cubicBezTo>
                <a:cubicBezTo>
                  <a:pt x="16103" y="14"/>
                  <a:pt x="16111" y="18"/>
                  <a:pt x="16119" y="23"/>
                </a:cubicBezTo>
                <a:cubicBezTo>
                  <a:pt x="16126" y="28"/>
                  <a:pt x="16133" y="34"/>
                  <a:pt x="16140" y="41"/>
                </a:cubicBezTo>
                <a:cubicBezTo>
                  <a:pt x="16146" y="47"/>
                  <a:pt x="16152" y="54"/>
                  <a:pt x="16157" y="62"/>
                </a:cubicBezTo>
                <a:cubicBezTo>
                  <a:pt x="16162" y="70"/>
                  <a:pt x="16167" y="78"/>
                  <a:pt x="16170" y="86"/>
                </a:cubicBezTo>
                <a:cubicBezTo>
                  <a:pt x="16174" y="95"/>
                  <a:pt x="16176" y="103"/>
                  <a:pt x="16178" y="112"/>
                </a:cubicBezTo>
                <a:cubicBezTo>
                  <a:pt x="16180" y="121"/>
                  <a:pt x="16181" y="130"/>
                  <a:pt x="16181" y="140"/>
                </a:cubicBezTo>
                <a:lnTo>
                  <a:pt x="16181" y="5246"/>
                </a:lnTo>
                <a:cubicBezTo>
                  <a:pt x="16181" y="5255"/>
                  <a:pt x="16180" y="5264"/>
                  <a:pt x="16178" y="5273"/>
                </a:cubicBezTo>
                <a:cubicBezTo>
                  <a:pt x="16176" y="5282"/>
                  <a:pt x="16174" y="5291"/>
                  <a:pt x="16170" y="5299"/>
                </a:cubicBezTo>
                <a:cubicBezTo>
                  <a:pt x="16167" y="5308"/>
                  <a:pt x="16162" y="5316"/>
                  <a:pt x="16157" y="5324"/>
                </a:cubicBezTo>
                <a:cubicBezTo>
                  <a:pt x="16152" y="5331"/>
                  <a:pt x="16146" y="5338"/>
                  <a:pt x="16140" y="5345"/>
                </a:cubicBezTo>
                <a:cubicBezTo>
                  <a:pt x="16133" y="5351"/>
                  <a:pt x="16126" y="5357"/>
                  <a:pt x="16119" y="5362"/>
                </a:cubicBezTo>
                <a:cubicBezTo>
                  <a:pt x="16111" y="5367"/>
                  <a:pt x="16103" y="5372"/>
                  <a:pt x="16095" y="5375"/>
                </a:cubicBezTo>
                <a:cubicBezTo>
                  <a:pt x="16086" y="5379"/>
                  <a:pt x="16077" y="5381"/>
                  <a:pt x="16068" y="5383"/>
                </a:cubicBezTo>
                <a:cubicBezTo>
                  <a:pt x="16059" y="5385"/>
                  <a:pt x="16050" y="5386"/>
                  <a:pt x="16041" y="5386"/>
                </a:cubicBezTo>
                <a:lnTo>
                  <a:pt x="140" y="5386"/>
                </a:lnTo>
                <a:cubicBezTo>
                  <a:pt x="131" y="5386"/>
                  <a:pt x="121" y="5385"/>
                  <a:pt x="112" y="5383"/>
                </a:cubicBezTo>
                <a:cubicBezTo>
                  <a:pt x="103" y="5381"/>
                  <a:pt x="95" y="5379"/>
                  <a:pt x="86" y="5375"/>
                </a:cubicBezTo>
                <a:cubicBezTo>
                  <a:pt x="78" y="5372"/>
                  <a:pt x="70" y="5367"/>
                  <a:pt x="62" y="5362"/>
                </a:cubicBezTo>
                <a:cubicBezTo>
                  <a:pt x="54" y="5357"/>
                  <a:pt x="47" y="5351"/>
                  <a:pt x="41" y="5345"/>
                </a:cubicBezTo>
                <a:cubicBezTo>
                  <a:pt x="34" y="5338"/>
                  <a:pt x="29" y="5331"/>
                  <a:pt x="24" y="5324"/>
                </a:cubicBezTo>
                <a:cubicBezTo>
                  <a:pt x="18" y="5316"/>
                  <a:pt x="14" y="5308"/>
                  <a:pt x="11" y="5299"/>
                </a:cubicBezTo>
                <a:cubicBezTo>
                  <a:pt x="7" y="5291"/>
                  <a:pt x="4" y="5282"/>
                  <a:pt x="3" y="5273"/>
                </a:cubicBezTo>
                <a:cubicBezTo>
                  <a:pt x="1" y="5264"/>
                  <a:pt x="0" y="5255"/>
                  <a:pt x="0" y="524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937080" y="1419480"/>
            <a:ext cx="5825160" cy="1938960"/>
          </a:xfrm>
          <a:custGeom>
            <a:avLst/>
            <a:gdLst/>
            <a:ahLst/>
            <a:rect l="0" t="0" r="r" b="b"/>
            <a:pathLst>
              <a:path fill="none" w="16181" h="5386">
                <a:moveTo>
                  <a:pt x="0" y="5246"/>
                </a:moveTo>
                <a:lnTo>
                  <a:pt x="0" y="140"/>
                </a:lnTo>
                <a:cubicBezTo>
                  <a:pt x="0" y="130"/>
                  <a:pt x="1" y="121"/>
                  <a:pt x="3" y="112"/>
                </a:cubicBezTo>
                <a:cubicBezTo>
                  <a:pt x="4" y="103"/>
                  <a:pt x="7" y="95"/>
                  <a:pt x="11" y="86"/>
                </a:cubicBezTo>
                <a:cubicBezTo>
                  <a:pt x="14" y="78"/>
                  <a:pt x="18" y="70"/>
                  <a:pt x="24" y="62"/>
                </a:cubicBezTo>
                <a:cubicBezTo>
                  <a:pt x="29" y="54"/>
                  <a:pt x="34" y="47"/>
                  <a:pt x="41" y="41"/>
                </a:cubicBezTo>
                <a:cubicBezTo>
                  <a:pt x="47" y="34"/>
                  <a:pt x="54" y="28"/>
                  <a:pt x="62" y="23"/>
                </a:cubicBezTo>
                <a:cubicBezTo>
                  <a:pt x="70" y="18"/>
                  <a:pt x="78" y="14"/>
                  <a:pt x="86" y="10"/>
                </a:cubicBezTo>
                <a:cubicBezTo>
                  <a:pt x="95" y="7"/>
                  <a:pt x="103" y="4"/>
                  <a:pt x="112" y="3"/>
                </a:cubicBezTo>
                <a:cubicBezTo>
                  <a:pt x="121" y="1"/>
                  <a:pt x="131" y="0"/>
                  <a:pt x="140" y="0"/>
                </a:cubicBezTo>
                <a:lnTo>
                  <a:pt x="16041" y="0"/>
                </a:lnTo>
                <a:cubicBezTo>
                  <a:pt x="16050" y="0"/>
                  <a:pt x="16059" y="1"/>
                  <a:pt x="16068" y="3"/>
                </a:cubicBezTo>
                <a:cubicBezTo>
                  <a:pt x="16077" y="4"/>
                  <a:pt x="16086" y="7"/>
                  <a:pt x="16095" y="10"/>
                </a:cubicBezTo>
                <a:cubicBezTo>
                  <a:pt x="16103" y="14"/>
                  <a:pt x="16111" y="18"/>
                  <a:pt x="16119" y="23"/>
                </a:cubicBezTo>
                <a:cubicBezTo>
                  <a:pt x="16126" y="28"/>
                  <a:pt x="16133" y="34"/>
                  <a:pt x="16140" y="41"/>
                </a:cubicBezTo>
                <a:cubicBezTo>
                  <a:pt x="16146" y="47"/>
                  <a:pt x="16152" y="54"/>
                  <a:pt x="16157" y="62"/>
                </a:cubicBezTo>
                <a:cubicBezTo>
                  <a:pt x="16162" y="70"/>
                  <a:pt x="16167" y="78"/>
                  <a:pt x="16170" y="86"/>
                </a:cubicBezTo>
                <a:cubicBezTo>
                  <a:pt x="16174" y="95"/>
                  <a:pt x="16176" y="103"/>
                  <a:pt x="16178" y="112"/>
                </a:cubicBezTo>
                <a:cubicBezTo>
                  <a:pt x="16180" y="121"/>
                  <a:pt x="16181" y="130"/>
                  <a:pt x="16181" y="140"/>
                </a:cubicBezTo>
                <a:lnTo>
                  <a:pt x="16181" y="5246"/>
                </a:lnTo>
                <a:cubicBezTo>
                  <a:pt x="16181" y="5255"/>
                  <a:pt x="16180" y="5264"/>
                  <a:pt x="16178" y="5273"/>
                </a:cubicBezTo>
                <a:cubicBezTo>
                  <a:pt x="16176" y="5282"/>
                  <a:pt x="16174" y="5291"/>
                  <a:pt x="16170" y="5299"/>
                </a:cubicBezTo>
                <a:cubicBezTo>
                  <a:pt x="16167" y="5308"/>
                  <a:pt x="16162" y="5316"/>
                  <a:pt x="16157" y="5324"/>
                </a:cubicBezTo>
                <a:cubicBezTo>
                  <a:pt x="16152" y="5331"/>
                  <a:pt x="16146" y="5338"/>
                  <a:pt x="16140" y="5345"/>
                </a:cubicBezTo>
                <a:cubicBezTo>
                  <a:pt x="16133" y="5351"/>
                  <a:pt x="16126" y="5357"/>
                  <a:pt x="16119" y="5362"/>
                </a:cubicBezTo>
                <a:cubicBezTo>
                  <a:pt x="16111" y="5367"/>
                  <a:pt x="16103" y="5372"/>
                  <a:pt x="16095" y="5375"/>
                </a:cubicBezTo>
                <a:cubicBezTo>
                  <a:pt x="16086" y="5379"/>
                  <a:pt x="16077" y="5381"/>
                  <a:pt x="16068" y="5383"/>
                </a:cubicBezTo>
                <a:cubicBezTo>
                  <a:pt x="16059" y="5385"/>
                  <a:pt x="16050" y="5386"/>
                  <a:pt x="16041" y="5386"/>
                </a:cubicBezTo>
                <a:lnTo>
                  <a:pt x="140" y="5386"/>
                </a:lnTo>
                <a:cubicBezTo>
                  <a:pt x="131" y="5386"/>
                  <a:pt x="121" y="5385"/>
                  <a:pt x="112" y="5383"/>
                </a:cubicBezTo>
                <a:cubicBezTo>
                  <a:pt x="103" y="5381"/>
                  <a:pt x="95" y="5379"/>
                  <a:pt x="86" y="5375"/>
                </a:cubicBezTo>
                <a:cubicBezTo>
                  <a:pt x="78" y="5372"/>
                  <a:pt x="70" y="5367"/>
                  <a:pt x="62" y="5362"/>
                </a:cubicBezTo>
                <a:cubicBezTo>
                  <a:pt x="54" y="5357"/>
                  <a:pt x="47" y="5351"/>
                  <a:pt x="41" y="5345"/>
                </a:cubicBezTo>
                <a:cubicBezTo>
                  <a:pt x="34" y="5338"/>
                  <a:pt x="29" y="5331"/>
                  <a:pt x="24" y="5324"/>
                </a:cubicBezTo>
                <a:cubicBezTo>
                  <a:pt x="18" y="5316"/>
                  <a:pt x="14" y="5308"/>
                  <a:pt x="11" y="5299"/>
                </a:cubicBezTo>
                <a:cubicBezTo>
                  <a:pt x="7" y="5291"/>
                  <a:pt x="4" y="5282"/>
                  <a:pt x="3" y="5273"/>
                </a:cubicBezTo>
                <a:cubicBezTo>
                  <a:pt x="1" y="5264"/>
                  <a:pt x="0" y="5255"/>
                  <a:pt x="0" y="5246"/>
                </a:cubicBezTo>
              </a:path>
            </a:pathLst>
          </a:custGeom>
          <a:ln w="9000">
            <a:solidFill>
              <a:srgbClr val="d9d6cb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1133640" y="2054880"/>
            <a:ext cx="5432040" cy="1107000"/>
          </a:xfrm>
          <a:custGeom>
            <a:avLst/>
            <a:gdLst/>
            <a:ahLst/>
            <a:rect l="0" t="0" r="r" b="b"/>
            <a:pathLst>
              <a:path w="15089" h="3075">
                <a:moveTo>
                  <a:pt x="0" y="2973"/>
                </a:moveTo>
                <a:lnTo>
                  <a:pt x="0" y="102"/>
                </a:lnTo>
                <a:cubicBezTo>
                  <a:pt x="0" y="88"/>
                  <a:pt x="3" y="75"/>
                  <a:pt x="8" y="63"/>
                </a:cubicBezTo>
                <a:cubicBezTo>
                  <a:pt x="13" y="50"/>
                  <a:pt x="20" y="39"/>
                  <a:pt x="30" y="30"/>
                </a:cubicBezTo>
                <a:cubicBezTo>
                  <a:pt x="39" y="20"/>
                  <a:pt x="50" y="13"/>
                  <a:pt x="63" y="8"/>
                </a:cubicBezTo>
                <a:cubicBezTo>
                  <a:pt x="75" y="3"/>
                  <a:pt x="88" y="0"/>
                  <a:pt x="102" y="0"/>
                </a:cubicBezTo>
                <a:lnTo>
                  <a:pt x="14987" y="0"/>
                </a:lnTo>
                <a:cubicBezTo>
                  <a:pt x="15001" y="0"/>
                  <a:pt x="15014" y="3"/>
                  <a:pt x="15026" y="8"/>
                </a:cubicBezTo>
                <a:cubicBezTo>
                  <a:pt x="15038" y="13"/>
                  <a:pt x="15049" y="20"/>
                  <a:pt x="15059" y="30"/>
                </a:cubicBezTo>
                <a:cubicBezTo>
                  <a:pt x="15068" y="39"/>
                  <a:pt x="15076" y="50"/>
                  <a:pt x="15081" y="63"/>
                </a:cubicBezTo>
                <a:cubicBezTo>
                  <a:pt x="15086" y="75"/>
                  <a:pt x="15089" y="88"/>
                  <a:pt x="15089" y="102"/>
                </a:cubicBezTo>
                <a:lnTo>
                  <a:pt x="15089" y="2973"/>
                </a:lnTo>
                <a:cubicBezTo>
                  <a:pt x="15089" y="2986"/>
                  <a:pt x="15086" y="2999"/>
                  <a:pt x="15081" y="3012"/>
                </a:cubicBezTo>
                <a:cubicBezTo>
                  <a:pt x="15076" y="3024"/>
                  <a:pt x="15068" y="3035"/>
                  <a:pt x="15059" y="3045"/>
                </a:cubicBezTo>
                <a:cubicBezTo>
                  <a:pt x="15049" y="3054"/>
                  <a:pt x="15038" y="3062"/>
                  <a:pt x="15026" y="3067"/>
                </a:cubicBezTo>
                <a:cubicBezTo>
                  <a:pt x="15014" y="3072"/>
                  <a:pt x="15001" y="3075"/>
                  <a:pt x="14987" y="3075"/>
                </a:cubicBezTo>
                <a:lnTo>
                  <a:pt x="102" y="3075"/>
                </a:lnTo>
                <a:cubicBezTo>
                  <a:pt x="88" y="3075"/>
                  <a:pt x="75" y="3072"/>
                  <a:pt x="63" y="3067"/>
                </a:cubicBezTo>
                <a:cubicBezTo>
                  <a:pt x="50" y="3062"/>
                  <a:pt x="39" y="3054"/>
                  <a:pt x="30" y="3045"/>
                </a:cubicBezTo>
                <a:cubicBezTo>
                  <a:pt x="20" y="3035"/>
                  <a:pt x="13" y="3024"/>
                  <a:pt x="8" y="3012"/>
                </a:cubicBezTo>
                <a:cubicBezTo>
                  <a:pt x="3" y="2999"/>
                  <a:pt x="0" y="2986"/>
                  <a:pt x="0" y="2973"/>
                </a:cubicBezTo>
                <a:close/>
              </a:path>
            </a:pathLst>
          </a:custGeom>
          <a:solidFill>
            <a:srgbClr val="000000">
              <a:alpha val="3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932760" y="802080"/>
            <a:ext cx="636588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2760" strike="noStrike" u="none">
                <a:solidFill>
                  <a:srgbClr val="0a0a0a"/>
                </a:solidFill>
                <a:effectLst/>
                <a:uFillTx/>
                <a:latin typeface="Fraunces-Regular_opsz266666_wght2580000"/>
                <a:ea typeface="Fraunces-Regular_opsz266666_wght2580000"/>
              </a:rPr>
              <a:t>SHA-256 + runtime write-blocker.</a:t>
            </a:r>
            <a:endParaRPr b="0" lang="en-IN" sz="27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1131840" y="1616400"/>
            <a:ext cx="1251720" cy="97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69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LAYER 1 · AFTER-THE-FACT</a:t>
            </a:r>
            <a:endParaRPr b="0" lang="en-IN" sz="6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1131840" y="1706760"/>
            <a:ext cx="21250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560" strike="noStrike" u="none">
                <a:solidFill>
                  <a:srgbClr val="2a2a2a"/>
                </a:solidFill>
                <a:effectLst/>
                <a:uFillTx/>
                <a:latin typeface="Fraunces-Regular_opsz159999_wght2580000"/>
                <a:ea typeface="Fraunces-Regular_opsz159999_wght2580000"/>
              </a:rPr>
              <a:t>SHA-256 fingerprint</a:t>
            </a:r>
            <a:endParaRPr b="0" lang="en-IN" sz="15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1237320" y="2210760"/>
            <a:ext cx="17312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30" strike="noStrike" u="none">
                <a:solidFill>
                  <a:srgbClr val="8b1538"/>
                </a:solidFill>
                <a:effectLst/>
                <a:uFillTx/>
                <a:latin typeface="JetBrainsMono"/>
                <a:ea typeface="JetBrainsMono"/>
              </a:rPr>
              <a:t>before</a:t>
            </a:r>
            <a:r>
              <a:rPr b="0" lang="en-IN" sz="103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 = sha256(graph)</a:t>
            </a:r>
            <a:endParaRPr b="0" lang="en-IN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1237320" y="2430000"/>
            <a:ext cx="20455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3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    ... run evaluation ...</a:t>
            </a:r>
            <a:endParaRPr b="0" lang="en-IN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1237320" y="2658600"/>
            <a:ext cx="1652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30" strike="noStrike" u="none">
                <a:solidFill>
                  <a:srgbClr val="8b1538"/>
                </a:solidFill>
                <a:effectLst/>
                <a:uFillTx/>
                <a:latin typeface="JetBrainsMono"/>
                <a:ea typeface="JetBrainsMono"/>
              </a:rPr>
              <a:t>after</a:t>
            </a:r>
            <a:r>
              <a:rPr b="0" lang="en-IN" sz="103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 = sha256(graph)</a:t>
            </a:r>
            <a:endParaRPr b="0" lang="en-IN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6953760" y="1419480"/>
            <a:ext cx="5825160" cy="1938960"/>
          </a:xfrm>
          <a:custGeom>
            <a:avLst/>
            <a:gdLst/>
            <a:ahLst/>
            <a:rect l="0" t="0" r="r" b="b"/>
            <a:pathLst>
              <a:path w="16181" h="5386">
                <a:moveTo>
                  <a:pt x="0" y="5246"/>
                </a:moveTo>
                <a:lnTo>
                  <a:pt x="0" y="140"/>
                </a:lnTo>
                <a:cubicBezTo>
                  <a:pt x="0" y="130"/>
                  <a:pt x="1" y="121"/>
                  <a:pt x="3" y="112"/>
                </a:cubicBezTo>
                <a:cubicBezTo>
                  <a:pt x="5" y="103"/>
                  <a:pt x="7" y="95"/>
                  <a:pt x="11" y="86"/>
                </a:cubicBezTo>
                <a:cubicBezTo>
                  <a:pt x="14" y="78"/>
                  <a:pt x="19" y="70"/>
                  <a:pt x="24" y="62"/>
                </a:cubicBezTo>
                <a:cubicBezTo>
                  <a:pt x="29" y="54"/>
                  <a:pt x="35" y="47"/>
                  <a:pt x="41" y="41"/>
                </a:cubicBezTo>
                <a:cubicBezTo>
                  <a:pt x="48" y="34"/>
                  <a:pt x="55" y="28"/>
                  <a:pt x="62" y="23"/>
                </a:cubicBezTo>
                <a:cubicBezTo>
                  <a:pt x="70" y="18"/>
                  <a:pt x="78" y="14"/>
                  <a:pt x="86" y="10"/>
                </a:cubicBezTo>
                <a:cubicBezTo>
                  <a:pt x="95" y="7"/>
                  <a:pt x="104" y="4"/>
                  <a:pt x="113" y="3"/>
                </a:cubicBezTo>
                <a:cubicBezTo>
                  <a:pt x="122" y="1"/>
                  <a:pt x="131" y="0"/>
                  <a:pt x="140" y="0"/>
                </a:cubicBezTo>
                <a:lnTo>
                  <a:pt x="16041" y="0"/>
                </a:lnTo>
                <a:cubicBezTo>
                  <a:pt x="16050" y="0"/>
                  <a:pt x="16060" y="1"/>
                  <a:pt x="16069" y="3"/>
                </a:cubicBezTo>
                <a:cubicBezTo>
                  <a:pt x="16078" y="4"/>
                  <a:pt x="16086" y="7"/>
                  <a:pt x="16095" y="10"/>
                </a:cubicBezTo>
                <a:cubicBezTo>
                  <a:pt x="16103" y="14"/>
                  <a:pt x="16111" y="18"/>
                  <a:pt x="16119" y="23"/>
                </a:cubicBezTo>
                <a:cubicBezTo>
                  <a:pt x="16127" y="28"/>
                  <a:pt x="16134" y="34"/>
                  <a:pt x="16140" y="41"/>
                </a:cubicBezTo>
                <a:cubicBezTo>
                  <a:pt x="16147" y="47"/>
                  <a:pt x="16152" y="54"/>
                  <a:pt x="16157" y="62"/>
                </a:cubicBezTo>
                <a:cubicBezTo>
                  <a:pt x="16163" y="70"/>
                  <a:pt x="16167" y="78"/>
                  <a:pt x="16170" y="86"/>
                </a:cubicBezTo>
                <a:cubicBezTo>
                  <a:pt x="16174" y="95"/>
                  <a:pt x="16177" y="103"/>
                  <a:pt x="16178" y="112"/>
                </a:cubicBezTo>
                <a:cubicBezTo>
                  <a:pt x="16180" y="121"/>
                  <a:pt x="16181" y="130"/>
                  <a:pt x="16181" y="140"/>
                </a:cubicBezTo>
                <a:lnTo>
                  <a:pt x="16181" y="5246"/>
                </a:lnTo>
                <a:cubicBezTo>
                  <a:pt x="16181" y="5255"/>
                  <a:pt x="16180" y="5264"/>
                  <a:pt x="16178" y="5273"/>
                </a:cubicBezTo>
                <a:cubicBezTo>
                  <a:pt x="16177" y="5282"/>
                  <a:pt x="16174" y="5291"/>
                  <a:pt x="16170" y="5299"/>
                </a:cubicBezTo>
                <a:cubicBezTo>
                  <a:pt x="16167" y="5308"/>
                  <a:pt x="16163" y="5316"/>
                  <a:pt x="16157" y="5324"/>
                </a:cubicBezTo>
                <a:cubicBezTo>
                  <a:pt x="16152" y="5331"/>
                  <a:pt x="16147" y="5338"/>
                  <a:pt x="16140" y="5345"/>
                </a:cubicBezTo>
                <a:cubicBezTo>
                  <a:pt x="16134" y="5351"/>
                  <a:pt x="16127" y="5357"/>
                  <a:pt x="16119" y="5362"/>
                </a:cubicBezTo>
                <a:cubicBezTo>
                  <a:pt x="16111" y="5367"/>
                  <a:pt x="16103" y="5372"/>
                  <a:pt x="16095" y="5375"/>
                </a:cubicBezTo>
                <a:cubicBezTo>
                  <a:pt x="16086" y="5379"/>
                  <a:pt x="16078" y="5381"/>
                  <a:pt x="16069" y="5383"/>
                </a:cubicBezTo>
                <a:cubicBezTo>
                  <a:pt x="16060" y="5385"/>
                  <a:pt x="16050" y="5386"/>
                  <a:pt x="16041" y="5386"/>
                </a:cubicBezTo>
                <a:lnTo>
                  <a:pt x="140" y="5386"/>
                </a:lnTo>
                <a:cubicBezTo>
                  <a:pt x="131" y="5386"/>
                  <a:pt x="122" y="5385"/>
                  <a:pt x="113" y="5383"/>
                </a:cubicBezTo>
                <a:cubicBezTo>
                  <a:pt x="104" y="5381"/>
                  <a:pt x="95" y="5379"/>
                  <a:pt x="86" y="5375"/>
                </a:cubicBezTo>
                <a:cubicBezTo>
                  <a:pt x="78" y="5372"/>
                  <a:pt x="70" y="5367"/>
                  <a:pt x="62" y="5362"/>
                </a:cubicBezTo>
                <a:cubicBezTo>
                  <a:pt x="55" y="5357"/>
                  <a:pt x="48" y="5351"/>
                  <a:pt x="41" y="5345"/>
                </a:cubicBezTo>
                <a:cubicBezTo>
                  <a:pt x="35" y="5338"/>
                  <a:pt x="29" y="5331"/>
                  <a:pt x="24" y="5324"/>
                </a:cubicBezTo>
                <a:cubicBezTo>
                  <a:pt x="19" y="5316"/>
                  <a:pt x="14" y="5308"/>
                  <a:pt x="11" y="5299"/>
                </a:cubicBezTo>
                <a:cubicBezTo>
                  <a:pt x="7" y="5291"/>
                  <a:pt x="5" y="5282"/>
                  <a:pt x="3" y="5273"/>
                </a:cubicBezTo>
                <a:cubicBezTo>
                  <a:pt x="1" y="5264"/>
                  <a:pt x="0" y="5255"/>
                  <a:pt x="0" y="524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6953760" y="1419480"/>
            <a:ext cx="5825160" cy="1938960"/>
          </a:xfrm>
          <a:custGeom>
            <a:avLst/>
            <a:gdLst/>
            <a:ahLst/>
            <a:rect l="0" t="0" r="r" b="b"/>
            <a:pathLst>
              <a:path fill="none" w="16181" h="5386">
                <a:moveTo>
                  <a:pt x="0" y="5246"/>
                </a:moveTo>
                <a:lnTo>
                  <a:pt x="0" y="140"/>
                </a:lnTo>
                <a:cubicBezTo>
                  <a:pt x="0" y="130"/>
                  <a:pt x="1" y="121"/>
                  <a:pt x="3" y="112"/>
                </a:cubicBezTo>
                <a:cubicBezTo>
                  <a:pt x="5" y="103"/>
                  <a:pt x="7" y="95"/>
                  <a:pt x="11" y="86"/>
                </a:cubicBezTo>
                <a:cubicBezTo>
                  <a:pt x="14" y="78"/>
                  <a:pt x="19" y="70"/>
                  <a:pt x="24" y="62"/>
                </a:cubicBezTo>
                <a:cubicBezTo>
                  <a:pt x="29" y="54"/>
                  <a:pt x="35" y="47"/>
                  <a:pt x="41" y="41"/>
                </a:cubicBezTo>
                <a:cubicBezTo>
                  <a:pt x="48" y="34"/>
                  <a:pt x="55" y="28"/>
                  <a:pt x="62" y="23"/>
                </a:cubicBezTo>
                <a:cubicBezTo>
                  <a:pt x="70" y="18"/>
                  <a:pt x="78" y="14"/>
                  <a:pt x="86" y="10"/>
                </a:cubicBezTo>
                <a:cubicBezTo>
                  <a:pt x="95" y="7"/>
                  <a:pt x="104" y="4"/>
                  <a:pt x="113" y="3"/>
                </a:cubicBezTo>
                <a:cubicBezTo>
                  <a:pt x="122" y="1"/>
                  <a:pt x="131" y="0"/>
                  <a:pt x="140" y="0"/>
                </a:cubicBezTo>
                <a:lnTo>
                  <a:pt x="16041" y="0"/>
                </a:lnTo>
                <a:cubicBezTo>
                  <a:pt x="16050" y="0"/>
                  <a:pt x="16060" y="1"/>
                  <a:pt x="16069" y="3"/>
                </a:cubicBezTo>
                <a:cubicBezTo>
                  <a:pt x="16078" y="4"/>
                  <a:pt x="16086" y="7"/>
                  <a:pt x="16095" y="10"/>
                </a:cubicBezTo>
                <a:cubicBezTo>
                  <a:pt x="16103" y="14"/>
                  <a:pt x="16111" y="18"/>
                  <a:pt x="16119" y="23"/>
                </a:cubicBezTo>
                <a:cubicBezTo>
                  <a:pt x="16127" y="28"/>
                  <a:pt x="16134" y="34"/>
                  <a:pt x="16140" y="41"/>
                </a:cubicBezTo>
                <a:cubicBezTo>
                  <a:pt x="16147" y="47"/>
                  <a:pt x="16152" y="54"/>
                  <a:pt x="16157" y="62"/>
                </a:cubicBezTo>
                <a:cubicBezTo>
                  <a:pt x="16163" y="70"/>
                  <a:pt x="16167" y="78"/>
                  <a:pt x="16170" y="86"/>
                </a:cubicBezTo>
                <a:cubicBezTo>
                  <a:pt x="16174" y="95"/>
                  <a:pt x="16177" y="103"/>
                  <a:pt x="16178" y="112"/>
                </a:cubicBezTo>
                <a:cubicBezTo>
                  <a:pt x="16180" y="121"/>
                  <a:pt x="16181" y="130"/>
                  <a:pt x="16181" y="140"/>
                </a:cubicBezTo>
                <a:lnTo>
                  <a:pt x="16181" y="5246"/>
                </a:lnTo>
                <a:cubicBezTo>
                  <a:pt x="16181" y="5255"/>
                  <a:pt x="16180" y="5264"/>
                  <a:pt x="16178" y="5273"/>
                </a:cubicBezTo>
                <a:cubicBezTo>
                  <a:pt x="16177" y="5282"/>
                  <a:pt x="16174" y="5291"/>
                  <a:pt x="16170" y="5299"/>
                </a:cubicBezTo>
                <a:cubicBezTo>
                  <a:pt x="16167" y="5308"/>
                  <a:pt x="16163" y="5316"/>
                  <a:pt x="16157" y="5324"/>
                </a:cubicBezTo>
                <a:cubicBezTo>
                  <a:pt x="16152" y="5331"/>
                  <a:pt x="16147" y="5338"/>
                  <a:pt x="16140" y="5345"/>
                </a:cubicBezTo>
                <a:cubicBezTo>
                  <a:pt x="16134" y="5351"/>
                  <a:pt x="16127" y="5357"/>
                  <a:pt x="16119" y="5362"/>
                </a:cubicBezTo>
                <a:cubicBezTo>
                  <a:pt x="16111" y="5367"/>
                  <a:pt x="16103" y="5372"/>
                  <a:pt x="16095" y="5375"/>
                </a:cubicBezTo>
                <a:cubicBezTo>
                  <a:pt x="16086" y="5379"/>
                  <a:pt x="16078" y="5381"/>
                  <a:pt x="16069" y="5383"/>
                </a:cubicBezTo>
                <a:cubicBezTo>
                  <a:pt x="16060" y="5385"/>
                  <a:pt x="16050" y="5386"/>
                  <a:pt x="16041" y="5386"/>
                </a:cubicBezTo>
                <a:lnTo>
                  <a:pt x="140" y="5386"/>
                </a:lnTo>
                <a:cubicBezTo>
                  <a:pt x="131" y="5386"/>
                  <a:pt x="122" y="5385"/>
                  <a:pt x="113" y="5383"/>
                </a:cubicBezTo>
                <a:cubicBezTo>
                  <a:pt x="104" y="5381"/>
                  <a:pt x="95" y="5379"/>
                  <a:pt x="86" y="5375"/>
                </a:cubicBezTo>
                <a:cubicBezTo>
                  <a:pt x="78" y="5372"/>
                  <a:pt x="70" y="5367"/>
                  <a:pt x="62" y="5362"/>
                </a:cubicBezTo>
                <a:cubicBezTo>
                  <a:pt x="55" y="5357"/>
                  <a:pt x="48" y="5351"/>
                  <a:pt x="41" y="5345"/>
                </a:cubicBezTo>
                <a:cubicBezTo>
                  <a:pt x="35" y="5338"/>
                  <a:pt x="29" y="5331"/>
                  <a:pt x="24" y="5324"/>
                </a:cubicBezTo>
                <a:cubicBezTo>
                  <a:pt x="19" y="5316"/>
                  <a:pt x="14" y="5308"/>
                  <a:pt x="11" y="5299"/>
                </a:cubicBezTo>
                <a:cubicBezTo>
                  <a:pt x="7" y="5291"/>
                  <a:pt x="5" y="5282"/>
                  <a:pt x="3" y="5273"/>
                </a:cubicBezTo>
                <a:cubicBezTo>
                  <a:pt x="1" y="5264"/>
                  <a:pt x="0" y="5255"/>
                  <a:pt x="0" y="5246"/>
                </a:cubicBezTo>
              </a:path>
            </a:pathLst>
          </a:custGeom>
          <a:ln w="9000">
            <a:solidFill>
              <a:srgbClr val="d9d6cb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7150320" y="2054880"/>
            <a:ext cx="5432040" cy="1107000"/>
          </a:xfrm>
          <a:custGeom>
            <a:avLst/>
            <a:gdLst/>
            <a:ahLst/>
            <a:rect l="0" t="0" r="r" b="b"/>
            <a:pathLst>
              <a:path w="15089" h="3075">
                <a:moveTo>
                  <a:pt x="0" y="2973"/>
                </a:moveTo>
                <a:lnTo>
                  <a:pt x="0" y="102"/>
                </a:lnTo>
                <a:cubicBezTo>
                  <a:pt x="0" y="88"/>
                  <a:pt x="3" y="75"/>
                  <a:pt x="8" y="63"/>
                </a:cubicBezTo>
                <a:cubicBezTo>
                  <a:pt x="13" y="50"/>
                  <a:pt x="21" y="39"/>
                  <a:pt x="30" y="30"/>
                </a:cubicBezTo>
                <a:cubicBezTo>
                  <a:pt x="40" y="20"/>
                  <a:pt x="51" y="13"/>
                  <a:pt x="63" y="8"/>
                </a:cubicBezTo>
                <a:cubicBezTo>
                  <a:pt x="75" y="3"/>
                  <a:pt x="88" y="0"/>
                  <a:pt x="102" y="0"/>
                </a:cubicBezTo>
                <a:lnTo>
                  <a:pt x="14987" y="0"/>
                </a:lnTo>
                <a:cubicBezTo>
                  <a:pt x="15001" y="0"/>
                  <a:pt x="15014" y="3"/>
                  <a:pt x="15026" y="8"/>
                </a:cubicBezTo>
                <a:cubicBezTo>
                  <a:pt x="15039" y="13"/>
                  <a:pt x="15050" y="20"/>
                  <a:pt x="15059" y="30"/>
                </a:cubicBezTo>
                <a:cubicBezTo>
                  <a:pt x="15069" y="39"/>
                  <a:pt x="15076" y="50"/>
                  <a:pt x="15081" y="63"/>
                </a:cubicBezTo>
                <a:cubicBezTo>
                  <a:pt x="15086" y="75"/>
                  <a:pt x="15089" y="88"/>
                  <a:pt x="15089" y="102"/>
                </a:cubicBezTo>
                <a:lnTo>
                  <a:pt x="15089" y="2973"/>
                </a:lnTo>
                <a:cubicBezTo>
                  <a:pt x="15089" y="2986"/>
                  <a:pt x="15086" y="2999"/>
                  <a:pt x="15081" y="3012"/>
                </a:cubicBezTo>
                <a:cubicBezTo>
                  <a:pt x="15076" y="3024"/>
                  <a:pt x="15069" y="3035"/>
                  <a:pt x="15059" y="3045"/>
                </a:cubicBezTo>
                <a:cubicBezTo>
                  <a:pt x="15050" y="3054"/>
                  <a:pt x="15039" y="3062"/>
                  <a:pt x="15026" y="3067"/>
                </a:cubicBezTo>
                <a:cubicBezTo>
                  <a:pt x="15014" y="3072"/>
                  <a:pt x="15001" y="3075"/>
                  <a:pt x="14987" y="3075"/>
                </a:cubicBezTo>
                <a:lnTo>
                  <a:pt x="102" y="3075"/>
                </a:lnTo>
                <a:cubicBezTo>
                  <a:pt x="88" y="3075"/>
                  <a:pt x="75" y="3072"/>
                  <a:pt x="63" y="3067"/>
                </a:cubicBezTo>
                <a:cubicBezTo>
                  <a:pt x="51" y="3062"/>
                  <a:pt x="40" y="3054"/>
                  <a:pt x="30" y="3045"/>
                </a:cubicBezTo>
                <a:cubicBezTo>
                  <a:pt x="21" y="3035"/>
                  <a:pt x="13" y="3024"/>
                  <a:pt x="8" y="3012"/>
                </a:cubicBezTo>
                <a:cubicBezTo>
                  <a:pt x="3" y="2999"/>
                  <a:pt x="0" y="2986"/>
                  <a:pt x="0" y="2973"/>
                </a:cubicBezTo>
                <a:close/>
              </a:path>
            </a:pathLst>
          </a:custGeom>
          <a:solidFill>
            <a:srgbClr val="000000">
              <a:alpha val="3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1237320" y="2878200"/>
            <a:ext cx="17312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30" strike="noStrike" u="none">
                <a:solidFill>
                  <a:srgbClr val="8b1538"/>
                </a:solidFill>
                <a:effectLst/>
                <a:uFillTx/>
                <a:latin typeface="JetBrainsMono"/>
                <a:ea typeface="JetBrainsMono"/>
              </a:rPr>
              <a:t>assert</a:t>
            </a:r>
            <a:r>
              <a:rPr b="0" lang="en-IN" sz="103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 before == after</a:t>
            </a:r>
            <a:endParaRPr b="0" lang="en-IN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7152480" y="1616400"/>
            <a:ext cx="1251720" cy="97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69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LAYER 2 · DURING THE RUN</a:t>
            </a:r>
            <a:endParaRPr b="0" lang="en-IN" sz="6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7152480" y="1706760"/>
            <a:ext cx="25210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560" strike="noStrike" u="none">
                <a:solidFill>
                  <a:srgbClr val="2a2a2a"/>
                </a:solidFill>
                <a:effectLst/>
                <a:uFillTx/>
                <a:latin typeface="Fraunces-Regular_opsz159999_wght2580000"/>
                <a:ea typeface="Fraunces-Regular_opsz159999_wght2580000"/>
              </a:rPr>
              <a:t>Runtime write-blocking</a:t>
            </a:r>
            <a:endParaRPr b="0" lang="en-IN" sz="15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7257600" y="2210760"/>
            <a:ext cx="15735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3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graph.create = </a:t>
            </a:r>
            <a:r>
              <a:rPr b="0" lang="en-IN" sz="1030" strike="noStrike" u="none">
                <a:solidFill>
                  <a:srgbClr val="8b1538"/>
                </a:solidFill>
                <a:effectLst/>
                <a:uFillTx/>
                <a:latin typeface="JetBrainsMono"/>
                <a:ea typeface="JetBrainsMono"/>
              </a:rPr>
              <a:t>guard</a:t>
            </a:r>
            <a:endParaRPr b="0" lang="en-IN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7257600" y="2430000"/>
            <a:ext cx="14162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3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graph.link = </a:t>
            </a:r>
            <a:r>
              <a:rPr b="0" lang="en-IN" sz="1030" strike="noStrike" u="none">
                <a:solidFill>
                  <a:srgbClr val="8b1538"/>
                </a:solidFill>
                <a:effectLst/>
                <a:uFillTx/>
                <a:latin typeface="JetBrainsMono"/>
                <a:ea typeface="JetBrainsMono"/>
              </a:rPr>
              <a:t>guard</a:t>
            </a:r>
            <a:endParaRPr b="0" lang="en-IN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7257600" y="2658600"/>
            <a:ext cx="15735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3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graph.upsert = </a:t>
            </a:r>
            <a:r>
              <a:rPr b="0" lang="en-IN" sz="1030" strike="noStrike" u="none">
                <a:solidFill>
                  <a:srgbClr val="8b1538"/>
                </a:solidFill>
                <a:effectLst/>
                <a:uFillTx/>
                <a:latin typeface="JetBrainsMono"/>
                <a:ea typeface="JetBrainsMono"/>
              </a:rPr>
              <a:t>guard</a:t>
            </a:r>
            <a:endParaRPr b="0" lang="en-IN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7257600" y="2878200"/>
            <a:ext cx="2439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30" strike="noStrike" u="none">
                <a:solidFill>
                  <a:srgbClr val="ff7b9c"/>
                </a:solidFill>
                <a:effectLst/>
                <a:uFillTx/>
                <a:latin typeface="JetBrainsMono"/>
                <a:ea typeface="JetBrainsMono"/>
              </a:rPr>
              <a:t>FrozenMemoryViolation</a:t>
            </a:r>
            <a:r>
              <a:rPr b="0" lang="en-IN" sz="103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 if called</a:t>
            </a:r>
            <a:endParaRPr b="0" lang="en-IN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685800" y="8312040"/>
            <a:ext cx="2566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MEMORY-ASSISTED LLM AS A JUDGE VIA KNOWLEDGE GRAPHS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11400480" y="8312040"/>
            <a:ext cx="13590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14 / 36  ·  K. PATEL · 2026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273960" y="171360"/>
            <a:ext cx="13167720" cy="8229960"/>
          </a:xfrm>
          <a:custGeom>
            <a:avLst/>
            <a:gdLst/>
            <a:ahLst/>
            <a:rect l="0" t="0" r="r" b="b"/>
            <a:pathLst>
              <a:path w="36577" h="22861">
                <a:moveTo>
                  <a:pt x="0" y="0"/>
                </a:moveTo>
                <a:lnTo>
                  <a:pt x="36577" y="0"/>
                </a:lnTo>
                <a:lnTo>
                  <a:pt x="36577" y="22861"/>
                </a:lnTo>
                <a:lnTo>
                  <a:pt x="0" y="22861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932760" y="579960"/>
            <a:ext cx="322524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PROPOSED SOLUTION · THE AUDIT · WALKTHROUGH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/>
          <p:nvPr/>
        </p:nvSpPr>
        <p:spPr>
          <a:xfrm>
            <a:off x="950760" y="1419480"/>
            <a:ext cx="11828160" cy="439200"/>
          </a:xfrm>
          <a:custGeom>
            <a:avLst/>
            <a:gdLst/>
            <a:ahLst/>
            <a:rect l="0" t="0" r="r" b="b"/>
            <a:pathLst>
              <a:path w="32856" h="1220">
                <a:moveTo>
                  <a:pt x="0" y="1080"/>
                </a:moveTo>
                <a:lnTo>
                  <a:pt x="0" y="140"/>
                </a:lnTo>
                <a:cubicBezTo>
                  <a:pt x="0" y="121"/>
                  <a:pt x="3" y="103"/>
                  <a:pt x="8" y="86"/>
                </a:cubicBezTo>
                <a:cubicBezTo>
                  <a:pt x="13" y="69"/>
                  <a:pt x="20" y="54"/>
                  <a:pt x="30" y="41"/>
                </a:cubicBezTo>
                <a:cubicBezTo>
                  <a:pt x="39" y="28"/>
                  <a:pt x="50" y="18"/>
                  <a:pt x="63" y="10"/>
                </a:cubicBezTo>
                <a:cubicBezTo>
                  <a:pt x="75" y="3"/>
                  <a:pt x="88" y="0"/>
                  <a:pt x="102" y="0"/>
                </a:cubicBezTo>
                <a:lnTo>
                  <a:pt x="32716" y="0"/>
                </a:lnTo>
                <a:cubicBezTo>
                  <a:pt x="32725" y="0"/>
                  <a:pt x="32735" y="1"/>
                  <a:pt x="32744" y="3"/>
                </a:cubicBezTo>
                <a:cubicBezTo>
                  <a:pt x="32753" y="4"/>
                  <a:pt x="32761" y="7"/>
                  <a:pt x="32770" y="10"/>
                </a:cubicBezTo>
                <a:cubicBezTo>
                  <a:pt x="32778" y="14"/>
                  <a:pt x="32786" y="18"/>
                  <a:pt x="32794" y="23"/>
                </a:cubicBezTo>
                <a:cubicBezTo>
                  <a:pt x="32802" y="28"/>
                  <a:pt x="32809" y="34"/>
                  <a:pt x="32815" y="41"/>
                </a:cubicBezTo>
                <a:cubicBezTo>
                  <a:pt x="32822" y="47"/>
                  <a:pt x="32827" y="54"/>
                  <a:pt x="32832" y="62"/>
                </a:cubicBezTo>
                <a:cubicBezTo>
                  <a:pt x="32838" y="70"/>
                  <a:pt x="32842" y="78"/>
                  <a:pt x="32845" y="86"/>
                </a:cubicBezTo>
                <a:cubicBezTo>
                  <a:pt x="32849" y="95"/>
                  <a:pt x="32852" y="103"/>
                  <a:pt x="32853" y="112"/>
                </a:cubicBezTo>
                <a:cubicBezTo>
                  <a:pt x="32855" y="121"/>
                  <a:pt x="32856" y="130"/>
                  <a:pt x="32856" y="140"/>
                </a:cubicBezTo>
                <a:lnTo>
                  <a:pt x="32856" y="1080"/>
                </a:lnTo>
                <a:cubicBezTo>
                  <a:pt x="32856" y="1090"/>
                  <a:pt x="32855" y="1099"/>
                  <a:pt x="32853" y="1108"/>
                </a:cubicBezTo>
                <a:cubicBezTo>
                  <a:pt x="32852" y="1117"/>
                  <a:pt x="32849" y="1125"/>
                  <a:pt x="32845" y="1134"/>
                </a:cubicBezTo>
                <a:cubicBezTo>
                  <a:pt x="32842" y="1142"/>
                  <a:pt x="32838" y="1150"/>
                  <a:pt x="32832" y="1158"/>
                </a:cubicBezTo>
                <a:cubicBezTo>
                  <a:pt x="32827" y="1166"/>
                  <a:pt x="32822" y="1173"/>
                  <a:pt x="32815" y="1179"/>
                </a:cubicBezTo>
                <a:cubicBezTo>
                  <a:pt x="32809" y="1186"/>
                  <a:pt x="32802" y="1191"/>
                  <a:pt x="32794" y="1197"/>
                </a:cubicBezTo>
                <a:cubicBezTo>
                  <a:pt x="32786" y="1202"/>
                  <a:pt x="32778" y="1206"/>
                  <a:pt x="32770" y="1209"/>
                </a:cubicBezTo>
                <a:cubicBezTo>
                  <a:pt x="32761" y="1213"/>
                  <a:pt x="32753" y="1216"/>
                  <a:pt x="32744" y="1217"/>
                </a:cubicBezTo>
                <a:cubicBezTo>
                  <a:pt x="32735" y="1219"/>
                  <a:pt x="32725" y="1220"/>
                  <a:pt x="32716" y="1220"/>
                </a:cubicBezTo>
                <a:lnTo>
                  <a:pt x="102" y="1220"/>
                </a:lnTo>
                <a:cubicBezTo>
                  <a:pt x="88" y="1220"/>
                  <a:pt x="75" y="1217"/>
                  <a:pt x="63" y="1209"/>
                </a:cubicBezTo>
                <a:cubicBezTo>
                  <a:pt x="50" y="1202"/>
                  <a:pt x="39" y="1192"/>
                  <a:pt x="30" y="1179"/>
                </a:cubicBezTo>
                <a:cubicBezTo>
                  <a:pt x="20" y="1166"/>
                  <a:pt x="13" y="1151"/>
                  <a:pt x="8" y="1134"/>
                </a:cubicBezTo>
                <a:cubicBezTo>
                  <a:pt x="3" y="1117"/>
                  <a:pt x="0" y="1099"/>
                  <a:pt x="0" y="108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/>
          <p:nvPr/>
        </p:nvSpPr>
        <p:spPr>
          <a:xfrm>
            <a:off x="980640" y="1424160"/>
            <a:ext cx="11780640" cy="23040"/>
          </a:xfrm>
          <a:custGeom>
            <a:avLst/>
            <a:gdLst/>
            <a:ahLst/>
            <a:rect l="0" t="0" r="r" b="b"/>
            <a:pathLst>
              <a:path w="32724" h="64">
                <a:moveTo>
                  <a:pt x="32699" y="64"/>
                </a:moveTo>
                <a:lnTo>
                  <a:pt x="219" y="64"/>
                </a:lnTo>
                <a:lnTo>
                  <a:pt x="0" y="8"/>
                </a:lnTo>
                <a:cubicBezTo>
                  <a:pt x="6" y="2"/>
                  <a:pt x="12" y="0"/>
                  <a:pt x="19" y="0"/>
                </a:cubicBezTo>
                <a:lnTo>
                  <a:pt x="32633" y="0"/>
                </a:lnTo>
                <a:cubicBezTo>
                  <a:pt x="32668" y="0"/>
                  <a:pt x="32698" y="12"/>
                  <a:pt x="32723" y="37"/>
                </a:cubicBezTo>
                <a:cubicBezTo>
                  <a:pt x="32724" y="37"/>
                  <a:pt x="32724" y="38"/>
                  <a:pt x="32724" y="38"/>
                </a:cubicBezTo>
                <a:lnTo>
                  <a:pt x="32699" y="64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/>
          <p:nvPr/>
        </p:nvSpPr>
        <p:spPr>
          <a:xfrm>
            <a:off x="980640" y="1830960"/>
            <a:ext cx="11780640" cy="23040"/>
          </a:xfrm>
          <a:custGeom>
            <a:avLst/>
            <a:gdLst/>
            <a:ahLst/>
            <a:rect l="0" t="0" r="r" b="b"/>
            <a:pathLst>
              <a:path w="32724" h="64">
                <a:moveTo>
                  <a:pt x="219" y="0"/>
                </a:moveTo>
                <a:lnTo>
                  <a:pt x="32699" y="0"/>
                </a:lnTo>
                <a:lnTo>
                  <a:pt x="32724" y="25"/>
                </a:lnTo>
                <a:cubicBezTo>
                  <a:pt x="32724" y="25"/>
                  <a:pt x="32724" y="26"/>
                  <a:pt x="32723" y="26"/>
                </a:cubicBezTo>
                <a:cubicBezTo>
                  <a:pt x="32698" y="52"/>
                  <a:pt x="32668" y="64"/>
                  <a:pt x="32633" y="64"/>
                </a:cubicBezTo>
                <a:lnTo>
                  <a:pt x="19" y="64"/>
                </a:lnTo>
                <a:cubicBezTo>
                  <a:pt x="12" y="64"/>
                  <a:pt x="6" y="61"/>
                  <a:pt x="0" y="56"/>
                </a:cubicBezTo>
                <a:lnTo>
                  <a:pt x="219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/>
          <p:nvPr/>
        </p:nvSpPr>
        <p:spPr>
          <a:xfrm>
            <a:off x="12751200" y="1437480"/>
            <a:ext cx="23040" cy="403200"/>
          </a:xfrm>
          <a:custGeom>
            <a:avLst/>
            <a:gdLst/>
            <a:ahLst/>
            <a:rect l="0" t="0" r="r" b="b"/>
            <a:pathLst>
              <a:path w="64" h="1120">
                <a:moveTo>
                  <a:pt x="0" y="1094"/>
                </a:moveTo>
                <a:lnTo>
                  <a:pt x="0" y="26"/>
                </a:lnTo>
                <a:lnTo>
                  <a:pt x="27" y="0"/>
                </a:lnTo>
                <a:cubicBezTo>
                  <a:pt x="52" y="25"/>
                  <a:pt x="64" y="54"/>
                  <a:pt x="64" y="90"/>
                </a:cubicBezTo>
                <a:lnTo>
                  <a:pt x="64" y="1029"/>
                </a:lnTo>
                <a:cubicBezTo>
                  <a:pt x="64" y="1065"/>
                  <a:pt x="52" y="1095"/>
                  <a:pt x="27" y="1120"/>
                </a:cubicBezTo>
                <a:lnTo>
                  <a:pt x="0" y="1094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/>
          <p:nvPr/>
        </p:nvSpPr>
        <p:spPr>
          <a:xfrm>
            <a:off x="969120" y="1427040"/>
            <a:ext cx="16920" cy="424080"/>
          </a:xfrm>
          <a:custGeom>
            <a:avLst/>
            <a:gdLst/>
            <a:ahLst/>
            <a:rect l="0" t="0" r="r" b="b"/>
            <a:pathLst>
              <a:path w="47" h="1178">
                <a:moveTo>
                  <a:pt x="47" y="3"/>
                </a:moveTo>
                <a:lnTo>
                  <a:pt x="47" y="1175"/>
                </a:lnTo>
                <a:lnTo>
                  <a:pt x="32" y="1178"/>
                </a:lnTo>
                <a:cubicBezTo>
                  <a:pt x="26" y="1172"/>
                  <a:pt x="20" y="1162"/>
                  <a:pt x="15" y="1149"/>
                </a:cubicBezTo>
                <a:cubicBezTo>
                  <a:pt x="5" y="1124"/>
                  <a:pt x="0" y="1094"/>
                  <a:pt x="0" y="1059"/>
                </a:cubicBezTo>
                <a:lnTo>
                  <a:pt x="0" y="119"/>
                </a:lnTo>
                <a:cubicBezTo>
                  <a:pt x="0" y="83"/>
                  <a:pt x="5" y="54"/>
                  <a:pt x="15" y="29"/>
                </a:cubicBezTo>
                <a:cubicBezTo>
                  <a:pt x="20" y="16"/>
                  <a:pt x="26" y="6"/>
                  <a:pt x="32" y="0"/>
                </a:cubicBezTo>
                <a:lnTo>
                  <a:pt x="47" y="3"/>
                </a:lnTo>
                <a:close/>
              </a:path>
            </a:pathLst>
          </a:custGeom>
          <a:solidFill>
            <a:srgbClr val="1a3d6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932760" y="802080"/>
            <a:ext cx="375876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2760" strike="noStrike" u="none">
                <a:solidFill>
                  <a:srgbClr val="0a0a0a"/>
                </a:solidFill>
                <a:effectLst/>
                <a:uFillTx/>
                <a:latin typeface="Fraunces-Regular_opsz266666_wght2580000"/>
                <a:ea typeface="Fraunces-Regular_opsz266666_wght2580000"/>
              </a:rPr>
              <a:t>How the audit runs.</a:t>
            </a:r>
            <a:endParaRPr b="0" lang="en-IN" sz="27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1130040" y="1600920"/>
            <a:ext cx="63468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750" strike="noStrike" u="none">
                <a:solidFill>
                  <a:srgbClr val="1a3d6e"/>
                </a:solidFill>
                <a:effectLst/>
                <a:uFillTx/>
                <a:latin typeface="JetBrainsMono-Regular_wght2580000"/>
                <a:ea typeface="JetBrainsMono-Regular_wght2580000"/>
              </a:rPr>
              <a:t>B E F O R E</a:t>
            </a:r>
            <a:endParaRPr b="0" lang="en-IN" sz="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2476080" y="1558080"/>
            <a:ext cx="1055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Take a deterministic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3534840" y="1554480"/>
            <a:ext cx="5724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900" strike="noStrike" u="none">
                <a:solidFill>
                  <a:srgbClr val="0a0a0a"/>
                </a:solidFill>
                <a:effectLst/>
                <a:uFillTx/>
                <a:latin typeface="Inter-Regular_Semi"/>
                <a:ea typeface="Inter-Regular_Semi"/>
              </a:rPr>
              <a:t>snapshot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4034880" y="1558080"/>
            <a:ext cx="34416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: count nodes &amp; edges by type, hash sorted node IDs + edge triples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7544160" y="1569960"/>
            <a:ext cx="1152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7656840" y="1558080"/>
            <a:ext cx="1137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7687440" y="1554480"/>
            <a:ext cx="12261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900" strike="noStrike" u="none">
                <a:solidFill>
                  <a:srgbClr val="0a0a0a"/>
                </a:solidFill>
                <a:effectLst/>
                <a:uFillTx/>
                <a:latin typeface="Inter-Regular_Semi"/>
                <a:ea typeface="Inter-Regular_Semi"/>
              </a:rPr>
              <a:t>SHA-256 fingerprint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/>
          <p:nvPr/>
        </p:nvSpPr>
        <p:spPr>
          <a:xfrm>
            <a:off x="950760" y="1958760"/>
            <a:ext cx="11828160" cy="439560"/>
          </a:xfrm>
          <a:custGeom>
            <a:avLst/>
            <a:gdLst/>
            <a:ahLst/>
            <a:rect l="0" t="0" r="r" b="b"/>
            <a:pathLst>
              <a:path w="32856" h="1221">
                <a:moveTo>
                  <a:pt x="0" y="1081"/>
                </a:moveTo>
                <a:lnTo>
                  <a:pt x="0" y="141"/>
                </a:lnTo>
                <a:cubicBezTo>
                  <a:pt x="0" y="123"/>
                  <a:pt x="3" y="105"/>
                  <a:pt x="8" y="88"/>
                </a:cubicBezTo>
                <a:cubicBezTo>
                  <a:pt x="13" y="71"/>
                  <a:pt x="20" y="55"/>
                  <a:pt x="30" y="41"/>
                </a:cubicBezTo>
                <a:cubicBezTo>
                  <a:pt x="39" y="28"/>
                  <a:pt x="50" y="18"/>
                  <a:pt x="63" y="11"/>
                </a:cubicBezTo>
                <a:cubicBezTo>
                  <a:pt x="75" y="4"/>
                  <a:pt x="88" y="0"/>
                  <a:pt x="102" y="0"/>
                </a:cubicBezTo>
                <a:lnTo>
                  <a:pt x="32716" y="0"/>
                </a:lnTo>
                <a:cubicBezTo>
                  <a:pt x="32725" y="0"/>
                  <a:pt x="32735" y="1"/>
                  <a:pt x="32744" y="3"/>
                </a:cubicBezTo>
                <a:cubicBezTo>
                  <a:pt x="32753" y="5"/>
                  <a:pt x="32761" y="8"/>
                  <a:pt x="32770" y="11"/>
                </a:cubicBezTo>
                <a:cubicBezTo>
                  <a:pt x="32778" y="15"/>
                  <a:pt x="32786" y="19"/>
                  <a:pt x="32794" y="24"/>
                </a:cubicBezTo>
                <a:cubicBezTo>
                  <a:pt x="32802" y="29"/>
                  <a:pt x="32809" y="35"/>
                  <a:pt x="32815" y="41"/>
                </a:cubicBezTo>
                <a:cubicBezTo>
                  <a:pt x="32822" y="49"/>
                  <a:pt x="32827" y="56"/>
                  <a:pt x="32832" y="64"/>
                </a:cubicBezTo>
                <a:cubicBezTo>
                  <a:pt x="32838" y="71"/>
                  <a:pt x="32842" y="79"/>
                  <a:pt x="32845" y="88"/>
                </a:cubicBezTo>
                <a:cubicBezTo>
                  <a:pt x="32849" y="96"/>
                  <a:pt x="32852" y="105"/>
                  <a:pt x="32853" y="114"/>
                </a:cubicBezTo>
                <a:cubicBezTo>
                  <a:pt x="32855" y="123"/>
                  <a:pt x="32856" y="132"/>
                  <a:pt x="32856" y="141"/>
                </a:cubicBezTo>
                <a:lnTo>
                  <a:pt x="32856" y="1081"/>
                </a:lnTo>
                <a:cubicBezTo>
                  <a:pt x="32856" y="1090"/>
                  <a:pt x="32855" y="1099"/>
                  <a:pt x="32853" y="1108"/>
                </a:cubicBezTo>
                <a:cubicBezTo>
                  <a:pt x="32852" y="1117"/>
                  <a:pt x="32849" y="1126"/>
                  <a:pt x="32845" y="1134"/>
                </a:cubicBezTo>
                <a:cubicBezTo>
                  <a:pt x="32842" y="1143"/>
                  <a:pt x="32838" y="1151"/>
                  <a:pt x="32832" y="1159"/>
                </a:cubicBezTo>
                <a:cubicBezTo>
                  <a:pt x="32827" y="1166"/>
                  <a:pt x="32822" y="1173"/>
                  <a:pt x="32815" y="1180"/>
                </a:cubicBezTo>
                <a:cubicBezTo>
                  <a:pt x="32809" y="1186"/>
                  <a:pt x="32802" y="1192"/>
                  <a:pt x="32794" y="1197"/>
                </a:cubicBezTo>
                <a:cubicBezTo>
                  <a:pt x="32786" y="1202"/>
                  <a:pt x="32778" y="1207"/>
                  <a:pt x="32770" y="1210"/>
                </a:cubicBezTo>
                <a:cubicBezTo>
                  <a:pt x="32761" y="1214"/>
                  <a:pt x="32753" y="1216"/>
                  <a:pt x="32744" y="1218"/>
                </a:cubicBezTo>
                <a:cubicBezTo>
                  <a:pt x="32735" y="1220"/>
                  <a:pt x="32725" y="1221"/>
                  <a:pt x="32716" y="1221"/>
                </a:cubicBezTo>
                <a:lnTo>
                  <a:pt x="102" y="1221"/>
                </a:lnTo>
                <a:cubicBezTo>
                  <a:pt x="88" y="1221"/>
                  <a:pt x="75" y="1217"/>
                  <a:pt x="63" y="1210"/>
                </a:cubicBezTo>
                <a:cubicBezTo>
                  <a:pt x="50" y="1203"/>
                  <a:pt x="39" y="1193"/>
                  <a:pt x="30" y="1180"/>
                </a:cubicBezTo>
                <a:cubicBezTo>
                  <a:pt x="20" y="1167"/>
                  <a:pt x="13" y="1152"/>
                  <a:pt x="8" y="1134"/>
                </a:cubicBezTo>
                <a:cubicBezTo>
                  <a:pt x="3" y="1117"/>
                  <a:pt x="0" y="1099"/>
                  <a:pt x="0" y="108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/>
          <p:nvPr/>
        </p:nvSpPr>
        <p:spPr>
          <a:xfrm>
            <a:off x="980640" y="1963440"/>
            <a:ext cx="11780640" cy="23400"/>
          </a:xfrm>
          <a:custGeom>
            <a:avLst/>
            <a:gdLst/>
            <a:ahLst/>
            <a:rect l="0" t="0" r="r" b="b"/>
            <a:pathLst>
              <a:path w="32724" h="65">
                <a:moveTo>
                  <a:pt x="32699" y="65"/>
                </a:moveTo>
                <a:lnTo>
                  <a:pt x="219" y="65"/>
                </a:lnTo>
                <a:lnTo>
                  <a:pt x="0" y="9"/>
                </a:lnTo>
                <a:cubicBezTo>
                  <a:pt x="6" y="3"/>
                  <a:pt x="12" y="0"/>
                  <a:pt x="19" y="0"/>
                </a:cubicBezTo>
                <a:lnTo>
                  <a:pt x="32633" y="0"/>
                </a:lnTo>
                <a:cubicBezTo>
                  <a:pt x="32668" y="0"/>
                  <a:pt x="32698" y="13"/>
                  <a:pt x="32723" y="37"/>
                </a:cubicBezTo>
                <a:cubicBezTo>
                  <a:pt x="32724" y="38"/>
                  <a:pt x="32724" y="38"/>
                  <a:pt x="32724" y="39"/>
                </a:cubicBezTo>
                <a:lnTo>
                  <a:pt x="32699" y="65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/>
          <p:nvPr/>
        </p:nvSpPr>
        <p:spPr>
          <a:xfrm>
            <a:off x="980640" y="2370240"/>
            <a:ext cx="11780640" cy="23400"/>
          </a:xfrm>
          <a:custGeom>
            <a:avLst/>
            <a:gdLst/>
            <a:ahLst/>
            <a:rect l="0" t="0" r="r" b="b"/>
            <a:pathLst>
              <a:path w="32724" h="65">
                <a:moveTo>
                  <a:pt x="219" y="0"/>
                </a:moveTo>
                <a:lnTo>
                  <a:pt x="32699" y="0"/>
                </a:lnTo>
                <a:lnTo>
                  <a:pt x="32724" y="25"/>
                </a:lnTo>
                <a:cubicBezTo>
                  <a:pt x="32724" y="26"/>
                  <a:pt x="32724" y="26"/>
                  <a:pt x="32723" y="27"/>
                </a:cubicBezTo>
                <a:cubicBezTo>
                  <a:pt x="32698" y="52"/>
                  <a:pt x="32668" y="65"/>
                  <a:pt x="32633" y="65"/>
                </a:cubicBezTo>
                <a:lnTo>
                  <a:pt x="19" y="65"/>
                </a:lnTo>
                <a:cubicBezTo>
                  <a:pt x="12" y="65"/>
                  <a:pt x="6" y="61"/>
                  <a:pt x="0" y="55"/>
                </a:cubicBezTo>
                <a:lnTo>
                  <a:pt x="219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12751200" y="1976760"/>
            <a:ext cx="23040" cy="403560"/>
          </a:xfrm>
          <a:custGeom>
            <a:avLst/>
            <a:gdLst/>
            <a:ahLst/>
            <a:rect l="0" t="0" r="r" b="b"/>
            <a:pathLst>
              <a:path w="64" h="1121">
                <a:moveTo>
                  <a:pt x="0" y="1094"/>
                </a:moveTo>
                <a:lnTo>
                  <a:pt x="0" y="27"/>
                </a:lnTo>
                <a:lnTo>
                  <a:pt x="27" y="0"/>
                </a:lnTo>
                <a:cubicBezTo>
                  <a:pt x="52" y="25"/>
                  <a:pt x="64" y="55"/>
                  <a:pt x="64" y="90"/>
                </a:cubicBezTo>
                <a:lnTo>
                  <a:pt x="64" y="1031"/>
                </a:lnTo>
                <a:cubicBezTo>
                  <a:pt x="64" y="1066"/>
                  <a:pt x="52" y="1096"/>
                  <a:pt x="27" y="1121"/>
                </a:cubicBezTo>
                <a:lnTo>
                  <a:pt x="0" y="1094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/>
          <p:nvPr/>
        </p:nvSpPr>
        <p:spPr>
          <a:xfrm>
            <a:off x="969120" y="1966320"/>
            <a:ext cx="16920" cy="424440"/>
          </a:xfrm>
          <a:custGeom>
            <a:avLst/>
            <a:gdLst/>
            <a:ahLst/>
            <a:rect l="0" t="0" r="r" b="b"/>
            <a:pathLst>
              <a:path w="47" h="1179">
                <a:moveTo>
                  <a:pt x="47" y="4"/>
                </a:moveTo>
                <a:lnTo>
                  <a:pt x="47" y="1175"/>
                </a:lnTo>
                <a:lnTo>
                  <a:pt x="32" y="1179"/>
                </a:lnTo>
                <a:cubicBezTo>
                  <a:pt x="26" y="1173"/>
                  <a:pt x="20" y="1163"/>
                  <a:pt x="15" y="1150"/>
                </a:cubicBezTo>
                <a:cubicBezTo>
                  <a:pt x="5" y="1125"/>
                  <a:pt x="0" y="1095"/>
                  <a:pt x="0" y="1060"/>
                </a:cubicBezTo>
                <a:lnTo>
                  <a:pt x="0" y="119"/>
                </a:lnTo>
                <a:cubicBezTo>
                  <a:pt x="0" y="84"/>
                  <a:pt x="5" y="54"/>
                  <a:pt x="15" y="29"/>
                </a:cubicBezTo>
                <a:cubicBezTo>
                  <a:pt x="20" y="16"/>
                  <a:pt x="26" y="6"/>
                  <a:pt x="32" y="0"/>
                </a:cubicBezTo>
                <a:lnTo>
                  <a:pt x="47" y="4"/>
                </a:lnTo>
                <a:close/>
              </a:path>
            </a:pathLst>
          </a:custGeom>
          <a:solidFill>
            <a:srgbClr val="8b15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8778600" y="1558080"/>
            <a:ext cx="1137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.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1130040" y="2131200"/>
            <a:ext cx="63468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75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D U R I N G</a:t>
            </a:r>
            <a:endParaRPr b="0" lang="en-IN" sz="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2476080" y="2088720"/>
            <a:ext cx="202752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Patch every write method on the graph: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4546440" y="2120400"/>
            <a:ext cx="1429200" cy="122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6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create · link · upsert</a:t>
            </a:r>
            <a:endParaRPr b="0" lang="en-IN" sz="8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 txBox="1"/>
          <p:nvPr/>
        </p:nvSpPr>
        <p:spPr>
          <a:xfrm>
            <a:off x="5944320" y="2088720"/>
            <a:ext cx="14428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. Any attempted write raises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7407360" y="2120400"/>
            <a:ext cx="1364400" cy="122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60" strike="noStrike" u="none">
                <a:solidFill>
                  <a:srgbClr val="8b1538"/>
                </a:solidFill>
                <a:effectLst/>
                <a:uFillTx/>
                <a:latin typeface="JetBrainsMono"/>
                <a:ea typeface="JetBrainsMono"/>
              </a:rPr>
              <a:t>FrozenMemoryViolation</a:t>
            </a:r>
            <a:endParaRPr b="0" lang="en-IN" sz="8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/>
          <p:nvPr/>
        </p:nvSpPr>
        <p:spPr>
          <a:xfrm>
            <a:off x="950760" y="2489400"/>
            <a:ext cx="11828160" cy="439200"/>
          </a:xfrm>
          <a:custGeom>
            <a:avLst/>
            <a:gdLst/>
            <a:ahLst/>
            <a:rect l="0" t="0" r="r" b="b"/>
            <a:pathLst>
              <a:path w="32856" h="1220">
                <a:moveTo>
                  <a:pt x="0" y="1080"/>
                </a:moveTo>
                <a:lnTo>
                  <a:pt x="0" y="139"/>
                </a:lnTo>
                <a:cubicBezTo>
                  <a:pt x="0" y="121"/>
                  <a:pt x="3" y="103"/>
                  <a:pt x="8" y="86"/>
                </a:cubicBezTo>
                <a:cubicBezTo>
                  <a:pt x="13" y="69"/>
                  <a:pt x="20" y="54"/>
                  <a:pt x="30" y="41"/>
                </a:cubicBezTo>
                <a:cubicBezTo>
                  <a:pt x="39" y="27"/>
                  <a:pt x="50" y="17"/>
                  <a:pt x="63" y="10"/>
                </a:cubicBezTo>
                <a:cubicBezTo>
                  <a:pt x="75" y="3"/>
                  <a:pt x="88" y="0"/>
                  <a:pt x="102" y="0"/>
                </a:cubicBezTo>
                <a:lnTo>
                  <a:pt x="32716" y="0"/>
                </a:lnTo>
                <a:cubicBezTo>
                  <a:pt x="32725" y="0"/>
                  <a:pt x="32735" y="1"/>
                  <a:pt x="32744" y="2"/>
                </a:cubicBezTo>
                <a:cubicBezTo>
                  <a:pt x="32753" y="4"/>
                  <a:pt x="32761" y="7"/>
                  <a:pt x="32770" y="10"/>
                </a:cubicBezTo>
                <a:cubicBezTo>
                  <a:pt x="32778" y="14"/>
                  <a:pt x="32786" y="18"/>
                  <a:pt x="32794" y="23"/>
                </a:cubicBezTo>
                <a:cubicBezTo>
                  <a:pt x="32802" y="28"/>
                  <a:pt x="32809" y="34"/>
                  <a:pt x="32815" y="41"/>
                </a:cubicBezTo>
                <a:cubicBezTo>
                  <a:pt x="32822" y="47"/>
                  <a:pt x="32827" y="54"/>
                  <a:pt x="32832" y="62"/>
                </a:cubicBezTo>
                <a:cubicBezTo>
                  <a:pt x="32838" y="69"/>
                  <a:pt x="32842" y="77"/>
                  <a:pt x="32845" y="86"/>
                </a:cubicBezTo>
                <a:cubicBezTo>
                  <a:pt x="32849" y="94"/>
                  <a:pt x="32852" y="103"/>
                  <a:pt x="32853" y="112"/>
                </a:cubicBezTo>
                <a:cubicBezTo>
                  <a:pt x="32855" y="121"/>
                  <a:pt x="32856" y="130"/>
                  <a:pt x="32856" y="139"/>
                </a:cubicBezTo>
                <a:lnTo>
                  <a:pt x="32856" y="1080"/>
                </a:lnTo>
                <a:cubicBezTo>
                  <a:pt x="32856" y="1089"/>
                  <a:pt x="32855" y="1098"/>
                  <a:pt x="32853" y="1107"/>
                </a:cubicBezTo>
                <a:cubicBezTo>
                  <a:pt x="32852" y="1116"/>
                  <a:pt x="32849" y="1125"/>
                  <a:pt x="32845" y="1134"/>
                </a:cubicBezTo>
                <a:cubicBezTo>
                  <a:pt x="32842" y="1142"/>
                  <a:pt x="32838" y="1150"/>
                  <a:pt x="32832" y="1158"/>
                </a:cubicBezTo>
                <a:cubicBezTo>
                  <a:pt x="32827" y="1165"/>
                  <a:pt x="32822" y="1172"/>
                  <a:pt x="32815" y="1179"/>
                </a:cubicBezTo>
                <a:cubicBezTo>
                  <a:pt x="32809" y="1185"/>
                  <a:pt x="32802" y="1191"/>
                  <a:pt x="32794" y="1196"/>
                </a:cubicBezTo>
                <a:cubicBezTo>
                  <a:pt x="32786" y="1201"/>
                  <a:pt x="32778" y="1206"/>
                  <a:pt x="32770" y="1209"/>
                </a:cubicBezTo>
                <a:cubicBezTo>
                  <a:pt x="32761" y="1213"/>
                  <a:pt x="32753" y="1215"/>
                  <a:pt x="32744" y="1217"/>
                </a:cubicBezTo>
                <a:cubicBezTo>
                  <a:pt x="32735" y="1219"/>
                  <a:pt x="32725" y="1220"/>
                  <a:pt x="32716" y="1220"/>
                </a:cubicBezTo>
                <a:lnTo>
                  <a:pt x="102" y="1220"/>
                </a:lnTo>
                <a:cubicBezTo>
                  <a:pt x="88" y="1220"/>
                  <a:pt x="75" y="1216"/>
                  <a:pt x="63" y="1209"/>
                </a:cubicBezTo>
                <a:cubicBezTo>
                  <a:pt x="50" y="1202"/>
                  <a:pt x="39" y="1192"/>
                  <a:pt x="30" y="1179"/>
                </a:cubicBezTo>
                <a:cubicBezTo>
                  <a:pt x="20" y="1166"/>
                  <a:pt x="13" y="1151"/>
                  <a:pt x="8" y="1134"/>
                </a:cubicBezTo>
                <a:cubicBezTo>
                  <a:pt x="3" y="1116"/>
                  <a:pt x="0" y="1099"/>
                  <a:pt x="0" y="108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>
            <a:off x="980640" y="2493720"/>
            <a:ext cx="11780640" cy="23400"/>
          </a:xfrm>
          <a:custGeom>
            <a:avLst/>
            <a:gdLst/>
            <a:ahLst/>
            <a:rect l="0" t="0" r="r" b="b"/>
            <a:pathLst>
              <a:path w="32724" h="65">
                <a:moveTo>
                  <a:pt x="32699" y="65"/>
                </a:moveTo>
                <a:lnTo>
                  <a:pt x="219" y="65"/>
                </a:lnTo>
                <a:lnTo>
                  <a:pt x="0" y="9"/>
                </a:lnTo>
                <a:cubicBezTo>
                  <a:pt x="6" y="3"/>
                  <a:pt x="12" y="0"/>
                  <a:pt x="19" y="0"/>
                </a:cubicBezTo>
                <a:lnTo>
                  <a:pt x="32633" y="0"/>
                </a:lnTo>
                <a:cubicBezTo>
                  <a:pt x="32668" y="0"/>
                  <a:pt x="32698" y="13"/>
                  <a:pt x="32723" y="39"/>
                </a:cubicBezTo>
                <a:cubicBezTo>
                  <a:pt x="32724" y="39"/>
                  <a:pt x="32724" y="39"/>
                  <a:pt x="32724" y="40"/>
                </a:cubicBezTo>
                <a:lnTo>
                  <a:pt x="32699" y="65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/>
          <p:nvPr/>
        </p:nvSpPr>
        <p:spPr>
          <a:xfrm>
            <a:off x="980640" y="2900880"/>
            <a:ext cx="11780640" cy="23040"/>
          </a:xfrm>
          <a:custGeom>
            <a:avLst/>
            <a:gdLst/>
            <a:ahLst/>
            <a:rect l="0" t="0" r="r" b="b"/>
            <a:pathLst>
              <a:path w="32724" h="64">
                <a:moveTo>
                  <a:pt x="219" y="0"/>
                </a:moveTo>
                <a:lnTo>
                  <a:pt x="32699" y="0"/>
                </a:lnTo>
                <a:lnTo>
                  <a:pt x="32724" y="25"/>
                </a:lnTo>
                <a:cubicBezTo>
                  <a:pt x="32724" y="25"/>
                  <a:pt x="32724" y="26"/>
                  <a:pt x="32723" y="26"/>
                </a:cubicBezTo>
                <a:cubicBezTo>
                  <a:pt x="32698" y="52"/>
                  <a:pt x="32668" y="64"/>
                  <a:pt x="32633" y="64"/>
                </a:cubicBezTo>
                <a:lnTo>
                  <a:pt x="19" y="64"/>
                </a:lnTo>
                <a:cubicBezTo>
                  <a:pt x="12" y="64"/>
                  <a:pt x="6" y="61"/>
                  <a:pt x="0" y="56"/>
                </a:cubicBezTo>
                <a:lnTo>
                  <a:pt x="219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/>
          <p:nvPr/>
        </p:nvSpPr>
        <p:spPr>
          <a:xfrm>
            <a:off x="12751200" y="2507400"/>
            <a:ext cx="23040" cy="403200"/>
          </a:xfrm>
          <a:custGeom>
            <a:avLst/>
            <a:gdLst/>
            <a:ahLst/>
            <a:rect l="0" t="0" r="r" b="b"/>
            <a:pathLst>
              <a:path w="64" h="1120">
                <a:moveTo>
                  <a:pt x="0" y="1094"/>
                </a:moveTo>
                <a:lnTo>
                  <a:pt x="0" y="26"/>
                </a:lnTo>
                <a:lnTo>
                  <a:pt x="27" y="0"/>
                </a:lnTo>
                <a:cubicBezTo>
                  <a:pt x="52" y="24"/>
                  <a:pt x="64" y="54"/>
                  <a:pt x="64" y="89"/>
                </a:cubicBezTo>
                <a:lnTo>
                  <a:pt x="64" y="1030"/>
                </a:lnTo>
                <a:cubicBezTo>
                  <a:pt x="64" y="1065"/>
                  <a:pt x="52" y="1095"/>
                  <a:pt x="27" y="1120"/>
                </a:cubicBezTo>
                <a:lnTo>
                  <a:pt x="0" y="1094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/>
          <p:nvPr/>
        </p:nvSpPr>
        <p:spPr>
          <a:xfrm>
            <a:off x="969120" y="2496600"/>
            <a:ext cx="16920" cy="424440"/>
          </a:xfrm>
          <a:custGeom>
            <a:avLst/>
            <a:gdLst/>
            <a:ahLst/>
            <a:rect l="0" t="0" r="r" b="b"/>
            <a:pathLst>
              <a:path w="47" h="1179">
                <a:moveTo>
                  <a:pt x="47" y="4"/>
                </a:moveTo>
                <a:lnTo>
                  <a:pt x="47" y="1176"/>
                </a:lnTo>
                <a:lnTo>
                  <a:pt x="32" y="1179"/>
                </a:lnTo>
                <a:cubicBezTo>
                  <a:pt x="26" y="1173"/>
                  <a:pt x="20" y="1163"/>
                  <a:pt x="15" y="1150"/>
                </a:cubicBezTo>
                <a:cubicBezTo>
                  <a:pt x="5" y="1125"/>
                  <a:pt x="0" y="1095"/>
                  <a:pt x="0" y="1060"/>
                </a:cubicBezTo>
                <a:lnTo>
                  <a:pt x="0" y="119"/>
                </a:lnTo>
                <a:cubicBezTo>
                  <a:pt x="0" y="84"/>
                  <a:pt x="5" y="54"/>
                  <a:pt x="15" y="30"/>
                </a:cubicBezTo>
                <a:cubicBezTo>
                  <a:pt x="20" y="16"/>
                  <a:pt x="26" y="7"/>
                  <a:pt x="32" y="0"/>
                </a:cubicBezTo>
                <a:lnTo>
                  <a:pt x="47" y="4"/>
                </a:lnTo>
                <a:close/>
              </a:path>
            </a:pathLst>
          </a:custGeom>
          <a:solidFill>
            <a:srgbClr val="8b15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8742240" y="2088720"/>
            <a:ext cx="1137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.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 txBox="1"/>
          <p:nvPr/>
        </p:nvSpPr>
        <p:spPr>
          <a:xfrm>
            <a:off x="1130040" y="2670840"/>
            <a:ext cx="4615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75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RUN EVAL</a:t>
            </a:r>
            <a:endParaRPr b="0" lang="en-IN" sz="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950760" y="3028680"/>
            <a:ext cx="11828160" cy="439200"/>
          </a:xfrm>
          <a:custGeom>
            <a:avLst/>
            <a:gdLst/>
            <a:ahLst/>
            <a:rect l="0" t="0" r="r" b="b"/>
            <a:pathLst>
              <a:path w="32856" h="1220">
                <a:moveTo>
                  <a:pt x="0" y="1081"/>
                </a:moveTo>
                <a:lnTo>
                  <a:pt x="0" y="140"/>
                </a:lnTo>
                <a:cubicBezTo>
                  <a:pt x="0" y="121"/>
                  <a:pt x="3" y="104"/>
                  <a:pt x="8" y="86"/>
                </a:cubicBezTo>
                <a:cubicBezTo>
                  <a:pt x="13" y="69"/>
                  <a:pt x="20" y="54"/>
                  <a:pt x="30" y="41"/>
                </a:cubicBezTo>
                <a:cubicBezTo>
                  <a:pt x="39" y="28"/>
                  <a:pt x="50" y="18"/>
                  <a:pt x="63" y="11"/>
                </a:cubicBezTo>
                <a:cubicBezTo>
                  <a:pt x="75" y="4"/>
                  <a:pt x="88" y="0"/>
                  <a:pt x="102" y="0"/>
                </a:cubicBezTo>
                <a:lnTo>
                  <a:pt x="32716" y="0"/>
                </a:lnTo>
                <a:cubicBezTo>
                  <a:pt x="32725" y="0"/>
                  <a:pt x="32735" y="1"/>
                  <a:pt x="32744" y="3"/>
                </a:cubicBezTo>
                <a:cubicBezTo>
                  <a:pt x="32753" y="5"/>
                  <a:pt x="32761" y="7"/>
                  <a:pt x="32770" y="11"/>
                </a:cubicBezTo>
                <a:cubicBezTo>
                  <a:pt x="32778" y="14"/>
                  <a:pt x="32786" y="19"/>
                  <a:pt x="32794" y="24"/>
                </a:cubicBezTo>
                <a:cubicBezTo>
                  <a:pt x="32802" y="29"/>
                  <a:pt x="32809" y="35"/>
                  <a:pt x="32815" y="41"/>
                </a:cubicBezTo>
                <a:cubicBezTo>
                  <a:pt x="32822" y="48"/>
                  <a:pt x="32827" y="55"/>
                  <a:pt x="32832" y="62"/>
                </a:cubicBezTo>
                <a:cubicBezTo>
                  <a:pt x="32838" y="70"/>
                  <a:pt x="32842" y="78"/>
                  <a:pt x="32845" y="86"/>
                </a:cubicBezTo>
                <a:cubicBezTo>
                  <a:pt x="32849" y="95"/>
                  <a:pt x="32852" y="104"/>
                  <a:pt x="32853" y="113"/>
                </a:cubicBezTo>
                <a:cubicBezTo>
                  <a:pt x="32855" y="122"/>
                  <a:pt x="32856" y="131"/>
                  <a:pt x="32856" y="140"/>
                </a:cubicBezTo>
                <a:lnTo>
                  <a:pt x="32856" y="1081"/>
                </a:lnTo>
                <a:cubicBezTo>
                  <a:pt x="32856" y="1090"/>
                  <a:pt x="32855" y="1099"/>
                  <a:pt x="32853" y="1108"/>
                </a:cubicBezTo>
                <a:cubicBezTo>
                  <a:pt x="32852" y="1117"/>
                  <a:pt x="32849" y="1126"/>
                  <a:pt x="32845" y="1134"/>
                </a:cubicBezTo>
                <a:cubicBezTo>
                  <a:pt x="32842" y="1143"/>
                  <a:pt x="32838" y="1151"/>
                  <a:pt x="32832" y="1158"/>
                </a:cubicBezTo>
                <a:cubicBezTo>
                  <a:pt x="32827" y="1166"/>
                  <a:pt x="32822" y="1173"/>
                  <a:pt x="32815" y="1180"/>
                </a:cubicBezTo>
                <a:cubicBezTo>
                  <a:pt x="32809" y="1186"/>
                  <a:pt x="32802" y="1192"/>
                  <a:pt x="32794" y="1197"/>
                </a:cubicBezTo>
                <a:cubicBezTo>
                  <a:pt x="32786" y="1202"/>
                  <a:pt x="32778" y="1206"/>
                  <a:pt x="32770" y="1210"/>
                </a:cubicBezTo>
                <a:cubicBezTo>
                  <a:pt x="32761" y="1213"/>
                  <a:pt x="32753" y="1216"/>
                  <a:pt x="32744" y="1218"/>
                </a:cubicBezTo>
                <a:cubicBezTo>
                  <a:pt x="32735" y="1220"/>
                  <a:pt x="32725" y="1220"/>
                  <a:pt x="32716" y="1220"/>
                </a:cubicBezTo>
                <a:lnTo>
                  <a:pt x="102" y="1220"/>
                </a:lnTo>
                <a:cubicBezTo>
                  <a:pt x="88" y="1220"/>
                  <a:pt x="75" y="1217"/>
                  <a:pt x="63" y="1210"/>
                </a:cubicBezTo>
                <a:cubicBezTo>
                  <a:pt x="50" y="1203"/>
                  <a:pt x="39" y="1193"/>
                  <a:pt x="30" y="1180"/>
                </a:cubicBezTo>
                <a:cubicBezTo>
                  <a:pt x="20" y="1166"/>
                  <a:pt x="13" y="1151"/>
                  <a:pt x="8" y="1134"/>
                </a:cubicBezTo>
                <a:cubicBezTo>
                  <a:pt x="3" y="1117"/>
                  <a:pt x="0" y="1099"/>
                  <a:pt x="0" y="108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980640" y="3033360"/>
            <a:ext cx="11780640" cy="23040"/>
          </a:xfrm>
          <a:custGeom>
            <a:avLst/>
            <a:gdLst/>
            <a:ahLst/>
            <a:rect l="0" t="0" r="r" b="b"/>
            <a:pathLst>
              <a:path w="32724" h="64">
                <a:moveTo>
                  <a:pt x="32699" y="64"/>
                </a:moveTo>
                <a:lnTo>
                  <a:pt x="219" y="64"/>
                </a:lnTo>
                <a:lnTo>
                  <a:pt x="0" y="9"/>
                </a:lnTo>
                <a:cubicBezTo>
                  <a:pt x="6" y="3"/>
                  <a:pt x="12" y="0"/>
                  <a:pt x="19" y="0"/>
                </a:cubicBezTo>
                <a:lnTo>
                  <a:pt x="32633" y="0"/>
                </a:lnTo>
                <a:cubicBezTo>
                  <a:pt x="32668" y="0"/>
                  <a:pt x="32698" y="12"/>
                  <a:pt x="32723" y="37"/>
                </a:cubicBezTo>
                <a:cubicBezTo>
                  <a:pt x="32724" y="38"/>
                  <a:pt x="32724" y="38"/>
                  <a:pt x="32724" y="38"/>
                </a:cubicBezTo>
                <a:lnTo>
                  <a:pt x="32699" y="64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980640" y="3440160"/>
            <a:ext cx="11780640" cy="23400"/>
          </a:xfrm>
          <a:custGeom>
            <a:avLst/>
            <a:gdLst/>
            <a:ahLst/>
            <a:rect l="0" t="0" r="r" b="b"/>
            <a:pathLst>
              <a:path w="32724" h="65">
                <a:moveTo>
                  <a:pt x="219" y="0"/>
                </a:moveTo>
                <a:lnTo>
                  <a:pt x="32699" y="0"/>
                </a:lnTo>
                <a:lnTo>
                  <a:pt x="32724" y="25"/>
                </a:lnTo>
                <a:cubicBezTo>
                  <a:pt x="32724" y="26"/>
                  <a:pt x="32724" y="26"/>
                  <a:pt x="32723" y="27"/>
                </a:cubicBezTo>
                <a:cubicBezTo>
                  <a:pt x="32698" y="51"/>
                  <a:pt x="32668" y="65"/>
                  <a:pt x="32633" y="65"/>
                </a:cubicBezTo>
                <a:lnTo>
                  <a:pt x="19" y="65"/>
                </a:lnTo>
                <a:cubicBezTo>
                  <a:pt x="12" y="65"/>
                  <a:pt x="6" y="62"/>
                  <a:pt x="0" y="56"/>
                </a:cubicBezTo>
                <a:lnTo>
                  <a:pt x="219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/>
          <p:nvPr/>
        </p:nvSpPr>
        <p:spPr>
          <a:xfrm>
            <a:off x="12751200" y="3046680"/>
            <a:ext cx="23040" cy="403560"/>
          </a:xfrm>
          <a:custGeom>
            <a:avLst/>
            <a:gdLst/>
            <a:ahLst/>
            <a:rect l="0" t="0" r="r" b="b"/>
            <a:pathLst>
              <a:path w="64" h="1121">
                <a:moveTo>
                  <a:pt x="0" y="1094"/>
                </a:moveTo>
                <a:lnTo>
                  <a:pt x="0" y="26"/>
                </a:lnTo>
                <a:lnTo>
                  <a:pt x="27" y="0"/>
                </a:lnTo>
                <a:cubicBezTo>
                  <a:pt x="52" y="25"/>
                  <a:pt x="64" y="55"/>
                  <a:pt x="64" y="90"/>
                </a:cubicBezTo>
                <a:lnTo>
                  <a:pt x="64" y="1030"/>
                </a:lnTo>
                <a:cubicBezTo>
                  <a:pt x="64" y="1066"/>
                  <a:pt x="52" y="1096"/>
                  <a:pt x="27" y="1121"/>
                </a:cubicBezTo>
                <a:lnTo>
                  <a:pt x="0" y="1094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969120" y="3036240"/>
            <a:ext cx="16920" cy="424440"/>
          </a:xfrm>
          <a:custGeom>
            <a:avLst/>
            <a:gdLst/>
            <a:ahLst/>
            <a:rect l="0" t="0" r="r" b="b"/>
            <a:pathLst>
              <a:path w="47" h="1179">
                <a:moveTo>
                  <a:pt x="47" y="3"/>
                </a:moveTo>
                <a:lnTo>
                  <a:pt x="47" y="1175"/>
                </a:lnTo>
                <a:lnTo>
                  <a:pt x="32" y="1179"/>
                </a:lnTo>
                <a:cubicBezTo>
                  <a:pt x="26" y="1172"/>
                  <a:pt x="20" y="1163"/>
                  <a:pt x="15" y="1150"/>
                </a:cubicBezTo>
                <a:cubicBezTo>
                  <a:pt x="5" y="1125"/>
                  <a:pt x="0" y="1095"/>
                  <a:pt x="0" y="1060"/>
                </a:cubicBezTo>
                <a:lnTo>
                  <a:pt x="0" y="119"/>
                </a:lnTo>
                <a:cubicBezTo>
                  <a:pt x="0" y="84"/>
                  <a:pt x="5" y="54"/>
                  <a:pt x="15" y="29"/>
                </a:cubicBezTo>
                <a:cubicBezTo>
                  <a:pt x="20" y="16"/>
                  <a:pt x="26" y="6"/>
                  <a:pt x="32" y="0"/>
                </a:cubicBezTo>
                <a:lnTo>
                  <a:pt x="47" y="3"/>
                </a:lnTo>
                <a:close/>
              </a:path>
            </a:pathLst>
          </a:custGeom>
          <a:solidFill>
            <a:srgbClr val="b886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2476080" y="2628000"/>
            <a:ext cx="27262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All 80 test items judged. Memory should be read-only.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 txBox="1"/>
          <p:nvPr/>
        </p:nvSpPr>
        <p:spPr>
          <a:xfrm>
            <a:off x="1130040" y="3201120"/>
            <a:ext cx="5191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750" strike="noStrike" u="none">
                <a:solidFill>
                  <a:srgbClr val="b8860b"/>
                </a:solidFill>
                <a:effectLst/>
                <a:uFillTx/>
                <a:latin typeface="JetBrainsMono-Regular_wght2580000"/>
                <a:ea typeface="JetBrainsMono-Regular_wght2580000"/>
              </a:rPr>
              <a:t>A F T E R</a:t>
            </a:r>
            <a:endParaRPr b="0" lang="en-IN" sz="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>
            <a:off x="950760" y="3558960"/>
            <a:ext cx="11828160" cy="439560"/>
          </a:xfrm>
          <a:custGeom>
            <a:avLst/>
            <a:gdLst/>
            <a:ahLst/>
            <a:rect l="0" t="0" r="r" b="b"/>
            <a:pathLst>
              <a:path w="32856" h="1221">
                <a:moveTo>
                  <a:pt x="0" y="1081"/>
                </a:moveTo>
                <a:lnTo>
                  <a:pt x="0" y="140"/>
                </a:lnTo>
                <a:cubicBezTo>
                  <a:pt x="0" y="122"/>
                  <a:pt x="3" y="104"/>
                  <a:pt x="8" y="87"/>
                </a:cubicBezTo>
                <a:cubicBezTo>
                  <a:pt x="13" y="70"/>
                  <a:pt x="20" y="54"/>
                  <a:pt x="30" y="41"/>
                </a:cubicBezTo>
                <a:cubicBezTo>
                  <a:pt x="39" y="28"/>
                  <a:pt x="50" y="18"/>
                  <a:pt x="63" y="11"/>
                </a:cubicBezTo>
                <a:cubicBezTo>
                  <a:pt x="75" y="4"/>
                  <a:pt x="88" y="0"/>
                  <a:pt x="102" y="0"/>
                </a:cubicBezTo>
                <a:lnTo>
                  <a:pt x="32716" y="0"/>
                </a:lnTo>
                <a:cubicBezTo>
                  <a:pt x="32725" y="0"/>
                  <a:pt x="32735" y="1"/>
                  <a:pt x="32744" y="3"/>
                </a:cubicBezTo>
                <a:cubicBezTo>
                  <a:pt x="32753" y="5"/>
                  <a:pt x="32761" y="8"/>
                  <a:pt x="32770" y="11"/>
                </a:cubicBezTo>
                <a:cubicBezTo>
                  <a:pt x="32778" y="15"/>
                  <a:pt x="32786" y="19"/>
                  <a:pt x="32794" y="24"/>
                </a:cubicBezTo>
                <a:cubicBezTo>
                  <a:pt x="32802" y="29"/>
                  <a:pt x="32809" y="35"/>
                  <a:pt x="32815" y="41"/>
                </a:cubicBezTo>
                <a:cubicBezTo>
                  <a:pt x="32822" y="48"/>
                  <a:pt x="32827" y="55"/>
                  <a:pt x="32832" y="63"/>
                </a:cubicBezTo>
                <a:cubicBezTo>
                  <a:pt x="32838" y="70"/>
                  <a:pt x="32842" y="78"/>
                  <a:pt x="32845" y="87"/>
                </a:cubicBezTo>
                <a:cubicBezTo>
                  <a:pt x="32849" y="95"/>
                  <a:pt x="32852" y="104"/>
                  <a:pt x="32853" y="113"/>
                </a:cubicBezTo>
                <a:cubicBezTo>
                  <a:pt x="32855" y="122"/>
                  <a:pt x="32856" y="131"/>
                  <a:pt x="32856" y="140"/>
                </a:cubicBezTo>
                <a:lnTo>
                  <a:pt x="32856" y="1081"/>
                </a:lnTo>
                <a:cubicBezTo>
                  <a:pt x="32856" y="1090"/>
                  <a:pt x="32855" y="1099"/>
                  <a:pt x="32853" y="1108"/>
                </a:cubicBezTo>
                <a:cubicBezTo>
                  <a:pt x="32852" y="1117"/>
                  <a:pt x="32849" y="1126"/>
                  <a:pt x="32845" y="1134"/>
                </a:cubicBezTo>
                <a:cubicBezTo>
                  <a:pt x="32842" y="1143"/>
                  <a:pt x="32838" y="1151"/>
                  <a:pt x="32832" y="1159"/>
                </a:cubicBezTo>
                <a:cubicBezTo>
                  <a:pt x="32827" y="1166"/>
                  <a:pt x="32822" y="1173"/>
                  <a:pt x="32815" y="1180"/>
                </a:cubicBezTo>
                <a:cubicBezTo>
                  <a:pt x="32809" y="1186"/>
                  <a:pt x="32802" y="1192"/>
                  <a:pt x="32794" y="1197"/>
                </a:cubicBezTo>
                <a:cubicBezTo>
                  <a:pt x="32786" y="1202"/>
                  <a:pt x="32778" y="1207"/>
                  <a:pt x="32770" y="1210"/>
                </a:cubicBezTo>
                <a:cubicBezTo>
                  <a:pt x="32761" y="1214"/>
                  <a:pt x="32753" y="1216"/>
                  <a:pt x="32744" y="1218"/>
                </a:cubicBezTo>
                <a:cubicBezTo>
                  <a:pt x="32735" y="1220"/>
                  <a:pt x="32725" y="1221"/>
                  <a:pt x="32716" y="1221"/>
                </a:cubicBezTo>
                <a:lnTo>
                  <a:pt x="102" y="1221"/>
                </a:lnTo>
                <a:cubicBezTo>
                  <a:pt x="88" y="1221"/>
                  <a:pt x="75" y="1217"/>
                  <a:pt x="63" y="1210"/>
                </a:cubicBezTo>
                <a:cubicBezTo>
                  <a:pt x="50" y="1203"/>
                  <a:pt x="39" y="1193"/>
                  <a:pt x="30" y="1180"/>
                </a:cubicBezTo>
                <a:cubicBezTo>
                  <a:pt x="20" y="1167"/>
                  <a:pt x="13" y="1152"/>
                  <a:pt x="8" y="1134"/>
                </a:cubicBezTo>
                <a:cubicBezTo>
                  <a:pt x="3" y="1117"/>
                  <a:pt x="0" y="1099"/>
                  <a:pt x="0" y="108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980640" y="3563640"/>
            <a:ext cx="11780640" cy="23400"/>
          </a:xfrm>
          <a:custGeom>
            <a:avLst/>
            <a:gdLst/>
            <a:ahLst/>
            <a:rect l="0" t="0" r="r" b="b"/>
            <a:pathLst>
              <a:path w="32724" h="65">
                <a:moveTo>
                  <a:pt x="32699" y="65"/>
                </a:moveTo>
                <a:lnTo>
                  <a:pt x="219" y="65"/>
                </a:lnTo>
                <a:lnTo>
                  <a:pt x="0" y="9"/>
                </a:lnTo>
                <a:cubicBezTo>
                  <a:pt x="6" y="3"/>
                  <a:pt x="12" y="0"/>
                  <a:pt x="19" y="0"/>
                </a:cubicBezTo>
                <a:lnTo>
                  <a:pt x="32633" y="0"/>
                </a:lnTo>
                <a:cubicBezTo>
                  <a:pt x="32668" y="0"/>
                  <a:pt x="32698" y="13"/>
                  <a:pt x="32723" y="38"/>
                </a:cubicBezTo>
                <a:cubicBezTo>
                  <a:pt x="32724" y="39"/>
                  <a:pt x="32724" y="39"/>
                  <a:pt x="32724" y="40"/>
                </a:cubicBezTo>
                <a:lnTo>
                  <a:pt x="32699" y="65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/>
          <p:nvPr/>
        </p:nvSpPr>
        <p:spPr>
          <a:xfrm>
            <a:off x="980640" y="3970440"/>
            <a:ext cx="11780640" cy="23400"/>
          </a:xfrm>
          <a:custGeom>
            <a:avLst/>
            <a:gdLst/>
            <a:ahLst/>
            <a:rect l="0" t="0" r="r" b="b"/>
            <a:pathLst>
              <a:path w="32724" h="65">
                <a:moveTo>
                  <a:pt x="219" y="0"/>
                </a:moveTo>
                <a:lnTo>
                  <a:pt x="32699" y="0"/>
                </a:lnTo>
                <a:lnTo>
                  <a:pt x="32724" y="25"/>
                </a:lnTo>
                <a:cubicBezTo>
                  <a:pt x="32724" y="26"/>
                  <a:pt x="32724" y="26"/>
                  <a:pt x="32723" y="27"/>
                </a:cubicBezTo>
                <a:cubicBezTo>
                  <a:pt x="32698" y="53"/>
                  <a:pt x="32668" y="65"/>
                  <a:pt x="32633" y="65"/>
                </a:cubicBezTo>
                <a:lnTo>
                  <a:pt x="19" y="65"/>
                </a:lnTo>
                <a:cubicBezTo>
                  <a:pt x="12" y="65"/>
                  <a:pt x="6" y="62"/>
                  <a:pt x="0" y="56"/>
                </a:cubicBezTo>
                <a:lnTo>
                  <a:pt x="219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12751200" y="3576960"/>
            <a:ext cx="23040" cy="403560"/>
          </a:xfrm>
          <a:custGeom>
            <a:avLst/>
            <a:gdLst/>
            <a:ahLst/>
            <a:rect l="0" t="0" r="r" b="b"/>
            <a:pathLst>
              <a:path w="64" h="1121">
                <a:moveTo>
                  <a:pt x="0" y="1094"/>
                </a:moveTo>
                <a:lnTo>
                  <a:pt x="0" y="27"/>
                </a:lnTo>
                <a:lnTo>
                  <a:pt x="27" y="0"/>
                </a:lnTo>
                <a:cubicBezTo>
                  <a:pt x="52" y="25"/>
                  <a:pt x="64" y="55"/>
                  <a:pt x="64" y="90"/>
                </a:cubicBezTo>
                <a:lnTo>
                  <a:pt x="64" y="1031"/>
                </a:lnTo>
                <a:cubicBezTo>
                  <a:pt x="64" y="1066"/>
                  <a:pt x="52" y="1096"/>
                  <a:pt x="27" y="1121"/>
                </a:cubicBezTo>
                <a:lnTo>
                  <a:pt x="0" y="1094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969120" y="3566520"/>
            <a:ext cx="16920" cy="424440"/>
          </a:xfrm>
          <a:custGeom>
            <a:avLst/>
            <a:gdLst/>
            <a:ahLst/>
            <a:rect l="0" t="0" r="r" b="b"/>
            <a:pathLst>
              <a:path w="47" h="1179">
                <a:moveTo>
                  <a:pt x="47" y="4"/>
                </a:moveTo>
                <a:lnTo>
                  <a:pt x="47" y="1175"/>
                </a:lnTo>
                <a:lnTo>
                  <a:pt x="32" y="1179"/>
                </a:lnTo>
                <a:cubicBezTo>
                  <a:pt x="26" y="1173"/>
                  <a:pt x="20" y="1163"/>
                  <a:pt x="15" y="1150"/>
                </a:cubicBezTo>
                <a:cubicBezTo>
                  <a:pt x="5" y="1125"/>
                  <a:pt x="0" y="1095"/>
                  <a:pt x="0" y="1060"/>
                </a:cubicBezTo>
                <a:lnTo>
                  <a:pt x="0" y="120"/>
                </a:lnTo>
                <a:cubicBezTo>
                  <a:pt x="0" y="84"/>
                  <a:pt x="5" y="54"/>
                  <a:pt x="15" y="29"/>
                </a:cubicBezTo>
                <a:cubicBezTo>
                  <a:pt x="20" y="16"/>
                  <a:pt x="26" y="6"/>
                  <a:pt x="32" y="0"/>
                </a:cubicBezTo>
                <a:lnTo>
                  <a:pt x="47" y="4"/>
                </a:lnTo>
                <a:close/>
              </a:path>
            </a:pathLst>
          </a:custGeom>
          <a:solidFill>
            <a:srgbClr val="1f7a3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2476080" y="3158280"/>
            <a:ext cx="229932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Take another snapshot. Compare to "before".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 txBox="1"/>
          <p:nvPr/>
        </p:nvSpPr>
        <p:spPr>
          <a:xfrm>
            <a:off x="1130040" y="3740760"/>
            <a:ext cx="74988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750" strike="noStrike" u="none">
                <a:solidFill>
                  <a:srgbClr val="1f7a3a"/>
                </a:solidFill>
                <a:effectLst/>
                <a:uFillTx/>
                <a:latin typeface="JetBrainsMono-Regular_wght2580000"/>
                <a:ea typeface="JetBrainsMono-Regular_wght2580000"/>
              </a:rPr>
              <a:t>V E R D I C T</a:t>
            </a:r>
            <a:endParaRPr b="0" lang="en-IN" sz="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 txBox="1"/>
          <p:nvPr/>
        </p:nvSpPr>
        <p:spPr>
          <a:xfrm>
            <a:off x="2476080" y="3697920"/>
            <a:ext cx="2865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Pass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2783520" y="3697920"/>
            <a:ext cx="3074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20" strike="noStrike" u="none">
                <a:solidFill>
                  <a:srgbClr val="8b1538"/>
                </a:solidFill>
                <a:effectLst/>
                <a:uFillTx/>
                <a:latin typeface="Inter"/>
                <a:ea typeface="Inter"/>
              </a:rPr>
              <a:t>only if</a:t>
            </a:r>
            <a:endParaRPr b="0" lang="en-IN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 txBox="1"/>
          <p:nvPr/>
        </p:nvSpPr>
        <p:spPr>
          <a:xfrm>
            <a:off x="3072960" y="3697920"/>
            <a:ext cx="13917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: fingerprints match exactly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 txBox="1"/>
          <p:nvPr/>
        </p:nvSpPr>
        <p:spPr>
          <a:xfrm>
            <a:off x="4499280" y="3694320"/>
            <a:ext cx="2736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900" strike="noStrike" u="none">
                <a:solidFill>
                  <a:srgbClr val="0a0a0a"/>
                </a:solidFill>
                <a:effectLst/>
                <a:uFillTx/>
                <a:latin typeface="Inter-Regular_Semi"/>
                <a:ea typeface="Inter-Regular_Semi"/>
              </a:rPr>
              <a:t>AND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 txBox="1"/>
          <p:nvPr/>
        </p:nvSpPr>
        <p:spPr>
          <a:xfrm>
            <a:off x="4746960" y="3697920"/>
            <a:ext cx="35265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 no FrozenMemoryViolation was raised. Otherwise the run is rejected.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 txBox="1"/>
          <p:nvPr/>
        </p:nvSpPr>
        <p:spPr>
          <a:xfrm>
            <a:off x="685800" y="8312040"/>
            <a:ext cx="2566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MEMORY-ASSISTED LLM AS A JUDGE VIA KNOWLEDGE GRAPHS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 txBox="1"/>
          <p:nvPr/>
        </p:nvSpPr>
        <p:spPr>
          <a:xfrm>
            <a:off x="11400480" y="8312040"/>
            <a:ext cx="13590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15 / 36  ·  K. PATEL · 2026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273960" y="171360"/>
            <a:ext cx="13167720" cy="8229960"/>
          </a:xfrm>
          <a:custGeom>
            <a:avLst/>
            <a:gdLst/>
            <a:ahLst/>
            <a:rect l="0" t="0" r="r" b="b"/>
            <a:pathLst>
              <a:path w="36577" h="22861">
                <a:moveTo>
                  <a:pt x="0" y="0"/>
                </a:moveTo>
                <a:lnTo>
                  <a:pt x="36577" y="0"/>
                </a:lnTo>
                <a:lnTo>
                  <a:pt x="36577" y="22861"/>
                </a:lnTo>
                <a:lnTo>
                  <a:pt x="0" y="22861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 txBox="1"/>
          <p:nvPr/>
        </p:nvSpPr>
        <p:spPr>
          <a:xfrm>
            <a:off x="932760" y="579960"/>
            <a:ext cx="337536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PROPOSED SOLUTION · THE AUDIT · SNAPSHOT DIFF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937080" y="1419480"/>
            <a:ext cx="5532480" cy="1307880"/>
          </a:xfrm>
          <a:custGeom>
            <a:avLst/>
            <a:gdLst/>
            <a:ahLst/>
            <a:rect l="0" t="0" r="r" b="b"/>
            <a:pathLst>
              <a:path w="15368" h="3633">
                <a:moveTo>
                  <a:pt x="0" y="3493"/>
                </a:moveTo>
                <a:lnTo>
                  <a:pt x="0" y="140"/>
                </a:lnTo>
                <a:cubicBezTo>
                  <a:pt x="0" y="130"/>
                  <a:pt x="1" y="121"/>
                  <a:pt x="3" y="112"/>
                </a:cubicBezTo>
                <a:cubicBezTo>
                  <a:pt x="4" y="103"/>
                  <a:pt x="7" y="95"/>
                  <a:pt x="11" y="86"/>
                </a:cubicBezTo>
                <a:cubicBezTo>
                  <a:pt x="14" y="78"/>
                  <a:pt x="18" y="70"/>
                  <a:pt x="24" y="62"/>
                </a:cubicBezTo>
                <a:cubicBezTo>
                  <a:pt x="29" y="54"/>
                  <a:pt x="34" y="47"/>
                  <a:pt x="41" y="41"/>
                </a:cubicBezTo>
                <a:cubicBezTo>
                  <a:pt x="47" y="34"/>
                  <a:pt x="54" y="28"/>
                  <a:pt x="62" y="23"/>
                </a:cubicBezTo>
                <a:cubicBezTo>
                  <a:pt x="70" y="18"/>
                  <a:pt x="78" y="14"/>
                  <a:pt x="86" y="10"/>
                </a:cubicBezTo>
                <a:cubicBezTo>
                  <a:pt x="95" y="7"/>
                  <a:pt x="103" y="4"/>
                  <a:pt x="112" y="3"/>
                </a:cubicBezTo>
                <a:cubicBezTo>
                  <a:pt x="121" y="1"/>
                  <a:pt x="131" y="0"/>
                  <a:pt x="140" y="0"/>
                </a:cubicBezTo>
                <a:lnTo>
                  <a:pt x="15228" y="0"/>
                </a:lnTo>
                <a:cubicBezTo>
                  <a:pt x="15237" y="0"/>
                  <a:pt x="15247" y="1"/>
                  <a:pt x="15256" y="3"/>
                </a:cubicBezTo>
                <a:cubicBezTo>
                  <a:pt x="15265" y="4"/>
                  <a:pt x="15273" y="7"/>
                  <a:pt x="15282" y="10"/>
                </a:cubicBezTo>
                <a:cubicBezTo>
                  <a:pt x="15290" y="14"/>
                  <a:pt x="15298" y="18"/>
                  <a:pt x="15306" y="23"/>
                </a:cubicBezTo>
                <a:cubicBezTo>
                  <a:pt x="15314" y="28"/>
                  <a:pt x="15321" y="34"/>
                  <a:pt x="15327" y="41"/>
                </a:cubicBezTo>
                <a:cubicBezTo>
                  <a:pt x="15334" y="47"/>
                  <a:pt x="15339" y="54"/>
                  <a:pt x="15344" y="62"/>
                </a:cubicBezTo>
                <a:cubicBezTo>
                  <a:pt x="15350" y="70"/>
                  <a:pt x="15354" y="78"/>
                  <a:pt x="15357" y="86"/>
                </a:cubicBezTo>
                <a:cubicBezTo>
                  <a:pt x="15361" y="95"/>
                  <a:pt x="15364" y="103"/>
                  <a:pt x="15365" y="112"/>
                </a:cubicBezTo>
                <a:cubicBezTo>
                  <a:pt x="15367" y="121"/>
                  <a:pt x="15368" y="130"/>
                  <a:pt x="15368" y="140"/>
                </a:cubicBezTo>
                <a:lnTo>
                  <a:pt x="15368" y="3493"/>
                </a:lnTo>
                <a:cubicBezTo>
                  <a:pt x="15368" y="3503"/>
                  <a:pt x="15367" y="3512"/>
                  <a:pt x="15365" y="3521"/>
                </a:cubicBezTo>
                <a:cubicBezTo>
                  <a:pt x="15364" y="3530"/>
                  <a:pt x="15361" y="3538"/>
                  <a:pt x="15357" y="3547"/>
                </a:cubicBezTo>
                <a:cubicBezTo>
                  <a:pt x="15354" y="3555"/>
                  <a:pt x="15350" y="3563"/>
                  <a:pt x="15344" y="3571"/>
                </a:cubicBezTo>
                <a:cubicBezTo>
                  <a:pt x="15339" y="3579"/>
                  <a:pt x="15334" y="3586"/>
                  <a:pt x="15327" y="3592"/>
                </a:cubicBezTo>
                <a:cubicBezTo>
                  <a:pt x="15321" y="3599"/>
                  <a:pt x="15314" y="3604"/>
                  <a:pt x="15306" y="3610"/>
                </a:cubicBezTo>
                <a:cubicBezTo>
                  <a:pt x="15298" y="3615"/>
                  <a:pt x="15290" y="3619"/>
                  <a:pt x="15282" y="3622"/>
                </a:cubicBezTo>
                <a:cubicBezTo>
                  <a:pt x="15273" y="3626"/>
                  <a:pt x="15265" y="3629"/>
                  <a:pt x="15256" y="3630"/>
                </a:cubicBezTo>
                <a:cubicBezTo>
                  <a:pt x="15247" y="3632"/>
                  <a:pt x="15237" y="3633"/>
                  <a:pt x="15228" y="3633"/>
                </a:cubicBezTo>
                <a:lnTo>
                  <a:pt x="140" y="3633"/>
                </a:lnTo>
                <a:cubicBezTo>
                  <a:pt x="131" y="3633"/>
                  <a:pt x="121" y="3632"/>
                  <a:pt x="112" y="3630"/>
                </a:cubicBezTo>
                <a:cubicBezTo>
                  <a:pt x="103" y="3629"/>
                  <a:pt x="95" y="3626"/>
                  <a:pt x="86" y="3622"/>
                </a:cubicBezTo>
                <a:cubicBezTo>
                  <a:pt x="78" y="3619"/>
                  <a:pt x="70" y="3615"/>
                  <a:pt x="62" y="3610"/>
                </a:cubicBezTo>
                <a:cubicBezTo>
                  <a:pt x="54" y="3604"/>
                  <a:pt x="47" y="3599"/>
                  <a:pt x="41" y="3592"/>
                </a:cubicBezTo>
                <a:cubicBezTo>
                  <a:pt x="34" y="3586"/>
                  <a:pt x="29" y="3579"/>
                  <a:pt x="24" y="3571"/>
                </a:cubicBezTo>
                <a:cubicBezTo>
                  <a:pt x="18" y="3563"/>
                  <a:pt x="14" y="3555"/>
                  <a:pt x="11" y="3547"/>
                </a:cubicBezTo>
                <a:cubicBezTo>
                  <a:pt x="7" y="3538"/>
                  <a:pt x="4" y="3530"/>
                  <a:pt x="3" y="3521"/>
                </a:cubicBezTo>
                <a:cubicBezTo>
                  <a:pt x="1" y="3512"/>
                  <a:pt x="0" y="3503"/>
                  <a:pt x="0" y="349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937080" y="1419480"/>
            <a:ext cx="5532480" cy="1307880"/>
          </a:xfrm>
          <a:custGeom>
            <a:avLst/>
            <a:gdLst/>
            <a:ahLst/>
            <a:rect l="0" t="0" r="r" b="b"/>
            <a:pathLst>
              <a:path fill="none" w="15368" h="3633">
                <a:moveTo>
                  <a:pt x="0" y="3493"/>
                </a:moveTo>
                <a:lnTo>
                  <a:pt x="0" y="140"/>
                </a:lnTo>
                <a:cubicBezTo>
                  <a:pt x="0" y="130"/>
                  <a:pt x="1" y="121"/>
                  <a:pt x="3" y="112"/>
                </a:cubicBezTo>
                <a:cubicBezTo>
                  <a:pt x="4" y="103"/>
                  <a:pt x="7" y="95"/>
                  <a:pt x="11" y="86"/>
                </a:cubicBezTo>
                <a:cubicBezTo>
                  <a:pt x="14" y="78"/>
                  <a:pt x="18" y="70"/>
                  <a:pt x="24" y="62"/>
                </a:cubicBezTo>
                <a:cubicBezTo>
                  <a:pt x="29" y="54"/>
                  <a:pt x="34" y="47"/>
                  <a:pt x="41" y="41"/>
                </a:cubicBezTo>
                <a:cubicBezTo>
                  <a:pt x="47" y="34"/>
                  <a:pt x="54" y="28"/>
                  <a:pt x="62" y="23"/>
                </a:cubicBezTo>
                <a:cubicBezTo>
                  <a:pt x="70" y="18"/>
                  <a:pt x="78" y="14"/>
                  <a:pt x="86" y="10"/>
                </a:cubicBezTo>
                <a:cubicBezTo>
                  <a:pt x="95" y="7"/>
                  <a:pt x="103" y="4"/>
                  <a:pt x="112" y="3"/>
                </a:cubicBezTo>
                <a:cubicBezTo>
                  <a:pt x="121" y="1"/>
                  <a:pt x="131" y="0"/>
                  <a:pt x="140" y="0"/>
                </a:cubicBezTo>
                <a:lnTo>
                  <a:pt x="15228" y="0"/>
                </a:lnTo>
                <a:cubicBezTo>
                  <a:pt x="15237" y="0"/>
                  <a:pt x="15247" y="1"/>
                  <a:pt x="15256" y="3"/>
                </a:cubicBezTo>
                <a:cubicBezTo>
                  <a:pt x="15265" y="4"/>
                  <a:pt x="15273" y="7"/>
                  <a:pt x="15282" y="10"/>
                </a:cubicBezTo>
                <a:cubicBezTo>
                  <a:pt x="15290" y="14"/>
                  <a:pt x="15298" y="18"/>
                  <a:pt x="15306" y="23"/>
                </a:cubicBezTo>
                <a:cubicBezTo>
                  <a:pt x="15314" y="28"/>
                  <a:pt x="15321" y="34"/>
                  <a:pt x="15327" y="41"/>
                </a:cubicBezTo>
                <a:cubicBezTo>
                  <a:pt x="15334" y="47"/>
                  <a:pt x="15339" y="54"/>
                  <a:pt x="15344" y="62"/>
                </a:cubicBezTo>
                <a:cubicBezTo>
                  <a:pt x="15350" y="70"/>
                  <a:pt x="15354" y="78"/>
                  <a:pt x="15357" y="86"/>
                </a:cubicBezTo>
                <a:cubicBezTo>
                  <a:pt x="15361" y="95"/>
                  <a:pt x="15364" y="103"/>
                  <a:pt x="15365" y="112"/>
                </a:cubicBezTo>
                <a:cubicBezTo>
                  <a:pt x="15367" y="121"/>
                  <a:pt x="15368" y="130"/>
                  <a:pt x="15368" y="140"/>
                </a:cubicBezTo>
                <a:lnTo>
                  <a:pt x="15368" y="3493"/>
                </a:lnTo>
                <a:cubicBezTo>
                  <a:pt x="15368" y="3503"/>
                  <a:pt x="15367" y="3512"/>
                  <a:pt x="15365" y="3521"/>
                </a:cubicBezTo>
                <a:cubicBezTo>
                  <a:pt x="15364" y="3530"/>
                  <a:pt x="15361" y="3538"/>
                  <a:pt x="15357" y="3547"/>
                </a:cubicBezTo>
                <a:cubicBezTo>
                  <a:pt x="15354" y="3555"/>
                  <a:pt x="15350" y="3563"/>
                  <a:pt x="15344" y="3571"/>
                </a:cubicBezTo>
                <a:cubicBezTo>
                  <a:pt x="15339" y="3579"/>
                  <a:pt x="15334" y="3586"/>
                  <a:pt x="15327" y="3592"/>
                </a:cubicBezTo>
                <a:cubicBezTo>
                  <a:pt x="15321" y="3599"/>
                  <a:pt x="15314" y="3604"/>
                  <a:pt x="15306" y="3610"/>
                </a:cubicBezTo>
                <a:cubicBezTo>
                  <a:pt x="15298" y="3615"/>
                  <a:pt x="15290" y="3619"/>
                  <a:pt x="15282" y="3622"/>
                </a:cubicBezTo>
                <a:cubicBezTo>
                  <a:pt x="15273" y="3626"/>
                  <a:pt x="15265" y="3629"/>
                  <a:pt x="15256" y="3630"/>
                </a:cubicBezTo>
                <a:cubicBezTo>
                  <a:pt x="15247" y="3632"/>
                  <a:pt x="15237" y="3633"/>
                  <a:pt x="15228" y="3633"/>
                </a:cubicBezTo>
                <a:lnTo>
                  <a:pt x="140" y="3633"/>
                </a:lnTo>
                <a:cubicBezTo>
                  <a:pt x="131" y="3633"/>
                  <a:pt x="121" y="3632"/>
                  <a:pt x="112" y="3630"/>
                </a:cubicBezTo>
                <a:cubicBezTo>
                  <a:pt x="103" y="3629"/>
                  <a:pt x="95" y="3626"/>
                  <a:pt x="86" y="3622"/>
                </a:cubicBezTo>
                <a:cubicBezTo>
                  <a:pt x="78" y="3619"/>
                  <a:pt x="70" y="3615"/>
                  <a:pt x="62" y="3610"/>
                </a:cubicBezTo>
                <a:cubicBezTo>
                  <a:pt x="54" y="3604"/>
                  <a:pt x="47" y="3599"/>
                  <a:pt x="41" y="3592"/>
                </a:cubicBezTo>
                <a:cubicBezTo>
                  <a:pt x="34" y="3586"/>
                  <a:pt x="29" y="3579"/>
                  <a:pt x="24" y="3571"/>
                </a:cubicBezTo>
                <a:cubicBezTo>
                  <a:pt x="18" y="3563"/>
                  <a:pt x="14" y="3555"/>
                  <a:pt x="11" y="3547"/>
                </a:cubicBezTo>
                <a:cubicBezTo>
                  <a:pt x="7" y="3538"/>
                  <a:pt x="4" y="3530"/>
                  <a:pt x="3" y="3521"/>
                </a:cubicBezTo>
                <a:cubicBezTo>
                  <a:pt x="1" y="3512"/>
                  <a:pt x="0" y="3503"/>
                  <a:pt x="0" y="3493"/>
                </a:cubicBezTo>
              </a:path>
            </a:pathLst>
          </a:custGeom>
          <a:ln w="9000">
            <a:solidFill>
              <a:srgbClr val="1f7a3a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 txBox="1"/>
          <p:nvPr/>
        </p:nvSpPr>
        <p:spPr>
          <a:xfrm>
            <a:off x="932760" y="802080"/>
            <a:ext cx="638784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2760" strike="noStrike" u="none">
                <a:solidFill>
                  <a:srgbClr val="0a0a0a"/>
                </a:solidFill>
                <a:effectLst/>
                <a:uFillTx/>
                <a:latin typeface="Fraunces-Regular_opsz266666_wght2580000"/>
                <a:ea typeface="Fraunces-Regular_opsz266666_wght2580000"/>
              </a:rPr>
              <a:t>Before vs. after — two outcomes.</a:t>
            </a:r>
            <a:endParaRPr b="0" lang="en-IN" sz="27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 txBox="1"/>
          <p:nvPr/>
        </p:nvSpPr>
        <p:spPr>
          <a:xfrm>
            <a:off x="1068120" y="1551240"/>
            <a:ext cx="89280" cy="10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710" strike="noStrike" u="none">
                <a:solidFill>
                  <a:srgbClr val="1f7a3a"/>
                </a:solidFill>
                <a:effectLst/>
                <a:uFillTx/>
                <a:latin typeface="Menlo"/>
                <a:ea typeface="Menlo"/>
              </a:rPr>
              <a:t>✓</a:t>
            </a:r>
            <a:endParaRPr b="0" lang="en-IN" sz="7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 txBox="1"/>
          <p:nvPr/>
        </p:nvSpPr>
        <p:spPr>
          <a:xfrm>
            <a:off x="1135440" y="1559880"/>
            <a:ext cx="7020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710" strike="noStrike" u="none">
                <a:solidFill>
                  <a:srgbClr val="1f7a3a"/>
                </a:solidFill>
                <a:effectLst/>
                <a:uFillTx/>
                <a:latin typeface="JetBrainsMono-Regular_wght2580000"/>
                <a:ea typeface="JetBrainsMono-Regular_wght2580000"/>
              </a:rPr>
              <a:t> AUDIT PASSES</a:t>
            </a:r>
            <a:endParaRPr b="0" lang="en-IN" sz="7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 txBox="1"/>
          <p:nvPr/>
        </p:nvSpPr>
        <p:spPr>
          <a:xfrm>
            <a:off x="1068120" y="1757160"/>
            <a:ext cx="69480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nodes: 412 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1747440" y="1747080"/>
            <a:ext cx="105120" cy="122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0a0a0a"/>
                </a:solidFill>
                <a:effectLst/>
                <a:uFillTx/>
                <a:latin typeface="Menlo"/>
                <a:ea typeface="Menlo"/>
              </a:rPr>
              <a:t>→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 txBox="1"/>
          <p:nvPr/>
        </p:nvSpPr>
        <p:spPr>
          <a:xfrm>
            <a:off x="1809360" y="1757160"/>
            <a:ext cx="25308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412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 txBox="1"/>
          <p:nvPr/>
        </p:nvSpPr>
        <p:spPr>
          <a:xfrm>
            <a:off x="1068120" y="1940040"/>
            <a:ext cx="69480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edges: 831 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 txBox="1"/>
          <p:nvPr/>
        </p:nvSpPr>
        <p:spPr>
          <a:xfrm>
            <a:off x="1747440" y="1929960"/>
            <a:ext cx="105120" cy="122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0a0a0a"/>
                </a:solidFill>
                <a:effectLst/>
                <a:uFillTx/>
                <a:latin typeface="Menlo"/>
                <a:ea typeface="Menlo"/>
              </a:rPr>
              <a:t>→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 txBox="1"/>
          <p:nvPr/>
        </p:nvSpPr>
        <p:spPr>
          <a:xfrm>
            <a:off x="1809360" y="1940040"/>
            <a:ext cx="25308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831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 txBox="1"/>
          <p:nvPr/>
        </p:nvSpPr>
        <p:spPr>
          <a:xfrm>
            <a:off x="1068120" y="2122920"/>
            <a:ext cx="75780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fingerprint: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 txBox="1"/>
          <p:nvPr/>
        </p:nvSpPr>
        <p:spPr>
          <a:xfrm>
            <a:off x="1068120" y="2296440"/>
            <a:ext cx="69480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83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a3f1...8c2b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 txBox="1"/>
          <p:nvPr/>
        </p:nvSpPr>
        <p:spPr>
          <a:xfrm>
            <a:off x="1068120" y="2479320"/>
            <a:ext cx="94716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== </a:t>
            </a:r>
            <a:r>
              <a:rPr b="1" lang="en-IN" sz="83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a3f1...8c2b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7246440" y="1419480"/>
            <a:ext cx="5532480" cy="1307880"/>
          </a:xfrm>
          <a:custGeom>
            <a:avLst/>
            <a:gdLst/>
            <a:ahLst/>
            <a:rect l="0" t="0" r="r" b="b"/>
            <a:pathLst>
              <a:path w="15368" h="3633">
                <a:moveTo>
                  <a:pt x="0" y="3493"/>
                </a:moveTo>
                <a:lnTo>
                  <a:pt x="0" y="140"/>
                </a:lnTo>
                <a:cubicBezTo>
                  <a:pt x="0" y="130"/>
                  <a:pt x="1" y="121"/>
                  <a:pt x="3" y="112"/>
                </a:cubicBezTo>
                <a:cubicBezTo>
                  <a:pt x="4" y="103"/>
                  <a:pt x="7" y="95"/>
                  <a:pt x="11" y="86"/>
                </a:cubicBezTo>
                <a:cubicBezTo>
                  <a:pt x="14" y="78"/>
                  <a:pt x="18" y="70"/>
                  <a:pt x="24" y="62"/>
                </a:cubicBezTo>
                <a:cubicBezTo>
                  <a:pt x="29" y="54"/>
                  <a:pt x="34" y="47"/>
                  <a:pt x="41" y="41"/>
                </a:cubicBezTo>
                <a:cubicBezTo>
                  <a:pt x="47" y="34"/>
                  <a:pt x="54" y="28"/>
                  <a:pt x="62" y="23"/>
                </a:cubicBezTo>
                <a:cubicBezTo>
                  <a:pt x="70" y="18"/>
                  <a:pt x="78" y="14"/>
                  <a:pt x="86" y="10"/>
                </a:cubicBezTo>
                <a:cubicBezTo>
                  <a:pt x="95" y="7"/>
                  <a:pt x="103" y="4"/>
                  <a:pt x="112" y="3"/>
                </a:cubicBezTo>
                <a:cubicBezTo>
                  <a:pt x="121" y="1"/>
                  <a:pt x="131" y="0"/>
                  <a:pt x="140" y="0"/>
                </a:cubicBezTo>
                <a:lnTo>
                  <a:pt x="15228" y="0"/>
                </a:lnTo>
                <a:cubicBezTo>
                  <a:pt x="15237" y="0"/>
                  <a:pt x="15247" y="1"/>
                  <a:pt x="15256" y="3"/>
                </a:cubicBezTo>
                <a:cubicBezTo>
                  <a:pt x="15265" y="4"/>
                  <a:pt x="15273" y="7"/>
                  <a:pt x="15282" y="10"/>
                </a:cubicBezTo>
                <a:cubicBezTo>
                  <a:pt x="15290" y="14"/>
                  <a:pt x="15298" y="18"/>
                  <a:pt x="15306" y="23"/>
                </a:cubicBezTo>
                <a:cubicBezTo>
                  <a:pt x="15314" y="28"/>
                  <a:pt x="15321" y="34"/>
                  <a:pt x="15327" y="41"/>
                </a:cubicBezTo>
                <a:cubicBezTo>
                  <a:pt x="15334" y="47"/>
                  <a:pt x="15339" y="54"/>
                  <a:pt x="15344" y="62"/>
                </a:cubicBezTo>
                <a:cubicBezTo>
                  <a:pt x="15350" y="70"/>
                  <a:pt x="15354" y="78"/>
                  <a:pt x="15357" y="86"/>
                </a:cubicBezTo>
                <a:cubicBezTo>
                  <a:pt x="15361" y="95"/>
                  <a:pt x="15364" y="103"/>
                  <a:pt x="15365" y="112"/>
                </a:cubicBezTo>
                <a:cubicBezTo>
                  <a:pt x="15367" y="121"/>
                  <a:pt x="15368" y="130"/>
                  <a:pt x="15368" y="140"/>
                </a:cubicBezTo>
                <a:lnTo>
                  <a:pt x="15368" y="3493"/>
                </a:lnTo>
                <a:cubicBezTo>
                  <a:pt x="15368" y="3503"/>
                  <a:pt x="15367" y="3512"/>
                  <a:pt x="15365" y="3521"/>
                </a:cubicBezTo>
                <a:cubicBezTo>
                  <a:pt x="15364" y="3530"/>
                  <a:pt x="15361" y="3538"/>
                  <a:pt x="15357" y="3547"/>
                </a:cubicBezTo>
                <a:cubicBezTo>
                  <a:pt x="15354" y="3555"/>
                  <a:pt x="15350" y="3563"/>
                  <a:pt x="15344" y="3571"/>
                </a:cubicBezTo>
                <a:cubicBezTo>
                  <a:pt x="15339" y="3579"/>
                  <a:pt x="15334" y="3586"/>
                  <a:pt x="15327" y="3592"/>
                </a:cubicBezTo>
                <a:cubicBezTo>
                  <a:pt x="15321" y="3599"/>
                  <a:pt x="15314" y="3604"/>
                  <a:pt x="15306" y="3610"/>
                </a:cubicBezTo>
                <a:cubicBezTo>
                  <a:pt x="15298" y="3615"/>
                  <a:pt x="15290" y="3619"/>
                  <a:pt x="15282" y="3622"/>
                </a:cubicBezTo>
                <a:cubicBezTo>
                  <a:pt x="15273" y="3626"/>
                  <a:pt x="15265" y="3629"/>
                  <a:pt x="15256" y="3630"/>
                </a:cubicBezTo>
                <a:cubicBezTo>
                  <a:pt x="15247" y="3632"/>
                  <a:pt x="15237" y="3633"/>
                  <a:pt x="15228" y="3633"/>
                </a:cubicBezTo>
                <a:lnTo>
                  <a:pt x="140" y="3633"/>
                </a:lnTo>
                <a:cubicBezTo>
                  <a:pt x="131" y="3633"/>
                  <a:pt x="121" y="3632"/>
                  <a:pt x="112" y="3630"/>
                </a:cubicBezTo>
                <a:cubicBezTo>
                  <a:pt x="103" y="3629"/>
                  <a:pt x="95" y="3626"/>
                  <a:pt x="86" y="3622"/>
                </a:cubicBezTo>
                <a:cubicBezTo>
                  <a:pt x="78" y="3619"/>
                  <a:pt x="70" y="3615"/>
                  <a:pt x="62" y="3610"/>
                </a:cubicBezTo>
                <a:cubicBezTo>
                  <a:pt x="54" y="3604"/>
                  <a:pt x="47" y="3599"/>
                  <a:pt x="41" y="3592"/>
                </a:cubicBezTo>
                <a:cubicBezTo>
                  <a:pt x="34" y="3586"/>
                  <a:pt x="29" y="3579"/>
                  <a:pt x="24" y="3571"/>
                </a:cubicBezTo>
                <a:cubicBezTo>
                  <a:pt x="18" y="3563"/>
                  <a:pt x="14" y="3555"/>
                  <a:pt x="11" y="3547"/>
                </a:cubicBezTo>
                <a:cubicBezTo>
                  <a:pt x="7" y="3538"/>
                  <a:pt x="4" y="3530"/>
                  <a:pt x="3" y="3521"/>
                </a:cubicBezTo>
                <a:cubicBezTo>
                  <a:pt x="1" y="3512"/>
                  <a:pt x="0" y="3503"/>
                  <a:pt x="0" y="349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7246440" y="1419480"/>
            <a:ext cx="5532480" cy="1307880"/>
          </a:xfrm>
          <a:custGeom>
            <a:avLst/>
            <a:gdLst/>
            <a:ahLst/>
            <a:rect l="0" t="0" r="r" b="b"/>
            <a:pathLst>
              <a:path fill="none" w="15368" h="3633">
                <a:moveTo>
                  <a:pt x="0" y="3493"/>
                </a:moveTo>
                <a:lnTo>
                  <a:pt x="0" y="140"/>
                </a:lnTo>
                <a:cubicBezTo>
                  <a:pt x="0" y="130"/>
                  <a:pt x="1" y="121"/>
                  <a:pt x="3" y="112"/>
                </a:cubicBezTo>
                <a:cubicBezTo>
                  <a:pt x="4" y="103"/>
                  <a:pt x="7" y="95"/>
                  <a:pt x="11" y="86"/>
                </a:cubicBezTo>
                <a:cubicBezTo>
                  <a:pt x="14" y="78"/>
                  <a:pt x="18" y="70"/>
                  <a:pt x="24" y="62"/>
                </a:cubicBezTo>
                <a:cubicBezTo>
                  <a:pt x="29" y="54"/>
                  <a:pt x="34" y="47"/>
                  <a:pt x="41" y="41"/>
                </a:cubicBezTo>
                <a:cubicBezTo>
                  <a:pt x="47" y="34"/>
                  <a:pt x="54" y="28"/>
                  <a:pt x="62" y="23"/>
                </a:cubicBezTo>
                <a:cubicBezTo>
                  <a:pt x="70" y="18"/>
                  <a:pt x="78" y="14"/>
                  <a:pt x="86" y="10"/>
                </a:cubicBezTo>
                <a:cubicBezTo>
                  <a:pt x="95" y="7"/>
                  <a:pt x="103" y="4"/>
                  <a:pt x="112" y="3"/>
                </a:cubicBezTo>
                <a:cubicBezTo>
                  <a:pt x="121" y="1"/>
                  <a:pt x="131" y="0"/>
                  <a:pt x="140" y="0"/>
                </a:cubicBezTo>
                <a:lnTo>
                  <a:pt x="15228" y="0"/>
                </a:lnTo>
                <a:cubicBezTo>
                  <a:pt x="15237" y="0"/>
                  <a:pt x="15247" y="1"/>
                  <a:pt x="15256" y="3"/>
                </a:cubicBezTo>
                <a:cubicBezTo>
                  <a:pt x="15265" y="4"/>
                  <a:pt x="15273" y="7"/>
                  <a:pt x="15282" y="10"/>
                </a:cubicBezTo>
                <a:cubicBezTo>
                  <a:pt x="15290" y="14"/>
                  <a:pt x="15298" y="18"/>
                  <a:pt x="15306" y="23"/>
                </a:cubicBezTo>
                <a:cubicBezTo>
                  <a:pt x="15314" y="28"/>
                  <a:pt x="15321" y="34"/>
                  <a:pt x="15327" y="41"/>
                </a:cubicBezTo>
                <a:cubicBezTo>
                  <a:pt x="15334" y="47"/>
                  <a:pt x="15339" y="54"/>
                  <a:pt x="15344" y="62"/>
                </a:cubicBezTo>
                <a:cubicBezTo>
                  <a:pt x="15350" y="70"/>
                  <a:pt x="15354" y="78"/>
                  <a:pt x="15357" y="86"/>
                </a:cubicBezTo>
                <a:cubicBezTo>
                  <a:pt x="15361" y="95"/>
                  <a:pt x="15364" y="103"/>
                  <a:pt x="15365" y="112"/>
                </a:cubicBezTo>
                <a:cubicBezTo>
                  <a:pt x="15367" y="121"/>
                  <a:pt x="15368" y="130"/>
                  <a:pt x="15368" y="140"/>
                </a:cubicBezTo>
                <a:lnTo>
                  <a:pt x="15368" y="3493"/>
                </a:lnTo>
                <a:cubicBezTo>
                  <a:pt x="15368" y="3503"/>
                  <a:pt x="15367" y="3512"/>
                  <a:pt x="15365" y="3521"/>
                </a:cubicBezTo>
                <a:cubicBezTo>
                  <a:pt x="15364" y="3530"/>
                  <a:pt x="15361" y="3538"/>
                  <a:pt x="15357" y="3547"/>
                </a:cubicBezTo>
                <a:cubicBezTo>
                  <a:pt x="15354" y="3555"/>
                  <a:pt x="15350" y="3563"/>
                  <a:pt x="15344" y="3571"/>
                </a:cubicBezTo>
                <a:cubicBezTo>
                  <a:pt x="15339" y="3579"/>
                  <a:pt x="15334" y="3586"/>
                  <a:pt x="15327" y="3592"/>
                </a:cubicBezTo>
                <a:cubicBezTo>
                  <a:pt x="15321" y="3599"/>
                  <a:pt x="15314" y="3604"/>
                  <a:pt x="15306" y="3610"/>
                </a:cubicBezTo>
                <a:cubicBezTo>
                  <a:pt x="15298" y="3615"/>
                  <a:pt x="15290" y="3619"/>
                  <a:pt x="15282" y="3622"/>
                </a:cubicBezTo>
                <a:cubicBezTo>
                  <a:pt x="15273" y="3626"/>
                  <a:pt x="15265" y="3629"/>
                  <a:pt x="15256" y="3630"/>
                </a:cubicBezTo>
                <a:cubicBezTo>
                  <a:pt x="15247" y="3632"/>
                  <a:pt x="15237" y="3633"/>
                  <a:pt x="15228" y="3633"/>
                </a:cubicBezTo>
                <a:lnTo>
                  <a:pt x="140" y="3633"/>
                </a:lnTo>
                <a:cubicBezTo>
                  <a:pt x="131" y="3633"/>
                  <a:pt x="121" y="3632"/>
                  <a:pt x="112" y="3630"/>
                </a:cubicBezTo>
                <a:cubicBezTo>
                  <a:pt x="103" y="3629"/>
                  <a:pt x="95" y="3626"/>
                  <a:pt x="86" y="3622"/>
                </a:cubicBezTo>
                <a:cubicBezTo>
                  <a:pt x="78" y="3619"/>
                  <a:pt x="70" y="3615"/>
                  <a:pt x="62" y="3610"/>
                </a:cubicBezTo>
                <a:cubicBezTo>
                  <a:pt x="54" y="3604"/>
                  <a:pt x="47" y="3599"/>
                  <a:pt x="41" y="3592"/>
                </a:cubicBezTo>
                <a:cubicBezTo>
                  <a:pt x="34" y="3586"/>
                  <a:pt x="29" y="3579"/>
                  <a:pt x="24" y="3571"/>
                </a:cubicBezTo>
                <a:cubicBezTo>
                  <a:pt x="18" y="3563"/>
                  <a:pt x="14" y="3555"/>
                  <a:pt x="11" y="3547"/>
                </a:cubicBezTo>
                <a:cubicBezTo>
                  <a:pt x="7" y="3538"/>
                  <a:pt x="4" y="3530"/>
                  <a:pt x="3" y="3521"/>
                </a:cubicBezTo>
                <a:cubicBezTo>
                  <a:pt x="1" y="3512"/>
                  <a:pt x="0" y="3503"/>
                  <a:pt x="0" y="3493"/>
                </a:cubicBezTo>
              </a:path>
            </a:pathLst>
          </a:custGeom>
          <a:ln w="9000">
            <a:solidFill>
              <a:srgbClr val="8b1538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 txBox="1"/>
          <p:nvPr/>
        </p:nvSpPr>
        <p:spPr>
          <a:xfrm>
            <a:off x="6623280" y="1945440"/>
            <a:ext cx="475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2070" strike="noStrike" u="none">
                <a:solidFill>
                  <a:srgbClr val="8b1538"/>
                </a:solidFill>
                <a:effectLst/>
                <a:uFillTx/>
                <a:latin typeface="JetBrainsMono"/>
                <a:ea typeface="JetBrainsMono"/>
              </a:rPr>
              <a:t>vs.</a:t>
            </a:r>
            <a:endParaRPr b="0" lang="en-IN" sz="2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 txBox="1"/>
          <p:nvPr/>
        </p:nvSpPr>
        <p:spPr>
          <a:xfrm>
            <a:off x="7374600" y="1551240"/>
            <a:ext cx="89280" cy="10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710" strike="noStrike" u="none">
                <a:solidFill>
                  <a:srgbClr val="8b1538"/>
                </a:solidFill>
                <a:effectLst/>
                <a:uFillTx/>
                <a:latin typeface="Menlo"/>
                <a:ea typeface="Menlo"/>
              </a:rPr>
              <a:t>✗</a:t>
            </a:r>
            <a:endParaRPr b="0" lang="en-IN" sz="7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7441920" y="1559880"/>
            <a:ext cx="6483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71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 AUDIT FAILS</a:t>
            </a:r>
            <a:endParaRPr b="0" lang="en-IN" sz="7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 txBox="1"/>
          <p:nvPr/>
        </p:nvSpPr>
        <p:spPr>
          <a:xfrm>
            <a:off x="7374600" y="1757160"/>
            <a:ext cx="69480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nodes: 412 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8053920" y="1747080"/>
            <a:ext cx="105120" cy="122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0a0a0a"/>
                </a:solidFill>
                <a:effectLst/>
                <a:uFillTx/>
                <a:latin typeface="Menlo"/>
                <a:ea typeface="Menlo"/>
              </a:rPr>
              <a:t>→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8115840" y="1757160"/>
            <a:ext cx="63180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r>
              <a:rPr b="0" lang="en-IN" sz="830" strike="noStrike" u="none">
                <a:solidFill>
                  <a:srgbClr val="8b1538"/>
                </a:solidFill>
                <a:effectLst/>
                <a:uFillTx/>
                <a:latin typeface="JetBrainsMono"/>
                <a:ea typeface="JetBrainsMono"/>
              </a:rPr>
              <a:t>492 (+80)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 txBox="1"/>
          <p:nvPr/>
        </p:nvSpPr>
        <p:spPr>
          <a:xfrm>
            <a:off x="7374600" y="1940040"/>
            <a:ext cx="69480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edges: 831 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 txBox="1"/>
          <p:nvPr/>
        </p:nvSpPr>
        <p:spPr>
          <a:xfrm>
            <a:off x="8053920" y="1929960"/>
            <a:ext cx="105120" cy="122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0a0a0a"/>
                </a:solidFill>
                <a:effectLst/>
                <a:uFillTx/>
                <a:latin typeface="Menlo"/>
                <a:ea typeface="Menlo"/>
              </a:rPr>
              <a:t>→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 txBox="1"/>
          <p:nvPr/>
        </p:nvSpPr>
        <p:spPr>
          <a:xfrm>
            <a:off x="8115840" y="1940040"/>
            <a:ext cx="75780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r>
              <a:rPr b="0" lang="en-IN" sz="830" strike="noStrike" u="none">
                <a:solidFill>
                  <a:srgbClr val="8b1538"/>
                </a:solidFill>
                <a:effectLst/>
                <a:uFillTx/>
                <a:latin typeface="JetBrainsMono"/>
                <a:ea typeface="JetBrainsMono"/>
              </a:rPr>
              <a:t>1003 (+172)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 txBox="1"/>
          <p:nvPr/>
        </p:nvSpPr>
        <p:spPr>
          <a:xfrm>
            <a:off x="7374600" y="2122920"/>
            <a:ext cx="75780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fingerprint: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 txBox="1"/>
          <p:nvPr/>
        </p:nvSpPr>
        <p:spPr>
          <a:xfrm>
            <a:off x="7374600" y="2296440"/>
            <a:ext cx="69480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83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a3f1...8c2b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 txBox="1"/>
          <p:nvPr/>
        </p:nvSpPr>
        <p:spPr>
          <a:xfrm>
            <a:off x="7374600" y="2479320"/>
            <a:ext cx="10512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 txBox="1"/>
          <p:nvPr/>
        </p:nvSpPr>
        <p:spPr>
          <a:xfrm>
            <a:off x="7436520" y="2469600"/>
            <a:ext cx="105120" cy="122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0a0a0a"/>
                </a:solidFill>
                <a:effectLst/>
                <a:uFillTx/>
                <a:latin typeface="Menlo"/>
                <a:ea typeface="Menlo"/>
              </a:rPr>
              <a:t>≠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7498440" y="2479320"/>
            <a:ext cx="75780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30" strike="noStrike" u="none">
                <a:solidFill>
                  <a:srgbClr val="0a0a0a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r>
              <a:rPr b="1" lang="en-IN" sz="83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d9e2...0f17</a:t>
            </a:r>
            <a:endParaRPr b="0" lang="en-IN" sz="8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932760" y="2857680"/>
            <a:ext cx="8794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The right side 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 txBox="1"/>
          <p:nvPr/>
        </p:nvSpPr>
        <p:spPr>
          <a:xfrm>
            <a:off x="1874520" y="2857680"/>
            <a:ext cx="13860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130" strike="noStrike" u="none">
                <a:solidFill>
                  <a:srgbClr val="8b1538"/>
                </a:solidFill>
                <a:effectLst/>
                <a:uFillTx/>
                <a:latin typeface="Inter"/>
                <a:ea typeface="Inter"/>
              </a:rPr>
              <a:t>is</a:t>
            </a:r>
            <a:endParaRPr b="0" lang="en-IN" sz="1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 txBox="1"/>
          <p:nvPr/>
        </p:nvSpPr>
        <p:spPr>
          <a:xfrm>
            <a:off x="1941840" y="2857680"/>
            <a:ext cx="63072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 what happened on the first run. The audit forced the bug into the open — and into the fix that followed.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685800" y="8312040"/>
            <a:ext cx="2566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MEMORY-ASSISTED LLM AS A JUDGE VIA KNOWLEDGE GRAPHS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 txBox="1"/>
          <p:nvPr/>
        </p:nvSpPr>
        <p:spPr>
          <a:xfrm>
            <a:off x="11400480" y="8312040"/>
            <a:ext cx="13590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16 / 36  ·  K. PATEL · 2026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/>
          <p:nvPr/>
        </p:nvSpPr>
        <p:spPr>
          <a:xfrm>
            <a:off x="273960" y="171360"/>
            <a:ext cx="13167720" cy="8229960"/>
          </a:xfrm>
          <a:custGeom>
            <a:avLst/>
            <a:gdLst/>
            <a:ahLst/>
            <a:rect l="0" t="0" r="r" b="b"/>
            <a:pathLst>
              <a:path w="36577" h="22861">
                <a:moveTo>
                  <a:pt x="0" y="0"/>
                </a:moveTo>
                <a:lnTo>
                  <a:pt x="36577" y="0"/>
                </a:lnTo>
                <a:lnTo>
                  <a:pt x="36577" y="22861"/>
                </a:lnTo>
                <a:lnTo>
                  <a:pt x="0" y="22861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932760" y="3591360"/>
            <a:ext cx="125172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60" strike="noStrike" u="none">
                <a:solidFill>
                  <a:srgbClr val="8b1538"/>
                </a:solidFill>
                <a:effectLst/>
                <a:uFillTx/>
                <a:latin typeface="JetBrainsMono"/>
                <a:ea typeface="JetBrainsMono"/>
              </a:rPr>
              <a:t>E V A L U A T I O N</a:t>
            </a:r>
            <a:endParaRPr b="0" lang="en-IN" sz="8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932760" y="3737520"/>
            <a:ext cx="9180000" cy="785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4380" strike="noStrike" u="none">
                <a:solidFill>
                  <a:srgbClr val="0a0a0a"/>
                </a:solidFill>
                <a:effectLst/>
                <a:uFillTx/>
                <a:latin typeface="Fraunces-Regular_opsz3CCCC6_wght2580000"/>
                <a:ea typeface="Fraunces-Regular_opsz3CCCC6_wght2580000"/>
              </a:rPr>
              <a:t>Re-evaluation under the audit.</a:t>
            </a:r>
            <a:endParaRPr b="0" lang="en-IN" sz="43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983520" y="4659120"/>
            <a:ext cx="57596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540" strike="noStrike" u="none">
                <a:solidFill>
                  <a:srgbClr val="8b1538"/>
                </a:solidFill>
                <a:effectLst/>
                <a:uFillTx/>
                <a:latin typeface="Fraunces-Regular_opsz14CCC6_wght12C0000"/>
                <a:ea typeface="Fraunces-Regular_opsz14CCC6_wght12C0000"/>
              </a:rPr>
              <a:t>Now — with the audit passing — what do the six modes really do?</a:t>
            </a:r>
            <a:endParaRPr b="0" lang="en-IN" sz="15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685800" y="8312040"/>
            <a:ext cx="2566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MEMORY-ASSISTED LLM AS A JUDGE VIA KNOWLEDGE GRAPHS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 txBox="1"/>
          <p:nvPr/>
        </p:nvSpPr>
        <p:spPr>
          <a:xfrm>
            <a:off x="11400480" y="8312040"/>
            <a:ext cx="13590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17 / 36  ·  K. PATEL · 2026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/>
          <p:nvPr/>
        </p:nvSpPr>
        <p:spPr>
          <a:xfrm>
            <a:off x="273960" y="171360"/>
            <a:ext cx="13167720" cy="8229960"/>
          </a:xfrm>
          <a:custGeom>
            <a:avLst/>
            <a:gdLst/>
            <a:ahLst/>
            <a:rect l="0" t="0" r="r" b="b"/>
            <a:pathLst>
              <a:path w="36577" h="22861">
                <a:moveTo>
                  <a:pt x="0" y="0"/>
                </a:moveTo>
                <a:lnTo>
                  <a:pt x="36577" y="0"/>
                </a:lnTo>
                <a:lnTo>
                  <a:pt x="36577" y="22861"/>
                </a:lnTo>
                <a:lnTo>
                  <a:pt x="0" y="22861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 txBox="1"/>
          <p:nvPr/>
        </p:nvSpPr>
        <p:spPr>
          <a:xfrm>
            <a:off x="932760" y="579960"/>
            <a:ext cx="150048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EVALUATION · DATASET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 txBox="1"/>
          <p:nvPr/>
        </p:nvSpPr>
        <p:spPr>
          <a:xfrm>
            <a:off x="932760" y="802080"/>
            <a:ext cx="235728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2760" strike="noStrike" u="none">
                <a:solidFill>
                  <a:srgbClr val="0a0a0a"/>
                </a:solidFill>
                <a:effectLst/>
                <a:uFillTx/>
                <a:latin typeface="Fraunces-Regular_opsz266666_wght2580000"/>
                <a:ea typeface="Fraunces-Regular_opsz266666_wght2580000"/>
              </a:rPr>
              <a:t>EvalsBench.</a:t>
            </a:r>
            <a:endParaRPr b="0" lang="en-IN" sz="27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 txBox="1"/>
          <p:nvPr/>
        </p:nvSpPr>
        <p:spPr>
          <a:xfrm>
            <a:off x="932760" y="1695600"/>
            <a:ext cx="244800" cy="154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160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1352160" y="1518840"/>
            <a:ext cx="368892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2130" strike="noStrike" u="none">
                <a:solidFill>
                  <a:srgbClr val="0a0a0a"/>
                </a:solidFill>
                <a:effectLst/>
                <a:uFillTx/>
                <a:latin typeface="Fraunces-Regular_opsz1D9999_wght1900000"/>
                <a:ea typeface="Fraunces-Regular_opsz1D9999_wght1900000"/>
              </a:rPr>
              <a:t>samples · finance / startup QA.</a:t>
            </a:r>
            <a:endParaRPr b="0" lang="en-IN" sz="2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 txBox="1"/>
          <p:nvPr/>
        </p:nvSpPr>
        <p:spPr>
          <a:xfrm>
            <a:off x="932760" y="2289960"/>
            <a:ext cx="163440" cy="154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80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 txBox="1"/>
          <p:nvPr/>
        </p:nvSpPr>
        <p:spPr>
          <a:xfrm>
            <a:off x="1257480" y="2113200"/>
            <a:ext cx="508428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2130" strike="noStrike" u="none">
                <a:solidFill>
                  <a:srgbClr val="0a0a0a"/>
                </a:solidFill>
                <a:effectLst/>
                <a:uFillTx/>
                <a:latin typeface="Fraunces-Regular_opsz1D9999_wght1900000"/>
                <a:ea typeface="Fraunces-Regular_opsz1D9999_wght1900000"/>
              </a:rPr>
              <a:t>unique questions — each appearing twice.</a:t>
            </a:r>
            <a:endParaRPr b="0" lang="en-IN" sz="2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 txBox="1"/>
          <p:nvPr/>
        </p:nvSpPr>
        <p:spPr>
          <a:xfrm>
            <a:off x="932760" y="2884320"/>
            <a:ext cx="407520" cy="154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50/50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 txBox="1"/>
          <p:nvPr/>
        </p:nvSpPr>
        <p:spPr>
          <a:xfrm>
            <a:off x="1541880" y="2707560"/>
            <a:ext cx="275976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2130" strike="noStrike" u="none">
                <a:solidFill>
                  <a:srgbClr val="0a0a0a"/>
                </a:solidFill>
                <a:effectLst/>
                <a:uFillTx/>
                <a:latin typeface="Fraunces-Regular_opsz1D9999_wght1900000"/>
                <a:ea typeface="Fraunces-Regular_opsz1D9999_wght1900000"/>
              </a:rPr>
              <a:t>balanced PASS / FAIL.</a:t>
            </a:r>
            <a:endParaRPr b="0" lang="en-IN" sz="2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 txBox="1"/>
          <p:nvPr/>
        </p:nvSpPr>
        <p:spPr>
          <a:xfrm>
            <a:off x="932760" y="3478680"/>
            <a:ext cx="489240" cy="154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PAIRED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 txBox="1"/>
          <p:nvPr/>
        </p:nvSpPr>
        <p:spPr>
          <a:xfrm>
            <a:off x="1636560" y="3301920"/>
            <a:ext cx="383904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2130" strike="noStrike" u="none">
                <a:solidFill>
                  <a:srgbClr val="0a0a0a"/>
                </a:solidFill>
                <a:effectLst/>
                <a:uFillTx/>
                <a:latin typeface="Fraunces-Regular_opsz1D9999_wght1900000"/>
                <a:ea typeface="Fraunces-Regular_opsz1D9999_wght1900000"/>
              </a:rPr>
              <a:t>a natural stress test for leakage.</a:t>
            </a:r>
            <a:endParaRPr b="0" lang="en-IN" sz="2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 txBox="1"/>
          <p:nvPr/>
        </p:nvSpPr>
        <p:spPr>
          <a:xfrm>
            <a:off x="685800" y="8312040"/>
            <a:ext cx="2566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MEMORY-ASSISTED LLM AS A JUDGE VIA KNOWLEDGE GRAPHS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 txBox="1"/>
          <p:nvPr/>
        </p:nvSpPr>
        <p:spPr>
          <a:xfrm>
            <a:off x="11400480" y="8312040"/>
            <a:ext cx="13590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18 / 36  ·  K. PATEL · 2026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/>
          <p:nvPr/>
        </p:nvSpPr>
        <p:spPr>
          <a:xfrm>
            <a:off x="273960" y="171360"/>
            <a:ext cx="13167720" cy="8229960"/>
          </a:xfrm>
          <a:custGeom>
            <a:avLst/>
            <a:gdLst/>
            <a:ahLst/>
            <a:rect l="0" t="0" r="r" b="b"/>
            <a:pathLst>
              <a:path w="36577" h="22861">
                <a:moveTo>
                  <a:pt x="0" y="0"/>
                </a:moveTo>
                <a:lnTo>
                  <a:pt x="36577" y="0"/>
                </a:lnTo>
                <a:lnTo>
                  <a:pt x="36577" y="22861"/>
                </a:lnTo>
                <a:lnTo>
                  <a:pt x="0" y="22861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 txBox="1"/>
          <p:nvPr/>
        </p:nvSpPr>
        <p:spPr>
          <a:xfrm>
            <a:off x="932760" y="1338840"/>
            <a:ext cx="270036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EVALUATION · STATISTICAL METHODOLOGY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 txBox="1"/>
          <p:nvPr/>
        </p:nvSpPr>
        <p:spPr>
          <a:xfrm>
            <a:off x="932760" y="1560960"/>
            <a:ext cx="551232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2760" strike="noStrike" u="none">
                <a:solidFill>
                  <a:srgbClr val="0a0a0a"/>
                </a:solidFill>
                <a:effectLst/>
                <a:uFillTx/>
                <a:latin typeface="Fraunces-Regular_opsz266666_wght2580000"/>
                <a:ea typeface="Fraunces-Regular_opsz266666_wght2580000"/>
              </a:rPr>
              <a:t>How significance is decided.</a:t>
            </a:r>
            <a:endParaRPr b="0" lang="en-IN" sz="27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 txBox="1"/>
          <p:nvPr/>
        </p:nvSpPr>
        <p:spPr>
          <a:xfrm>
            <a:off x="932760" y="2290680"/>
            <a:ext cx="285948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5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Every accuracy is reported with a 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 txBox="1"/>
          <p:nvPr/>
        </p:nvSpPr>
        <p:spPr>
          <a:xfrm>
            <a:off x="3885840" y="2284560"/>
            <a:ext cx="2562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500" strike="noStrike" u="none">
                <a:solidFill>
                  <a:srgbClr val="0a0a0a"/>
                </a:solidFill>
                <a:effectLst/>
                <a:uFillTx/>
                <a:latin typeface="Inter-Regular_Semi"/>
                <a:ea typeface="Inter-Regular_Semi"/>
              </a:rPr>
              <a:t>two-sided Wilson 95% CI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 txBox="1"/>
          <p:nvPr/>
        </p:nvSpPr>
        <p:spPr>
          <a:xfrm>
            <a:off x="6184080" y="2290680"/>
            <a:ext cx="416196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5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. Mode-versus-mode comparisons are paired and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932760" y="2583360"/>
            <a:ext cx="156780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5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assessed with the 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 txBox="1"/>
          <p:nvPr/>
        </p:nvSpPr>
        <p:spPr>
          <a:xfrm>
            <a:off x="2546280" y="2577240"/>
            <a:ext cx="2127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500" strike="noStrike" u="none">
                <a:solidFill>
                  <a:srgbClr val="0a0a0a"/>
                </a:solidFill>
                <a:effectLst/>
                <a:uFillTx/>
                <a:latin typeface="Inter-Regular_Semi"/>
                <a:ea typeface="Inter-Regular_Semi"/>
              </a:rPr>
              <a:t>exact McNemar test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30" name="" descr=""/>
          <p:cNvPicPr/>
          <p:nvPr/>
        </p:nvPicPr>
        <p:blipFill>
          <a:blip r:embed="rId1"/>
          <a:stretch/>
        </p:blipFill>
        <p:spPr>
          <a:xfrm>
            <a:off x="713160" y="3069360"/>
            <a:ext cx="12289320" cy="194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1" name=""/>
          <p:cNvSpPr/>
          <p:nvPr/>
        </p:nvSpPr>
        <p:spPr>
          <a:xfrm>
            <a:off x="713160" y="3069000"/>
            <a:ext cx="12289680" cy="1948320"/>
          </a:xfrm>
          <a:custGeom>
            <a:avLst/>
            <a:gdLst/>
            <a:ahLst/>
            <a:rect l="0" t="0" r="r" b="b"/>
            <a:pathLst>
              <a:path w="34138" h="5412">
                <a:moveTo>
                  <a:pt x="635" y="612"/>
                </a:moveTo>
                <a:lnTo>
                  <a:pt x="635" y="4397"/>
                </a:lnTo>
                <a:cubicBezTo>
                  <a:pt x="635" y="4420"/>
                  <a:pt x="639" y="4443"/>
                  <a:pt x="648" y="4465"/>
                </a:cubicBezTo>
                <a:cubicBezTo>
                  <a:pt x="657" y="4487"/>
                  <a:pt x="670" y="4506"/>
                  <a:pt x="687" y="4522"/>
                </a:cubicBezTo>
                <a:cubicBezTo>
                  <a:pt x="703" y="4539"/>
                  <a:pt x="723" y="4552"/>
                  <a:pt x="744" y="4561"/>
                </a:cubicBezTo>
                <a:cubicBezTo>
                  <a:pt x="766" y="4570"/>
                  <a:pt x="789" y="4575"/>
                  <a:pt x="812" y="4575"/>
                </a:cubicBezTo>
                <a:lnTo>
                  <a:pt x="33325" y="4575"/>
                </a:lnTo>
                <a:cubicBezTo>
                  <a:pt x="33349" y="4575"/>
                  <a:pt x="33372" y="4570"/>
                  <a:pt x="33394" y="4561"/>
                </a:cubicBezTo>
                <a:cubicBezTo>
                  <a:pt x="33415" y="4552"/>
                  <a:pt x="33435" y="4539"/>
                  <a:pt x="33451" y="4522"/>
                </a:cubicBezTo>
                <a:cubicBezTo>
                  <a:pt x="33468" y="4506"/>
                  <a:pt x="33481" y="4487"/>
                  <a:pt x="33490" y="4465"/>
                </a:cubicBezTo>
                <a:cubicBezTo>
                  <a:pt x="33499" y="4443"/>
                  <a:pt x="33503" y="4420"/>
                  <a:pt x="33503" y="4397"/>
                </a:cubicBezTo>
                <a:lnTo>
                  <a:pt x="33503" y="612"/>
                </a:lnTo>
                <a:cubicBezTo>
                  <a:pt x="33503" y="589"/>
                  <a:pt x="33499" y="566"/>
                  <a:pt x="33490" y="544"/>
                </a:cubicBezTo>
                <a:cubicBezTo>
                  <a:pt x="33481" y="522"/>
                  <a:pt x="33468" y="503"/>
                  <a:pt x="33451" y="486"/>
                </a:cubicBezTo>
                <a:cubicBezTo>
                  <a:pt x="33435" y="470"/>
                  <a:pt x="33415" y="457"/>
                  <a:pt x="33394" y="448"/>
                </a:cubicBezTo>
                <a:cubicBezTo>
                  <a:pt x="33372" y="439"/>
                  <a:pt x="33349" y="434"/>
                  <a:pt x="33325" y="434"/>
                </a:cubicBezTo>
                <a:lnTo>
                  <a:pt x="812" y="434"/>
                </a:lnTo>
                <a:cubicBezTo>
                  <a:pt x="789" y="434"/>
                  <a:pt x="766" y="439"/>
                  <a:pt x="744" y="448"/>
                </a:cubicBezTo>
                <a:cubicBezTo>
                  <a:pt x="723" y="457"/>
                  <a:pt x="703" y="470"/>
                  <a:pt x="687" y="486"/>
                </a:cubicBezTo>
                <a:cubicBezTo>
                  <a:pt x="670" y="503"/>
                  <a:pt x="657" y="522"/>
                  <a:pt x="648" y="544"/>
                </a:cubicBezTo>
                <a:cubicBezTo>
                  <a:pt x="639" y="566"/>
                  <a:pt x="635" y="589"/>
                  <a:pt x="635" y="612"/>
                </a:cubicBezTo>
                <a:moveTo>
                  <a:pt x="0" y="0"/>
                </a:moveTo>
                <a:lnTo>
                  <a:pt x="34138" y="0"/>
                </a:lnTo>
                <a:lnTo>
                  <a:pt x="34138" y="5412"/>
                </a:lnTo>
                <a:lnTo>
                  <a:pt x="0" y="541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732" name="" descr=""/>
          <p:cNvPicPr/>
          <p:nvPr/>
        </p:nvPicPr>
        <p:blipFill>
          <a:blip r:embed="rId2"/>
          <a:stretch/>
        </p:blipFill>
        <p:spPr>
          <a:xfrm>
            <a:off x="905400" y="3197520"/>
            <a:ext cx="11905200" cy="156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3" name=""/>
          <p:cNvSpPr/>
          <p:nvPr/>
        </p:nvSpPr>
        <p:spPr>
          <a:xfrm>
            <a:off x="905040" y="3197160"/>
            <a:ext cx="11905920" cy="1563840"/>
          </a:xfrm>
          <a:custGeom>
            <a:avLst/>
            <a:gdLst/>
            <a:ahLst/>
            <a:rect l="0" t="0" r="r" b="b"/>
            <a:pathLst>
              <a:path w="33072" h="4344">
                <a:moveTo>
                  <a:pt x="102" y="256"/>
                </a:moveTo>
                <a:lnTo>
                  <a:pt x="102" y="4042"/>
                </a:lnTo>
                <a:cubicBezTo>
                  <a:pt x="102" y="4065"/>
                  <a:pt x="106" y="4088"/>
                  <a:pt x="115" y="4110"/>
                </a:cubicBezTo>
                <a:cubicBezTo>
                  <a:pt x="124" y="4132"/>
                  <a:pt x="137" y="4151"/>
                  <a:pt x="154" y="4167"/>
                </a:cubicBezTo>
                <a:cubicBezTo>
                  <a:pt x="170" y="4184"/>
                  <a:pt x="190" y="4197"/>
                  <a:pt x="211" y="4206"/>
                </a:cubicBezTo>
                <a:cubicBezTo>
                  <a:pt x="233" y="4215"/>
                  <a:pt x="256" y="4220"/>
                  <a:pt x="279" y="4220"/>
                </a:cubicBezTo>
                <a:lnTo>
                  <a:pt x="32792" y="4220"/>
                </a:lnTo>
                <a:cubicBezTo>
                  <a:pt x="32816" y="4220"/>
                  <a:pt x="32839" y="4215"/>
                  <a:pt x="32861" y="4206"/>
                </a:cubicBezTo>
                <a:cubicBezTo>
                  <a:pt x="32882" y="4197"/>
                  <a:pt x="32902" y="4184"/>
                  <a:pt x="32918" y="4167"/>
                </a:cubicBezTo>
                <a:cubicBezTo>
                  <a:pt x="32935" y="4151"/>
                  <a:pt x="32948" y="4132"/>
                  <a:pt x="32957" y="4110"/>
                </a:cubicBezTo>
                <a:cubicBezTo>
                  <a:pt x="32966" y="4088"/>
                  <a:pt x="32970" y="4065"/>
                  <a:pt x="32970" y="4042"/>
                </a:cubicBezTo>
                <a:lnTo>
                  <a:pt x="32970" y="256"/>
                </a:lnTo>
                <a:cubicBezTo>
                  <a:pt x="32970" y="233"/>
                  <a:pt x="32966" y="210"/>
                  <a:pt x="32957" y="188"/>
                </a:cubicBezTo>
                <a:cubicBezTo>
                  <a:pt x="32948" y="166"/>
                  <a:pt x="32935" y="147"/>
                  <a:pt x="32918" y="130"/>
                </a:cubicBezTo>
                <a:cubicBezTo>
                  <a:pt x="32902" y="114"/>
                  <a:pt x="32882" y="101"/>
                  <a:pt x="32861" y="92"/>
                </a:cubicBezTo>
                <a:cubicBezTo>
                  <a:pt x="32839" y="83"/>
                  <a:pt x="32816" y="78"/>
                  <a:pt x="32792" y="78"/>
                </a:cubicBezTo>
                <a:lnTo>
                  <a:pt x="279" y="78"/>
                </a:lnTo>
                <a:cubicBezTo>
                  <a:pt x="256" y="78"/>
                  <a:pt x="233" y="83"/>
                  <a:pt x="211" y="92"/>
                </a:cubicBezTo>
                <a:cubicBezTo>
                  <a:pt x="190" y="101"/>
                  <a:pt x="170" y="114"/>
                  <a:pt x="154" y="130"/>
                </a:cubicBezTo>
                <a:cubicBezTo>
                  <a:pt x="137" y="147"/>
                  <a:pt x="124" y="166"/>
                  <a:pt x="115" y="188"/>
                </a:cubicBezTo>
                <a:cubicBezTo>
                  <a:pt x="106" y="210"/>
                  <a:pt x="102" y="233"/>
                  <a:pt x="102" y="256"/>
                </a:cubicBezTo>
                <a:moveTo>
                  <a:pt x="0" y="0"/>
                </a:moveTo>
                <a:lnTo>
                  <a:pt x="33072" y="0"/>
                </a:lnTo>
                <a:lnTo>
                  <a:pt x="33072" y="4344"/>
                </a:lnTo>
                <a:lnTo>
                  <a:pt x="0" y="4344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/>
          <p:nvPr/>
        </p:nvSpPr>
        <p:spPr>
          <a:xfrm>
            <a:off x="937080" y="3220920"/>
            <a:ext cx="11841840" cy="1499760"/>
          </a:xfrm>
          <a:custGeom>
            <a:avLst/>
            <a:gdLst/>
            <a:ahLst/>
            <a:rect l="0" t="0" r="r" b="b"/>
            <a:pathLst>
              <a:path w="32894" h="4166">
                <a:moveTo>
                  <a:pt x="0" y="3976"/>
                </a:moveTo>
                <a:lnTo>
                  <a:pt x="0" y="190"/>
                </a:lnTo>
                <a:cubicBezTo>
                  <a:pt x="0" y="178"/>
                  <a:pt x="1" y="165"/>
                  <a:pt x="4" y="153"/>
                </a:cubicBezTo>
                <a:cubicBezTo>
                  <a:pt x="6" y="141"/>
                  <a:pt x="10" y="129"/>
                  <a:pt x="15" y="117"/>
                </a:cubicBezTo>
                <a:cubicBezTo>
                  <a:pt x="19" y="106"/>
                  <a:pt x="25" y="95"/>
                  <a:pt x="32" y="84"/>
                </a:cubicBezTo>
                <a:cubicBezTo>
                  <a:pt x="39" y="74"/>
                  <a:pt x="47" y="64"/>
                  <a:pt x="56" y="55"/>
                </a:cubicBezTo>
                <a:cubicBezTo>
                  <a:pt x="65" y="47"/>
                  <a:pt x="74" y="39"/>
                  <a:pt x="85" y="32"/>
                </a:cubicBezTo>
                <a:cubicBezTo>
                  <a:pt x="95" y="25"/>
                  <a:pt x="106" y="19"/>
                  <a:pt x="118" y="14"/>
                </a:cubicBezTo>
                <a:cubicBezTo>
                  <a:pt x="129" y="9"/>
                  <a:pt x="141" y="6"/>
                  <a:pt x="153" y="3"/>
                </a:cubicBezTo>
                <a:cubicBezTo>
                  <a:pt x="166" y="1"/>
                  <a:pt x="178" y="0"/>
                  <a:pt x="190" y="0"/>
                </a:cubicBezTo>
                <a:lnTo>
                  <a:pt x="32703" y="0"/>
                </a:lnTo>
                <a:cubicBezTo>
                  <a:pt x="32716" y="0"/>
                  <a:pt x="32728" y="1"/>
                  <a:pt x="32741" y="3"/>
                </a:cubicBezTo>
                <a:cubicBezTo>
                  <a:pt x="32753" y="6"/>
                  <a:pt x="32765" y="9"/>
                  <a:pt x="32776" y="14"/>
                </a:cubicBezTo>
                <a:cubicBezTo>
                  <a:pt x="32788" y="19"/>
                  <a:pt x="32799" y="25"/>
                  <a:pt x="32809" y="32"/>
                </a:cubicBezTo>
                <a:cubicBezTo>
                  <a:pt x="32820" y="39"/>
                  <a:pt x="32829" y="47"/>
                  <a:pt x="32838" y="55"/>
                </a:cubicBezTo>
                <a:cubicBezTo>
                  <a:pt x="32847" y="64"/>
                  <a:pt x="32855" y="74"/>
                  <a:pt x="32862" y="84"/>
                </a:cubicBezTo>
                <a:cubicBezTo>
                  <a:pt x="32869" y="95"/>
                  <a:pt x="32875" y="106"/>
                  <a:pt x="32879" y="117"/>
                </a:cubicBezTo>
                <a:cubicBezTo>
                  <a:pt x="32884" y="129"/>
                  <a:pt x="32888" y="141"/>
                  <a:pt x="32890" y="153"/>
                </a:cubicBezTo>
                <a:cubicBezTo>
                  <a:pt x="32893" y="165"/>
                  <a:pt x="32894" y="178"/>
                  <a:pt x="32894" y="190"/>
                </a:cubicBezTo>
                <a:lnTo>
                  <a:pt x="32894" y="3976"/>
                </a:lnTo>
                <a:cubicBezTo>
                  <a:pt x="32894" y="3988"/>
                  <a:pt x="32893" y="4001"/>
                  <a:pt x="32890" y="4013"/>
                </a:cubicBezTo>
                <a:cubicBezTo>
                  <a:pt x="32888" y="4025"/>
                  <a:pt x="32884" y="4037"/>
                  <a:pt x="32879" y="4049"/>
                </a:cubicBezTo>
                <a:cubicBezTo>
                  <a:pt x="32875" y="4060"/>
                  <a:pt x="32869" y="4071"/>
                  <a:pt x="32862" y="4082"/>
                </a:cubicBezTo>
                <a:cubicBezTo>
                  <a:pt x="32855" y="4092"/>
                  <a:pt x="32847" y="4102"/>
                  <a:pt x="32838" y="4110"/>
                </a:cubicBezTo>
                <a:cubicBezTo>
                  <a:pt x="32829" y="4119"/>
                  <a:pt x="32820" y="4127"/>
                  <a:pt x="32809" y="4134"/>
                </a:cubicBezTo>
                <a:cubicBezTo>
                  <a:pt x="32799" y="4141"/>
                  <a:pt x="32788" y="4147"/>
                  <a:pt x="32776" y="4152"/>
                </a:cubicBezTo>
                <a:cubicBezTo>
                  <a:pt x="32765" y="4157"/>
                  <a:pt x="32753" y="4160"/>
                  <a:pt x="32741" y="4163"/>
                </a:cubicBezTo>
                <a:cubicBezTo>
                  <a:pt x="32728" y="4165"/>
                  <a:pt x="32716" y="4166"/>
                  <a:pt x="32703" y="4166"/>
                </a:cubicBezTo>
                <a:lnTo>
                  <a:pt x="190" y="4166"/>
                </a:lnTo>
                <a:cubicBezTo>
                  <a:pt x="178" y="4166"/>
                  <a:pt x="166" y="4165"/>
                  <a:pt x="153" y="4163"/>
                </a:cubicBezTo>
                <a:cubicBezTo>
                  <a:pt x="141" y="4160"/>
                  <a:pt x="129" y="4157"/>
                  <a:pt x="118" y="4152"/>
                </a:cubicBezTo>
                <a:cubicBezTo>
                  <a:pt x="106" y="4147"/>
                  <a:pt x="95" y="4141"/>
                  <a:pt x="85" y="4134"/>
                </a:cubicBezTo>
                <a:cubicBezTo>
                  <a:pt x="74" y="4127"/>
                  <a:pt x="65" y="4119"/>
                  <a:pt x="56" y="4110"/>
                </a:cubicBezTo>
                <a:cubicBezTo>
                  <a:pt x="47" y="4102"/>
                  <a:pt x="39" y="4092"/>
                  <a:pt x="32" y="4082"/>
                </a:cubicBezTo>
                <a:cubicBezTo>
                  <a:pt x="25" y="4071"/>
                  <a:pt x="19" y="4060"/>
                  <a:pt x="15" y="4049"/>
                </a:cubicBezTo>
                <a:cubicBezTo>
                  <a:pt x="10" y="4037"/>
                  <a:pt x="6" y="4025"/>
                  <a:pt x="4" y="4013"/>
                </a:cubicBezTo>
                <a:cubicBezTo>
                  <a:pt x="1" y="4001"/>
                  <a:pt x="0" y="3988"/>
                  <a:pt x="0" y="397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/>
          <p:nvPr/>
        </p:nvSpPr>
        <p:spPr>
          <a:xfrm>
            <a:off x="937080" y="3220920"/>
            <a:ext cx="11841840" cy="1499760"/>
          </a:xfrm>
          <a:custGeom>
            <a:avLst/>
            <a:gdLst/>
            <a:ahLst/>
            <a:rect l="0" t="0" r="r" b="b"/>
            <a:pathLst>
              <a:path fill="none" w="32894" h="4166">
                <a:moveTo>
                  <a:pt x="0" y="3976"/>
                </a:moveTo>
                <a:lnTo>
                  <a:pt x="0" y="190"/>
                </a:lnTo>
                <a:cubicBezTo>
                  <a:pt x="0" y="178"/>
                  <a:pt x="1" y="165"/>
                  <a:pt x="4" y="153"/>
                </a:cubicBezTo>
                <a:cubicBezTo>
                  <a:pt x="6" y="141"/>
                  <a:pt x="10" y="129"/>
                  <a:pt x="15" y="117"/>
                </a:cubicBezTo>
                <a:cubicBezTo>
                  <a:pt x="19" y="106"/>
                  <a:pt x="25" y="95"/>
                  <a:pt x="32" y="84"/>
                </a:cubicBezTo>
                <a:cubicBezTo>
                  <a:pt x="39" y="74"/>
                  <a:pt x="47" y="64"/>
                  <a:pt x="56" y="55"/>
                </a:cubicBezTo>
                <a:cubicBezTo>
                  <a:pt x="65" y="47"/>
                  <a:pt x="74" y="39"/>
                  <a:pt x="85" y="32"/>
                </a:cubicBezTo>
                <a:cubicBezTo>
                  <a:pt x="95" y="25"/>
                  <a:pt x="106" y="19"/>
                  <a:pt x="118" y="14"/>
                </a:cubicBezTo>
                <a:cubicBezTo>
                  <a:pt x="129" y="9"/>
                  <a:pt x="141" y="6"/>
                  <a:pt x="153" y="3"/>
                </a:cubicBezTo>
                <a:cubicBezTo>
                  <a:pt x="166" y="1"/>
                  <a:pt x="178" y="0"/>
                  <a:pt x="190" y="0"/>
                </a:cubicBezTo>
                <a:lnTo>
                  <a:pt x="32703" y="0"/>
                </a:lnTo>
                <a:cubicBezTo>
                  <a:pt x="32716" y="0"/>
                  <a:pt x="32728" y="1"/>
                  <a:pt x="32741" y="3"/>
                </a:cubicBezTo>
                <a:cubicBezTo>
                  <a:pt x="32753" y="6"/>
                  <a:pt x="32765" y="9"/>
                  <a:pt x="32776" y="14"/>
                </a:cubicBezTo>
                <a:cubicBezTo>
                  <a:pt x="32788" y="19"/>
                  <a:pt x="32799" y="25"/>
                  <a:pt x="32809" y="32"/>
                </a:cubicBezTo>
                <a:cubicBezTo>
                  <a:pt x="32820" y="39"/>
                  <a:pt x="32829" y="47"/>
                  <a:pt x="32838" y="55"/>
                </a:cubicBezTo>
                <a:cubicBezTo>
                  <a:pt x="32847" y="64"/>
                  <a:pt x="32855" y="74"/>
                  <a:pt x="32862" y="84"/>
                </a:cubicBezTo>
                <a:cubicBezTo>
                  <a:pt x="32869" y="95"/>
                  <a:pt x="32875" y="106"/>
                  <a:pt x="32879" y="117"/>
                </a:cubicBezTo>
                <a:cubicBezTo>
                  <a:pt x="32884" y="129"/>
                  <a:pt x="32888" y="141"/>
                  <a:pt x="32890" y="153"/>
                </a:cubicBezTo>
                <a:cubicBezTo>
                  <a:pt x="32893" y="165"/>
                  <a:pt x="32894" y="178"/>
                  <a:pt x="32894" y="190"/>
                </a:cubicBezTo>
                <a:lnTo>
                  <a:pt x="32894" y="3976"/>
                </a:lnTo>
                <a:cubicBezTo>
                  <a:pt x="32894" y="3988"/>
                  <a:pt x="32893" y="4001"/>
                  <a:pt x="32890" y="4013"/>
                </a:cubicBezTo>
                <a:cubicBezTo>
                  <a:pt x="32888" y="4025"/>
                  <a:pt x="32884" y="4037"/>
                  <a:pt x="32879" y="4049"/>
                </a:cubicBezTo>
                <a:cubicBezTo>
                  <a:pt x="32875" y="4060"/>
                  <a:pt x="32869" y="4071"/>
                  <a:pt x="32862" y="4082"/>
                </a:cubicBezTo>
                <a:cubicBezTo>
                  <a:pt x="32855" y="4092"/>
                  <a:pt x="32847" y="4102"/>
                  <a:pt x="32838" y="4110"/>
                </a:cubicBezTo>
                <a:cubicBezTo>
                  <a:pt x="32829" y="4119"/>
                  <a:pt x="32820" y="4127"/>
                  <a:pt x="32809" y="4134"/>
                </a:cubicBezTo>
                <a:cubicBezTo>
                  <a:pt x="32799" y="4141"/>
                  <a:pt x="32788" y="4147"/>
                  <a:pt x="32776" y="4152"/>
                </a:cubicBezTo>
                <a:cubicBezTo>
                  <a:pt x="32765" y="4157"/>
                  <a:pt x="32753" y="4160"/>
                  <a:pt x="32741" y="4163"/>
                </a:cubicBezTo>
                <a:cubicBezTo>
                  <a:pt x="32728" y="4165"/>
                  <a:pt x="32716" y="4166"/>
                  <a:pt x="32703" y="4166"/>
                </a:cubicBezTo>
                <a:lnTo>
                  <a:pt x="190" y="4166"/>
                </a:lnTo>
                <a:cubicBezTo>
                  <a:pt x="178" y="4166"/>
                  <a:pt x="166" y="4165"/>
                  <a:pt x="153" y="4163"/>
                </a:cubicBezTo>
                <a:cubicBezTo>
                  <a:pt x="141" y="4160"/>
                  <a:pt x="129" y="4157"/>
                  <a:pt x="118" y="4152"/>
                </a:cubicBezTo>
                <a:cubicBezTo>
                  <a:pt x="106" y="4147"/>
                  <a:pt x="95" y="4141"/>
                  <a:pt x="85" y="4134"/>
                </a:cubicBezTo>
                <a:cubicBezTo>
                  <a:pt x="74" y="4127"/>
                  <a:pt x="65" y="4119"/>
                  <a:pt x="56" y="4110"/>
                </a:cubicBezTo>
                <a:cubicBezTo>
                  <a:pt x="47" y="4102"/>
                  <a:pt x="39" y="4092"/>
                  <a:pt x="32" y="4082"/>
                </a:cubicBezTo>
                <a:cubicBezTo>
                  <a:pt x="25" y="4071"/>
                  <a:pt x="19" y="4060"/>
                  <a:pt x="15" y="4049"/>
                </a:cubicBezTo>
                <a:cubicBezTo>
                  <a:pt x="10" y="4037"/>
                  <a:pt x="6" y="4025"/>
                  <a:pt x="4" y="4013"/>
                </a:cubicBezTo>
                <a:cubicBezTo>
                  <a:pt x="1" y="4001"/>
                  <a:pt x="0" y="3988"/>
                  <a:pt x="0" y="3976"/>
                </a:cubicBezTo>
              </a:path>
            </a:pathLst>
          </a:custGeom>
          <a:ln w="9000">
            <a:solidFill>
              <a:srgbClr val="d9d6cb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/>
          <p:nvPr/>
        </p:nvSpPr>
        <p:spPr>
          <a:xfrm>
            <a:off x="5159160" y="3939480"/>
            <a:ext cx="121320" cy="144720"/>
          </a:xfrm>
          <a:custGeom>
            <a:avLst/>
            <a:gdLst/>
            <a:ahLst/>
            <a:rect l="0" t="0" r="r" b="b"/>
            <a:pathLst>
              <a:path w="337" h="402">
                <a:moveTo>
                  <a:pt x="0" y="202"/>
                </a:moveTo>
                <a:cubicBezTo>
                  <a:pt x="0" y="170"/>
                  <a:pt x="6" y="141"/>
                  <a:pt x="18" y="114"/>
                </a:cubicBezTo>
                <a:cubicBezTo>
                  <a:pt x="30" y="88"/>
                  <a:pt x="46" y="67"/>
                  <a:pt x="65" y="50"/>
                </a:cubicBezTo>
                <a:cubicBezTo>
                  <a:pt x="84" y="34"/>
                  <a:pt x="104" y="22"/>
                  <a:pt x="125" y="13"/>
                </a:cubicBezTo>
                <a:cubicBezTo>
                  <a:pt x="146" y="5"/>
                  <a:pt x="166" y="1"/>
                  <a:pt x="185" y="0"/>
                </a:cubicBezTo>
                <a:cubicBezTo>
                  <a:pt x="186" y="0"/>
                  <a:pt x="187" y="0"/>
                  <a:pt x="190" y="0"/>
                </a:cubicBezTo>
                <a:cubicBezTo>
                  <a:pt x="192" y="0"/>
                  <a:pt x="193" y="0"/>
                  <a:pt x="194" y="1"/>
                </a:cubicBezTo>
                <a:cubicBezTo>
                  <a:pt x="228" y="1"/>
                  <a:pt x="257" y="13"/>
                  <a:pt x="283" y="38"/>
                </a:cubicBezTo>
                <a:lnTo>
                  <a:pt x="291" y="45"/>
                </a:lnTo>
                <a:lnTo>
                  <a:pt x="308" y="23"/>
                </a:lnTo>
                <a:cubicBezTo>
                  <a:pt x="318" y="10"/>
                  <a:pt x="323" y="2"/>
                  <a:pt x="325" y="1"/>
                </a:cubicBezTo>
                <a:cubicBezTo>
                  <a:pt x="325" y="1"/>
                  <a:pt x="326" y="1"/>
                  <a:pt x="327" y="1"/>
                </a:cubicBezTo>
                <a:cubicBezTo>
                  <a:pt x="328" y="1"/>
                  <a:pt x="329" y="1"/>
                  <a:pt x="330" y="0"/>
                </a:cubicBezTo>
                <a:lnTo>
                  <a:pt x="332" y="0"/>
                </a:lnTo>
                <a:cubicBezTo>
                  <a:pt x="334" y="0"/>
                  <a:pt x="335" y="1"/>
                  <a:pt x="337" y="4"/>
                </a:cubicBezTo>
                <a:lnTo>
                  <a:pt x="337" y="159"/>
                </a:lnTo>
                <a:lnTo>
                  <a:pt x="334" y="162"/>
                </a:lnTo>
                <a:lnTo>
                  <a:pt x="315" y="162"/>
                </a:lnTo>
                <a:cubicBezTo>
                  <a:pt x="313" y="160"/>
                  <a:pt x="312" y="157"/>
                  <a:pt x="312" y="153"/>
                </a:cubicBezTo>
                <a:cubicBezTo>
                  <a:pt x="308" y="123"/>
                  <a:pt x="299" y="97"/>
                  <a:pt x="284" y="75"/>
                </a:cubicBezTo>
                <a:cubicBezTo>
                  <a:pt x="270" y="52"/>
                  <a:pt x="252" y="37"/>
                  <a:pt x="232" y="30"/>
                </a:cubicBezTo>
                <a:cubicBezTo>
                  <a:pt x="225" y="27"/>
                  <a:pt x="215" y="26"/>
                  <a:pt x="204" y="26"/>
                </a:cubicBezTo>
                <a:cubicBezTo>
                  <a:pt x="166" y="26"/>
                  <a:pt x="134" y="39"/>
                  <a:pt x="108" y="66"/>
                </a:cubicBezTo>
                <a:cubicBezTo>
                  <a:pt x="79" y="95"/>
                  <a:pt x="64" y="140"/>
                  <a:pt x="64" y="202"/>
                </a:cubicBezTo>
                <a:cubicBezTo>
                  <a:pt x="64" y="246"/>
                  <a:pt x="71" y="281"/>
                  <a:pt x="85" y="307"/>
                </a:cubicBezTo>
                <a:cubicBezTo>
                  <a:pt x="93" y="322"/>
                  <a:pt x="103" y="334"/>
                  <a:pt x="114" y="344"/>
                </a:cubicBezTo>
                <a:cubicBezTo>
                  <a:pt x="125" y="354"/>
                  <a:pt x="137" y="361"/>
                  <a:pt x="150" y="366"/>
                </a:cubicBezTo>
                <a:cubicBezTo>
                  <a:pt x="162" y="370"/>
                  <a:pt x="173" y="373"/>
                  <a:pt x="181" y="374"/>
                </a:cubicBezTo>
                <a:cubicBezTo>
                  <a:pt x="189" y="376"/>
                  <a:pt x="197" y="377"/>
                  <a:pt x="205" y="377"/>
                </a:cubicBezTo>
                <a:cubicBezTo>
                  <a:pt x="238" y="377"/>
                  <a:pt x="264" y="364"/>
                  <a:pt x="284" y="339"/>
                </a:cubicBezTo>
                <a:cubicBezTo>
                  <a:pt x="305" y="314"/>
                  <a:pt x="315" y="286"/>
                  <a:pt x="315" y="256"/>
                </a:cubicBezTo>
                <a:cubicBezTo>
                  <a:pt x="315" y="253"/>
                  <a:pt x="316" y="251"/>
                  <a:pt x="319" y="249"/>
                </a:cubicBezTo>
                <a:lnTo>
                  <a:pt x="334" y="249"/>
                </a:lnTo>
                <a:lnTo>
                  <a:pt x="337" y="252"/>
                </a:lnTo>
                <a:lnTo>
                  <a:pt x="337" y="260"/>
                </a:lnTo>
                <a:cubicBezTo>
                  <a:pt x="336" y="298"/>
                  <a:pt x="322" y="331"/>
                  <a:pt x="295" y="360"/>
                </a:cubicBezTo>
                <a:cubicBezTo>
                  <a:pt x="268" y="388"/>
                  <a:pt x="234" y="402"/>
                  <a:pt x="191" y="402"/>
                </a:cubicBezTo>
                <a:cubicBezTo>
                  <a:pt x="139" y="402"/>
                  <a:pt x="94" y="383"/>
                  <a:pt x="57" y="345"/>
                </a:cubicBezTo>
                <a:cubicBezTo>
                  <a:pt x="19" y="306"/>
                  <a:pt x="0" y="259"/>
                  <a:pt x="0" y="202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/>
          <p:nvPr/>
        </p:nvSpPr>
        <p:spPr>
          <a:xfrm>
            <a:off x="5159160" y="3939480"/>
            <a:ext cx="121320" cy="144720"/>
          </a:xfrm>
          <a:custGeom>
            <a:avLst/>
            <a:gdLst/>
            <a:ahLst/>
            <a:rect l="0" t="0" r="r" b="b"/>
            <a:pathLst>
              <a:path fill="none" w="337" h="402">
                <a:moveTo>
                  <a:pt x="0" y="202"/>
                </a:moveTo>
                <a:cubicBezTo>
                  <a:pt x="0" y="170"/>
                  <a:pt x="6" y="141"/>
                  <a:pt x="18" y="114"/>
                </a:cubicBezTo>
                <a:cubicBezTo>
                  <a:pt x="30" y="88"/>
                  <a:pt x="46" y="67"/>
                  <a:pt x="65" y="50"/>
                </a:cubicBezTo>
                <a:cubicBezTo>
                  <a:pt x="84" y="34"/>
                  <a:pt x="104" y="22"/>
                  <a:pt x="125" y="13"/>
                </a:cubicBezTo>
                <a:cubicBezTo>
                  <a:pt x="146" y="5"/>
                  <a:pt x="166" y="1"/>
                  <a:pt x="185" y="0"/>
                </a:cubicBezTo>
                <a:cubicBezTo>
                  <a:pt x="186" y="0"/>
                  <a:pt x="187" y="0"/>
                  <a:pt x="190" y="0"/>
                </a:cubicBezTo>
                <a:cubicBezTo>
                  <a:pt x="192" y="0"/>
                  <a:pt x="193" y="0"/>
                  <a:pt x="194" y="1"/>
                </a:cubicBezTo>
                <a:cubicBezTo>
                  <a:pt x="228" y="1"/>
                  <a:pt x="257" y="13"/>
                  <a:pt x="283" y="38"/>
                </a:cubicBezTo>
                <a:lnTo>
                  <a:pt x="291" y="45"/>
                </a:lnTo>
                <a:lnTo>
                  <a:pt x="308" y="23"/>
                </a:lnTo>
                <a:cubicBezTo>
                  <a:pt x="318" y="10"/>
                  <a:pt x="323" y="2"/>
                  <a:pt x="325" y="1"/>
                </a:cubicBezTo>
                <a:cubicBezTo>
                  <a:pt x="325" y="1"/>
                  <a:pt x="326" y="1"/>
                  <a:pt x="327" y="1"/>
                </a:cubicBezTo>
                <a:cubicBezTo>
                  <a:pt x="328" y="1"/>
                  <a:pt x="329" y="1"/>
                  <a:pt x="330" y="0"/>
                </a:cubicBezTo>
                <a:lnTo>
                  <a:pt x="332" y="0"/>
                </a:lnTo>
                <a:cubicBezTo>
                  <a:pt x="334" y="0"/>
                  <a:pt x="335" y="1"/>
                  <a:pt x="337" y="4"/>
                </a:cubicBezTo>
                <a:lnTo>
                  <a:pt x="337" y="159"/>
                </a:lnTo>
                <a:lnTo>
                  <a:pt x="334" y="162"/>
                </a:lnTo>
                <a:lnTo>
                  <a:pt x="315" y="162"/>
                </a:lnTo>
                <a:cubicBezTo>
                  <a:pt x="313" y="160"/>
                  <a:pt x="312" y="157"/>
                  <a:pt x="312" y="153"/>
                </a:cubicBezTo>
                <a:cubicBezTo>
                  <a:pt x="308" y="123"/>
                  <a:pt x="299" y="97"/>
                  <a:pt x="284" y="75"/>
                </a:cubicBezTo>
                <a:cubicBezTo>
                  <a:pt x="270" y="52"/>
                  <a:pt x="252" y="37"/>
                  <a:pt x="232" y="30"/>
                </a:cubicBezTo>
                <a:cubicBezTo>
                  <a:pt x="225" y="27"/>
                  <a:pt x="215" y="26"/>
                  <a:pt x="204" y="26"/>
                </a:cubicBezTo>
                <a:cubicBezTo>
                  <a:pt x="166" y="26"/>
                  <a:pt x="134" y="39"/>
                  <a:pt x="108" y="66"/>
                </a:cubicBezTo>
                <a:cubicBezTo>
                  <a:pt x="79" y="95"/>
                  <a:pt x="64" y="140"/>
                  <a:pt x="64" y="202"/>
                </a:cubicBezTo>
                <a:cubicBezTo>
                  <a:pt x="64" y="246"/>
                  <a:pt x="71" y="281"/>
                  <a:pt x="85" y="307"/>
                </a:cubicBezTo>
                <a:cubicBezTo>
                  <a:pt x="93" y="322"/>
                  <a:pt x="103" y="334"/>
                  <a:pt x="114" y="344"/>
                </a:cubicBezTo>
                <a:cubicBezTo>
                  <a:pt x="125" y="354"/>
                  <a:pt x="137" y="361"/>
                  <a:pt x="150" y="366"/>
                </a:cubicBezTo>
                <a:cubicBezTo>
                  <a:pt x="162" y="370"/>
                  <a:pt x="173" y="373"/>
                  <a:pt x="181" y="374"/>
                </a:cubicBezTo>
                <a:cubicBezTo>
                  <a:pt x="189" y="376"/>
                  <a:pt x="197" y="377"/>
                  <a:pt x="205" y="377"/>
                </a:cubicBezTo>
                <a:cubicBezTo>
                  <a:pt x="238" y="377"/>
                  <a:pt x="264" y="364"/>
                  <a:pt x="284" y="339"/>
                </a:cubicBezTo>
                <a:cubicBezTo>
                  <a:pt x="305" y="314"/>
                  <a:pt x="315" y="286"/>
                  <a:pt x="315" y="256"/>
                </a:cubicBezTo>
                <a:cubicBezTo>
                  <a:pt x="315" y="253"/>
                  <a:pt x="316" y="251"/>
                  <a:pt x="319" y="249"/>
                </a:cubicBezTo>
                <a:lnTo>
                  <a:pt x="334" y="249"/>
                </a:lnTo>
                <a:lnTo>
                  <a:pt x="337" y="252"/>
                </a:lnTo>
                <a:lnTo>
                  <a:pt x="337" y="260"/>
                </a:lnTo>
                <a:cubicBezTo>
                  <a:pt x="336" y="298"/>
                  <a:pt x="322" y="331"/>
                  <a:pt x="295" y="360"/>
                </a:cubicBezTo>
                <a:cubicBezTo>
                  <a:pt x="268" y="388"/>
                  <a:pt x="234" y="402"/>
                  <a:pt x="191" y="402"/>
                </a:cubicBezTo>
                <a:cubicBezTo>
                  <a:pt x="139" y="402"/>
                  <a:pt x="94" y="383"/>
                  <a:pt x="57" y="345"/>
                </a:cubicBezTo>
                <a:cubicBezTo>
                  <a:pt x="19" y="306"/>
                  <a:pt x="0" y="259"/>
                  <a:pt x="0" y="202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/>
          <p:nvPr/>
        </p:nvSpPr>
        <p:spPr>
          <a:xfrm>
            <a:off x="5295600" y="3943800"/>
            <a:ext cx="63720" cy="136080"/>
          </a:xfrm>
          <a:custGeom>
            <a:avLst/>
            <a:gdLst/>
            <a:ahLst/>
            <a:rect l="0" t="0" r="r" b="b"/>
            <a:pathLst>
              <a:path w="177" h="378">
                <a:moveTo>
                  <a:pt x="170" y="378"/>
                </a:moveTo>
                <a:cubicBezTo>
                  <a:pt x="163" y="377"/>
                  <a:pt x="135" y="377"/>
                  <a:pt x="89" y="377"/>
                </a:cubicBezTo>
                <a:cubicBezTo>
                  <a:pt x="41" y="377"/>
                  <a:pt x="14" y="377"/>
                  <a:pt x="6" y="378"/>
                </a:cubicBezTo>
                <a:lnTo>
                  <a:pt x="0" y="378"/>
                </a:lnTo>
                <a:lnTo>
                  <a:pt x="0" y="353"/>
                </a:lnTo>
                <a:lnTo>
                  <a:pt x="12" y="353"/>
                </a:lnTo>
                <a:cubicBezTo>
                  <a:pt x="30" y="353"/>
                  <a:pt x="42" y="352"/>
                  <a:pt x="47" y="351"/>
                </a:cubicBezTo>
                <a:cubicBezTo>
                  <a:pt x="52" y="350"/>
                  <a:pt x="56" y="348"/>
                  <a:pt x="58" y="345"/>
                </a:cubicBezTo>
                <a:cubicBezTo>
                  <a:pt x="59" y="344"/>
                  <a:pt x="59" y="292"/>
                  <a:pt x="59" y="190"/>
                </a:cubicBezTo>
                <a:cubicBezTo>
                  <a:pt x="59" y="86"/>
                  <a:pt x="59" y="35"/>
                  <a:pt x="58" y="33"/>
                </a:cubicBezTo>
                <a:cubicBezTo>
                  <a:pt x="56" y="32"/>
                  <a:pt x="55" y="30"/>
                  <a:pt x="54" y="30"/>
                </a:cubicBezTo>
                <a:cubicBezTo>
                  <a:pt x="52" y="29"/>
                  <a:pt x="48" y="28"/>
                  <a:pt x="41" y="27"/>
                </a:cubicBezTo>
                <a:cubicBezTo>
                  <a:pt x="35" y="26"/>
                  <a:pt x="25" y="25"/>
                  <a:pt x="12" y="26"/>
                </a:cubicBezTo>
                <a:lnTo>
                  <a:pt x="0" y="26"/>
                </a:lnTo>
                <a:lnTo>
                  <a:pt x="0" y="0"/>
                </a:lnTo>
                <a:lnTo>
                  <a:pt x="6" y="0"/>
                </a:lnTo>
                <a:cubicBezTo>
                  <a:pt x="14" y="1"/>
                  <a:pt x="41" y="2"/>
                  <a:pt x="89" y="2"/>
                </a:cubicBezTo>
                <a:cubicBezTo>
                  <a:pt x="135" y="2"/>
                  <a:pt x="163" y="1"/>
                  <a:pt x="170" y="0"/>
                </a:cubicBezTo>
                <a:lnTo>
                  <a:pt x="177" y="0"/>
                </a:lnTo>
                <a:lnTo>
                  <a:pt x="177" y="26"/>
                </a:lnTo>
                <a:lnTo>
                  <a:pt x="164" y="26"/>
                </a:lnTo>
                <a:cubicBezTo>
                  <a:pt x="146" y="26"/>
                  <a:pt x="135" y="26"/>
                  <a:pt x="130" y="27"/>
                </a:cubicBezTo>
                <a:cubicBezTo>
                  <a:pt x="124" y="28"/>
                  <a:pt x="121" y="31"/>
                  <a:pt x="119" y="33"/>
                </a:cubicBezTo>
                <a:cubicBezTo>
                  <a:pt x="118" y="35"/>
                  <a:pt x="117" y="86"/>
                  <a:pt x="117" y="190"/>
                </a:cubicBezTo>
                <a:cubicBezTo>
                  <a:pt x="117" y="292"/>
                  <a:pt x="118" y="344"/>
                  <a:pt x="119" y="345"/>
                </a:cubicBezTo>
                <a:cubicBezTo>
                  <a:pt x="120" y="347"/>
                  <a:pt x="122" y="348"/>
                  <a:pt x="123" y="349"/>
                </a:cubicBezTo>
                <a:cubicBezTo>
                  <a:pt x="124" y="350"/>
                  <a:pt x="129" y="351"/>
                  <a:pt x="135" y="352"/>
                </a:cubicBezTo>
                <a:cubicBezTo>
                  <a:pt x="142" y="353"/>
                  <a:pt x="152" y="353"/>
                  <a:pt x="164" y="353"/>
                </a:cubicBezTo>
                <a:lnTo>
                  <a:pt x="177" y="353"/>
                </a:lnTo>
                <a:lnTo>
                  <a:pt x="177" y="378"/>
                </a:lnTo>
                <a:lnTo>
                  <a:pt x="170" y="378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/>
          <p:nvPr/>
        </p:nvSpPr>
        <p:spPr>
          <a:xfrm>
            <a:off x="5295600" y="3943800"/>
            <a:ext cx="63720" cy="136080"/>
          </a:xfrm>
          <a:custGeom>
            <a:avLst/>
            <a:gdLst/>
            <a:ahLst/>
            <a:rect l="0" t="0" r="r" b="b"/>
            <a:pathLst>
              <a:path fill="none" w="177" h="378">
                <a:moveTo>
                  <a:pt x="170" y="378"/>
                </a:moveTo>
                <a:cubicBezTo>
                  <a:pt x="163" y="377"/>
                  <a:pt x="135" y="377"/>
                  <a:pt x="89" y="377"/>
                </a:cubicBezTo>
                <a:cubicBezTo>
                  <a:pt x="41" y="377"/>
                  <a:pt x="14" y="377"/>
                  <a:pt x="6" y="378"/>
                </a:cubicBezTo>
                <a:lnTo>
                  <a:pt x="0" y="378"/>
                </a:lnTo>
                <a:lnTo>
                  <a:pt x="0" y="353"/>
                </a:lnTo>
                <a:lnTo>
                  <a:pt x="12" y="353"/>
                </a:lnTo>
                <a:cubicBezTo>
                  <a:pt x="30" y="353"/>
                  <a:pt x="42" y="352"/>
                  <a:pt x="47" y="351"/>
                </a:cubicBezTo>
                <a:cubicBezTo>
                  <a:pt x="52" y="350"/>
                  <a:pt x="56" y="348"/>
                  <a:pt x="58" y="345"/>
                </a:cubicBezTo>
                <a:cubicBezTo>
                  <a:pt x="59" y="344"/>
                  <a:pt x="59" y="292"/>
                  <a:pt x="59" y="190"/>
                </a:cubicBezTo>
                <a:cubicBezTo>
                  <a:pt x="59" y="86"/>
                  <a:pt x="59" y="35"/>
                  <a:pt x="58" y="33"/>
                </a:cubicBezTo>
                <a:cubicBezTo>
                  <a:pt x="56" y="32"/>
                  <a:pt x="55" y="30"/>
                  <a:pt x="54" y="30"/>
                </a:cubicBezTo>
                <a:cubicBezTo>
                  <a:pt x="52" y="29"/>
                  <a:pt x="48" y="28"/>
                  <a:pt x="41" y="27"/>
                </a:cubicBezTo>
                <a:cubicBezTo>
                  <a:pt x="35" y="26"/>
                  <a:pt x="25" y="25"/>
                  <a:pt x="12" y="26"/>
                </a:cubicBezTo>
                <a:lnTo>
                  <a:pt x="0" y="26"/>
                </a:lnTo>
                <a:lnTo>
                  <a:pt x="0" y="0"/>
                </a:lnTo>
                <a:lnTo>
                  <a:pt x="6" y="0"/>
                </a:lnTo>
                <a:cubicBezTo>
                  <a:pt x="14" y="1"/>
                  <a:pt x="41" y="2"/>
                  <a:pt x="89" y="2"/>
                </a:cubicBezTo>
                <a:cubicBezTo>
                  <a:pt x="135" y="2"/>
                  <a:pt x="163" y="1"/>
                  <a:pt x="170" y="0"/>
                </a:cubicBezTo>
                <a:lnTo>
                  <a:pt x="177" y="0"/>
                </a:lnTo>
                <a:lnTo>
                  <a:pt x="177" y="26"/>
                </a:lnTo>
                <a:lnTo>
                  <a:pt x="164" y="26"/>
                </a:lnTo>
                <a:cubicBezTo>
                  <a:pt x="146" y="26"/>
                  <a:pt x="135" y="26"/>
                  <a:pt x="130" y="27"/>
                </a:cubicBezTo>
                <a:cubicBezTo>
                  <a:pt x="124" y="28"/>
                  <a:pt x="121" y="31"/>
                  <a:pt x="119" y="33"/>
                </a:cubicBezTo>
                <a:cubicBezTo>
                  <a:pt x="118" y="35"/>
                  <a:pt x="117" y="86"/>
                  <a:pt x="117" y="190"/>
                </a:cubicBezTo>
                <a:cubicBezTo>
                  <a:pt x="117" y="292"/>
                  <a:pt x="118" y="344"/>
                  <a:pt x="119" y="345"/>
                </a:cubicBezTo>
                <a:cubicBezTo>
                  <a:pt x="120" y="347"/>
                  <a:pt x="122" y="348"/>
                  <a:pt x="123" y="349"/>
                </a:cubicBezTo>
                <a:cubicBezTo>
                  <a:pt x="124" y="350"/>
                  <a:pt x="129" y="351"/>
                  <a:pt x="135" y="352"/>
                </a:cubicBezTo>
                <a:cubicBezTo>
                  <a:pt x="142" y="353"/>
                  <a:pt x="152" y="353"/>
                  <a:pt x="164" y="353"/>
                </a:cubicBezTo>
                <a:lnTo>
                  <a:pt x="177" y="353"/>
                </a:lnTo>
                <a:lnTo>
                  <a:pt x="177" y="378"/>
                </a:lnTo>
                <a:lnTo>
                  <a:pt x="170" y="378"/>
                </a:ln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/>
          <p:nvPr/>
        </p:nvSpPr>
        <p:spPr>
          <a:xfrm>
            <a:off x="5372280" y="4013640"/>
            <a:ext cx="139680" cy="99360"/>
          </a:xfrm>
          <a:custGeom>
            <a:avLst/>
            <a:gdLst/>
            <a:ahLst/>
            <a:rect l="0" t="0" r="r" b="b"/>
            <a:pathLst>
              <a:path w="388" h="276">
                <a:moveTo>
                  <a:pt x="302" y="0"/>
                </a:moveTo>
                <a:cubicBezTo>
                  <a:pt x="307" y="0"/>
                  <a:pt x="323" y="1"/>
                  <a:pt x="351" y="1"/>
                </a:cubicBezTo>
                <a:cubicBezTo>
                  <a:pt x="371" y="1"/>
                  <a:pt x="382" y="0"/>
                  <a:pt x="385" y="0"/>
                </a:cubicBezTo>
                <a:lnTo>
                  <a:pt x="388" y="0"/>
                </a:lnTo>
                <a:lnTo>
                  <a:pt x="388" y="18"/>
                </a:lnTo>
                <a:lnTo>
                  <a:pt x="383" y="18"/>
                </a:lnTo>
                <a:cubicBezTo>
                  <a:pt x="366" y="19"/>
                  <a:pt x="355" y="24"/>
                  <a:pt x="351" y="33"/>
                </a:cubicBezTo>
                <a:cubicBezTo>
                  <a:pt x="350" y="35"/>
                  <a:pt x="344" y="55"/>
                  <a:pt x="331" y="95"/>
                </a:cubicBezTo>
                <a:cubicBezTo>
                  <a:pt x="317" y="135"/>
                  <a:pt x="304" y="175"/>
                  <a:pt x="292" y="214"/>
                </a:cubicBezTo>
                <a:cubicBezTo>
                  <a:pt x="279" y="253"/>
                  <a:pt x="273" y="273"/>
                  <a:pt x="272" y="274"/>
                </a:cubicBezTo>
                <a:cubicBezTo>
                  <a:pt x="271" y="275"/>
                  <a:pt x="268" y="276"/>
                  <a:pt x="264" y="276"/>
                </a:cubicBezTo>
                <a:cubicBezTo>
                  <a:pt x="259" y="276"/>
                  <a:pt x="256" y="275"/>
                  <a:pt x="256" y="273"/>
                </a:cubicBezTo>
                <a:cubicBezTo>
                  <a:pt x="255" y="273"/>
                  <a:pt x="245" y="240"/>
                  <a:pt x="224" y="176"/>
                </a:cubicBezTo>
                <a:lnTo>
                  <a:pt x="194" y="80"/>
                </a:lnTo>
                <a:lnTo>
                  <a:pt x="163" y="175"/>
                </a:lnTo>
                <a:cubicBezTo>
                  <a:pt x="158" y="191"/>
                  <a:pt x="152" y="209"/>
                  <a:pt x="146" y="230"/>
                </a:cubicBezTo>
                <a:cubicBezTo>
                  <a:pt x="139" y="252"/>
                  <a:pt x="135" y="265"/>
                  <a:pt x="133" y="270"/>
                </a:cubicBezTo>
                <a:cubicBezTo>
                  <a:pt x="131" y="274"/>
                  <a:pt x="128" y="276"/>
                  <a:pt x="126" y="276"/>
                </a:cubicBezTo>
                <a:lnTo>
                  <a:pt x="122" y="276"/>
                </a:lnTo>
                <a:cubicBezTo>
                  <a:pt x="118" y="276"/>
                  <a:pt x="115" y="275"/>
                  <a:pt x="114" y="273"/>
                </a:cubicBezTo>
                <a:cubicBezTo>
                  <a:pt x="114" y="273"/>
                  <a:pt x="100" y="231"/>
                  <a:pt x="74" y="148"/>
                </a:cubicBezTo>
                <a:cubicBezTo>
                  <a:pt x="48" y="66"/>
                  <a:pt x="34" y="24"/>
                  <a:pt x="34" y="23"/>
                </a:cubicBezTo>
                <a:cubicBezTo>
                  <a:pt x="32" y="21"/>
                  <a:pt x="30" y="19"/>
                  <a:pt x="27" y="19"/>
                </a:cubicBezTo>
                <a:cubicBezTo>
                  <a:pt x="23" y="18"/>
                  <a:pt x="16" y="18"/>
                  <a:pt x="7" y="18"/>
                </a:cubicBezTo>
                <a:lnTo>
                  <a:pt x="0" y="18"/>
                </a:lnTo>
                <a:lnTo>
                  <a:pt x="0" y="0"/>
                </a:lnTo>
                <a:lnTo>
                  <a:pt x="3" y="0"/>
                </a:lnTo>
                <a:cubicBezTo>
                  <a:pt x="14" y="0"/>
                  <a:pt x="31" y="0"/>
                  <a:pt x="53" y="0"/>
                </a:cubicBezTo>
                <a:cubicBezTo>
                  <a:pt x="56" y="0"/>
                  <a:pt x="59" y="0"/>
                  <a:pt x="64" y="0"/>
                </a:cubicBezTo>
                <a:cubicBezTo>
                  <a:pt x="68" y="0"/>
                  <a:pt x="73" y="0"/>
                  <a:pt x="77" y="0"/>
                </a:cubicBezTo>
                <a:cubicBezTo>
                  <a:pt x="82" y="0"/>
                  <a:pt x="86" y="0"/>
                  <a:pt x="90" y="0"/>
                </a:cubicBezTo>
                <a:cubicBezTo>
                  <a:pt x="94" y="0"/>
                  <a:pt x="98" y="0"/>
                  <a:pt x="101" y="0"/>
                </a:cubicBezTo>
                <a:lnTo>
                  <a:pt x="105" y="0"/>
                </a:lnTo>
                <a:lnTo>
                  <a:pt x="109" y="0"/>
                </a:lnTo>
                <a:lnTo>
                  <a:pt x="109" y="18"/>
                </a:lnTo>
                <a:lnTo>
                  <a:pt x="104" y="18"/>
                </a:lnTo>
                <a:cubicBezTo>
                  <a:pt x="85" y="18"/>
                  <a:pt x="76" y="20"/>
                  <a:pt x="76" y="24"/>
                </a:cubicBezTo>
                <a:cubicBezTo>
                  <a:pt x="76" y="25"/>
                  <a:pt x="86" y="56"/>
                  <a:pt x="106" y="118"/>
                </a:cubicBezTo>
                <a:lnTo>
                  <a:pt x="135" y="210"/>
                </a:lnTo>
                <a:lnTo>
                  <a:pt x="160" y="134"/>
                </a:lnTo>
                <a:cubicBezTo>
                  <a:pt x="176" y="83"/>
                  <a:pt x="184" y="56"/>
                  <a:pt x="185" y="53"/>
                </a:cubicBezTo>
                <a:cubicBezTo>
                  <a:pt x="184" y="49"/>
                  <a:pt x="182" y="45"/>
                  <a:pt x="181" y="41"/>
                </a:cubicBezTo>
                <a:cubicBezTo>
                  <a:pt x="180" y="36"/>
                  <a:pt x="179" y="33"/>
                  <a:pt x="178" y="31"/>
                </a:cubicBezTo>
                <a:cubicBezTo>
                  <a:pt x="178" y="30"/>
                  <a:pt x="177" y="28"/>
                  <a:pt x="176" y="25"/>
                </a:cubicBezTo>
                <a:cubicBezTo>
                  <a:pt x="174" y="22"/>
                  <a:pt x="173" y="21"/>
                  <a:pt x="173" y="21"/>
                </a:cubicBezTo>
                <a:cubicBezTo>
                  <a:pt x="172" y="21"/>
                  <a:pt x="171" y="20"/>
                  <a:pt x="168" y="19"/>
                </a:cubicBezTo>
                <a:cubicBezTo>
                  <a:pt x="166" y="18"/>
                  <a:pt x="163" y="17"/>
                  <a:pt x="162" y="18"/>
                </a:cubicBezTo>
                <a:cubicBezTo>
                  <a:pt x="160" y="19"/>
                  <a:pt x="157" y="18"/>
                  <a:pt x="152" y="18"/>
                </a:cubicBezTo>
                <a:lnTo>
                  <a:pt x="141" y="18"/>
                </a:lnTo>
                <a:lnTo>
                  <a:pt x="141" y="0"/>
                </a:lnTo>
                <a:lnTo>
                  <a:pt x="144" y="0"/>
                </a:lnTo>
                <a:cubicBezTo>
                  <a:pt x="147" y="0"/>
                  <a:pt x="162" y="1"/>
                  <a:pt x="191" y="1"/>
                </a:cubicBezTo>
                <a:cubicBezTo>
                  <a:pt x="223" y="1"/>
                  <a:pt x="241" y="0"/>
                  <a:pt x="247" y="0"/>
                </a:cubicBezTo>
                <a:lnTo>
                  <a:pt x="251" y="0"/>
                </a:lnTo>
                <a:lnTo>
                  <a:pt x="251" y="18"/>
                </a:lnTo>
                <a:lnTo>
                  <a:pt x="245" y="18"/>
                </a:lnTo>
                <a:cubicBezTo>
                  <a:pt x="227" y="18"/>
                  <a:pt x="218" y="20"/>
                  <a:pt x="218" y="25"/>
                </a:cubicBezTo>
                <a:lnTo>
                  <a:pt x="277" y="209"/>
                </a:lnTo>
                <a:cubicBezTo>
                  <a:pt x="314" y="96"/>
                  <a:pt x="333" y="37"/>
                  <a:pt x="333" y="32"/>
                </a:cubicBezTo>
                <a:cubicBezTo>
                  <a:pt x="333" y="31"/>
                  <a:pt x="332" y="29"/>
                  <a:pt x="331" y="27"/>
                </a:cubicBezTo>
                <a:cubicBezTo>
                  <a:pt x="329" y="26"/>
                  <a:pt x="326" y="24"/>
                  <a:pt x="320" y="22"/>
                </a:cubicBezTo>
                <a:cubicBezTo>
                  <a:pt x="316" y="19"/>
                  <a:pt x="310" y="18"/>
                  <a:pt x="303" y="18"/>
                </a:cubicBezTo>
                <a:lnTo>
                  <a:pt x="299" y="18"/>
                </a:lnTo>
                <a:lnTo>
                  <a:pt x="299" y="0"/>
                </a:lnTo>
                <a:lnTo>
                  <a:pt x="302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/>
          <p:nvPr/>
        </p:nvSpPr>
        <p:spPr>
          <a:xfrm>
            <a:off x="5372280" y="4013640"/>
            <a:ext cx="139680" cy="99360"/>
          </a:xfrm>
          <a:custGeom>
            <a:avLst/>
            <a:gdLst/>
            <a:ahLst/>
            <a:rect l="0" t="0" r="r" b="b"/>
            <a:pathLst>
              <a:path fill="none" w="388" h="276">
                <a:moveTo>
                  <a:pt x="302" y="0"/>
                </a:moveTo>
                <a:cubicBezTo>
                  <a:pt x="307" y="0"/>
                  <a:pt x="323" y="1"/>
                  <a:pt x="351" y="1"/>
                </a:cubicBezTo>
                <a:cubicBezTo>
                  <a:pt x="371" y="1"/>
                  <a:pt x="382" y="0"/>
                  <a:pt x="385" y="0"/>
                </a:cubicBezTo>
                <a:lnTo>
                  <a:pt x="388" y="0"/>
                </a:lnTo>
                <a:lnTo>
                  <a:pt x="388" y="18"/>
                </a:lnTo>
                <a:lnTo>
                  <a:pt x="383" y="18"/>
                </a:lnTo>
                <a:cubicBezTo>
                  <a:pt x="366" y="19"/>
                  <a:pt x="355" y="24"/>
                  <a:pt x="351" y="33"/>
                </a:cubicBezTo>
                <a:cubicBezTo>
                  <a:pt x="350" y="35"/>
                  <a:pt x="344" y="55"/>
                  <a:pt x="331" y="95"/>
                </a:cubicBezTo>
                <a:cubicBezTo>
                  <a:pt x="317" y="135"/>
                  <a:pt x="304" y="175"/>
                  <a:pt x="292" y="214"/>
                </a:cubicBezTo>
                <a:cubicBezTo>
                  <a:pt x="279" y="253"/>
                  <a:pt x="273" y="273"/>
                  <a:pt x="272" y="274"/>
                </a:cubicBezTo>
                <a:cubicBezTo>
                  <a:pt x="271" y="275"/>
                  <a:pt x="268" y="276"/>
                  <a:pt x="264" y="276"/>
                </a:cubicBezTo>
                <a:cubicBezTo>
                  <a:pt x="259" y="276"/>
                  <a:pt x="256" y="275"/>
                  <a:pt x="256" y="273"/>
                </a:cubicBezTo>
                <a:cubicBezTo>
                  <a:pt x="255" y="273"/>
                  <a:pt x="245" y="240"/>
                  <a:pt x="224" y="176"/>
                </a:cubicBezTo>
                <a:lnTo>
                  <a:pt x="194" y="80"/>
                </a:lnTo>
                <a:lnTo>
                  <a:pt x="163" y="175"/>
                </a:lnTo>
                <a:cubicBezTo>
                  <a:pt x="158" y="191"/>
                  <a:pt x="152" y="209"/>
                  <a:pt x="146" y="230"/>
                </a:cubicBezTo>
                <a:cubicBezTo>
                  <a:pt x="139" y="252"/>
                  <a:pt x="135" y="265"/>
                  <a:pt x="133" y="270"/>
                </a:cubicBezTo>
                <a:cubicBezTo>
                  <a:pt x="131" y="274"/>
                  <a:pt x="128" y="276"/>
                  <a:pt x="126" y="276"/>
                </a:cubicBezTo>
                <a:lnTo>
                  <a:pt x="122" y="276"/>
                </a:lnTo>
                <a:cubicBezTo>
                  <a:pt x="118" y="276"/>
                  <a:pt x="115" y="275"/>
                  <a:pt x="114" y="273"/>
                </a:cubicBezTo>
                <a:cubicBezTo>
                  <a:pt x="114" y="273"/>
                  <a:pt x="100" y="231"/>
                  <a:pt x="74" y="148"/>
                </a:cubicBezTo>
                <a:cubicBezTo>
                  <a:pt x="48" y="66"/>
                  <a:pt x="34" y="24"/>
                  <a:pt x="34" y="23"/>
                </a:cubicBezTo>
                <a:cubicBezTo>
                  <a:pt x="32" y="21"/>
                  <a:pt x="30" y="19"/>
                  <a:pt x="27" y="19"/>
                </a:cubicBezTo>
                <a:cubicBezTo>
                  <a:pt x="23" y="18"/>
                  <a:pt x="16" y="18"/>
                  <a:pt x="7" y="18"/>
                </a:cubicBezTo>
                <a:lnTo>
                  <a:pt x="0" y="18"/>
                </a:lnTo>
                <a:lnTo>
                  <a:pt x="0" y="0"/>
                </a:lnTo>
                <a:lnTo>
                  <a:pt x="3" y="0"/>
                </a:lnTo>
                <a:cubicBezTo>
                  <a:pt x="14" y="0"/>
                  <a:pt x="31" y="0"/>
                  <a:pt x="53" y="0"/>
                </a:cubicBezTo>
                <a:cubicBezTo>
                  <a:pt x="56" y="0"/>
                  <a:pt x="59" y="0"/>
                  <a:pt x="64" y="0"/>
                </a:cubicBezTo>
                <a:cubicBezTo>
                  <a:pt x="68" y="0"/>
                  <a:pt x="73" y="0"/>
                  <a:pt x="77" y="0"/>
                </a:cubicBezTo>
                <a:cubicBezTo>
                  <a:pt x="82" y="0"/>
                  <a:pt x="86" y="0"/>
                  <a:pt x="90" y="0"/>
                </a:cubicBezTo>
                <a:cubicBezTo>
                  <a:pt x="94" y="0"/>
                  <a:pt x="98" y="0"/>
                  <a:pt x="101" y="0"/>
                </a:cubicBezTo>
                <a:lnTo>
                  <a:pt x="105" y="0"/>
                </a:lnTo>
                <a:lnTo>
                  <a:pt x="109" y="0"/>
                </a:lnTo>
                <a:lnTo>
                  <a:pt x="109" y="18"/>
                </a:lnTo>
                <a:lnTo>
                  <a:pt x="104" y="18"/>
                </a:lnTo>
                <a:cubicBezTo>
                  <a:pt x="85" y="18"/>
                  <a:pt x="76" y="20"/>
                  <a:pt x="76" y="24"/>
                </a:cubicBezTo>
                <a:cubicBezTo>
                  <a:pt x="76" y="25"/>
                  <a:pt x="86" y="56"/>
                  <a:pt x="106" y="118"/>
                </a:cubicBezTo>
                <a:lnTo>
                  <a:pt x="135" y="210"/>
                </a:lnTo>
                <a:lnTo>
                  <a:pt x="160" y="134"/>
                </a:lnTo>
                <a:cubicBezTo>
                  <a:pt x="176" y="83"/>
                  <a:pt x="184" y="56"/>
                  <a:pt x="185" y="53"/>
                </a:cubicBezTo>
                <a:cubicBezTo>
                  <a:pt x="184" y="49"/>
                  <a:pt x="182" y="45"/>
                  <a:pt x="181" y="41"/>
                </a:cubicBezTo>
                <a:cubicBezTo>
                  <a:pt x="180" y="36"/>
                  <a:pt x="179" y="33"/>
                  <a:pt x="178" y="31"/>
                </a:cubicBezTo>
                <a:cubicBezTo>
                  <a:pt x="178" y="30"/>
                  <a:pt x="177" y="28"/>
                  <a:pt x="176" y="25"/>
                </a:cubicBezTo>
                <a:cubicBezTo>
                  <a:pt x="174" y="22"/>
                  <a:pt x="173" y="21"/>
                  <a:pt x="173" y="21"/>
                </a:cubicBezTo>
                <a:cubicBezTo>
                  <a:pt x="172" y="21"/>
                  <a:pt x="171" y="20"/>
                  <a:pt x="168" y="19"/>
                </a:cubicBezTo>
                <a:cubicBezTo>
                  <a:pt x="166" y="18"/>
                  <a:pt x="163" y="17"/>
                  <a:pt x="162" y="18"/>
                </a:cubicBezTo>
                <a:cubicBezTo>
                  <a:pt x="160" y="19"/>
                  <a:pt x="157" y="18"/>
                  <a:pt x="152" y="18"/>
                </a:cubicBezTo>
                <a:lnTo>
                  <a:pt x="141" y="18"/>
                </a:lnTo>
                <a:lnTo>
                  <a:pt x="141" y="0"/>
                </a:lnTo>
                <a:lnTo>
                  <a:pt x="144" y="0"/>
                </a:lnTo>
                <a:cubicBezTo>
                  <a:pt x="147" y="0"/>
                  <a:pt x="162" y="1"/>
                  <a:pt x="191" y="1"/>
                </a:cubicBezTo>
                <a:cubicBezTo>
                  <a:pt x="223" y="1"/>
                  <a:pt x="241" y="0"/>
                  <a:pt x="247" y="0"/>
                </a:cubicBezTo>
                <a:lnTo>
                  <a:pt x="251" y="0"/>
                </a:lnTo>
                <a:lnTo>
                  <a:pt x="251" y="18"/>
                </a:lnTo>
                <a:lnTo>
                  <a:pt x="245" y="18"/>
                </a:lnTo>
                <a:cubicBezTo>
                  <a:pt x="227" y="18"/>
                  <a:pt x="218" y="20"/>
                  <a:pt x="218" y="25"/>
                </a:cubicBezTo>
                <a:lnTo>
                  <a:pt x="277" y="209"/>
                </a:lnTo>
                <a:cubicBezTo>
                  <a:pt x="314" y="96"/>
                  <a:pt x="333" y="37"/>
                  <a:pt x="333" y="32"/>
                </a:cubicBezTo>
                <a:cubicBezTo>
                  <a:pt x="333" y="31"/>
                  <a:pt x="332" y="29"/>
                  <a:pt x="331" y="27"/>
                </a:cubicBezTo>
                <a:cubicBezTo>
                  <a:pt x="329" y="26"/>
                  <a:pt x="326" y="24"/>
                  <a:pt x="320" y="22"/>
                </a:cubicBezTo>
                <a:cubicBezTo>
                  <a:pt x="316" y="19"/>
                  <a:pt x="310" y="18"/>
                  <a:pt x="303" y="18"/>
                </a:cubicBezTo>
                <a:lnTo>
                  <a:pt x="299" y="18"/>
                </a:lnTo>
                <a:lnTo>
                  <a:pt x="299" y="0"/>
                </a:lnTo>
                <a:lnTo>
                  <a:pt x="302" y="0"/>
                </a:ln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/>
          <p:nvPr/>
        </p:nvSpPr>
        <p:spPr>
          <a:xfrm>
            <a:off x="5517720" y="4015440"/>
            <a:ext cx="32760" cy="94320"/>
          </a:xfrm>
          <a:custGeom>
            <a:avLst/>
            <a:gdLst/>
            <a:ahLst/>
            <a:rect l="0" t="0" r="r" b="b"/>
            <a:pathLst>
              <a:path w="91" h="262">
                <a:moveTo>
                  <a:pt x="17" y="24"/>
                </a:moveTo>
                <a:cubicBezTo>
                  <a:pt x="17" y="16"/>
                  <a:pt x="19" y="11"/>
                  <a:pt x="24" y="6"/>
                </a:cubicBezTo>
                <a:cubicBezTo>
                  <a:pt x="30" y="2"/>
                  <a:pt x="36" y="0"/>
                  <a:pt x="42" y="0"/>
                </a:cubicBezTo>
                <a:cubicBezTo>
                  <a:pt x="48" y="1"/>
                  <a:pt x="53" y="3"/>
                  <a:pt x="58" y="7"/>
                </a:cubicBezTo>
                <a:cubicBezTo>
                  <a:pt x="62" y="11"/>
                  <a:pt x="65" y="16"/>
                  <a:pt x="65" y="24"/>
                </a:cubicBezTo>
                <a:cubicBezTo>
                  <a:pt x="65" y="31"/>
                  <a:pt x="62" y="37"/>
                  <a:pt x="58" y="41"/>
                </a:cubicBezTo>
                <a:cubicBezTo>
                  <a:pt x="53" y="45"/>
                  <a:pt x="48" y="47"/>
                  <a:pt x="42" y="47"/>
                </a:cubicBezTo>
                <a:cubicBezTo>
                  <a:pt x="35" y="47"/>
                  <a:pt x="30" y="45"/>
                  <a:pt x="24" y="41"/>
                </a:cubicBezTo>
                <a:cubicBezTo>
                  <a:pt x="20" y="37"/>
                  <a:pt x="17" y="31"/>
                  <a:pt x="17" y="24"/>
                </a:cubicBezTo>
                <a:moveTo>
                  <a:pt x="88" y="262"/>
                </a:moveTo>
                <a:cubicBezTo>
                  <a:pt x="84" y="261"/>
                  <a:pt x="70" y="261"/>
                  <a:pt x="47" y="261"/>
                </a:cubicBezTo>
                <a:cubicBezTo>
                  <a:pt x="44" y="261"/>
                  <a:pt x="39" y="261"/>
                  <a:pt x="33" y="261"/>
                </a:cubicBezTo>
                <a:cubicBezTo>
                  <a:pt x="25" y="261"/>
                  <a:pt x="18" y="261"/>
                  <a:pt x="12" y="262"/>
                </a:cubicBezTo>
                <a:lnTo>
                  <a:pt x="3" y="262"/>
                </a:lnTo>
                <a:lnTo>
                  <a:pt x="0" y="262"/>
                </a:lnTo>
                <a:lnTo>
                  <a:pt x="0" y="244"/>
                </a:lnTo>
                <a:lnTo>
                  <a:pt x="7" y="244"/>
                </a:lnTo>
                <a:cubicBezTo>
                  <a:pt x="14" y="244"/>
                  <a:pt x="20" y="244"/>
                  <a:pt x="27" y="243"/>
                </a:cubicBezTo>
                <a:cubicBezTo>
                  <a:pt x="29" y="242"/>
                  <a:pt x="30" y="241"/>
                  <a:pt x="31" y="239"/>
                </a:cubicBezTo>
                <a:cubicBezTo>
                  <a:pt x="32" y="237"/>
                  <a:pt x="32" y="232"/>
                  <a:pt x="32" y="222"/>
                </a:cubicBezTo>
                <a:lnTo>
                  <a:pt x="32" y="181"/>
                </a:lnTo>
                <a:lnTo>
                  <a:pt x="32" y="147"/>
                </a:lnTo>
                <a:cubicBezTo>
                  <a:pt x="32" y="133"/>
                  <a:pt x="32" y="125"/>
                  <a:pt x="31" y="121"/>
                </a:cubicBezTo>
                <a:cubicBezTo>
                  <a:pt x="30" y="117"/>
                  <a:pt x="29" y="115"/>
                  <a:pt x="25" y="114"/>
                </a:cubicBezTo>
                <a:cubicBezTo>
                  <a:pt x="21" y="112"/>
                  <a:pt x="15" y="111"/>
                  <a:pt x="6" y="111"/>
                </a:cubicBezTo>
                <a:lnTo>
                  <a:pt x="2" y="111"/>
                </a:lnTo>
                <a:lnTo>
                  <a:pt x="2" y="102"/>
                </a:lnTo>
                <a:cubicBezTo>
                  <a:pt x="2" y="96"/>
                  <a:pt x="2" y="93"/>
                  <a:pt x="3" y="93"/>
                </a:cubicBezTo>
                <a:lnTo>
                  <a:pt x="7" y="93"/>
                </a:lnTo>
                <a:cubicBezTo>
                  <a:pt x="9" y="92"/>
                  <a:pt x="13" y="92"/>
                  <a:pt x="17" y="92"/>
                </a:cubicBezTo>
                <a:cubicBezTo>
                  <a:pt x="22" y="92"/>
                  <a:pt x="28" y="91"/>
                  <a:pt x="33" y="91"/>
                </a:cubicBezTo>
                <a:cubicBezTo>
                  <a:pt x="37" y="91"/>
                  <a:pt x="42" y="91"/>
                  <a:pt x="47" y="90"/>
                </a:cubicBezTo>
                <a:cubicBezTo>
                  <a:pt x="52" y="90"/>
                  <a:pt x="55" y="90"/>
                  <a:pt x="58" y="89"/>
                </a:cubicBezTo>
                <a:cubicBezTo>
                  <a:pt x="61" y="89"/>
                  <a:pt x="62" y="88"/>
                  <a:pt x="62" y="89"/>
                </a:cubicBezTo>
                <a:lnTo>
                  <a:pt x="63" y="89"/>
                </a:lnTo>
                <a:lnTo>
                  <a:pt x="63" y="238"/>
                </a:lnTo>
                <a:cubicBezTo>
                  <a:pt x="65" y="241"/>
                  <a:pt x="66" y="242"/>
                  <a:pt x="68" y="243"/>
                </a:cubicBezTo>
                <a:cubicBezTo>
                  <a:pt x="70" y="243"/>
                  <a:pt x="74" y="244"/>
                  <a:pt x="82" y="244"/>
                </a:cubicBezTo>
                <a:lnTo>
                  <a:pt x="91" y="244"/>
                </a:lnTo>
                <a:lnTo>
                  <a:pt x="91" y="262"/>
                </a:lnTo>
                <a:lnTo>
                  <a:pt x="88" y="262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/>
          <p:nvPr/>
        </p:nvSpPr>
        <p:spPr>
          <a:xfrm>
            <a:off x="5517720" y="4015440"/>
            <a:ext cx="32760" cy="94320"/>
          </a:xfrm>
          <a:custGeom>
            <a:avLst/>
            <a:gdLst/>
            <a:ahLst/>
            <a:rect l="0" t="0" r="r" b="b"/>
            <a:pathLst>
              <a:path fill="none" w="91" h="262">
                <a:moveTo>
                  <a:pt x="17" y="24"/>
                </a:moveTo>
                <a:cubicBezTo>
                  <a:pt x="17" y="16"/>
                  <a:pt x="19" y="11"/>
                  <a:pt x="24" y="6"/>
                </a:cubicBezTo>
                <a:cubicBezTo>
                  <a:pt x="30" y="2"/>
                  <a:pt x="36" y="0"/>
                  <a:pt x="42" y="0"/>
                </a:cubicBezTo>
                <a:cubicBezTo>
                  <a:pt x="48" y="1"/>
                  <a:pt x="53" y="3"/>
                  <a:pt x="58" y="7"/>
                </a:cubicBezTo>
                <a:cubicBezTo>
                  <a:pt x="62" y="11"/>
                  <a:pt x="65" y="16"/>
                  <a:pt x="65" y="24"/>
                </a:cubicBezTo>
                <a:cubicBezTo>
                  <a:pt x="65" y="31"/>
                  <a:pt x="62" y="37"/>
                  <a:pt x="58" y="41"/>
                </a:cubicBezTo>
                <a:cubicBezTo>
                  <a:pt x="53" y="45"/>
                  <a:pt x="48" y="47"/>
                  <a:pt x="42" y="47"/>
                </a:cubicBezTo>
                <a:cubicBezTo>
                  <a:pt x="35" y="47"/>
                  <a:pt x="30" y="45"/>
                  <a:pt x="24" y="41"/>
                </a:cubicBezTo>
                <a:cubicBezTo>
                  <a:pt x="20" y="37"/>
                  <a:pt x="17" y="31"/>
                  <a:pt x="17" y="24"/>
                </a:cubicBezTo>
                <a:moveTo>
                  <a:pt x="88" y="262"/>
                </a:moveTo>
                <a:cubicBezTo>
                  <a:pt x="84" y="261"/>
                  <a:pt x="70" y="261"/>
                  <a:pt x="47" y="261"/>
                </a:cubicBezTo>
                <a:cubicBezTo>
                  <a:pt x="44" y="261"/>
                  <a:pt x="39" y="261"/>
                  <a:pt x="33" y="261"/>
                </a:cubicBezTo>
                <a:cubicBezTo>
                  <a:pt x="25" y="261"/>
                  <a:pt x="18" y="261"/>
                  <a:pt x="12" y="262"/>
                </a:cubicBezTo>
                <a:lnTo>
                  <a:pt x="3" y="262"/>
                </a:lnTo>
                <a:lnTo>
                  <a:pt x="0" y="262"/>
                </a:lnTo>
                <a:lnTo>
                  <a:pt x="0" y="244"/>
                </a:lnTo>
                <a:lnTo>
                  <a:pt x="7" y="244"/>
                </a:lnTo>
                <a:cubicBezTo>
                  <a:pt x="14" y="244"/>
                  <a:pt x="20" y="244"/>
                  <a:pt x="27" y="243"/>
                </a:cubicBezTo>
                <a:cubicBezTo>
                  <a:pt x="29" y="242"/>
                  <a:pt x="30" y="241"/>
                  <a:pt x="31" y="239"/>
                </a:cubicBezTo>
                <a:cubicBezTo>
                  <a:pt x="32" y="237"/>
                  <a:pt x="32" y="232"/>
                  <a:pt x="32" y="222"/>
                </a:cubicBezTo>
                <a:lnTo>
                  <a:pt x="32" y="181"/>
                </a:lnTo>
                <a:lnTo>
                  <a:pt x="32" y="147"/>
                </a:lnTo>
                <a:cubicBezTo>
                  <a:pt x="32" y="133"/>
                  <a:pt x="32" y="125"/>
                  <a:pt x="31" y="121"/>
                </a:cubicBezTo>
                <a:cubicBezTo>
                  <a:pt x="30" y="117"/>
                  <a:pt x="29" y="115"/>
                  <a:pt x="25" y="114"/>
                </a:cubicBezTo>
                <a:cubicBezTo>
                  <a:pt x="21" y="112"/>
                  <a:pt x="15" y="111"/>
                  <a:pt x="6" y="111"/>
                </a:cubicBezTo>
                <a:lnTo>
                  <a:pt x="2" y="111"/>
                </a:lnTo>
                <a:lnTo>
                  <a:pt x="2" y="102"/>
                </a:lnTo>
                <a:cubicBezTo>
                  <a:pt x="2" y="96"/>
                  <a:pt x="2" y="93"/>
                  <a:pt x="3" y="93"/>
                </a:cubicBezTo>
                <a:lnTo>
                  <a:pt x="7" y="93"/>
                </a:lnTo>
                <a:cubicBezTo>
                  <a:pt x="9" y="92"/>
                  <a:pt x="13" y="92"/>
                  <a:pt x="17" y="92"/>
                </a:cubicBezTo>
                <a:cubicBezTo>
                  <a:pt x="22" y="92"/>
                  <a:pt x="28" y="91"/>
                  <a:pt x="33" y="91"/>
                </a:cubicBezTo>
                <a:cubicBezTo>
                  <a:pt x="37" y="91"/>
                  <a:pt x="42" y="91"/>
                  <a:pt x="47" y="90"/>
                </a:cubicBezTo>
                <a:cubicBezTo>
                  <a:pt x="52" y="90"/>
                  <a:pt x="55" y="90"/>
                  <a:pt x="58" y="89"/>
                </a:cubicBezTo>
                <a:cubicBezTo>
                  <a:pt x="61" y="89"/>
                  <a:pt x="62" y="88"/>
                  <a:pt x="62" y="89"/>
                </a:cubicBezTo>
                <a:lnTo>
                  <a:pt x="63" y="89"/>
                </a:lnTo>
                <a:lnTo>
                  <a:pt x="63" y="238"/>
                </a:lnTo>
                <a:cubicBezTo>
                  <a:pt x="65" y="241"/>
                  <a:pt x="66" y="242"/>
                  <a:pt x="68" y="243"/>
                </a:cubicBezTo>
                <a:cubicBezTo>
                  <a:pt x="70" y="243"/>
                  <a:pt x="74" y="244"/>
                  <a:pt x="82" y="244"/>
                </a:cubicBezTo>
                <a:lnTo>
                  <a:pt x="91" y="244"/>
                </a:lnTo>
                <a:lnTo>
                  <a:pt x="91" y="262"/>
                </a:lnTo>
                <a:lnTo>
                  <a:pt x="88" y="262"/>
                </a:ln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"/>
          <p:cNvSpPr/>
          <p:nvPr/>
        </p:nvSpPr>
        <p:spPr>
          <a:xfrm>
            <a:off x="5556960" y="4011840"/>
            <a:ext cx="33480" cy="97920"/>
          </a:xfrm>
          <a:custGeom>
            <a:avLst/>
            <a:gdLst/>
            <a:ahLst/>
            <a:rect l="0" t="0" r="r" b="b"/>
            <a:pathLst>
              <a:path w="93" h="272">
                <a:moveTo>
                  <a:pt x="6" y="254"/>
                </a:moveTo>
                <a:lnTo>
                  <a:pt x="12" y="254"/>
                </a:lnTo>
                <a:cubicBezTo>
                  <a:pt x="22" y="254"/>
                  <a:pt x="28" y="252"/>
                  <a:pt x="30" y="249"/>
                </a:cubicBezTo>
                <a:lnTo>
                  <a:pt x="30" y="246"/>
                </a:lnTo>
                <a:cubicBezTo>
                  <a:pt x="30" y="243"/>
                  <a:pt x="30" y="240"/>
                  <a:pt x="30" y="237"/>
                </a:cubicBezTo>
                <a:cubicBezTo>
                  <a:pt x="30" y="233"/>
                  <a:pt x="30" y="229"/>
                  <a:pt x="30" y="224"/>
                </a:cubicBezTo>
                <a:cubicBezTo>
                  <a:pt x="30" y="219"/>
                  <a:pt x="30" y="213"/>
                  <a:pt x="30" y="207"/>
                </a:cubicBezTo>
                <a:cubicBezTo>
                  <a:pt x="31" y="201"/>
                  <a:pt x="31" y="194"/>
                  <a:pt x="30" y="188"/>
                </a:cubicBezTo>
                <a:cubicBezTo>
                  <a:pt x="30" y="181"/>
                  <a:pt x="30" y="174"/>
                  <a:pt x="30" y="166"/>
                </a:cubicBezTo>
                <a:cubicBezTo>
                  <a:pt x="31" y="159"/>
                  <a:pt x="31" y="151"/>
                  <a:pt x="30" y="144"/>
                </a:cubicBezTo>
                <a:cubicBezTo>
                  <a:pt x="30" y="134"/>
                  <a:pt x="30" y="124"/>
                  <a:pt x="30" y="113"/>
                </a:cubicBezTo>
                <a:cubicBezTo>
                  <a:pt x="30" y="102"/>
                  <a:pt x="30" y="92"/>
                  <a:pt x="30" y="83"/>
                </a:cubicBezTo>
                <a:cubicBezTo>
                  <a:pt x="30" y="74"/>
                  <a:pt x="30" y="66"/>
                  <a:pt x="30" y="60"/>
                </a:cubicBezTo>
                <a:cubicBezTo>
                  <a:pt x="30" y="53"/>
                  <a:pt x="30" y="47"/>
                  <a:pt x="30" y="43"/>
                </a:cubicBezTo>
                <a:cubicBezTo>
                  <a:pt x="30" y="38"/>
                  <a:pt x="30" y="36"/>
                  <a:pt x="30" y="36"/>
                </a:cubicBezTo>
                <a:cubicBezTo>
                  <a:pt x="29" y="31"/>
                  <a:pt x="27" y="28"/>
                  <a:pt x="24" y="26"/>
                </a:cubicBezTo>
                <a:cubicBezTo>
                  <a:pt x="22" y="25"/>
                  <a:pt x="16" y="23"/>
                  <a:pt x="7" y="23"/>
                </a:cubicBezTo>
                <a:lnTo>
                  <a:pt x="0" y="23"/>
                </a:lnTo>
                <a:lnTo>
                  <a:pt x="0" y="14"/>
                </a:lnTo>
                <a:cubicBezTo>
                  <a:pt x="0" y="8"/>
                  <a:pt x="0" y="5"/>
                  <a:pt x="1" y="5"/>
                </a:cubicBezTo>
                <a:lnTo>
                  <a:pt x="5" y="4"/>
                </a:lnTo>
                <a:cubicBezTo>
                  <a:pt x="7" y="4"/>
                  <a:pt x="11" y="4"/>
                  <a:pt x="16" y="3"/>
                </a:cubicBezTo>
                <a:cubicBezTo>
                  <a:pt x="21" y="3"/>
                  <a:pt x="26" y="3"/>
                  <a:pt x="30" y="3"/>
                </a:cubicBezTo>
                <a:cubicBezTo>
                  <a:pt x="35" y="2"/>
                  <a:pt x="40" y="2"/>
                  <a:pt x="45" y="2"/>
                </a:cubicBezTo>
                <a:cubicBezTo>
                  <a:pt x="50" y="2"/>
                  <a:pt x="54" y="1"/>
                  <a:pt x="56" y="1"/>
                </a:cubicBezTo>
                <a:cubicBezTo>
                  <a:pt x="59" y="0"/>
                  <a:pt x="60" y="0"/>
                  <a:pt x="61" y="0"/>
                </a:cubicBezTo>
                <a:lnTo>
                  <a:pt x="62" y="0"/>
                </a:lnTo>
                <a:lnTo>
                  <a:pt x="62" y="124"/>
                </a:lnTo>
                <a:cubicBezTo>
                  <a:pt x="62" y="207"/>
                  <a:pt x="62" y="248"/>
                  <a:pt x="62" y="249"/>
                </a:cubicBezTo>
                <a:cubicBezTo>
                  <a:pt x="63" y="251"/>
                  <a:pt x="65" y="252"/>
                  <a:pt x="68" y="253"/>
                </a:cubicBezTo>
                <a:cubicBezTo>
                  <a:pt x="73" y="254"/>
                  <a:pt x="80" y="254"/>
                  <a:pt x="87" y="254"/>
                </a:cubicBezTo>
                <a:lnTo>
                  <a:pt x="93" y="254"/>
                </a:lnTo>
                <a:lnTo>
                  <a:pt x="93" y="272"/>
                </a:lnTo>
                <a:lnTo>
                  <a:pt x="90" y="272"/>
                </a:lnTo>
                <a:lnTo>
                  <a:pt x="81" y="272"/>
                </a:lnTo>
                <a:cubicBezTo>
                  <a:pt x="75" y="272"/>
                  <a:pt x="69" y="271"/>
                  <a:pt x="61" y="271"/>
                </a:cubicBezTo>
                <a:cubicBezTo>
                  <a:pt x="54" y="271"/>
                  <a:pt x="49" y="271"/>
                  <a:pt x="46" y="271"/>
                </a:cubicBezTo>
                <a:cubicBezTo>
                  <a:pt x="43" y="271"/>
                  <a:pt x="38" y="271"/>
                  <a:pt x="31" y="271"/>
                </a:cubicBezTo>
                <a:cubicBezTo>
                  <a:pt x="25" y="271"/>
                  <a:pt x="18" y="272"/>
                  <a:pt x="12" y="272"/>
                </a:cubicBezTo>
                <a:lnTo>
                  <a:pt x="3" y="272"/>
                </a:lnTo>
                <a:lnTo>
                  <a:pt x="0" y="272"/>
                </a:lnTo>
                <a:lnTo>
                  <a:pt x="0" y="254"/>
                </a:lnTo>
                <a:lnTo>
                  <a:pt x="6" y="254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/>
          <p:nvPr/>
        </p:nvSpPr>
        <p:spPr>
          <a:xfrm>
            <a:off x="5556960" y="4011840"/>
            <a:ext cx="33480" cy="97920"/>
          </a:xfrm>
          <a:custGeom>
            <a:avLst/>
            <a:gdLst/>
            <a:ahLst/>
            <a:rect l="0" t="0" r="r" b="b"/>
            <a:pathLst>
              <a:path fill="none" w="93" h="272">
                <a:moveTo>
                  <a:pt x="6" y="254"/>
                </a:moveTo>
                <a:lnTo>
                  <a:pt x="12" y="254"/>
                </a:lnTo>
                <a:cubicBezTo>
                  <a:pt x="22" y="254"/>
                  <a:pt x="28" y="252"/>
                  <a:pt x="30" y="249"/>
                </a:cubicBezTo>
                <a:lnTo>
                  <a:pt x="30" y="246"/>
                </a:lnTo>
                <a:cubicBezTo>
                  <a:pt x="30" y="243"/>
                  <a:pt x="30" y="240"/>
                  <a:pt x="30" y="237"/>
                </a:cubicBezTo>
                <a:cubicBezTo>
                  <a:pt x="30" y="233"/>
                  <a:pt x="30" y="229"/>
                  <a:pt x="30" y="224"/>
                </a:cubicBezTo>
                <a:cubicBezTo>
                  <a:pt x="30" y="219"/>
                  <a:pt x="30" y="213"/>
                  <a:pt x="30" y="207"/>
                </a:cubicBezTo>
                <a:cubicBezTo>
                  <a:pt x="31" y="201"/>
                  <a:pt x="31" y="194"/>
                  <a:pt x="30" y="188"/>
                </a:cubicBezTo>
                <a:cubicBezTo>
                  <a:pt x="30" y="181"/>
                  <a:pt x="30" y="174"/>
                  <a:pt x="30" y="166"/>
                </a:cubicBezTo>
                <a:cubicBezTo>
                  <a:pt x="31" y="159"/>
                  <a:pt x="31" y="151"/>
                  <a:pt x="30" y="144"/>
                </a:cubicBezTo>
                <a:cubicBezTo>
                  <a:pt x="30" y="134"/>
                  <a:pt x="30" y="124"/>
                  <a:pt x="30" y="113"/>
                </a:cubicBezTo>
                <a:cubicBezTo>
                  <a:pt x="30" y="102"/>
                  <a:pt x="30" y="92"/>
                  <a:pt x="30" y="83"/>
                </a:cubicBezTo>
                <a:cubicBezTo>
                  <a:pt x="30" y="74"/>
                  <a:pt x="30" y="66"/>
                  <a:pt x="30" y="60"/>
                </a:cubicBezTo>
                <a:cubicBezTo>
                  <a:pt x="30" y="53"/>
                  <a:pt x="30" y="47"/>
                  <a:pt x="30" y="43"/>
                </a:cubicBezTo>
                <a:cubicBezTo>
                  <a:pt x="30" y="38"/>
                  <a:pt x="30" y="36"/>
                  <a:pt x="30" y="36"/>
                </a:cubicBezTo>
                <a:cubicBezTo>
                  <a:pt x="29" y="31"/>
                  <a:pt x="27" y="28"/>
                  <a:pt x="24" y="26"/>
                </a:cubicBezTo>
                <a:cubicBezTo>
                  <a:pt x="22" y="25"/>
                  <a:pt x="16" y="23"/>
                  <a:pt x="7" y="23"/>
                </a:cubicBezTo>
                <a:lnTo>
                  <a:pt x="0" y="23"/>
                </a:lnTo>
                <a:lnTo>
                  <a:pt x="0" y="14"/>
                </a:lnTo>
                <a:cubicBezTo>
                  <a:pt x="0" y="8"/>
                  <a:pt x="0" y="5"/>
                  <a:pt x="1" y="5"/>
                </a:cubicBezTo>
                <a:lnTo>
                  <a:pt x="5" y="4"/>
                </a:lnTo>
                <a:cubicBezTo>
                  <a:pt x="7" y="4"/>
                  <a:pt x="11" y="4"/>
                  <a:pt x="16" y="3"/>
                </a:cubicBezTo>
                <a:cubicBezTo>
                  <a:pt x="21" y="3"/>
                  <a:pt x="26" y="3"/>
                  <a:pt x="30" y="3"/>
                </a:cubicBezTo>
                <a:cubicBezTo>
                  <a:pt x="35" y="2"/>
                  <a:pt x="40" y="2"/>
                  <a:pt x="45" y="2"/>
                </a:cubicBezTo>
                <a:cubicBezTo>
                  <a:pt x="50" y="2"/>
                  <a:pt x="54" y="1"/>
                  <a:pt x="56" y="1"/>
                </a:cubicBezTo>
                <a:cubicBezTo>
                  <a:pt x="59" y="0"/>
                  <a:pt x="60" y="0"/>
                  <a:pt x="61" y="0"/>
                </a:cubicBezTo>
                <a:lnTo>
                  <a:pt x="62" y="0"/>
                </a:lnTo>
                <a:lnTo>
                  <a:pt x="62" y="124"/>
                </a:lnTo>
                <a:cubicBezTo>
                  <a:pt x="62" y="207"/>
                  <a:pt x="62" y="248"/>
                  <a:pt x="62" y="249"/>
                </a:cubicBezTo>
                <a:cubicBezTo>
                  <a:pt x="63" y="251"/>
                  <a:pt x="65" y="252"/>
                  <a:pt x="68" y="253"/>
                </a:cubicBezTo>
                <a:cubicBezTo>
                  <a:pt x="73" y="254"/>
                  <a:pt x="80" y="254"/>
                  <a:pt x="87" y="254"/>
                </a:cubicBezTo>
                <a:lnTo>
                  <a:pt x="93" y="254"/>
                </a:lnTo>
                <a:lnTo>
                  <a:pt x="93" y="272"/>
                </a:lnTo>
                <a:lnTo>
                  <a:pt x="90" y="272"/>
                </a:lnTo>
                <a:lnTo>
                  <a:pt x="81" y="272"/>
                </a:lnTo>
                <a:cubicBezTo>
                  <a:pt x="75" y="272"/>
                  <a:pt x="69" y="271"/>
                  <a:pt x="61" y="271"/>
                </a:cubicBezTo>
                <a:cubicBezTo>
                  <a:pt x="54" y="271"/>
                  <a:pt x="49" y="271"/>
                  <a:pt x="46" y="271"/>
                </a:cubicBezTo>
                <a:cubicBezTo>
                  <a:pt x="43" y="271"/>
                  <a:pt x="38" y="271"/>
                  <a:pt x="31" y="271"/>
                </a:cubicBezTo>
                <a:cubicBezTo>
                  <a:pt x="25" y="271"/>
                  <a:pt x="18" y="272"/>
                  <a:pt x="12" y="272"/>
                </a:cubicBezTo>
                <a:lnTo>
                  <a:pt x="3" y="272"/>
                </a:lnTo>
                <a:lnTo>
                  <a:pt x="0" y="272"/>
                </a:lnTo>
                <a:lnTo>
                  <a:pt x="0" y="254"/>
                </a:lnTo>
                <a:lnTo>
                  <a:pt x="6" y="254"/>
                </a:ln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"/>
          <p:cNvSpPr/>
          <p:nvPr/>
        </p:nvSpPr>
        <p:spPr>
          <a:xfrm>
            <a:off x="5596920" y="4046400"/>
            <a:ext cx="46080" cy="65160"/>
          </a:xfrm>
          <a:custGeom>
            <a:avLst/>
            <a:gdLst/>
            <a:ahLst/>
            <a:rect l="0" t="0" r="r" b="b"/>
            <a:pathLst>
              <a:path w="128" h="181">
                <a:moveTo>
                  <a:pt x="103" y="52"/>
                </a:moveTo>
                <a:cubicBezTo>
                  <a:pt x="103" y="41"/>
                  <a:pt x="100" y="33"/>
                  <a:pt x="93" y="25"/>
                </a:cubicBezTo>
                <a:cubicBezTo>
                  <a:pt x="86" y="17"/>
                  <a:pt x="76" y="14"/>
                  <a:pt x="62" y="14"/>
                </a:cubicBezTo>
                <a:cubicBezTo>
                  <a:pt x="53" y="14"/>
                  <a:pt x="45" y="15"/>
                  <a:pt x="38" y="19"/>
                </a:cubicBezTo>
                <a:cubicBezTo>
                  <a:pt x="30" y="24"/>
                  <a:pt x="26" y="30"/>
                  <a:pt x="26" y="39"/>
                </a:cubicBezTo>
                <a:cubicBezTo>
                  <a:pt x="26" y="40"/>
                  <a:pt x="26" y="42"/>
                  <a:pt x="26" y="44"/>
                </a:cubicBezTo>
                <a:cubicBezTo>
                  <a:pt x="27" y="46"/>
                  <a:pt x="29" y="49"/>
                  <a:pt x="33" y="53"/>
                </a:cubicBezTo>
                <a:cubicBezTo>
                  <a:pt x="37" y="58"/>
                  <a:pt x="42" y="61"/>
                  <a:pt x="49" y="63"/>
                </a:cubicBezTo>
                <a:cubicBezTo>
                  <a:pt x="54" y="65"/>
                  <a:pt x="60" y="66"/>
                  <a:pt x="67" y="67"/>
                </a:cubicBezTo>
                <a:cubicBezTo>
                  <a:pt x="73" y="68"/>
                  <a:pt x="79" y="69"/>
                  <a:pt x="84" y="70"/>
                </a:cubicBezTo>
                <a:cubicBezTo>
                  <a:pt x="89" y="72"/>
                  <a:pt x="93" y="73"/>
                  <a:pt x="96" y="75"/>
                </a:cubicBezTo>
                <a:cubicBezTo>
                  <a:pt x="101" y="77"/>
                  <a:pt x="105" y="80"/>
                  <a:pt x="109" y="83"/>
                </a:cubicBezTo>
                <a:cubicBezTo>
                  <a:pt x="113" y="86"/>
                  <a:pt x="118" y="92"/>
                  <a:pt x="122" y="99"/>
                </a:cubicBezTo>
                <a:cubicBezTo>
                  <a:pt x="126" y="107"/>
                  <a:pt x="128" y="115"/>
                  <a:pt x="128" y="123"/>
                </a:cubicBezTo>
                <a:cubicBezTo>
                  <a:pt x="128" y="140"/>
                  <a:pt x="123" y="154"/>
                  <a:pt x="113" y="164"/>
                </a:cubicBezTo>
                <a:cubicBezTo>
                  <a:pt x="104" y="175"/>
                  <a:pt x="88" y="180"/>
                  <a:pt x="65" y="180"/>
                </a:cubicBezTo>
                <a:lnTo>
                  <a:pt x="62" y="180"/>
                </a:lnTo>
                <a:cubicBezTo>
                  <a:pt x="49" y="180"/>
                  <a:pt x="36" y="175"/>
                  <a:pt x="25" y="166"/>
                </a:cubicBezTo>
                <a:lnTo>
                  <a:pt x="22" y="169"/>
                </a:lnTo>
                <a:lnTo>
                  <a:pt x="18" y="172"/>
                </a:lnTo>
                <a:cubicBezTo>
                  <a:pt x="17" y="174"/>
                  <a:pt x="15" y="175"/>
                  <a:pt x="14" y="177"/>
                </a:cubicBezTo>
                <a:lnTo>
                  <a:pt x="8" y="181"/>
                </a:lnTo>
                <a:lnTo>
                  <a:pt x="5" y="181"/>
                </a:lnTo>
                <a:lnTo>
                  <a:pt x="4" y="181"/>
                </a:lnTo>
                <a:cubicBezTo>
                  <a:pt x="3" y="181"/>
                  <a:pt x="2" y="180"/>
                  <a:pt x="0" y="178"/>
                </a:cubicBezTo>
                <a:lnTo>
                  <a:pt x="0" y="147"/>
                </a:lnTo>
                <a:lnTo>
                  <a:pt x="0" y="124"/>
                </a:lnTo>
                <a:cubicBezTo>
                  <a:pt x="0" y="118"/>
                  <a:pt x="0" y="115"/>
                  <a:pt x="1" y="114"/>
                </a:cubicBezTo>
                <a:cubicBezTo>
                  <a:pt x="1" y="113"/>
                  <a:pt x="3" y="112"/>
                  <a:pt x="5" y="112"/>
                </a:cubicBezTo>
                <a:lnTo>
                  <a:pt x="8" y="112"/>
                </a:lnTo>
                <a:cubicBezTo>
                  <a:pt x="12" y="112"/>
                  <a:pt x="14" y="113"/>
                  <a:pt x="16" y="114"/>
                </a:cubicBezTo>
                <a:cubicBezTo>
                  <a:pt x="17" y="115"/>
                  <a:pt x="17" y="116"/>
                  <a:pt x="17" y="118"/>
                </a:cubicBezTo>
                <a:cubicBezTo>
                  <a:pt x="18" y="120"/>
                  <a:pt x="19" y="124"/>
                  <a:pt x="20" y="130"/>
                </a:cubicBezTo>
                <a:cubicBezTo>
                  <a:pt x="22" y="135"/>
                  <a:pt x="24" y="140"/>
                  <a:pt x="28" y="146"/>
                </a:cubicBezTo>
                <a:cubicBezTo>
                  <a:pt x="37" y="159"/>
                  <a:pt x="49" y="166"/>
                  <a:pt x="65" y="166"/>
                </a:cubicBezTo>
                <a:cubicBezTo>
                  <a:pt x="91" y="166"/>
                  <a:pt x="103" y="156"/>
                  <a:pt x="103" y="136"/>
                </a:cubicBezTo>
                <a:cubicBezTo>
                  <a:pt x="103" y="128"/>
                  <a:pt x="101" y="121"/>
                  <a:pt x="96" y="116"/>
                </a:cubicBezTo>
                <a:cubicBezTo>
                  <a:pt x="91" y="110"/>
                  <a:pt x="80" y="105"/>
                  <a:pt x="64" y="102"/>
                </a:cubicBezTo>
                <a:cubicBezTo>
                  <a:pt x="48" y="99"/>
                  <a:pt x="37" y="96"/>
                  <a:pt x="32" y="93"/>
                </a:cubicBezTo>
                <a:cubicBezTo>
                  <a:pt x="22" y="89"/>
                  <a:pt x="15" y="83"/>
                  <a:pt x="8" y="75"/>
                </a:cubicBezTo>
                <a:cubicBezTo>
                  <a:pt x="3" y="68"/>
                  <a:pt x="0" y="60"/>
                  <a:pt x="0" y="51"/>
                </a:cubicBezTo>
                <a:cubicBezTo>
                  <a:pt x="0" y="41"/>
                  <a:pt x="2" y="32"/>
                  <a:pt x="7" y="25"/>
                </a:cubicBezTo>
                <a:cubicBezTo>
                  <a:pt x="12" y="18"/>
                  <a:pt x="18" y="13"/>
                  <a:pt x="24" y="10"/>
                </a:cubicBezTo>
                <a:cubicBezTo>
                  <a:pt x="31" y="6"/>
                  <a:pt x="38" y="4"/>
                  <a:pt x="44" y="3"/>
                </a:cubicBezTo>
                <a:cubicBezTo>
                  <a:pt x="50" y="1"/>
                  <a:pt x="56" y="1"/>
                  <a:pt x="61" y="1"/>
                </a:cubicBezTo>
                <a:lnTo>
                  <a:pt x="65" y="1"/>
                </a:lnTo>
                <a:cubicBezTo>
                  <a:pt x="76" y="1"/>
                  <a:pt x="85" y="3"/>
                  <a:pt x="93" y="7"/>
                </a:cubicBezTo>
                <a:lnTo>
                  <a:pt x="99" y="10"/>
                </a:lnTo>
                <a:lnTo>
                  <a:pt x="102" y="7"/>
                </a:lnTo>
                <a:cubicBezTo>
                  <a:pt x="105" y="5"/>
                  <a:pt x="108" y="2"/>
                  <a:pt x="111" y="0"/>
                </a:cubicBezTo>
                <a:lnTo>
                  <a:pt x="114" y="0"/>
                </a:lnTo>
                <a:lnTo>
                  <a:pt x="115" y="0"/>
                </a:lnTo>
                <a:cubicBezTo>
                  <a:pt x="116" y="0"/>
                  <a:pt x="117" y="1"/>
                  <a:pt x="119" y="3"/>
                </a:cubicBezTo>
                <a:lnTo>
                  <a:pt x="119" y="54"/>
                </a:lnTo>
                <a:lnTo>
                  <a:pt x="117" y="57"/>
                </a:lnTo>
                <a:lnTo>
                  <a:pt x="106" y="57"/>
                </a:lnTo>
                <a:cubicBezTo>
                  <a:pt x="104" y="55"/>
                  <a:pt x="103" y="53"/>
                  <a:pt x="103" y="52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/>
          <p:nvPr/>
        </p:nvSpPr>
        <p:spPr>
          <a:xfrm>
            <a:off x="5596920" y="4046400"/>
            <a:ext cx="46080" cy="65160"/>
          </a:xfrm>
          <a:custGeom>
            <a:avLst/>
            <a:gdLst/>
            <a:ahLst/>
            <a:rect l="0" t="0" r="r" b="b"/>
            <a:pathLst>
              <a:path fill="none" w="128" h="181">
                <a:moveTo>
                  <a:pt x="103" y="52"/>
                </a:moveTo>
                <a:cubicBezTo>
                  <a:pt x="103" y="41"/>
                  <a:pt x="100" y="33"/>
                  <a:pt x="93" y="25"/>
                </a:cubicBezTo>
                <a:cubicBezTo>
                  <a:pt x="86" y="17"/>
                  <a:pt x="76" y="14"/>
                  <a:pt x="62" y="14"/>
                </a:cubicBezTo>
                <a:cubicBezTo>
                  <a:pt x="53" y="14"/>
                  <a:pt x="45" y="15"/>
                  <a:pt x="38" y="19"/>
                </a:cubicBezTo>
                <a:cubicBezTo>
                  <a:pt x="30" y="24"/>
                  <a:pt x="26" y="30"/>
                  <a:pt x="26" y="39"/>
                </a:cubicBezTo>
                <a:cubicBezTo>
                  <a:pt x="26" y="40"/>
                  <a:pt x="26" y="42"/>
                  <a:pt x="26" y="44"/>
                </a:cubicBezTo>
                <a:cubicBezTo>
                  <a:pt x="27" y="46"/>
                  <a:pt x="29" y="49"/>
                  <a:pt x="33" y="53"/>
                </a:cubicBezTo>
                <a:cubicBezTo>
                  <a:pt x="37" y="58"/>
                  <a:pt x="42" y="61"/>
                  <a:pt x="49" y="63"/>
                </a:cubicBezTo>
                <a:cubicBezTo>
                  <a:pt x="54" y="65"/>
                  <a:pt x="60" y="66"/>
                  <a:pt x="67" y="67"/>
                </a:cubicBezTo>
                <a:cubicBezTo>
                  <a:pt x="73" y="68"/>
                  <a:pt x="79" y="69"/>
                  <a:pt x="84" y="70"/>
                </a:cubicBezTo>
                <a:cubicBezTo>
                  <a:pt x="89" y="72"/>
                  <a:pt x="93" y="73"/>
                  <a:pt x="96" y="75"/>
                </a:cubicBezTo>
                <a:cubicBezTo>
                  <a:pt x="101" y="77"/>
                  <a:pt x="105" y="80"/>
                  <a:pt x="109" y="83"/>
                </a:cubicBezTo>
                <a:cubicBezTo>
                  <a:pt x="113" y="86"/>
                  <a:pt x="118" y="92"/>
                  <a:pt x="122" y="99"/>
                </a:cubicBezTo>
                <a:cubicBezTo>
                  <a:pt x="126" y="107"/>
                  <a:pt x="128" y="115"/>
                  <a:pt x="128" y="123"/>
                </a:cubicBezTo>
                <a:cubicBezTo>
                  <a:pt x="128" y="140"/>
                  <a:pt x="123" y="154"/>
                  <a:pt x="113" y="164"/>
                </a:cubicBezTo>
                <a:cubicBezTo>
                  <a:pt x="104" y="175"/>
                  <a:pt x="88" y="180"/>
                  <a:pt x="65" y="180"/>
                </a:cubicBezTo>
                <a:lnTo>
                  <a:pt x="62" y="180"/>
                </a:lnTo>
                <a:cubicBezTo>
                  <a:pt x="49" y="180"/>
                  <a:pt x="36" y="175"/>
                  <a:pt x="25" y="166"/>
                </a:cubicBezTo>
                <a:lnTo>
                  <a:pt x="22" y="169"/>
                </a:lnTo>
                <a:lnTo>
                  <a:pt x="18" y="172"/>
                </a:lnTo>
                <a:cubicBezTo>
                  <a:pt x="17" y="174"/>
                  <a:pt x="15" y="175"/>
                  <a:pt x="14" y="177"/>
                </a:cubicBezTo>
                <a:lnTo>
                  <a:pt x="8" y="181"/>
                </a:lnTo>
                <a:lnTo>
                  <a:pt x="5" y="181"/>
                </a:lnTo>
                <a:lnTo>
                  <a:pt x="4" y="181"/>
                </a:lnTo>
                <a:cubicBezTo>
                  <a:pt x="3" y="181"/>
                  <a:pt x="2" y="180"/>
                  <a:pt x="0" y="178"/>
                </a:cubicBezTo>
                <a:lnTo>
                  <a:pt x="0" y="147"/>
                </a:lnTo>
                <a:lnTo>
                  <a:pt x="0" y="124"/>
                </a:lnTo>
                <a:cubicBezTo>
                  <a:pt x="0" y="118"/>
                  <a:pt x="0" y="115"/>
                  <a:pt x="1" y="114"/>
                </a:cubicBezTo>
                <a:cubicBezTo>
                  <a:pt x="1" y="113"/>
                  <a:pt x="3" y="112"/>
                  <a:pt x="5" y="112"/>
                </a:cubicBezTo>
                <a:lnTo>
                  <a:pt x="8" y="112"/>
                </a:lnTo>
                <a:cubicBezTo>
                  <a:pt x="12" y="112"/>
                  <a:pt x="14" y="113"/>
                  <a:pt x="16" y="114"/>
                </a:cubicBezTo>
                <a:cubicBezTo>
                  <a:pt x="17" y="115"/>
                  <a:pt x="17" y="116"/>
                  <a:pt x="17" y="118"/>
                </a:cubicBezTo>
                <a:cubicBezTo>
                  <a:pt x="18" y="120"/>
                  <a:pt x="19" y="124"/>
                  <a:pt x="20" y="130"/>
                </a:cubicBezTo>
                <a:cubicBezTo>
                  <a:pt x="22" y="135"/>
                  <a:pt x="24" y="140"/>
                  <a:pt x="28" y="146"/>
                </a:cubicBezTo>
                <a:cubicBezTo>
                  <a:pt x="37" y="159"/>
                  <a:pt x="49" y="166"/>
                  <a:pt x="65" y="166"/>
                </a:cubicBezTo>
                <a:cubicBezTo>
                  <a:pt x="91" y="166"/>
                  <a:pt x="103" y="156"/>
                  <a:pt x="103" y="136"/>
                </a:cubicBezTo>
                <a:cubicBezTo>
                  <a:pt x="103" y="128"/>
                  <a:pt x="101" y="121"/>
                  <a:pt x="96" y="116"/>
                </a:cubicBezTo>
                <a:cubicBezTo>
                  <a:pt x="91" y="110"/>
                  <a:pt x="80" y="105"/>
                  <a:pt x="64" y="102"/>
                </a:cubicBezTo>
                <a:cubicBezTo>
                  <a:pt x="48" y="99"/>
                  <a:pt x="37" y="96"/>
                  <a:pt x="32" y="93"/>
                </a:cubicBezTo>
                <a:cubicBezTo>
                  <a:pt x="22" y="89"/>
                  <a:pt x="15" y="83"/>
                  <a:pt x="8" y="75"/>
                </a:cubicBezTo>
                <a:cubicBezTo>
                  <a:pt x="3" y="68"/>
                  <a:pt x="0" y="60"/>
                  <a:pt x="0" y="51"/>
                </a:cubicBezTo>
                <a:cubicBezTo>
                  <a:pt x="0" y="41"/>
                  <a:pt x="2" y="32"/>
                  <a:pt x="7" y="25"/>
                </a:cubicBezTo>
                <a:cubicBezTo>
                  <a:pt x="12" y="18"/>
                  <a:pt x="18" y="13"/>
                  <a:pt x="24" y="10"/>
                </a:cubicBezTo>
                <a:cubicBezTo>
                  <a:pt x="31" y="6"/>
                  <a:pt x="38" y="4"/>
                  <a:pt x="44" y="3"/>
                </a:cubicBezTo>
                <a:cubicBezTo>
                  <a:pt x="50" y="1"/>
                  <a:pt x="56" y="1"/>
                  <a:pt x="61" y="1"/>
                </a:cubicBezTo>
                <a:lnTo>
                  <a:pt x="65" y="1"/>
                </a:lnTo>
                <a:cubicBezTo>
                  <a:pt x="76" y="1"/>
                  <a:pt x="85" y="3"/>
                  <a:pt x="93" y="7"/>
                </a:cubicBezTo>
                <a:lnTo>
                  <a:pt x="99" y="10"/>
                </a:lnTo>
                <a:lnTo>
                  <a:pt x="102" y="7"/>
                </a:lnTo>
                <a:cubicBezTo>
                  <a:pt x="105" y="5"/>
                  <a:pt x="108" y="2"/>
                  <a:pt x="111" y="0"/>
                </a:cubicBezTo>
                <a:lnTo>
                  <a:pt x="114" y="0"/>
                </a:lnTo>
                <a:lnTo>
                  <a:pt x="115" y="0"/>
                </a:lnTo>
                <a:cubicBezTo>
                  <a:pt x="116" y="0"/>
                  <a:pt x="117" y="1"/>
                  <a:pt x="119" y="3"/>
                </a:cubicBezTo>
                <a:lnTo>
                  <a:pt x="119" y="54"/>
                </a:lnTo>
                <a:lnTo>
                  <a:pt x="117" y="57"/>
                </a:lnTo>
                <a:lnTo>
                  <a:pt x="106" y="57"/>
                </a:lnTo>
                <a:cubicBezTo>
                  <a:pt x="104" y="55"/>
                  <a:pt x="103" y="53"/>
                  <a:pt x="103" y="52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/>
          <p:nvPr/>
        </p:nvSpPr>
        <p:spPr>
          <a:xfrm>
            <a:off x="5651640" y="4046400"/>
            <a:ext cx="62640" cy="64800"/>
          </a:xfrm>
          <a:custGeom>
            <a:avLst/>
            <a:gdLst/>
            <a:ahLst/>
            <a:rect l="0" t="0" r="r" b="b"/>
            <a:pathLst>
              <a:path w="174" h="180">
                <a:moveTo>
                  <a:pt x="0" y="93"/>
                </a:moveTo>
                <a:cubicBezTo>
                  <a:pt x="0" y="68"/>
                  <a:pt x="8" y="46"/>
                  <a:pt x="25" y="28"/>
                </a:cubicBezTo>
                <a:cubicBezTo>
                  <a:pt x="43" y="10"/>
                  <a:pt x="64" y="1"/>
                  <a:pt x="88" y="0"/>
                </a:cubicBezTo>
                <a:cubicBezTo>
                  <a:pt x="111" y="0"/>
                  <a:pt x="131" y="9"/>
                  <a:pt x="148" y="27"/>
                </a:cubicBezTo>
                <a:cubicBezTo>
                  <a:pt x="165" y="45"/>
                  <a:pt x="174" y="67"/>
                  <a:pt x="174" y="92"/>
                </a:cubicBezTo>
                <a:cubicBezTo>
                  <a:pt x="174" y="117"/>
                  <a:pt x="166" y="138"/>
                  <a:pt x="149" y="155"/>
                </a:cubicBezTo>
                <a:cubicBezTo>
                  <a:pt x="132" y="172"/>
                  <a:pt x="112" y="180"/>
                  <a:pt x="88" y="180"/>
                </a:cubicBezTo>
                <a:cubicBezTo>
                  <a:pt x="62" y="180"/>
                  <a:pt x="42" y="171"/>
                  <a:pt x="25" y="154"/>
                </a:cubicBezTo>
                <a:cubicBezTo>
                  <a:pt x="8" y="137"/>
                  <a:pt x="0" y="116"/>
                  <a:pt x="0" y="93"/>
                </a:cubicBezTo>
                <a:moveTo>
                  <a:pt x="88" y="165"/>
                </a:moveTo>
                <a:cubicBezTo>
                  <a:pt x="119" y="165"/>
                  <a:pt x="135" y="143"/>
                  <a:pt x="135" y="101"/>
                </a:cubicBezTo>
                <a:lnTo>
                  <a:pt x="135" y="88"/>
                </a:lnTo>
                <a:lnTo>
                  <a:pt x="135" y="79"/>
                </a:lnTo>
                <a:cubicBezTo>
                  <a:pt x="135" y="73"/>
                  <a:pt x="135" y="68"/>
                  <a:pt x="135" y="63"/>
                </a:cubicBezTo>
                <a:cubicBezTo>
                  <a:pt x="135" y="59"/>
                  <a:pt x="134" y="54"/>
                  <a:pt x="132" y="48"/>
                </a:cubicBezTo>
                <a:cubicBezTo>
                  <a:pt x="131" y="42"/>
                  <a:pt x="128" y="38"/>
                  <a:pt x="126" y="34"/>
                </a:cubicBezTo>
                <a:cubicBezTo>
                  <a:pt x="123" y="30"/>
                  <a:pt x="119" y="27"/>
                  <a:pt x="114" y="23"/>
                </a:cubicBezTo>
                <a:cubicBezTo>
                  <a:pt x="108" y="19"/>
                  <a:pt x="102" y="17"/>
                  <a:pt x="95" y="15"/>
                </a:cubicBezTo>
                <a:cubicBezTo>
                  <a:pt x="93" y="15"/>
                  <a:pt x="91" y="15"/>
                  <a:pt x="88" y="15"/>
                </a:cubicBezTo>
                <a:cubicBezTo>
                  <a:pt x="81" y="15"/>
                  <a:pt x="73" y="16"/>
                  <a:pt x="66" y="19"/>
                </a:cubicBezTo>
                <a:cubicBezTo>
                  <a:pt x="55" y="25"/>
                  <a:pt x="48" y="33"/>
                  <a:pt x="44" y="43"/>
                </a:cubicBezTo>
                <a:cubicBezTo>
                  <a:pt x="41" y="53"/>
                  <a:pt x="38" y="66"/>
                  <a:pt x="38" y="80"/>
                </a:cubicBezTo>
                <a:lnTo>
                  <a:pt x="38" y="88"/>
                </a:lnTo>
                <a:cubicBezTo>
                  <a:pt x="38" y="113"/>
                  <a:pt x="42" y="131"/>
                  <a:pt x="47" y="141"/>
                </a:cubicBezTo>
                <a:cubicBezTo>
                  <a:pt x="55" y="157"/>
                  <a:pt x="69" y="165"/>
                  <a:pt x="88" y="165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/>
          <p:nvPr/>
        </p:nvSpPr>
        <p:spPr>
          <a:xfrm>
            <a:off x="5651640" y="4046400"/>
            <a:ext cx="62640" cy="64800"/>
          </a:xfrm>
          <a:custGeom>
            <a:avLst/>
            <a:gdLst/>
            <a:ahLst/>
            <a:rect l="0" t="0" r="r" b="b"/>
            <a:pathLst>
              <a:path fill="none" w="174" h="180">
                <a:moveTo>
                  <a:pt x="0" y="93"/>
                </a:moveTo>
                <a:cubicBezTo>
                  <a:pt x="0" y="68"/>
                  <a:pt x="8" y="46"/>
                  <a:pt x="25" y="28"/>
                </a:cubicBezTo>
                <a:cubicBezTo>
                  <a:pt x="43" y="10"/>
                  <a:pt x="64" y="1"/>
                  <a:pt x="88" y="0"/>
                </a:cubicBezTo>
                <a:cubicBezTo>
                  <a:pt x="111" y="0"/>
                  <a:pt x="131" y="9"/>
                  <a:pt x="148" y="27"/>
                </a:cubicBezTo>
                <a:cubicBezTo>
                  <a:pt x="165" y="45"/>
                  <a:pt x="174" y="67"/>
                  <a:pt x="174" y="92"/>
                </a:cubicBezTo>
                <a:cubicBezTo>
                  <a:pt x="174" y="117"/>
                  <a:pt x="166" y="138"/>
                  <a:pt x="149" y="155"/>
                </a:cubicBezTo>
                <a:cubicBezTo>
                  <a:pt x="132" y="172"/>
                  <a:pt x="112" y="180"/>
                  <a:pt x="88" y="180"/>
                </a:cubicBezTo>
                <a:cubicBezTo>
                  <a:pt x="62" y="180"/>
                  <a:pt x="42" y="171"/>
                  <a:pt x="25" y="154"/>
                </a:cubicBezTo>
                <a:cubicBezTo>
                  <a:pt x="8" y="137"/>
                  <a:pt x="0" y="116"/>
                  <a:pt x="0" y="93"/>
                </a:cubicBezTo>
                <a:moveTo>
                  <a:pt x="88" y="165"/>
                </a:moveTo>
                <a:cubicBezTo>
                  <a:pt x="119" y="165"/>
                  <a:pt x="135" y="143"/>
                  <a:pt x="135" y="101"/>
                </a:cubicBezTo>
                <a:lnTo>
                  <a:pt x="135" y="88"/>
                </a:lnTo>
                <a:lnTo>
                  <a:pt x="135" y="79"/>
                </a:lnTo>
                <a:cubicBezTo>
                  <a:pt x="135" y="73"/>
                  <a:pt x="135" y="68"/>
                  <a:pt x="135" y="63"/>
                </a:cubicBezTo>
                <a:cubicBezTo>
                  <a:pt x="135" y="59"/>
                  <a:pt x="134" y="54"/>
                  <a:pt x="132" y="48"/>
                </a:cubicBezTo>
                <a:cubicBezTo>
                  <a:pt x="131" y="42"/>
                  <a:pt x="128" y="38"/>
                  <a:pt x="126" y="34"/>
                </a:cubicBezTo>
                <a:cubicBezTo>
                  <a:pt x="123" y="30"/>
                  <a:pt x="119" y="27"/>
                  <a:pt x="114" y="23"/>
                </a:cubicBezTo>
                <a:cubicBezTo>
                  <a:pt x="108" y="19"/>
                  <a:pt x="102" y="17"/>
                  <a:pt x="95" y="15"/>
                </a:cubicBezTo>
                <a:cubicBezTo>
                  <a:pt x="93" y="15"/>
                  <a:pt x="91" y="15"/>
                  <a:pt x="88" y="15"/>
                </a:cubicBezTo>
                <a:cubicBezTo>
                  <a:pt x="81" y="15"/>
                  <a:pt x="73" y="16"/>
                  <a:pt x="66" y="19"/>
                </a:cubicBezTo>
                <a:cubicBezTo>
                  <a:pt x="55" y="25"/>
                  <a:pt x="48" y="33"/>
                  <a:pt x="44" y="43"/>
                </a:cubicBezTo>
                <a:cubicBezTo>
                  <a:pt x="41" y="53"/>
                  <a:pt x="38" y="66"/>
                  <a:pt x="38" y="80"/>
                </a:cubicBezTo>
                <a:lnTo>
                  <a:pt x="38" y="88"/>
                </a:lnTo>
                <a:cubicBezTo>
                  <a:pt x="38" y="113"/>
                  <a:pt x="42" y="131"/>
                  <a:pt x="47" y="141"/>
                </a:cubicBezTo>
                <a:cubicBezTo>
                  <a:pt x="55" y="157"/>
                  <a:pt x="69" y="165"/>
                  <a:pt x="88" y="165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/>
          <p:nvPr/>
        </p:nvSpPr>
        <p:spPr>
          <a:xfrm>
            <a:off x="5721480" y="4047480"/>
            <a:ext cx="73080" cy="62280"/>
          </a:xfrm>
          <a:custGeom>
            <a:avLst/>
            <a:gdLst/>
            <a:ahLst/>
            <a:rect l="0" t="0" r="r" b="b"/>
            <a:pathLst>
              <a:path w="203" h="173">
                <a:moveTo>
                  <a:pt x="6" y="155"/>
                </a:moveTo>
                <a:lnTo>
                  <a:pt x="12" y="155"/>
                </a:lnTo>
                <a:cubicBezTo>
                  <a:pt x="22" y="155"/>
                  <a:pt x="28" y="153"/>
                  <a:pt x="30" y="150"/>
                </a:cubicBezTo>
                <a:lnTo>
                  <a:pt x="30" y="147"/>
                </a:lnTo>
                <a:cubicBezTo>
                  <a:pt x="30" y="144"/>
                  <a:pt x="30" y="141"/>
                  <a:pt x="30" y="138"/>
                </a:cubicBezTo>
                <a:cubicBezTo>
                  <a:pt x="30" y="134"/>
                  <a:pt x="30" y="130"/>
                  <a:pt x="30" y="126"/>
                </a:cubicBezTo>
                <a:cubicBezTo>
                  <a:pt x="30" y="121"/>
                  <a:pt x="30" y="116"/>
                  <a:pt x="30" y="110"/>
                </a:cubicBezTo>
                <a:cubicBezTo>
                  <a:pt x="31" y="105"/>
                  <a:pt x="31" y="99"/>
                  <a:pt x="30" y="94"/>
                </a:cubicBezTo>
                <a:cubicBezTo>
                  <a:pt x="30" y="86"/>
                  <a:pt x="30" y="77"/>
                  <a:pt x="30" y="68"/>
                </a:cubicBezTo>
                <a:cubicBezTo>
                  <a:pt x="30" y="59"/>
                  <a:pt x="30" y="51"/>
                  <a:pt x="30" y="45"/>
                </a:cubicBezTo>
                <a:lnTo>
                  <a:pt x="30" y="36"/>
                </a:lnTo>
                <a:cubicBezTo>
                  <a:pt x="29" y="31"/>
                  <a:pt x="27" y="28"/>
                  <a:pt x="25" y="26"/>
                </a:cubicBezTo>
                <a:cubicBezTo>
                  <a:pt x="22" y="25"/>
                  <a:pt x="16" y="24"/>
                  <a:pt x="7" y="22"/>
                </a:cubicBezTo>
                <a:lnTo>
                  <a:pt x="0" y="22"/>
                </a:lnTo>
                <a:lnTo>
                  <a:pt x="0" y="13"/>
                </a:lnTo>
                <a:cubicBezTo>
                  <a:pt x="0" y="7"/>
                  <a:pt x="0" y="4"/>
                  <a:pt x="1" y="4"/>
                </a:cubicBezTo>
                <a:lnTo>
                  <a:pt x="5" y="4"/>
                </a:lnTo>
                <a:cubicBezTo>
                  <a:pt x="7" y="3"/>
                  <a:pt x="11" y="3"/>
                  <a:pt x="16" y="3"/>
                </a:cubicBezTo>
                <a:cubicBezTo>
                  <a:pt x="20" y="3"/>
                  <a:pt x="25" y="2"/>
                  <a:pt x="30" y="2"/>
                </a:cubicBezTo>
                <a:cubicBezTo>
                  <a:pt x="34" y="2"/>
                  <a:pt x="39" y="2"/>
                  <a:pt x="44" y="1"/>
                </a:cubicBezTo>
                <a:cubicBezTo>
                  <a:pt x="49" y="1"/>
                  <a:pt x="53" y="1"/>
                  <a:pt x="55" y="0"/>
                </a:cubicBezTo>
                <a:cubicBezTo>
                  <a:pt x="58" y="0"/>
                  <a:pt x="59" y="-1"/>
                  <a:pt x="60" y="0"/>
                </a:cubicBezTo>
                <a:lnTo>
                  <a:pt x="61" y="0"/>
                </a:lnTo>
                <a:lnTo>
                  <a:pt x="61" y="15"/>
                </a:lnTo>
                <a:cubicBezTo>
                  <a:pt x="61" y="26"/>
                  <a:pt x="61" y="31"/>
                  <a:pt x="61" y="31"/>
                </a:cubicBezTo>
                <a:cubicBezTo>
                  <a:pt x="61" y="31"/>
                  <a:pt x="62" y="31"/>
                  <a:pt x="63" y="29"/>
                </a:cubicBezTo>
                <a:cubicBezTo>
                  <a:pt x="64" y="28"/>
                  <a:pt x="66" y="26"/>
                  <a:pt x="68" y="22"/>
                </a:cubicBezTo>
                <a:cubicBezTo>
                  <a:pt x="70" y="20"/>
                  <a:pt x="72" y="17"/>
                  <a:pt x="75" y="15"/>
                </a:cubicBezTo>
                <a:cubicBezTo>
                  <a:pt x="78" y="13"/>
                  <a:pt x="82" y="11"/>
                  <a:pt x="88" y="8"/>
                </a:cubicBezTo>
                <a:cubicBezTo>
                  <a:pt x="92" y="5"/>
                  <a:pt x="97" y="3"/>
                  <a:pt x="102" y="2"/>
                </a:cubicBezTo>
                <a:cubicBezTo>
                  <a:pt x="108" y="0"/>
                  <a:pt x="114" y="0"/>
                  <a:pt x="122" y="0"/>
                </a:cubicBezTo>
                <a:cubicBezTo>
                  <a:pt x="152" y="1"/>
                  <a:pt x="169" y="15"/>
                  <a:pt x="172" y="45"/>
                </a:cubicBezTo>
                <a:cubicBezTo>
                  <a:pt x="172" y="47"/>
                  <a:pt x="172" y="65"/>
                  <a:pt x="172" y="99"/>
                </a:cubicBezTo>
                <a:lnTo>
                  <a:pt x="172" y="133"/>
                </a:lnTo>
                <a:cubicBezTo>
                  <a:pt x="172" y="143"/>
                  <a:pt x="173" y="148"/>
                  <a:pt x="173" y="150"/>
                </a:cubicBezTo>
                <a:cubicBezTo>
                  <a:pt x="174" y="152"/>
                  <a:pt x="175" y="153"/>
                  <a:pt x="177" y="154"/>
                </a:cubicBezTo>
                <a:cubicBezTo>
                  <a:pt x="183" y="155"/>
                  <a:pt x="189" y="155"/>
                  <a:pt x="196" y="155"/>
                </a:cubicBezTo>
                <a:lnTo>
                  <a:pt x="203" y="155"/>
                </a:lnTo>
                <a:lnTo>
                  <a:pt x="203" y="173"/>
                </a:lnTo>
                <a:lnTo>
                  <a:pt x="200" y="173"/>
                </a:lnTo>
                <a:lnTo>
                  <a:pt x="190" y="173"/>
                </a:lnTo>
                <a:cubicBezTo>
                  <a:pt x="184" y="173"/>
                  <a:pt x="178" y="172"/>
                  <a:pt x="171" y="172"/>
                </a:cubicBezTo>
                <a:cubicBezTo>
                  <a:pt x="164" y="172"/>
                  <a:pt x="159" y="172"/>
                  <a:pt x="156" y="172"/>
                </a:cubicBezTo>
                <a:cubicBezTo>
                  <a:pt x="129" y="172"/>
                  <a:pt x="115" y="172"/>
                  <a:pt x="112" y="173"/>
                </a:cubicBezTo>
                <a:lnTo>
                  <a:pt x="109" y="173"/>
                </a:lnTo>
                <a:lnTo>
                  <a:pt x="109" y="155"/>
                </a:lnTo>
                <a:lnTo>
                  <a:pt x="115" y="155"/>
                </a:lnTo>
                <a:cubicBezTo>
                  <a:pt x="131" y="155"/>
                  <a:pt x="139" y="153"/>
                  <a:pt x="139" y="149"/>
                </a:cubicBezTo>
                <a:cubicBezTo>
                  <a:pt x="139" y="149"/>
                  <a:pt x="139" y="131"/>
                  <a:pt x="139" y="95"/>
                </a:cubicBezTo>
                <a:cubicBezTo>
                  <a:pt x="139" y="60"/>
                  <a:pt x="139" y="41"/>
                  <a:pt x="139" y="39"/>
                </a:cubicBezTo>
                <a:cubicBezTo>
                  <a:pt x="137" y="32"/>
                  <a:pt x="135" y="27"/>
                  <a:pt x="131" y="22"/>
                </a:cubicBezTo>
                <a:cubicBezTo>
                  <a:pt x="127" y="18"/>
                  <a:pt x="124" y="16"/>
                  <a:pt x="122" y="15"/>
                </a:cubicBezTo>
                <a:cubicBezTo>
                  <a:pt x="119" y="15"/>
                  <a:pt x="116" y="14"/>
                  <a:pt x="111" y="15"/>
                </a:cubicBezTo>
                <a:cubicBezTo>
                  <a:pt x="100" y="15"/>
                  <a:pt x="89" y="19"/>
                  <a:pt x="80" y="29"/>
                </a:cubicBezTo>
                <a:cubicBezTo>
                  <a:pt x="73" y="36"/>
                  <a:pt x="68" y="43"/>
                  <a:pt x="66" y="50"/>
                </a:cubicBezTo>
                <a:cubicBezTo>
                  <a:pt x="64" y="58"/>
                  <a:pt x="63" y="68"/>
                  <a:pt x="63" y="83"/>
                </a:cubicBezTo>
                <a:lnTo>
                  <a:pt x="63" y="108"/>
                </a:lnTo>
                <a:lnTo>
                  <a:pt x="63" y="131"/>
                </a:lnTo>
                <a:cubicBezTo>
                  <a:pt x="63" y="139"/>
                  <a:pt x="63" y="144"/>
                  <a:pt x="64" y="147"/>
                </a:cubicBezTo>
                <a:cubicBezTo>
                  <a:pt x="64" y="149"/>
                  <a:pt x="64" y="151"/>
                  <a:pt x="65" y="152"/>
                </a:cubicBezTo>
                <a:cubicBezTo>
                  <a:pt x="65" y="153"/>
                  <a:pt x="66" y="153"/>
                  <a:pt x="68" y="154"/>
                </a:cubicBezTo>
                <a:cubicBezTo>
                  <a:pt x="74" y="155"/>
                  <a:pt x="80" y="155"/>
                  <a:pt x="88" y="155"/>
                </a:cubicBezTo>
                <a:lnTo>
                  <a:pt x="95" y="155"/>
                </a:lnTo>
                <a:lnTo>
                  <a:pt x="95" y="173"/>
                </a:lnTo>
                <a:lnTo>
                  <a:pt x="91" y="173"/>
                </a:lnTo>
                <a:lnTo>
                  <a:pt x="81" y="173"/>
                </a:lnTo>
                <a:cubicBezTo>
                  <a:pt x="75" y="173"/>
                  <a:pt x="69" y="172"/>
                  <a:pt x="62" y="172"/>
                </a:cubicBezTo>
                <a:cubicBezTo>
                  <a:pt x="55" y="172"/>
                  <a:pt x="50" y="172"/>
                  <a:pt x="47" y="172"/>
                </a:cubicBezTo>
                <a:cubicBezTo>
                  <a:pt x="20" y="172"/>
                  <a:pt x="5" y="172"/>
                  <a:pt x="3" y="173"/>
                </a:cubicBezTo>
                <a:lnTo>
                  <a:pt x="0" y="173"/>
                </a:lnTo>
                <a:lnTo>
                  <a:pt x="0" y="155"/>
                </a:lnTo>
                <a:lnTo>
                  <a:pt x="6" y="155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/>
          <p:nvPr/>
        </p:nvSpPr>
        <p:spPr>
          <a:xfrm>
            <a:off x="5721480" y="4047480"/>
            <a:ext cx="73080" cy="62280"/>
          </a:xfrm>
          <a:custGeom>
            <a:avLst/>
            <a:gdLst/>
            <a:ahLst/>
            <a:rect l="0" t="0" r="r" b="b"/>
            <a:pathLst>
              <a:path fill="none" w="203" h="173">
                <a:moveTo>
                  <a:pt x="6" y="155"/>
                </a:moveTo>
                <a:lnTo>
                  <a:pt x="12" y="155"/>
                </a:lnTo>
                <a:cubicBezTo>
                  <a:pt x="22" y="155"/>
                  <a:pt x="28" y="153"/>
                  <a:pt x="30" y="150"/>
                </a:cubicBezTo>
                <a:lnTo>
                  <a:pt x="30" y="147"/>
                </a:lnTo>
                <a:cubicBezTo>
                  <a:pt x="30" y="144"/>
                  <a:pt x="30" y="141"/>
                  <a:pt x="30" y="138"/>
                </a:cubicBezTo>
                <a:cubicBezTo>
                  <a:pt x="30" y="134"/>
                  <a:pt x="30" y="130"/>
                  <a:pt x="30" y="126"/>
                </a:cubicBezTo>
                <a:cubicBezTo>
                  <a:pt x="30" y="121"/>
                  <a:pt x="30" y="116"/>
                  <a:pt x="30" y="110"/>
                </a:cubicBezTo>
                <a:cubicBezTo>
                  <a:pt x="31" y="105"/>
                  <a:pt x="31" y="99"/>
                  <a:pt x="30" y="94"/>
                </a:cubicBezTo>
                <a:cubicBezTo>
                  <a:pt x="30" y="86"/>
                  <a:pt x="30" y="77"/>
                  <a:pt x="30" y="68"/>
                </a:cubicBezTo>
                <a:cubicBezTo>
                  <a:pt x="30" y="59"/>
                  <a:pt x="30" y="51"/>
                  <a:pt x="30" y="45"/>
                </a:cubicBezTo>
                <a:lnTo>
                  <a:pt x="30" y="36"/>
                </a:lnTo>
                <a:cubicBezTo>
                  <a:pt x="29" y="31"/>
                  <a:pt x="27" y="28"/>
                  <a:pt x="25" y="26"/>
                </a:cubicBezTo>
                <a:cubicBezTo>
                  <a:pt x="22" y="25"/>
                  <a:pt x="16" y="24"/>
                  <a:pt x="7" y="22"/>
                </a:cubicBezTo>
                <a:lnTo>
                  <a:pt x="0" y="22"/>
                </a:lnTo>
                <a:lnTo>
                  <a:pt x="0" y="13"/>
                </a:lnTo>
                <a:cubicBezTo>
                  <a:pt x="0" y="7"/>
                  <a:pt x="0" y="4"/>
                  <a:pt x="1" y="4"/>
                </a:cubicBezTo>
                <a:lnTo>
                  <a:pt x="5" y="4"/>
                </a:lnTo>
                <a:cubicBezTo>
                  <a:pt x="7" y="3"/>
                  <a:pt x="11" y="3"/>
                  <a:pt x="16" y="3"/>
                </a:cubicBezTo>
                <a:cubicBezTo>
                  <a:pt x="20" y="3"/>
                  <a:pt x="25" y="2"/>
                  <a:pt x="30" y="2"/>
                </a:cubicBezTo>
                <a:cubicBezTo>
                  <a:pt x="34" y="2"/>
                  <a:pt x="39" y="2"/>
                  <a:pt x="44" y="1"/>
                </a:cubicBezTo>
                <a:cubicBezTo>
                  <a:pt x="49" y="1"/>
                  <a:pt x="53" y="1"/>
                  <a:pt x="55" y="0"/>
                </a:cubicBezTo>
                <a:cubicBezTo>
                  <a:pt x="58" y="0"/>
                  <a:pt x="59" y="-1"/>
                  <a:pt x="60" y="0"/>
                </a:cubicBezTo>
                <a:lnTo>
                  <a:pt x="61" y="0"/>
                </a:lnTo>
                <a:lnTo>
                  <a:pt x="61" y="15"/>
                </a:lnTo>
                <a:cubicBezTo>
                  <a:pt x="61" y="26"/>
                  <a:pt x="61" y="31"/>
                  <a:pt x="61" y="31"/>
                </a:cubicBezTo>
                <a:cubicBezTo>
                  <a:pt x="61" y="31"/>
                  <a:pt x="62" y="31"/>
                  <a:pt x="63" y="29"/>
                </a:cubicBezTo>
                <a:cubicBezTo>
                  <a:pt x="64" y="28"/>
                  <a:pt x="66" y="26"/>
                  <a:pt x="68" y="22"/>
                </a:cubicBezTo>
                <a:cubicBezTo>
                  <a:pt x="70" y="20"/>
                  <a:pt x="72" y="17"/>
                  <a:pt x="75" y="15"/>
                </a:cubicBezTo>
                <a:cubicBezTo>
                  <a:pt x="78" y="13"/>
                  <a:pt x="82" y="11"/>
                  <a:pt x="88" y="8"/>
                </a:cubicBezTo>
                <a:cubicBezTo>
                  <a:pt x="92" y="5"/>
                  <a:pt x="97" y="3"/>
                  <a:pt x="102" y="2"/>
                </a:cubicBezTo>
                <a:cubicBezTo>
                  <a:pt x="108" y="0"/>
                  <a:pt x="114" y="0"/>
                  <a:pt x="122" y="0"/>
                </a:cubicBezTo>
                <a:cubicBezTo>
                  <a:pt x="152" y="1"/>
                  <a:pt x="169" y="15"/>
                  <a:pt x="172" y="45"/>
                </a:cubicBezTo>
                <a:cubicBezTo>
                  <a:pt x="172" y="47"/>
                  <a:pt x="172" y="65"/>
                  <a:pt x="172" y="99"/>
                </a:cubicBezTo>
                <a:lnTo>
                  <a:pt x="172" y="133"/>
                </a:lnTo>
                <a:cubicBezTo>
                  <a:pt x="172" y="143"/>
                  <a:pt x="173" y="148"/>
                  <a:pt x="173" y="150"/>
                </a:cubicBezTo>
                <a:cubicBezTo>
                  <a:pt x="174" y="152"/>
                  <a:pt x="175" y="153"/>
                  <a:pt x="177" y="154"/>
                </a:cubicBezTo>
                <a:cubicBezTo>
                  <a:pt x="183" y="155"/>
                  <a:pt x="189" y="155"/>
                  <a:pt x="196" y="155"/>
                </a:cubicBezTo>
                <a:lnTo>
                  <a:pt x="203" y="155"/>
                </a:lnTo>
                <a:lnTo>
                  <a:pt x="203" y="173"/>
                </a:lnTo>
                <a:lnTo>
                  <a:pt x="200" y="173"/>
                </a:lnTo>
                <a:lnTo>
                  <a:pt x="190" y="173"/>
                </a:lnTo>
                <a:cubicBezTo>
                  <a:pt x="184" y="173"/>
                  <a:pt x="178" y="172"/>
                  <a:pt x="171" y="172"/>
                </a:cubicBezTo>
                <a:cubicBezTo>
                  <a:pt x="164" y="172"/>
                  <a:pt x="159" y="172"/>
                  <a:pt x="156" y="172"/>
                </a:cubicBezTo>
                <a:cubicBezTo>
                  <a:pt x="129" y="172"/>
                  <a:pt x="115" y="172"/>
                  <a:pt x="112" y="173"/>
                </a:cubicBezTo>
                <a:lnTo>
                  <a:pt x="109" y="173"/>
                </a:lnTo>
                <a:lnTo>
                  <a:pt x="109" y="155"/>
                </a:lnTo>
                <a:lnTo>
                  <a:pt x="115" y="155"/>
                </a:lnTo>
                <a:cubicBezTo>
                  <a:pt x="131" y="155"/>
                  <a:pt x="139" y="153"/>
                  <a:pt x="139" y="149"/>
                </a:cubicBezTo>
                <a:cubicBezTo>
                  <a:pt x="139" y="149"/>
                  <a:pt x="139" y="131"/>
                  <a:pt x="139" y="95"/>
                </a:cubicBezTo>
                <a:cubicBezTo>
                  <a:pt x="139" y="60"/>
                  <a:pt x="139" y="41"/>
                  <a:pt x="139" y="39"/>
                </a:cubicBezTo>
                <a:cubicBezTo>
                  <a:pt x="137" y="32"/>
                  <a:pt x="135" y="27"/>
                  <a:pt x="131" y="22"/>
                </a:cubicBezTo>
                <a:cubicBezTo>
                  <a:pt x="127" y="18"/>
                  <a:pt x="124" y="16"/>
                  <a:pt x="122" y="15"/>
                </a:cubicBezTo>
                <a:cubicBezTo>
                  <a:pt x="119" y="15"/>
                  <a:pt x="116" y="14"/>
                  <a:pt x="111" y="15"/>
                </a:cubicBezTo>
                <a:cubicBezTo>
                  <a:pt x="100" y="15"/>
                  <a:pt x="89" y="19"/>
                  <a:pt x="80" y="29"/>
                </a:cubicBezTo>
                <a:cubicBezTo>
                  <a:pt x="73" y="36"/>
                  <a:pt x="68" y="43"/>
                  <a:pt x="66" y="50"/>
                </a:cubicBezTo>
                <a:cubicBezTo>
                  <a:pt x="64" y="58"/>
                  <a:pt x="63" y="68"/>
                  <a:pt x="63" y="83"/>
                </a:cubicBezTo>
                <a:lnTo>
                  <a:pt x="63" y="108"/>
                </a:lnTo>
                <a:lnTo>
                  <a:pt x="63" y="131"/>
                </a:lnTo>
                <a:cubicBezTo>
                  <a:pt x="63" y="139"/>
                  <a:pt x="63" y="144"/>
                  <a:pt x="64" y="147"/>
                </a:cubicBezTo>
                <a:cubicBezTo>
                  <a:pt x="64" y="149"/>
                  <a:pt x="64" y="151"/>
                  <a:pt x="65" y="152"/>
                </a:cubicBezTo>
                <a:cubicBezTo>
                  <a:pt x="65" y="153"/>
                  <a:pt x="66" y="153"/>
                  <a:pt x="68" y="154"/>
                </a:cubicBezTo>
                <a:cubicBezTo>
                  <a:pt x="74" y="155"/>
                  <a:pt x="80" y="155"/>
                  <a:pt x="88" y="155"/>
                </a:cubicBezTo>
                <a:lnTo>
                  <a:pt x="95" y="155"/>
                </a:lnTo>
                <a:lnTo>
                  <a:pt x="95" y="173"/>
                </a:lnTo>
                <a:lnTo>
                  <a:pt x="91" y="173"/>
                </a:lnTo>
                <a:lnTo>
                  <a:pt x="81" y="173"/>
                </a:lnTo>
                <a:cubicBezTo>
                  <a:pt x="75" y="173"/>
                  <a:pt x="69" y="172"/>
                  <a:pt x="62" y="172"/>
                </a:cubicBezTo>
                <a:cubicBezTo>
                  <a:pt x="55" y="172"/>
                  <a:pt x="50" y="172"/>
                  <a:pt x="47" y="172"/>
                </a:cubicBezTo>
                <a:cubicBezTo>
                  <a:pt x="20" y="172"/>
                  <a:pt x="5" y="172"/>
                  <a:pt x="3" y="173"/>
                </a:cubicBezTo>
                <a:lnTo>
                  <a:pt x="0" y="173"/>
                </a:lnTo>
                <a:lnTo>
                  <a:pt x="0" y="155"/>
                </a:lnTo>
                <a:lnTo>
                  <a:pt x="6" y="155"/>
                </a:ln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"/>
          <p:cNvSpPr/>
          <p:nvPr/>
        </p:nvSpPr>
        <p:spPr>
          <a:xfrm>
            <a:off x="5927760" y="4006800"/>
            <a:ext cx="132480" cy="46800"/>
          </a:xfrm>
          <a:custGeom>
            <a:avLst/>
            <a:gdLst/>
            <a:ahLst/>
            <a:rect l="0" t="0" r="r" b="b"/>
            <a:pathLst>
              <a:path w="368" h="130">
                <a:moveTo>
                  <a:pt x="0" y="11"/>
                </a:moveTo>
                <a:cubicBezTo>
                  <a:pt x="0" y="6"/>
                  <a:pt x="2" y="2"/>
                  <a:pt x="7" y="0"/>
                </a:cubicBezTo>
                <a:lnTo>
                  <a:pt x="360" y="0"/>
                </a:lnTo>
                <a:cubicBezTo>
                  <a:pt x="366" y="3"/>
                  <a:pt x="368" y="6"/>
                  <a:pt x="368" y="11"/>
                </a:cubicBezTo>
                <a:cubicBezTo>
                  <a:pt x="368" y="15"/>
                  <a:pt x="366" y="18"/>
                  <a:pt x="361" y="21"/>
                </a:cubicBezTo>
                <a:lnTo>
                  <a:pt x="184" y="22"/>
                </a:lnTo>
                <a:lnTo>
                  <a:pt x="9" y="22"/>
                </a:lnTo>
                <a:cubicBezTo>
                  <a:pt x="3" y="20"/>
                  <a:pt x="0" y="16"/>
                  <a:pt x="0" y="11"/>
                </a:cubicBezTo>
                <a:moveTo>
                  <a:pt x="0" y="119"/>
                </a:moveTo>
                <a:cubicBezTo>
                  <a:pt x="0" y="113"/>
                  <a:pt x="3" y="110"/>
                  <a:pt x="9" y="108"/>
                </a:cubicBezTo>
                <a:lnTo>
                  <a:pt x="361" y="108"/>
                </a:lnTo>
                <a:cubicBezTo>
                  <a:pt x="366" y="112"/>
                  <a:pt x="368" y="115"/>
                  <a:pt x="368" y="119"/>
                </a:cubicBezTo>
                <a:cubicBezTo>
                  <a:pt x="368" y="124"/>
                  <a:pt x="366" y="127"/>
                  <a:pt x="360" y="130"/>
                </a:cubicBezTo>
                <a:lnTo>
                  <a:pt x="7" y="130"/>
                </a:lnTo>
                <a:cubicBezTo>
                  <a:pt x="2" y="127"/>
                  <a:pt x="0" y="124"/>
                  <a:pt x="0" y="119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"/>
          <p:cNvSpPr/>
          <p:nvPr/>
        </p:nvSpPr>
        <p:spPr>
          <a:xfrm>
            <a:off x="5927760" y="4006800"/>
            <a:ext cx="132480" cy="46800"/>
          </a:xfrm>
          <a:custGeom>
            <a:avLst/>
            <a:gdLst/>
            <a:ahLst/>
            <a:rect l="0" t="0" r="r" b="b"/>
            <a:pathLst>
              <a:path fill="none" w="368" h="130">
                <a:moveTo>
                  <a:pt x="0" y="11"/>
                </a:moveTo>
                <a:cubicBezTo>
                  <a:pt x="0" y="6"/>
                  <a:pt x="2" y="2"/>
                  <a:pt x="7" y="0"/>
                </a:cubicBezTo>
                <a:lnTo>
                  <a:pt x="360" y="0"/>
                </a:lnTo>
                <a:cubicBezTo>
                  <a:pt x="366" y="3"/>
                  <a:pt x="368" y="6"/>
                  <a:pt x="368" y="11"/>
                </a:cubicBezTo>
                <a:cubicBezTo>
                  <a:pt x="368" y="15"/>
                  <a:pt x="366" y="18"/>
                  <a:pt x="361" y="21"/>
                </a:cubicBezTo>
                <a:lnTo>
                  <a:pt x="184" y="22"/>
                </a:lnTo>
                <a:lnTo>
                  <a:pt x="9" y="22"/>
                </a:lnTo>
                <a:cubicBezTo>
                  <a:pt x="3" y="20"/>
                  <a:pt x="0" y="16"/>
                  <a:pt x="0" y="11"/>
                </a:cubicBezTo>
                <a:moveTo>
                  <a:pt x="0" y="119"/>
                </a:moveTo>
                <a:cubicBezTo>
                  <a:pt x="0" y="113"/>
                  <a:pt x="3" y="110"/>
                  <a:pt x="9" y="108"/>
                </a:cubicBezTo>
                <a:lnTo>
                  <a:pt x="361" y="108"/>
                </a:lnTo>
                <a:cubicBezTo>
                  <a:pt x="366" y="112"/>
                  <a:pt x="368" y="115"/>
                  <a:pt x="368" y="119"/>
                </a:cubicBezTo>
                <a:cubicBezTo>
                  <a:pt x="368" y="124"/>
                  <a:pt x="366" y="127"/>
                  <a:pt x="360" y="130"/>
                </a:cubicBezTo>
                <a:lnTo>
                  <a:pt x="7" y="130"/>
                </a:lnTo>
                <a:cubicBezTo>
                  <a:pt x="2" y="127"/>
                  <a:pt x="0" y="124"/>
                  <a:pt x="0" y="119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/>
          <p:nvPr/>
        </p:nvSpPr>
        <p:spPr>
          <a:xfrm>
            <a:off x="6217560" y="3800520"/>
            <a:ext cx="106920" cy="126720"/>
          </a:xfrm>
          <a:custGeom>
            <a:avLst/>
            <a:gdLst/>
            <a:ahLst/>
            <a:rect l="0" t="0" r="r" b="b"/>
            <a:pathLst>
              <a:path w="297" h="352">
                <a:moveTo>
                  <a:pt x="34" y="85"/>
                </a:moveTo>
                <a:cubicBezTo>
                  <a:pt x="35" y="84"/>
                  <a:pt x="35" y="83"/>
                  <a:pt x="35" y="81"/>
                </a:cubicBezTo>
                <a:cubicBezTo>
                  <a:pt x="36" y="79"/>
                  <a:pt x="37" y="75"/>
                  <a:pt x="38" y="69"/>
                </a:cubicBezTo>
                <a:cubicBezTo>
                  <a:pt x="40" y="62"/>
                  <a:pt x="42" y="57"/>
                  <a:pt x="44" y="51"/>
                </a:cubicBezTo>
                <a:cubicBezTo>
                  <a:pt x="46" y="46"/>
                  <a:pt x="49" y="40"/>
                  <a:pt x="52" y="33"/>
                </a:cubicBezTo>
                <a:cubicBezTo>
                  <a:pt x="55" y="26"/>
                  <a:pt x="59" y="21"/>
                  <a:pt x="63" y="17"/>
                </a:cubicBezTo>
                <a:cubicBezTo>
                  <a:pt x="67" y="13"/>
                  <a:pt x="72" y="9"/>
                  <a:pt x="77" y="5"/>
                </a:cubicBezTo>
                <a:cubicBezTo>
                  <a:pt x="83" y="0"/>
                  <a:pt x="89" y="-1"/>
                  <a:pt x="96" y="0"/>
                </a:cubicBezTo>
                <a:cubicBezTo>
                  <a:pt x="123" y="0"/>
                  <a:pt x="141" y="11"/>
                  <a:pt x="149" y="35"/>
                </a:cubicBezTo>
                <a:lnTo>
                  <a:pt x="154" y="30"/>
                </a:lnTo>
                <a:cubicBezTo>
                  <a:pt x="177" y="10"/>
                  <a:pt x="199" y="0"/>
                  <a:pt x="219" y="0"/>
                </a:cubicBezTo>
                <a:cubicBezTo>
                  <a:pt x="243" y="0"/>
                  <a:pt x="262" y="8"/>
                  <a:pt x="276" y="25"/>
                </a:cubicBezTo>
                <a:cubicBezTo>
                  <a:pt x="290" y="43"/>
                  <a:pt x="297" y="64"/>
                  <a:pt x="297" y="88"/>
                </a:cubicBezTo>
                <a:cubicBezTo>
                  <a:pt x="297" y="128"/>
                  <a:pt x="283" y="166"/>
                  <a:pt x="254" y="199"/>
                </a:cubicBezTo>
                <a:cubicBezTo>
                  <a:pt x="226" y="233"/>
                  <a:pt x="194" y="250"/>
                  <a:pt x="159" y="250"/>
                </a:cubicBezTo>
                <a:cubicBezTo>
                  <a:pt x="151" y="250"/>
                  <a:pt x="144" y="249"/>
                  <a:pt x="138" y="247"/>
                </a:cubicBezTo>
                <a:cubicBezTo>
                  <a:pt x="134" y="245"/>
                  <a:pt x="129" y="242"/>
                  <a:pt x="125" y="239"/>
                </a:cubicBezTo>
                <a:cubicBezTo>
                  <a:pt x="120" y="235"/>
                  <a:pt x="117" y="232"/>
                  <a:pt x="114" y="229"/>
                </a:cubicBezTo>
                <a:lnTo>
                  <a:pt x="111" y="225"/>
                </a:lnTo>
                <a:cubicBezTo>
                  <a:pt x="110" y="225"/>
                  <a:pt x="106" y="241"/>
                  <a:pt x="98" y="273"/>
                </a:cubicBezTo>
                <a:cubicBezTo>
                  <a:pt x="91" y="304"/>
                  <a:pt x="87" y="320"/>
                  <a:pt x="87" y="321"/>
                </a:cubicBezTo>
                <a:cubicBezTo>
                  <a:pt x="87" y="323"/>
                  <a:pt x="88" y="324"/>
                  <a:pt x="91" y="325"/>
                </a:cubicBezTo>
                <a:cubicBezTo>
                  <a:pt x="94" y="325"/>
                  <a:pt x="101" y="326"/>
                  <a:pt x="112" y="326"/>
                </a:cubicBezTo>
                <a:lnTo>
                  <a:pt x="125" y="326"/>
                </a:lnTo>
                <a:cubicBezTo>
                  <a:pt x="128" y="329"/>
                  <a:pt x="129" y="331"/>
                  <a:pt x="129" y="331"/>
                </a:cubicBezTo>
                <a:cubicBezTo>
                  <a:pt x="129" y="332"/>
                  <a:pt x="128" y="335"/>
                  <a:pt x="127" y="341"/>
                </a:cubicBezTo>
                <a:cubicBezTo>
                  <a:pt x="126" y="346"/>
                  <a:pt x="125" y="348"/>
                  <a:pt x="124" y="349"/>
                </a:cubicBezTo>
                <a:cubicBezTo>
                  <a:pt x="123" y="351"/>
                  <a:pt x="120" y="351"/>
                  <a:pt x="117" y="352"/>
                </a:cubicBezTo>
                <a:cubicBezTo>
                  <a:pt x="116" y="352"/>
                  <a:pt x="114" y="352"/>
                  <a:pt x="111" y="352"/>
                </a:cubicBezTo>
                <a:cubicBezTo>
                  <a:pt x="107" y="352"/>
                  <a:pt x="101" y="352"/>
                  <a:pt x="92" y="351"/>
                </a:cubicBezTo>
                <a:cubicBezTo>
                  <a:pt x="83" y="351"/>
                  <a:pt x="71" y="351"/>
                  <a:pt x="58" y="351"/>
                </a:cubicBezTo>
                <a:cubicBezTo>
                  <a:pt x="32" y="351"/>
                  <a:pt x="15" y="351"/>
                  <a:pt x="8" y="352"/>
                </a:cubicBezTo>
                <a:lnTo>
                  <a:pt x="4" y="352"/>
                </a:lnTo>
                <a:cubicBezTo>
                  <a:pt x="1" y="349"/>
                  <a:pt x="0" y="347"/>
                  <a:pt x="0" y="346"/>
                </a:cubicBezTo>
                <a:cubicBezTo>
                  <a:pt x="1" y="336"/>
                  <a:pt x="3" y="329"/>
                  <a:pt x="7" y="326"/>
                </a:cubicBezTo>
                <a:lnTo>
                  <a:pt x="18" y="326"/>
                </a:lnTo>
                <a:cubicBezTo>
                  <a:pt x="31" y="326"/>
                  <a:pt x="38" y="324"/>
                  <a:pt x="40" y="320"/>
                </a:cubicBezTo>
                <a:cubicBezTo>
                  <a:pt x="41" y="317"/>
                  <a:pt x="52" y="273"/>
                  <a:pt x="74" y="188"/>
                </a:cubicBezTo>
                <a:cubicBezTo>
                  <a:pt x="95" y="101"/>
                  <a:pt x="106" y="55"/>
                  <a:pt x="107" y="50"/>
                </a:cubicBezTo>
                <a:cubicBezTo>
                  <a:pt x="108" y="49"/>
                  <a:pt x="108" y="46"/>
                  <a:pt x="108" y="43"/>
                </a:cubicBezTo>
                <a:cubicBezTo>
                  <a:pt x="108" y="28"/>
                  <a:pt x="103" y="20"/>
                  <a:pt x="94" y="20"/>
                </a:cubicBezTo>
                <a:cubicBezTo>
                  <a:pt x="86" y="20"/>
                  <a:pt x="79" y="25"/>
                  <a:pt x="74" y="35"/>
                </a:cubicBezTo>
                <a:cubicBezTo>
                  <a:pt x="68" y="46"/>
                  <a:pt x="64" y="57"/>
                  <a:pt x="61" y="69"/>
                </a:cubicBezTo>
                <a:cubicBezTo>
                  <a:pt x="58" y="81"/>
                  <a:pt x="56" y="88"/>
                  <a:pt x="54" y="89"/>
                </a:cubicBezTo>
                <a:cubicBezTo>
                  <a:pt x="53" y="90"/>
                  <a:pt x="51" y="90"/>
                  <a:pt x="45" y="90"/>
                </a:cubicBezTo>
                <a:lnTo>
                  <a:pt x="38" y="90"/>
                </a:lnTo>
                <a:cubicBezTo>
                  <a:pt x="35" y="88"/>
                  <a:pt x="34" y="86"/>
                  <a:pt x="34" y="85"/>
                </a:cubicBezTo>
                <a:moveTo>
                  <a:pt x="120" y="188"/>
                </a:moveTo>
                <a:cubicBezTo>
                  <a:pt x="128" y="216"/>
                  <a:pt x="142" y="230"/>
                  <a:pt x="161" y="230"/>
                </a:cubicBezTo>
                <a:cubicBezTo>
                  <a:pt x="172" y="230"/>
                  <a:pt x="182" y="226"/>
                  <a:pt x="193" y="218"/>
                </a:cubicBezTo>
                <a:cubicBezTo>
                  <a:pt x="203" y="209"/>
                  <a:pt x="212" y="198"/>
                  <a:pt x="218" y="186"/>
                </a:cubicBezTo>
                <a:cubicBezTo>
                  <a:pt x="225" y="173"/>
                  <a:pt x="231" y="153"/>
                  <a:pt x="238" y="125"/>
                </a:cubicBezTo>
                <a:cubicBezTo>
                  <a:pt x="245" y="98"/>
                  <a:pt x="248" y="77"/>
                  <a:pt x="249" y="64"/>
                </a:cubicBezTo>
                <a:lnTo>
                  <a:pt x="249" y="61"/>
                </a:lnTo>
                <a:cubicBezTo>
                  <a:pt x="249" y="34"/>
                  <a:pt x="237" y="20"/>
                  <a:pt x="215" y="20"/>
                </a:cubicBezTo>
                <a:cubicBezTo>
                  <a:pt x="211" y="20"/>
                  <a:pt x="207" y="21"/>
                  <a:pt x="203" y="22"/>
                </a:cubicBezTo>
                <a:cubicBezTo>
                  <a:pt x="199" y="23"/>
                  <a:pt x="195" y="24"/>
                  <a:pt x="191" y="27"/>
                </a:cubicBezTo>
                <a:cubicBezTo>
                  <a:pt x="187" y="29"/>
                  <a:pt x="183" y="31"/>
                  <a:pt x="180" y="34"/>
                </a:cubicBezTo>
                <a:cubicBezTo>
                  <a:pt x="176" y="36"/>
                  <a:pt x="173" y="39"/>
                  <a:pt x="170" y="42"/>
                </a:cubicBezTo>
                <a:cubicBezTo>
                  <a:pt x="167" y="45"/>
                  <a:pt x="164" y="48"/>
                  <a:pt x="162" y="50"/>
                </a:cubicBezTo>
                <a:cubicBezTo>
                  <a:pt x="159" y="53"/>
                  <a:pt x="157" y="55"/>
                  <a:pt x="156" y="58"/>
                </a:cubicBezTo>
                <a:cubicBezTo>
                  <a:pt x="154" y="61"/>
                  <a:pt x="153" y="62"/>
                  <a:pt x="151" y="64"/>
                </a:cubicBezTo>
                <a:lnTo>
                  <a:pt x="150" y="66"/>
                </a:lnTo>
                <a:cubicBezTo>
                  <a:pt x="150" y="66"/>
                  <a:pt x="149" y="69"/>
                  <a:pt x="148" y="74"/>
                </a:cubicBezTo>
                <a:cubicBezTo>
                  <a:pt x="147" y="78"/>
                  <a:pt x="145" y="86"/>
                  <a:pt x="142" y="98"/>
                </a:cubicBezTo>
                <a:cubicBezTo>
                  <a:pt x="139" y="109"/>
                  <a:pt x="136" y="119"/>
                  <a:pt x="134" y="127"/>
                </a:cubicBezTo>
                <a:cubicBezTo>
                  <a:pt x="125" y="167"/>
                  <a:pt x="120" y="187"/>
                  <a:pt x="120" y="188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/>
          <p:nvPr/>
        </p:nvSpPr>
        <p:spPr>
          <a:xfrm>
            <a:off x="6217560" y="3800520"/>
            <a:ext cx="106920" cy="126720"/>
          </a:xfrm>
          <a:custGeom>
            <a:avLst/>
            <a:gdLst/>
            <a:ahLst/>
            <a:rect l="0" t="0" r="r" b="b"/>
            <a:pathLst>
              <a:path fill="none" w="297" h="352">
                <a:moveTo>
                  <a:pt x="34" y="85"/>
                </a:moveTo>
                <a:cubicBezTo>
                  <a:pt x="35" y="84"/>
                  <a:pt x="35" y="83"/>
                  <a:pt x="35" y="81"/>
                </a:cubicBezTo>
                <a:cubicBezTo>
                  <a:pt x="36" y="79"/>
                  <a:pt x="37" y="75"/>
                  <a:pt x="38" y="69"/>
                </a:cubicBezTo>
                <a:cubicBezTo>
                  <a:pt x="40" y="62"/>
                  <a:pt x="42" y="57"/>
                  <a:pt x="44" y="51"/>
                </a:cubicBezTo>
                <a:cubicBezTo>
                  <a:pt x="46" y="46"/>
                  <a:pt x="49" y="40"/>
                  <a:pt x="52" y="33"/>
                </a:cubicBezTo>
                <a:cubicBezTo>
                  <a:pt x="55" y="26"/>
                  <a:pt x="59" y="21"/>
                  <a:pt x="63" y="17"/>
                </a:cubicBezTo>
                <a:cubicBezTo>
                  <a:pt x="67" y="13"/>
                  <a:pt x="72" y="9"/>
                  <a:pt x="77" y="5"/>
                </a:cubicBezTo>
                <a:cubicBezTo>
                  <a:pt x="83" y="0"/>
                  <a:pt x="89" y="-1"/>
                  <a:pt x="96" y="0"/>
                </a:cubicBezTo>
                <a:cubicBezTo>
                  <a:pt x="123" y="0"/>
                  <a:pt x="141" y="11"/>
                  <a:pt x="149" y="35"/>
                </a:cubicBezTo>
                <a:lnTo>
                  <a:pt x="154" y="30"/>
                </a:lnTo>
                <a:cubicBezTo>
                  <a:pt x="177" y="10"/>
                  <a:pt x="199" y="0"/>
                  <a:pt x="219" y="0"/>
                </a:cubicBezTo>
                <a:cubicBezTo>
                  <a:pt x="243" y="0"/>
                  <a:pt x="262" y="8"/>
                  <a:pt x="276" y="25"/>
                </a:cubicBezTo>
                <a:cubicBezTo>
                  <a:pt x="290" y="43"/>
                  <a:pt x="297" y="64"/>
                  <a:pt x="297" y="88"/>
                </a:cubicBezTo>
                <a:cubicBezTo>
                  <a:pt x="297" y="128"/>
                  <a:pt x="283" y="166"/>
                  <a:pt x="254" y="199"/>
                </a:cubicBezTo>
                <a:cubicBezTo>
                  <a:pt x="226" y="233"/>
                  <a:pt x="194" y="250"/>
                  <a:pt x="159" y="250"/>
                </a:cubicBezTo>
                <a:cubicBezTo>
                  <a:pt x="151" y="250"/>
                  <a:pt x="144" y="249"/>
                  <a:pt x="138" y="247"/>
                </a:cubicBezTo>
                <a:cubicBezTo>
                  <a:pt x="134" y="245"/>
                  <a:pt x="129" y="242"/>
                  <a:pt x="125" y="239"/>
                </a:cubicBezTo>
                <a:cubicBezTo>
                  <a:pt x="120" y="235"/>
                  <a:pt x="117" y="232"/>
                  <a:pt x="114" y="229"/>
                </a:cubicBezTo>
                <a:lnTo>
                  <a:pt x="111" y="225"/>
                </a:lnTo>
                <a:cubicBezTo>
                  <a:pt x="110" y="225"/>
                  <a:pt x="106" y="241"/>
                  <a:pt x="98" y="273"/>
                </a:cubicBezTo>
                <a:cubicBezTo>
                  <a:pt x="91" y="304"/>
                  <a:pt x="87" y="320"/>
                  <a:pt x="87" y="321"/>
                </a:cubicBezTo>
                <a:cubicBezTo>
                  <a:pt x="87" y="323"/>
                  <a:pt x="88" y="324"/>
                  <a:pt x="91" y="325"/>
                </a:cubicBezTo>
                <a:cubicBezTo>
                  <a:pt x="94" y="325"/>
                  <a:pt x="101" y="326"/>
                  <a:pt x="112" y="326"/>
                </a:cubicBezTo>
                <a:lnTo>
                  <a:pt x="125" y="326"/>
                </a:lnTo>
                <a:cubicBezTo>
                  <a:pt x="128" y="329"/>
                  <a:pt x="129" y="331"/>
                  <a:pt x="129" y="331"/>
                </a:cubicBezTo>
                <a:cubicBezTo>
                  <a:pt x="129" y="332"/>
                  <a:pt x="128" y="335"/>
                  <a:pt x="127" y="341"/>
                </a:cubicBezTo>
                <a:cubicBezTo>
                  <a:pt x="126" y="346"/>
                  <a:pt x="125" y="348"/>
                  <a:pt x="124" y="349"/>
                </a:cubicBezTo>
                <a:cubicBezTo>
                  <a:pt x="123" y="351"/>
                  <a:pt x="120" y="351"/>
                  <a:pt x="117" y="352"/>
                </a:cubicBezTo>
                <a:cubicBezTo>
                  <a:pt x="116" y="352"/>
                  <a:pt x="114" y="352"/>
                  <a:pt x="111" y="352"/>
                </a:cubicBezTo>
                <a:cubicBezTo>
                  <a:pt x="107" y="352"/>
                  <a:pt x="101" y="352"/>
                  <a:pt x="92" y="351"/>
                </a:cubicBezTo>
                <a:cubicBezTo>
                  <a:pt x="83" y="351"/>
                  <a:pt x="71" y="351"/>
                  <a:pt x="58" y="351"/>
                </a:cubicBezTo>
                <a:cubicBezTo>
                  <a:pt x="32" y="351"/>
                  <a:pt x="15" y="351"/>
                  <a:pt x="8" y="352"/>
                </a:cubicBezTo>
                <a:lnTo>
                  <a:pt x="4" y="352"/>
                </a:lnTo>
                <a:cubicBezTo>
                  <a:pt x="1" y="349"/>
                  <a:pt x="0" y="347"/>
                  <a:pt x="0" y="346"/>
                </a:cubicBezTo>
                <a:cubicBezTo>
                  <a:pt x="1" y="336"/>
                  <a:pt x="3" y="329"/>
                  <a:pt x="7" y="326"/>
                </a:cubicBezTo>
                <a:lnTo>
                  <a:pt x="18" y="326"/>
                </a:lnTo>
                <a:cubicBezTo>
                  <a:pt x="31" y="326"/>
                  <a:pt x="38" y="324"/>
                  <a:pt x="40" y="320"/>
                </a:cubicBezTo>
                <a:cubicBezTo>
                  <a:pt x="41" y="317"/>
                  <a:pt x="52" y="273"/>
                  <a:pt x="74" y="188"/>
                </a:cubicBezTo>
                <a:cubicBezTo>
                  <a:pt x="95" y="101"/>
                  <a:pt x="106" y="55"/>
                  <a:pt x="107" y="50"/>
                </a:cubicBezTo>
                <a:cubicBezTo>
                  <a:pt x="108" y="49"/>
                  <a:pt x="108" y="46"/>
                  <a:pt x="108" y="43"/>
                </a:cubicBezTo>
                <a:cubicBezTo>
                  <a:pt x="108" y="28"/>
                  <a:pt x="103" y="20"/>
                  <a:pt x="94" y="20"/>
                </a:cubicBezTo>
                <a:cubicBezTo>
                  <a:pt x="86" y="20"/>
                  <a:pt x="79" y="25"/>
                  <a:pt x="74" y="35"/>
                </a:cubicBezTo>
                <a:cubicBezTo>
                  <a:pt x="68" y="46"/>
                  <a:pt x="64" y="57"/>
                  <a:pt x="61" y="69"/>
                </a:cubicBezTo>
                <a:cubicBezTo>
                  <a:pt x="58" y="81"/>
                  <a:pt x="56" y="88"/>
                  <a:pt x="54" y="89"/>
                </a:cubicBezTo>
                <a:cubicBezTo>
                  <a:pt x="53" y="90"/>
                  <a:pt x="51" y="90"/>
                  <a:pt x="45" y="90"/>
                </a:cubicBezTo>
                <a:lnTo>
                  <a:pt x="38" y="90"/>
                </a:lnTo>
                <a:cubicBezTo>
                  <a:pt x="35" y="88"/>
                  <a:pt x="34" y="86"/>
                  <a:pt x="34" y="85"/>
                </a:cubicBezTo>
                <a:moveTo>
                  <a:pt x="120" y="188"/>
                </a:moveTo>
                <a:cubicBezTo>
                  <a:pt x="128" y="216"/>
                  <a:pt x="142" y="230"/>
                  <a:pt x="161" y="230"/>
                </a:cubicBezTo>
                <a:cubicBezTo>
                  <a:pt x="172" y="230"/>
                  <a:pt x="182" y="226"/>
                  <a:pt x="193" y="218"/>
                </a:cubicBezTo>
                <a:cubicBezTo>
                  <a:pt x="203" y="209"/>
                  <a:pt x="212" y="198"/>
                  <a:pt x="218" y="186"/>
                </a:cubicBezTo>
                <a:cubicBezTo>
                  <a:pt x="225" y="173"/>
                  <a:pt x="231" y="153"/>
                  <a:pt x="238" y="125"/>
                </a:cubicBezTo>
                <a:cubicBezTo>
                  <a:pt x="245" y="98"/>
                  <a:pt x="248" y="77"/>
                  <a:pt x="249" y="64"/>
                </a:cubicBezTo>
                <a:lnTo>
                  <a:pt x="249" y="61"/>
                </a:lnTo>
                <a:cubicBezTo>
                  <a:pt x="249" y="34"/>
                  <a:pt x="237" y="20"/>
                  <a:pt x="215" y="20"/>
                </a:cubicBezTo>
                <a:cubicBezTo>
                  <a:pt x="211" y="20"/>
                  <a:pt x="207" y="21"/>
                  <a:pt x="203" y="22"/>
                </a:cubicBezTo>
                <a:cubicBezTo>
                  <a:pt x="199" y="23"/>
                  <a:pt x="195" y="24"/>
                  <a:pt x="191" y="27"/>
                </a:cubicBezTo>
                <a:cubicBezTo>
                  <a:pt x="187" y="29"/>
                  <a:pt x="183" y="31"/>
                  <a:pt x="180" y="34"/>
                </a:cubicBezTo>
                <a:cubicBezTo>
                  <a:pt x="176" y="36"/>
                  <a:pt x="173" y="39"/>
                  <a:pt x="170" y="42"/>
                </a:cubicBezTo>
                <a:cubicBezTo>
                  <a:pt x="167" y="45"/>
                  <a:pt x="164" y="48"/>
                  <a:pt x="162" y="50"/>
                </a:cubicBezTo>
                <a:cubicBezTo>
                  <a:pt x="159" y="53"/>
                  <a:pt x="157" y="55"/>
                  <a:pt x="156" y="58"/>
                </a:cubicBezTo>
                <a:cubicBezTo>
                  <a:pt x="154" y="61"/>
                  <a:pt x="153" y="62"/>
                  <a:pt x="151" y="64"/>
                </a:cubicBezTo>
                <a:lnTo>
                  <a:pt x="150" y="66"/>
                </a:lnTo>
                <a:cubicBezTo>
                  <a:pt x="150" y="66"/>
                  <a:pt x="149" y="69"/>
                  <a:pt x="148" y="74"/>
                </a:cubicBezTo>
                <a:cubicBezTo>
                  <a:pt x="147" y="78"/>
                  <a:pt x="145" y="86"/>
                  <a:pt x="142" y="98"/>
                </a:cubicBezTo>
                <a:cubicBezTo>
                  <a:pt x="139" y="109"/>
                  <a:pt x="136" y="119"/>
                  <a:pt x="134" y="127"/>
                </a:cubicBezTo>
                <a:cubicBezTo>
                  <a:pt x="125" y="167"/>
                  <a:pt x="120" y="187"/>
                  <a:pt x="120" y="188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"/>
          <p:cNvSpPr/>
          <p:nvPr/>
        </p:nvSpPr>
        <p:spPr>
          <a:xfrm>
            <a:off x="6380640" y="3772800"/>
            <a:ext cx="132840" cy="132480"/>
          </a:xfrm>
          <a:custGeom>
            <a:avLst/>
            <a:gdLst/>
            <a:ahLst/>
            <a:rect l="0" t="0" r="r" b="b"/>
            <a:pathLst>
              <a:path w="369" h="368">
                <a:moveTo>
                  <a:pt x="0" y="191"/>
                </a:moveTo>
                <a:cubicBezTo>
                  <a:pt x="0" y="191"/>
                  <a:pt x="0" y="188"/>
                  <a:pt x="0" y="184"/>
                </a:cubicBezTo>
                <a:cubicBezTo>
                  <a:pt x="0" y="179"/>
                  <a:pt x="3" y="175"/>
                  <a:pt x="8" y="173"/>
                </a:cubicBezTo>
                <a:lnTo>
                  <a:pt x="174" y="173"/>
                </a:lnTo>
                <a:lnTo>
                  <a:pt x="174" y="90"/>
                </a:lnTo>
                <a:lnTo>
                  <a:pt x="174" y="7"/>
                </a:lnTo>
                <a:cubicBezTo>
                  <a:pt x="178" y="2"/>
                  <a:pt x="181" y="0"/>
                  <a:pt x="185" y="0"/>
                </a:cubicBezTo>
                <a:cubicBezTo>
                  <a:pt x="190" y="0"/>
                  <a:pt x="193" y="2"/>
                  <a:pt x="196" y="8"/>
                </a:cubicBezTo>
                <a:lnTo>
                  <a:pt x="196" y="173"/>
                </a:lnTo>
                <a:lnTo>
                  <a:pt x="360" y="173"/>
                </a:lnTo>
                <a:cubicBezTo>
                  <a:pt x="366" y="175"/>
                  <a:pt x="369" y="179"/>
                  <a:pt x="369" y="184"/>
                </a:cubicBezTo>
                <a:cubicBezTo>
                  <a:pt x="369" y="188"/>
                  <a:pt x="366" y="192"/>
                  <a:pt x="360" y="195"/>
                </a:cubicBezTo>
                <a:lnTo>
                  <a:pt x="196" y="195"/>
                </a:lnTo>
                <a:lnTo>
                  <a:pt x="196" y="360"/>
                </a:lnTo>
                <a:cubicBezTo>
                  <a:pt x="193" y="365"/>
                  <a:pt x="190" y="368"/>
                  <a:pt x="186" y="368"/>
                </a:cubicBezTo>
                <a:lnTo>
                  <a:pt x="185" y="368"/>
                </a:lnTo>
                <a:lnTo>
                  <a:pt x="184" y="368"/>
                </a:lnTo>
                <a:cubicBezTo>
                  <a:pt x="179" y="368"/>
                  <a:pt x="176" y="365"/>
                  <a:pt x="174" y="360"/>
                </a:cubicBezTo>
                <a:lnTo>
                  <a:pt x="174" y="195"/>
                </a:lnTo>
                <a:lnTo>
                  <a:pt x="8" y="195"/>
                </a:lnTo>
                <a:cubicBezTo>
                  <a:pt x="3" y="192"/>
                  <a:pt x="0" y="188"/>
                  <a:pt x="0" y="184"/>
                </a:cubicBezTo>
                <a:lnTo>
                  <a:pt x="0" y="191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"/>
          <p:cNvSpPr/>
          <p:nvPr/>
        </p:nvSpPr>
        <p:spPr>
          <a:xfrm>
            <a:off x="6380640" y="3772800"/>
            <a:ext cx="132840" cy="132480"/>
          </a:xfrm>
          <a:custGeom>
            <a:avLst/>
            <a:gdLst/>
            <a:ahLst/>
            <a:rect l="0" t="0" r="r" b="b"/>
            <a:pathLst>
              <a:path fill="none" w="369" h="368">
                <a:moveTo>
                  <a:pt x="0" y="191"/>
                </a:moveTo>
                <a:cubicBezTo>
                  <a:pt x="0" y="191"/>
                  <a:pt x="0" y="188"/>
                  <a:pt x="0" y="184"/>
                </a:cubicBezTo>
                <a:cubicBezTo>
                  <a:pt x="0" y="179"/>
                  <a:pt x="3" y="175"/>
                  <a:pt x="8" y="173"/>
                </a:cubicBezTo>
                <a:lnTo>
                  <a:pt x="174" y="173"/>
                </a:lnTo>
                <a:lnTo>
                  <a:pt x="174" y="90"/>
                </a:lnTo>
                <a:lnTo>
                  <a:pt x="174" y="7"/>
                </a:lnTo>
                <a:cubicBezTo>
                  <a:pt x="178" y="2"/>
                  <a:pt x="181" y="0"/>
                  <a:pt x="185" y="0"/>
                </a:cubicBezTo>
                <a:cubicBezTo>
                  <a:pt x="190" y="0"/>
                  <a:pt x="193" y="2"/>
                  <a:pt x="196" y="8"/>
                </a:cubicBezTo>
                <a:lnTo>
                  <a:pt x="196" y="173"/>
                </a:lnTo>
                <a:lnTo>
                  <a:pt x="360" y="173"/>
                </a:lnTo>
                <a:cubicBezTo>
                  <a:pt x="366" y="175"/>
                  <a:pt x="369" y="179"/>
                  <a:pt x="369" y="184"/>
                </a:cubicBezTo>
                <a:cubicBezTo>
                  <a:pt x="369" y="188"/>
                  <a:pt x="366" y="192"/>
                  <a:pt x="360" y="195"/>
                </a:cubicBezTo>
                <a:lnTo>
                  <a:pt x="196" y="195"/>
                </a:lnTo>
                <a:lnTo>
                  <a:pt x="196" y="360"/>
                </a:lnTo>
                <a:cubicBezTo>
                  <a:pt x="193" y="365"/>
                  <a:pt x="190" y="368"/>
                  <a:pt x="186" y="368"/>
                </a:cubicBezTo>
                <a:lnTo>
                  <a:pt x="185" y="368"/>
                </a:lnTo>
                <a:lnTo>
                  <a:pt x="184" y="368"/>
                </a:lnTo>
                <a:cubicBezTo>
                  <a:pt x="179" y="368"/>
                  <a:pt x="176" y="365"/>
                  <a:pt x="174" y="360"/>
                </a:cubicBezTo>
                <a:lnTo>
                  <a:pt x="174" y="195"/>
                </a:lnTo>
                <a:lnTo>
                  <a:pt x="8" y="195"/>
                </a:lnTo>
                <a:cubicBezTo>
                  <a:pt x="3" y="192"/>
                  <a:pt x="0" y="188"/>
                  <a:pt x="0" y="184"/>
                </a:cubicBezTo>
                <a:lnTo>
                  <a:pt x="0" y="191"/>
                </a:ln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"/>
          <p:cNvSpPr/>
          <p:nvPr/>
        </p:nvSpPr>
        <p:spPr>
          <a:xfrm>
            <a:off x="6630840" y="3748320"/>
            <a:ext cx="61200" cy="63720"/>
          </a:xfrm>
          <a:custGeom>
            <a:avLst/>
            <a:gdLst/>
            <a:ahLst/>
            <a:rect l="0" t="0" r="r" b="b"/>
            <a:pathLst>
              <a:path w="170" h="177">
                <a:moveTo>
                  <a:pt x="123" y="40"/>
                </a:moveTo>
                <a:cubicBezTo>
                  <a:pt x="120" y="40"/>
                  <a:pt x="113" y="39"/>
                  <a:pt x="102" y="36"/>
                </a:cubicBezTo>
                <a:cubicBezTo>
                  <a:pt x="91" y="33"/>
                  <a:pt x="82" y="32"/>
                  <a:pt x="77" y="32"/>
                </a:cubicBezTo>
                <a:cubicBezTo>
                  <a:pt x="71" y="32"/>
                  <a:pt x="67" y="32"/>
                  <a:pt x="63" y="33"/>
                </a:cubicBezTo>
                <a:cubicBezTo>
                  <a:pt x="60" y="34"/>
                  <a:pt x="57" y="35"/>
                  <a:pt x="54" y="37"/>
                </a:cubicBezTo>
                <a:cubicBezTo>
                  <a:pt x="52" y="39"/>
                  <a:pt x="50" y="40"/>
                  <a:pt x="50" y="41"/>
                </a:cubicBezTo>
                <a:cubicBezTo>
                  <a:pt x="49" y="43"/>
                  <a:pt x="48" y="44"/>
                  <a:pt x="47" y="46"/>
                </a:cubicBezTo>
                <a:lnTo>
                  <a:pt x="46" y="47"/>
                </a:lnTo>
                <a:cubicBezTo>
                  <a:pt x="45" y="48"/>
                  <a:pt x="43" y="48"/>
                  <a:pt x="40" y="48"/>
                </a:cubicBezTo>
                <a:cubicBezTo>
                  <a:pt x="35" y="48"/>
                  <a:pt x="32" y="47"/>
                  <a:pt x="32" y="45"/>
                </a:cubicBezTo>
                <a:cubicBezTo>
                  <a:pt x="32" y="44"/>
                  <a:pt x="33" y="42"/>
                  <a:pt x="33" y="40"/>
                </a:cubicBezTo>
                <a:cubicBezTo>
                  <a:pt x="37" y="30"/>
                  <a:pt x="42" y="21"/>
                  <a:pt x="50" y="14"/>
                </a:cubicBezTo>
                <a:cubicBezTo>
                  <a:pt x="58" y="6"/>
                  <a:pt x="66" y="2"/>
                  <a:pt x="76" y="0"/>
                </a:cubicBezTo>
                <a:cubicBezTo>
                  <a:pt x="79" y="0"/>
                  <a:pt x="81" y="0"/>
                  <a:pt x="82" y="0"/>
                </a:cubicBezTo>
                <a:cubicBezTo>
                  <a:pt x="90" y="0"/>
                  <a:pt x="96" y="2"/>
                  <a:pt x="101" y="6"/>
                </a:cubicBezTo>
                <a:cubicBezTo>
                  <a:pt x="106" y="11"/>
                  <a:pt x="111" y="15"/>
                  <a:pt x="116" y="19"/>
                </a:cubicBezTo>
                <a:cubicBezTo>
                  <a:pt x="121" y="23"/>
                  <a:pt x="126" y="25"/>
                  <a:pt x="131" y="26"/>
                </a:cubicBezTo>
                <a:cubicBezTo>
                  <a:pt x="136" y="26"/>
                  <a:pt x="142" y="21"/>
                  <a:pt x="148" y="13"/>
                </a:cubicBezTo>
                <a:cubicBezTo>
                  <a:pt x="154" y="4"/>
                  <a:pt x="157" y="0"/>
                  <a:pt x="157" y="0"/>
                </a:cubicBezTo>
                <a:cubicBezTo>
                  <a:pt x="157" y="0"/>
                  <a:pt x="159" y="0"/>
                  <a:pt x="163" y="0"/>
                </a:cubicBezTo>
                <a:lnTo>
                  <a:pt x="168" y="0"/>
                </a:lnTo>
                <a:cubicBezTo>
                  <a:pt x="169" y="1"/>
                  <a:pt x="170" y="2"/>
                  <a:pt x="170" y="3"/>
                </a:cubicBezTo>
                <a:cubicBezTo>
                  <a:pt x="170" y="4"/>
                  <a:pt x="169" y="6"/>
                  <a:pt x="168" y="8"/>
                </a:cubicBezTo>
                <a:cubicBezTo>
                  <a:pt x="167" y="11"/>
                  <a:pt x="165" y="13"/>
                  <a:pt x="163" y="16"/>
                </a:cubicBezTo>
                <a:cubicBezTo>
                  <a:pt x="160" y="19"/>
                  <a:pt x="158" y="22"/>
                  <a:pt x="156" y="25"/>
                </a:cubicBezTo>
                <a:cubicBezTo>
                  <a:pt x="154" y="28"/>
                  <a:pt x="152" y="30"/>
                  <a:pt x="151" y="32"/>
                </a:cubicBezTo>
                <a:lnTo>
                  <a:pt x="148" y="36"/>
                </a:lnTo>
                <a:cubicBezTo>
                  <a:pt x="137" y="49"/>
                  <a:pt x="119" y="68"/>
                  <a:pt x="95" y="90"/>
                </a:cubicBezTo>
                <a:cubicBezTo>
                  <a:pt x="70" y="111"/>
                  <a:pt x="55" y="125"/>
                  <a:pt x="49" y="132"/>
                </a:cubicBezTo>
                <a:lnTo>
                  <a:pt x="44" y="136"/>
                </a:lnTo>
                <a:lnTo>
                  <a:pt x="50" y="137"/>
                </a:lnTo>
                <a:cubicBezTo>
                  <a:pt x="56" y="137"/>
                  <a:pt x="64" y="138"/>
                  <a:pt x="75" y="141"/>
                </a:cubicBezTo>
                <a:cubicBezTo>
                  <a:pt x="86" y="144"/>
                  <a:pt x="95" y="145"/>
                  <a:pt x="101" y="145"/>
                </a:cubicBezTo>
                <a:cubicBezTo>
                  <a:pt x="111" y="145"/>
                  <a:pt x="120" y="143"/>
                  <a:pt x="128" y="138"/>
                </a:cubicBezTo>
                <a:cubicBezTo>
                  <a:pt x="136" y="133"/>
                  <a:pt x="142" y="126"/>
                  <a:pt x="144" y="118"/>
                </a:cubicBezTo>
                <a:cubicBezTo>
                  <a:pt x="145" y="116"/>
                  <a:pt x="146" y="115"/>
                  <a:pt x="147" y="114"/>
                </a:cubicBezTo>
                <a:cubicBezTo>
                  <a:pt x="148" y="114"/>
                  <a:pt x="150" y="113"/>
                  <a:pt x="153" y="113"/>
                </a:cubicBezTo>
                <a:cubicBezTo>
                  <a:pt x="158" y="113"/>
                  <a:pt x="160" y="115"/>
                  <a:pt x="160" y="117"/>
                </a:cubicBezTo>
                <a:cubicBezTo>
                  <a:pt x="160" y="119"/>
                  <a:pt x="160" y="120"/>
                  <a:pt x="160" y="121"/>
                </a:cubicBezTo>
                <a:cubicBezTo>
                  <a:pt x="156" y="137"/>
                  <a:pt x="147" y="150"/>
                  <a:pt x="134" y="161"/>
                </a:cubicBezTo>
                <a:cubicBezTo>
                  <a:pt x="121" y="172"/>
                  <a:pt x="109" y="177"/>
                  <a:pt x="96" y="177"/>
                </a:cubicBezTo>
                <a:cubicBezTo>
                  <a:pt x="89" y="177"/>
                  <a:pt x="82" y="175"/>
                  <a:pt x="77" y="171"/>
                </a:cubicBezTo>
                <a:cubicBezTo>
                  <a:pt x="72" y="166"/>
                  <a:pt x="67" y="162"/>
                  <a:pt x="62" y="157"/>
                </a:cubicBezTo>
                <a:cubicBezTo>
                  <a:pt x="57" y="153"/>
                  <a:pt x="52" y="151"/>
                  <a:pt x="47" y="151"/>
                </a:cubicBezTo>
                <a:cubicBezTo>
                  <a:pt x="36" y="151"/>
                  <a:pt x="25" y="159"/>
                  <a:pt x="16" y="174"/>
                </a:cubicBezTo>
                <a:cubicBezTo>
                  <a:pt x="15" y="176"/>
                  <a:pt x="12" y="177"/>
                  <a:pt x="9" y="177"/>
                </a:cubicBezTo>
                <a:lnTo>
                  <a:pt x="8" y="177"/>
                </a:lnTo>
                <a:lnTo>
                  <a:pt x="2" y="177"/>
                </a:lnTo>
                <a:cubicBezTo>
                  <a:pt x="1" y="176"/>
                  <a:pt x="0" y="175"/>
                  <a:pt x="0" y="174"/>
                </a:cubicBezTo>
                <a:cubicBezTo>
                  <a:pt x="0" y="170"/>
                  <a:pt x="8" y="159"/>
                  <a:pt x="23" y="140"/>
                </a:cubicBezTo>
                <a:cubicBezTo>
                  <a:pt x="33" y="129"/>
                  <a:pt x="50" y="112"/>
                  <a:pt x="74" y="90"/>
                </a:cubicBezTo>
                <a:cubicBezTo>
                  <a:pt x="99" y="67"/>
                  <a:pt x="114" y="52"/>
                  <a:pt x="120" y="46"/>
                </a:cubicBezTo>
                <a:cubicBezTo>
                  <a:pt x="123" y="42"/>
                  <a:pt x="124" y="40"/>
                  <a:pt x="123" y="40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"/>
          <p:cNvSpPr/>
          <p:nvPr/>
        </p:nvSpPr>
        <p:spPr>
          <a:xfrm>
            <a:off x="6630840" y="3748320"/>
            <a:ext cx="61200" cy="63720"/>
          </a:xfrm>
          <a:custGeom>
            <a:avLst/>
            <a:gdLst/>
            <a:ahLst/>
            <a:rect l="0" t="0" r="r" b="b"/>
            <a:pathLst>
              <a:path fill="none" w="170" h="177">
                <a:moveTo>
                  <a:pt x="123" y="40"/>
                </a:moveTo>
                <a:cubicBezTo>
                  <a:pt x="120" y="40"/>
                  <a:pt x="113" y="39"/>
                  <a:pt x="102" y="36"/>
                </a:cubicBezTo>
                <a:cubicBezTo>
                  <a:pt x="91" y="33"/>
                  <a:pt x="82" y="32"/>
                  <a:pt x="77" y="32"/>
                </a:cubicBezTo>
                <a:cubicBezTo>
                  <a:pt x="71" y="32"/>
                  <a:pt x="67" y="32"/>
                  <a:pt x="63" y="33"/>
                </a:cubicBezTo>
                <a:cubicBezTo>
                  <a:pt x="60" y="34"/>
                  <a:pt x="57" y="35"/>
                  <a:pt x="54" y="37"/>
                </a:cubicBezTo>
                <a:cubicBezTo>
                  <a:pt x="52" y="39"/>
                  <a:pt x="50" y="40"/>
                  <a:pt x="50" y="41"/>
                </a:cubicBezTo>
                <a:cubicBezTo>
                  <a:pt x="49" y="43"/>
                  <a:pt x="48" y="44"/>
                  <a:pt x="47" y="46"/>
                </a:cubicBezTo>
                <a:lnTo>
                  <a:pt x="46" y="47"/>
                </a:lnTo>
                <a:cubicBezTo>
                  <a:pt x="45" y="48"/>
                  <a:pt x="43" y="48"/>
                  <a:pt x="40" y="48"/>
                </a:cubicBezTo>
                <a:cubicBezTo>
                  <a:pt x="35" y="48"/>
                  <a:pt x="32" y="47"/>
                  <a:pt x="32" y="45"/>
                </a:cubicBezTo>
                <a:cubicBezTo>
                  <a:pt x="32" y="44"/>
                  <a:pt x="33" y="42"/>
                  <a:pt x="33" y="40"/>
                </a:cubicBezTo>
                <a:cubicBezTo>
                  <a:pt x="37" y="30"/>
                  <a:pt x="42" y="21"/>
                  <a:pt x="50" y="14"/>
                </a:cubicBezTo>
                <a:cubicBezTo>
                  <a:pt x="58" y="6"/>
                  <a:pt x="66" y="2"/>
                  <a:pt x="76" y="0"/>
                </a:cubicBezTo>
                <a:cubicBezTo>
                  <a:pt x="79" y="0"/>
                  <a:pt x="81" y="0"/>
                  <a:pt x="82" y="0"/>
                </a:cubicBezTo>
                <a:cubicBezTo>
                  <a:pt x="90" y="0"/>
                  <a:pt x="96" y="2"/>
                  <a:pt x="101" y="6"/>
                </a:cubicBezTo>
                <a:cubicBezTo>
                  <a:pt x="106" y="11"/>
                  <a:pt x="111" y="15"/>
                  <a:pt x="116" y="19"/>
                </a:cubicBezTo>
                <a:cubicBezTo>
                  <a:pt x="121" y="23"/>
                  <a:pt x="126" y="25"/>
                  <a:pt x="131" y="26"/>
                </a:cubicBezTo>
                <a:cubicBezTo>
                  <a:pt x="136" y="26"/>
                  <a:pt x="142" y="21"/>
                  <a:pt x="148" y="13"/>
                </a:cubicBezTo>
                <a:cubicBezTo>
                  <a:pt x="154" y="4"/>
                  <a:pt x="157" y="0"/>
                  <a:pt x="157" y="0"/>
                </a:cubicBezTo>
                <a:cubicBezTo>
                  <a:pt x="157" y="0"/>
                  <a:pt x="159" y="0"/>
                  <a:pt x="163" y="0"/>
                </a:cubicBezTo>
                <a:lnTo>
                  <a:pt x="168" y="0"/>
                </a:lnTo>
                <a:cubicBezTo>
                  <a:pt x="169" y="1"/>
                  <a:pt x="170" y="2"/>
                  <a:pt x="170" y="3"/>
                </a:cubicBezTo>
                <a:cubicBezTo>
                  <a:pt x="170" y="4"/>
                  <a:pt x="169" y="6"/>
                  <a:pt x="168" y="8"/>
                </a:cubicBezTo>
                <a:cubicBezTo>
                  <a:pt x="167" y="11"/>
                  <a:pt x="165" y="13"/>
                  <a:pt x="163" y="16"/>
                </a:cubicBezTo>
                <a:cubicBezTo>
                  <a:pt x="160" y="19"/>
                  <a:pt x="158" y="22"/>
                  <a:pt x="156" y="25"/>
                </a:cubicBezTo>
                <a:cubicBezTo>
                  <a:pt x="154" y="28"/>
                  <a:pt x="152" y="30"/>
                  <a:pt x="151" y="32"/>
                </a:cubicBezTo>
                <a:lnTo>
                  <a:pt x="148" y="36"/>
                </a:lnTo>
                <a:cubicBezTo>
                  <a:pt x="137" y="49"/>
                  <a:pt x="119" y="68"/>
                  <a:pt x="95" y="90"/>
                </a:cubicBezTo>
                <a:cubicBezTo>
                  <a:pt x="70" y="111"/>
                  <a:pt x="55" y="125"/>
                  <a:pt x="49" y="132"/>
                </a:cubicBezTo>
                <a:lnTo>
                  <a:pt x="44" y="136"/>
                </a:lnTo>
                <a:lnTo>
                  <a:pt x="50" y="137"/>
                </a:lnTo>
                <a:cubicBezTo>
                  <a:pt x="56" y="137"/>
                  <a:pt x="64" y="138"/>
                  <a:pt x="75" y="141"/>
                </a:cubicBezTo>
                <a:cubicBezTo>
                  <a:pt x="86" y="144"/>
                  <a:pt x="95" y="145"/>
                  <a:pt x="101" y="145"/>
                </a:cubicBezTo>
                <a:cubicBezTo>
                  <a:pt x="111" y="145"/>
                  <a:pt x="120" y="143"/>
                  <a:pt x="128" y="138"/>
                </a:cubicBezTo>
                <a:cubicBezTo>
                  <a:pt x="136" y="133"/>
                  <a:pt x="142" y="126"/>
                  <a:pt x="144" y="118"/>
                </a:cubicBezTo>
                <a:cubicBezTo>
                  <a:pt x="145" y="116"/>
                  <a:pt x="146" y="115"/>
                  <a:pt x="147" y="114"/>
                </a:cubicBezTo>
                <a:cubicBezTo>
                  <a:pt x="148" y="114"/>
                  <a:pt x="150" y="113"/>
                  <a:pt x="153" y="113"/>
                </a:cubicBezTo>
                <a:cubicBezTo>
                  <a:pt x="158" y="113"/>
                  <a:pt x="160" y="115"/>
                  <a:pt x="160" y="117"/>
                </a:cubicBezTo>
                <a:cubicBezTo>
                  <a:pt x="160" y="119"/>
                  <a:pt x="160" y="120"/>
                  <a:pt x="160" y="121"/>
                </a:cubicBezTo>
                <a:cubicBezTo>
                  <a:pt x="156" y="137"/>
                  <a:pt x="147" y="150"/>
                  <a:pt x="134" y="161"/>
                </a:cubicBezTo>
                <a:cubicBezTo>
                  <a:pt x="121" y="172"/>
                  <a:pt x="109" y="177"/>
                  <a:pt x="96" y="177"/>
                </a:cubicBezTo>
                <a:cubicBezTo>
                  <a:pt x="89" y="177"/>
                  <a:pt x="82" y="175"/>
                  <a:pt x="77" y="171"/>
                </a:cubicBezTo>
                <a:cubicBezTo>
                  <a:pt x="72" y="166"/>
                  <a:pt x="67" y="162"/>
                  <a:pt x="62" y="157"/>
                </a:cubicBezTo>
                <a:cubicBezTo>
                  <a:pt x="57" y="153"/>
                  <a:pt x="52" y="151"/>
                  <a:pt x="47" y="151"/>
                </a:cubicBezTo>
                <a:cubicBezTo>
                  <a:pt x="36" y="151"/>
                  <a:pt x="25" y="159"/>
                  <a:pt x="16" y="174"/>
                </a:cubicBezTo>
                <a:cubicBezTo>
                  <a:pt x="15" y="176"/>
                  <a:pt x="12" y="177"/>
                  <a:pt x="9" y="177"/>
                </a:cubicBezTo>
                <a:lnTo>
                  <a:pt x="8" y="177"/>
                </a:lnTo>
                <a:lnTo>
                  <a:pt x="2" y="177"/>
                </a:lnTo>
                <a:cubicBezTo>
                  <a:pt x="1" y="176"/>
                  <a:pt x="0" y="175"/>
                  <a:pt x="0" y="174"/>
                </a:cubicBezTo>
                <a:cubicBezTo>
                  <a:pt x="0" y="170"/>
                  <a:pt x="8" y="159"/>
                  <a:pt x="23" y="140"/>
                </a:cubicBezTo>
                <a:cubicBezTo>
                  <a:pt x="33" y="129"/>
                  <a:pt x="50" y="112"/>
                  <a:pt x="74" y="90"/>
                </a:cubicBezTo>
                <a:cubicBezTo>
                  <a:pt x="99" y="67"/>
                  <a:pt x="114" y="52"/>
                  <a:pt x="120" y="46"/>
                </a:cubicBezTo>
                <a:cubicBezTo>
                  <a:pt x="123" y="42"/>
                  <a:pt x="124" y="40"/>
                  <a:pt x="123" y="40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"/>
          <p:cNvSpPr/>
          <p:nvPr/>
        </p:nvSpPr>
        <p:spPr>
          <a:xfrm>
            <a:off x="6701040" y="3693240"/>
            <a:ext cx="39960" cy="66240"/>
          </a:xfrm>
          <a:custGeom>
            <a:avLst/>
            <a:gdLst/>
            <a:ahLst/>
            <a:rect l="0" t="0" r="r" b="b"/>
            <a:pathLst>
              <a:path w="111" h="184">
                <a:moveTo>
                  <a:pt x="16" y="65"/>
                </a:moveTo>
                <a:cubicBezTo>
                  <a:pt x="11" y="65"/>
                  <a:pt x="7" y="63"/>
                  <a:pt x="4" y="60"/>
                </a:cubicBezTo>
                <a:cubicBezTo>
                  <a:pt x="1" y="57"/>
                  <a:pt x="0" y="53"/>
                  <a:pt x="0" y="48"/>
                </a:cubicBezTo>
                <a:cubicBezTo>
                  <a:pt x="0" y="35"/>
                  <a:pt x="5" y="23"/>
                  <a:pt x="14" y="14"/>
                </a:cubicBezTo>
                <a:cubicBezTo>
                  <a:pt x="24" y="4"/>
                  <a:pt x="37" y="0"/>
                  <a:pt x="52" y="0"/>
                </a:cubicBezTo>
                <a:cubicBezTo>
                  <a:pt x="68" y="0"/>
                  <a:pt x="82" y="5"/>
                  <a:pt x="94" y="15"/>
                </a:cubicBezTo>
                <a:cubicBezTo>
                  <a:pt x="105" y="25"/>
                  <a:pt x="111" y="39"/>
                  <a:pt x="111" y="55"/>
                </a:cubicBezTo>
                <a:cubicBezTo>
                  <a:pt x="111" y="63"/>
                  <a:pt x="109" y="70"/>
                  <a:pt x="105" y="78"/>
                </a:cubicBezTo>
                <a:cubicBezTo>
                  <a:pt x="102" y="86"/>
                  <a:pt x="97" y="92"/>
                  <a:pt x="92" y="97"/>
                </a:cubicBezTo>
                <a:cubicBezTo>
                  <a:pt x="87" y="103"/>
                  <a:pt x="79" y="110"/>
                  <a:pt x="70" y="118"/>
                </a:cubicBezTo>
                <a:cubicBezTo>
                  <a:pt x="63" y="124"/>
                  <a:pt x="54" y="132"/>
                  <a:pt x="42" y="143"/>
                </a:cubicBezTo>
                <a:lnTo>
                  <a:pt x="25" y="159"/>
                </a:lnTo>
                <a:lnTo>
                  <a:pt x="47" y="159"/>
                </a:lnTo>
                <a:cubicBezTo>
                  <a:pt x="76" y="159"/>
                  <a:pt x="91" y="159"/>
                  <a:pt x="93" y="158"/>
                </a:cubicBezTo>
                <a:cubicBezTo>
                  <a:pt x="94" y="157"/>
                  <a:pt x="97" y="149"/>
                  <a:pt x="100" y="133"/>
                </a:cubicBezTo>
                <a:lnTo>
                  <a:pt x="100" y="132"/>
                </a:lnTo>
                <a:lnTo>
                  <a:pt x="111" y="132"/>
                </a:lnTo>
                <a:lnTo>
                  <a:pt x="111" y="133"/>
                </a:lnTo>
                <a:cubicBezTo>
                  <a:pt x="111" y="134"/>
                  <a:pt x="109" y="142"/>
                  <a:pt x="107" y="158"/>
                </a:cubicBezTo>
                <a:cubicBezTo>
                  <a:pt x="105" y="174"/>
                  <a:pt x="104" y="183"/>
                  <a:pt x="103" y="184"/>
                </a:cubicBezTo>
                <a:lnTo>
                  <a:pt x="0" y="184"/>
                </a:lnTo>
                <a:lnTo>
                  <a:pt x="0" y="179"/>
                </a:lnTo>
                <a:lnTo>
                  <a:pt x="0" y="176"/>
                </a:lnTo>
                <a:cubicBezTo>
                  <a:pt x="0" y="175"/>
                  <a:pt x="0" y="173"/>
                  <a:pt x="1" y="172"/>
                </a:cubicBezTo>
                <a:cubicBezTo>
                  <a:pt x="2" y="170"/>
                  <a:pt x="5" y="167"/>
                  <a:pt x="10" y="162"/>
                </a:cubicBezTo>
                <a:cubicBezTo>
                  <a:pt x="15" y="156"/>
                  <a:pt x="20" y="151"/>
                  <a:pt x="23" y="147"/>
                </a:cubicBezTo>
                <a:cubicBezTo>
                  <a:pt x="25" y="145"/>
                  <a:pt x="28" y="141"/>
                  <a:pt x="34" y="136"/>
                </a:cubicBezTo>
                <a:cubicBezTo>
                  <a:pt x="38" y="131"/>
                  <a:pt x="41" y="128"/>
                  <a:pt x="43" y="126"/>
                </a:cubicBezTo>
                <a:cubicBezTo>
                  <a:pt x="45" y="124"/>
                  <a:pt x="47" y="121"/>
                  <a:pt x="51" y="117"/>
                </a:cubicBezTo>
                <a:cubicBezTo>
                  <a:pt x="55" y="113"/>
                  <a:pt x="57" y="110"/>
                  <a:pt x="59" y="108"/>
                </a:cubicBezTo>
                <a:cubicBezTo>
                  <a:pt x="60" y="106"/>
                  <a:pt x="62" y="103"/>
                  <a:pt x="65" y="99"/>
                </a:cubicBezTo>
                <a:cubicBezTo>
                  <a:pt x="68" y="96"/>
                  <a:pt x="70" y="93"/>
                  <a:pt x="71" y="91"/>
                </a:cubicBezTo>
                <a:cubicBezTo>
                  <a:pt x="72" y="88"/>
                  <a:pt x="74" y="85"/>
                  <a:pt x="75" y="83"/>
                </a:cubicBezTo>
                <a:cubicBezTo>
                  <a:pt x="77" y="79"/>
                  <a:pt x="78" y="76"/>
                  <a:pt x="79" y="73"/>
                </a:cubicBezTo>
                <a:cubicBezTo>
                  <a:pt x="79" y="70"/>
                  <a:pt x="80" y="67"/>
                  <a:pt x="81" y="64"/>
                </a:cubicBezTo>
                <a:cubicBezTo>
                  <a:pt x="81" y="62"/>
                  <a:pt x="82" y="59"/>
                  <a:pt x="82" y="55"/>
                </a:cubicBezTo>
                <a:cubicBezTo>
                  <a:pt x="82" y="44"/>
                  <a:pt x="78" y="34"/>
                  <a:pt x="72" y="25"/>
                </a:cubicBezTo>
                <a:cubicBezTo>
                  <a:pt x="66" y="17"/>
                  <a:pt x="57" y="13"/>
                  <a:pt x="45" y="13"/>
                </a:cubicBezTo>
                <a:cubicBezTo>
                  <a:pt x="39" y="13"/>
                  <a:pt x="34" y="14"/>
                  <a:pt x="28" y="17"/>
                </a:cubicBezTo>
                <a:cubicBezTo>
                  <a:pt x="24" y="20"/>
                  <a:pt x="21" y="23"/>
                  <a:pt x="19" y="26"/>
                </a:cubicBezTo>
                <a:cubicBezTo>
                  <a:pt x="17" y="29"/>
                  <a:pt x="16" y="31"/>
                  <a:pt x="16" y="32"/>
                </a:cubicBezTo>
                <a:lnTo>
                  <a:pt x="17" y="32"/>
                </a:lnTo>
                <a:cubicBezTo>
                  <a:pt x="21" y="32"/>
                  <a:pt x="24" y="33"/>
                  <a:pt x="28" y="36"/>
                </a:cubicBezTo>
                <a:cubicBezTo>
                  <a:pt x="31" y="38"/>
                  <a:pt x="34" y="43"/>
                  <a:pt x="34" y="48"/>
                </a:cubicBezTo>
                <a:cubicBezTo>
                  <a:pt x="34" y="53"/>
                  <a:pt x="31" y="57"/>
                  <a:pt x="28" y="60"/>
                </a:cubicBezTo>
                <a:cubicBezTo>
                  <a:pt x="25" y="63"/>
                  <a:pt x="21" y="65"/>
                  <a:pt x="16" y="65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6701040" y="3693240"/>
            <a:ext cx="39960" cy="66240"/>
          </a:xfrm>
          <a:custGeom>
            <a:avLst/>
            <a:gdLst/>
            <a:ahLst/>
            <a:rect l="0" t="0" r="r" b="b"/>
            <a:pathLst>
              <a:path fill="none" w="111" h="184">
                <a:moveTo>
                  <a:pt x="16" y="65"/>
                </a:moveTo>
                <a:cubicBezTo>
                  <a:pt x="11" y="65"/>
                  <a:pt x="7" y="63"/>
                  <a:pt x="4" y="60"/>
                </a:cubicBezTo>
                <a:cubicBezTo>
                  <a:pt x="1" y="57"/>
                  <a:pt x="0" y="53"/>
                  <a:pt x="0" y="48"/>
                </a:cubicBezTo>
                <a:cubicBezTo>
                  <a:pt x="0" y="35"/>
                  <a:pt x="5" y="23"/>
                  <a:pt x="14" y="14"/>
                </a:cubicBezTo>
                <a:cubicBezTo>
                  <a:pt x="24" y="4"/>
                  <a:pt x="37" y="0"/>
                  <a:pt x="52" y="0"/>
                </a:cubicBezTo>
                <a:cubicBezTo>
                  <a:pt x="68" y="0"/>
                  <a:pt x="82" y="5"/>
                  <a:pt x="94" y="15"/>
                </a:cubicBezTo>
                <a:cubicBezTo>
                  <a:pt x="105" y="25"/>
                  <a:pt x="111" y="39"/>
                  <a:pt x="111" y="55"/>
                </a:cubicBezTo>
                <a:cubicBezTo>
                  <a:pt x="111" y="63"/>
                  <a:pt x="109" y="70"/>
                  <a:pt x="105" y="78"/>
                </a:cubicBezTo>
                <a:cubicBezTo>
                  <a:pt x="102" y="86"/>
                  <a:pt x="97" y="92"/>
                  <a:pt x="92" y="97"/>
                </a:cubicBezTo>
                <a:cubicBezTo>
                  <a:pt x="87" y="103"/>
                  <a:pt x="79" y="110"/>
                  <a:pt x="70" y="118"/>
                </a:cubicBezTo>
                <a:cubicBezTo>
                  <a:pt x="63" y="124"/>
                  <a:pt x="54" y="132"/>
                  <a:pt x="42" y="143"/>
                </a:cubicBezTo>
                <a:lnTo>
                  <a:pt x="25" y="159"/>
                </a:lnTo>
                <a:lnTo>
                  <a:pt x="47" y="159"/>
                </a:lnTo>
                <a:cubicBezTo>
                  <a:pt x="76" y="159"/>
                  <a:pt x="91" y="159"/>
                  <a:pt x="93" y="158"/>
                </a:cubicBezTo>
                <a:cubicBezTo>
                  <a:pt x="94" y="157"/>
                  <a:pt x="97" y="149"/>
                  <a:pt x="100" y="133"/>
                </a:cubicBezTo>
                <a:lnTo>
                  <a:pt x="100" y="132"/>
                </a:lnTo>
                <a:lnTo>
                  <a:pt x="111" y="132"/>
                </a:lnTo>
                <a:lnTo>
                  <a:pt x="111" y="133"/>
                </a:lnTo>
                <a:cubicBezTo>
                  <a:pt x="111" y="134"/>
                  <a:pt x="109" y="142"/>
                  <a:pt x="107" y="158"/>
                </a:cubicBezTo>
                <a:cubicBezTo>
                  <a:pt x="105" y="174"/>
                  <a:pt x="104" y="183"/>
                  <a:pt x="103" y="184"/>
                </a:cubicBezTo>
                <a:lnTo>
                  <a:pt x="0" y="184"/>
                </a:lnTo>
                <a:lnTo>
                  <a:pt x="0" y="179"/>
                </a:lnTo>
                <a:lnTo>
                  <a:pt x="0" y="176"/>
                </a:lnTo>
                <a:cubicBezTo>
                  <a:pt x="0" y="175"/>
                  <a:pt x="0" y="173"/>
                  <a:pt x="1" y="172"/>
                </a:cubicBezTo>
                <a:cubicBezTo>
                  <a:pt x="2" y="170"/>
                  <a:pt x="5" y="167"/>
                  <a:pt x="10" y="162"/>
                </a:cubicBezTo>
                <a:cubicBezTo>
                  <a:pt x="15" y="156"/>
                  <a:pt x="20" y="151"/>
                  <a:pt x="23" y="147"/>
                </a:cubicBezTo>
                <a:cubicBezTo>
                  <a:pt x="25" y="145"/>
                  <a:pt x="28" y="141"/>
                  <a:pt x="34" y="136"/>
                </a:cubicBezTo>
                <a:cubicBezTo>
                  <a:pt x="38" y="131"/>
                  <a:pt x="41" y="128"/>
                  <a:pt x="43" y="126"/>
                </a:cubicBezTo>
                <a:cubicBezTo>
                  <a:pt x="45" y="124"/>
                  <a:pt x="47" y="121"/>
                  <a:pt x="51" y="117"/>
                </a:cubicBezTo>
                <a:cubicBezTo>
                  <a:pt x="55" y="113"/>
                  <a:pt x="57" y="110"/>
                  <a:pt x="59" y="108"/>
                </a:cubicBezTo>
                <a:cubicBezTo>
                  <a:pt x="60" y="106"/>
                  <a:pt x="62" y="103"/>
                  <a:pt x="65" y="99"/>
                </a:cubicBezTo>
                <a:cubicBezTo>
                  <a:pt x="68" y="96"/>
                  <a:pt x="70" y="93"/>
                  <a:pt x="71" y="91"/>
                </a:cubicBezTo>
                <a:cubicBezTo>
                  <a:pt x="72" y="88"/>
                  <a:pt x="74" y="85"/>
                  <a:pt x="75" y="83"/>
                </a:cubicBezTo>
                <a:cubicBezTo>
                  <a:pt x="77" y="79"/>
                  <a:pt x="78" y="76"/>
                  <a:pt x="79" y="73"/>
                </a:cubicBezTo>
                <a:cubicBezTo>
                  <a:pt x="79" y="70"/>
                  <a:pt x="80" y="67"/>
                  <a:pt x="81" y="64"/>
                </a:cubicBezTo>
                <a:cubicBezTo>
                  <a:pt x="81" y="62"/>
                  <a:pt x="82" y="59"/>
                  <a:pt x="82" y="55"/>
                </a:cubicBezTo>
                <a:cubicBezTo>
                  <a:pt x="82" y="44"/>
                  <a:pt x="78" y="34"/>
                  <a:pt x="72" y="25"/>
                </a:cubicBezTo>
                <a:cubicBezTo>
                  <a:pt x="66" y="17"/>
                  <a:pt x="57" y="13"/>
                  <a:pt x="45" y="13"/>
                </a:cubicBezTo>
                <a:cubicBezTo>
                  <a:pt x="39" y="13"/>
                  <a:pt x="34" y="14"/>
                  <a:pt x="28" y="17"/>
                </a:cubicBezTo>
                <a:cubicBezTo>
                  <a:pt x="24" y="20"/>
                  <a:pt x="21" y="23"/>
                  <a:pt x="19" y="26"/>
                </a:cubicBezTo>
                <a:cubicBezTo>
                  <a:pt x="17" y="29"/>
                  <a:pt x="16" y="31"/>
                  <a:pt x="16" y="32"/>
                </a:cubicBezTo>
                <a:lnTo>
                  <a:pt x="17" y="32"/>
                </a:lnTo>
                <a:cubicBezTo>
                  <a:pt x="21" y="32"/>
                  <a:pt x="24" y="33"/>
                  <a:pt x="28" y="36"/>
                </a:cubicBezTo>
                <a:cubicBezTo>
                  <a:pt x="31" y="38"/>
                  <a:pt x="34" y="43"/>
                  <a:pt x="34" y="48"/>
                </a:cubicBezTo>
                <a:cubicBezTo>
                  <a:pt x="34" y="53"/>
                  <a:pt x="31" y="57"/>
                  <a:pt x="28" y="60"/>
                </a:cubicBezTo>
                <a:cubicBezTo>
                  <a:pt x="25" y="63"/>
                  <a:pt x="21" y="65"/>
                  <a:pt x="16" y="65"/>
                </a:cubicBezTo>
              </a:path>
            </a:pathLst>
          </a:custGeom>
          <a:ln w="0"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6618960" y="3863520"/>
            <a:ext cx="56520" cy="93960"/>
          </a:xfrm>
          <a:custGeom>
            <a:avLst/>
            <a:gdLst/>
            <a:ahLst/>
            <a:rect l="0" t="0" r="r" b="b"/>
            <a:pathLst>
              <a:path w="157" h="261">
                <a:moveTo>
                  <a:pt x="23" y="94"/>
                </a:moveTo>
                <a:cubicBezTo>
                  <a:pt x="16" y="94"/>
                  <a:pt x="11" y="91"/>
                  <a:pt x="6" y="87"/>
                </a:cubicBezTo>
                <a:cubicBezTo>
                  <a:pt x="2" y="82"/>
                  <a:pt x="0" y="76"/>
                  <a:pt x="0" y="69"/>
                </a:cubicBezTo>
                <a:cubicBezTo>
                  <a:pt x="0" y="51"/>
                  <a:pt x="7" y="35"/>
                  <a:pt x="21" y="21"/>
                </a:cubicBezTo>
                <a:cubicBezTo>
                  <a:pt x="35" y="7"/>
                  <a:pt x="52" y="0"/>
                  <a:pt x="72" y="0"/>
                </a:cubicBezTo>
                <a:cubicBezTo>
                  <a:pt x="96" y="0"/>
                  <a:pt x="116" y="7"/>
                  <a:pt x="132" y="23"/>
                </a:cubicBezTo>
                <a:cubicBezTo>
                  <a:pt x="149" y="38"/>
                  <a:pt x="157" y="56"/>
                  <a:pt x="157" y="80"/>
                </a:cubicBezTo>
                <a:cubicBezTo>
                  <a:pt x="157" y="91"/>
                  <a:pt x="154" y="101"/>
                  <a:pt x="149" y="112"/>
                </a:cubicBezTo>
                <a:cubicBezTo>
                  <a:pt x="144" y="122"/>
                  <a:pt x="138" y="131"/>
                  <a:pt x="129" y="138"/>
                </a:cubicBezTo>
                <a:cubicBezTo>
                  <a:pt x="122" y="146"/>
                  <a:pt x="112" y="155"/>
                  <a:pt x="98" y="167"/>
                </a:cubicBezTo>
                <a:cubicBezTo>
                  <a:pt x="89" y="175"/>
                  <a:pt x="76" y="187"/>
                  <a:pt x="59" y="203"/>
                </a:cubicBezTo>
                <a:lnTo>
                  <a:pt x="36" y="225"/>
                </a:lnTo>
                <a:lnTo>
                  <a:pt x="66" y="225"/>
                </a:lnTo>
                <a:cubicBezTo>
                  <a:pt x="107" y="225"/>
                  <a:pt x="128" y="224"/>
                  <a:pt x="131" y="223"/>
                </a:cubicBezTo>
                <a:cubicBezTo>
                  <a:pt x="133" y="223"/>
                  <a:pt x="136" y="211"/>
                  <a:pt x="141" y="188"/>
                </a:cubicBezTo>
                <a:lnTo>
                  <a:pt x="141" y="187"/>
                </a:lnTo>
                <a:lnTo>
                  <a:pt x="157" y="187"/>
                </a:lnTo>
                <a:lnTo>
                  <a:pt x="157" y="188"/>
                </a:lnTo>
                <a:cubicBezTo>
                  <a:pt x="157" y="189"/>
                  <a:pt x="155" y="201"/>
                  <a:pt x="152" y="224"/>
                </a:cubicBezTo>
                <a:cubicBezTo>
                  <a:pt x="149" y="247"/>
                  <a:pt x="147" y="259"/>
                  <a:pt x="146" y="260"/>
                </a:cubicBezTo>
                <a:lnTo>
                  <a:pt x="146" y="261"/>
                </a:lnTo>
                <a:lnTo>
                  <a:pt x="0" y="261"/>
                </a:lnTo>
                <a:lnTo>
                  <a:pt x="0" y="254"/>
                </a:lnTo>
                <a:lnTo>
                  <a:pt x="0" y="249"/>
                </a:lnTo>
                <a:cubicBezTo>
                  <a:pt x="0" y="247"/>
                  <a:pt x="1" y="245"/>
                  <a:pt x="3" y="243"/>
                </a:cubicBezTo>
                <a:cubicBezTo>
                  <a:pt x="4" y="241"/>
                  <a:pt x="8" y="236"/>
                  <a:pt x="14" y="229"/>
                </a:cubicBezTo>
                <a:cubicBezTo>
                  <a:pt x="22" y="221"/>
                  <a:pt x="28" y="214"/>
                  <a:pt x="34" y="208"/>
                </a:cubicBezTo>
                <a:cubicBezTo>
                  <a:pt x="36" y="205"/>
                  <a:pt x="41" y="200"/>
                  <a:pt x="47" y="193"/>
                </a:cubicBezTo>
                <a:cubicBezTo>
                  <a:pt x="54" y="186"/>
                  <a:pt x="58" y="181"/>
                  <a:pt x="60" y="179"/>
                </a:cubicBezTo>
                <a:cubicBezTo>
                  <a:pt x="63" y="176"/>
                  <a:pt x="66" y="172"/>
                  <a:pt x="72" y="166"/>
                </a:cubicBezTo>
                <a:cubicBezTo>
                  <a:pt x="77" y="160"/>
                  <a:pt x="81" y="155"/>
                  <a:pt x="83" y="153"/>
                </a:cubicBezTo>
                <a:cubicBezTo>
                  <a:pt x="85" y="150"/>
                  <a:pt x="88" y="146"/>
                  <a:pt x="92" y="141"/>
                </a:cubicBezTo>
                <a:cubicBezTo>
                  <a:pt x="95" y="136"/>
                  <a:pt x="98" y="132"/>
                  <a:pt x="100" y="128"/>
                </a:cubicBezTo>
                <a:cubicBezTo>
                  <a:pt x="101" y="125"/>
                  <a:pt x="103" y="121"/>
                  <a:pt x="106" y="117"/>
                </a:cubicBezTo>
                <a:cubicBezTo>
                  <a:pt x="108" y="113"/>
                  <a:pt x="110" y="109"/>
                  <a:pt x="111" y="105"/>
                </a:cubicBezTo>
                <a:cubicBezTo>
                  <a:pt x="112" y="100"/>
                  <a:pt x="113" y="96"/>
                  <a:pt x="113" y="93"/>
                </a:cubicBezTo>
                <a:cubicBezTo>
                  <a:pt x="114" y="89"/>
                  <a:pt x="115" y="85"/>
                  <a:pt x="115" y="80"/>
                </a:cubicBezTo>
                <a:cubicBezTo>
                  <a:pt x="115" y="64"/>
                  <a:pt x="110" y="49"/>
                  <a:pt x="101" y="37"/>
                </a:cubicBezTo>
                <a:cubicBezTo>
                  <a:pt x="92" y="25"/>
                  <a:pt x="80" y="19"/>
                  <a:pt x="63" y="19"/>
                </a:cubicBezTo>
                <a:cubicBezTo>
                  <a:pt x="55" y="19"/>
                  <a:pt x="47" y="22"/>
                  <a:pt x="41" y="26"/>
                </a:cubicBezTo>
                <a:cubicBezTo>
                  <a:pt x="34" y="30"/>
                  <a:pt x="30" y="35"/>
                  <a:pt x="27" y="39"/>
                </a:cubicBezTo>
                <a:cubicBezTo>
                  <a:pt x="25" y="43"/>
                  <a:pt x="23" y="46"/>
                  <a:pt x="23" y="46"/>
                </a:cubicBezTo>
                <a:cubicBezTo>
                  <a:pt x="23" y="47"/>
                  <a:pt x="24" y="47"/>
                  <a:pt x="25" y="47"/>
                </a:cubicBezTo>
                <a:cubicBezTo>
                  <a:pt x="30" y="47"/>
                  <a:pt x="35" y="49"/>
                  <a:pt x="40" y="52"/>
                </a:cubicBezTo>
                <a:cubicBezTo>
                  <a:pt x="45" y="56"/>
                  <a:pt x="47" y="62"/>
                  <a:pt x="47" y="70"/>
                </a:cubicBezTo>
                <a:cubicBezTo>
                  <a:pt x="47" y="77"/>
                  <a:pt x="45" y="82"/>
                  <a:pt x="41" y="87"/>
                </a:cubicBezTo>
                <a:cubicBezTo>
                  <a:pt x="37" y="91"/>
                  <a:pt x="31" y="93"/>
                  <a:pt x="23" y="94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/>
          <p:nvPr/>
        </p:nvSpPr>
        <p:spPr>
          <a:xfrm>
            <a:off x="6618960" y="3863520"/>
            <a:ext cx="56520" cy="93960"/>
          </a:xfrm>
          <a:custGeom>
            <a:avLst/>
            <a:gdLst/>
            <a:ahLst/>
            <a:rect l="0" t="0" r="r" b="b"/>
            <a:pathLst>
              <a:path fill="none" w="157" h="261">
                <a:moveTo>
                  <a:pt x="23" y="94"/>
                </a:moveTo>
                <a:cubicBezTo>
                  <a:pt x="16" y="94"/>
                  <a:pt x="11" y="91"/>
                  <a:pt x="6" y="87"/>
                </a:cubicBezTo>
                <a:cubicBezTo>
                  <a:pt x="2" y="82"/>
                  <a:pt x="0" y="76"/>
                  <a:pt x="0" y="69"/>
                </a:cubicBezTo>
                <a:cubicBezTo>
                  <a:pt x="0" y="51"/>
                  <a:pt x="7" y="35"/>
                  <a:pt x="21" y="21"/>
                </a:cubicBezTo>
                <a:cubicBezTo>
                  <a:pt x="35" y="7"/>
                  <a:pt x="52" y="0"/>
                  <a:pt x="72" y="0"/>
                </a:cubicBezTo>
                <a:cubicBezTo>
                  <a:pt x="96" y="0"/>
                  <a:pt x="116" y="7"/>
                  <a:pt x="132" y="23"/>
                </a:cubicBezTo>
                <a:cubicBezTo>
                  <a:pt x="149" y="38"/>
                  <a:pt x="157" y="56"/>
                  <a:pt x="157" y="80"/>
                </a:cubicBezTo>
                <a:cubicBezTo>
                  <a:pt x="157" y="91"/>
                  <a:pt x="154" y="101"/>
                  <a:pt x="149" y="112"/>
                </a:cubicBezTo>
                <a:cubicBezTo>
                  <a:pt x="144" y="122"/>
                  <a:pt x="138" y="131"/>
                  <a:pt x="129" y="138"/>
                </a:cubicBezTo>
                <a:cubicBezTo>
                  <a:pt x="122" y="146"/>
                  <a:pt x="112" y="155"/>
                  <a:pt x="98" y="167"/>
                </a:cubicBezTo>
                <a:cubicBezTo>
                  <a:pt x="89" y="175"/>
                  <a:pt x="76" y="187"/>
                  <a:pt x="59" y="203"/>
                </a:cubicBezTo>
                <a:lnTo>
                  <a:pt x="36" y="225"/>
                </a:lnTo>
                <a:lnTo>
                  <a:pt x="66" y="225"/>
                </a:lnTo>
                <a:cubicBezTo>
                  <a:pt x="107" y="225"/>
                  <a:pt x="128" y="224"/>
                  <a:pt x="131" y="223"/>
                </a:cubicBezTo>
                <a:cubicBezTo>
                  <a:pt x="133" y="223"/>
                  <a:pt x="136" y="211"/>
                  <a:pt x="141" y="188"/>
                </a:cubicBezTo>
                <a:lnTo>
                  <a:pt x="141" y="187"/>
                </a:lnTo>
                <a:lnTo>
                  <a:pt x="157" y="187"/>
                </a:lnTo>
                <a:lnTo>
                  <a:pt x="157" y="188"/>
                </a:lnTo>
                <a:cubicBezTo>
                  <a:pt x="157" y="189"/>
                  <a:pt x="155" y="201"/>
                  <a:pt x="152" y="224"/>
                </a:cubicBezTo>
                <a:cubicBezTo>
                  <a:pt x="149" y="247"/>
                  <a:pt x="147" y="259"/>
                  <a:pt x="146" y="260"/>
                </a:cubicBezTo>
                <a:lnTo>
                  <a:pt x="146" y="261"/>
                </a:lnTo>
                <a:lnTo>
                  <a:pt x="0" y="261"/>
                </a:lnTo>
                <a:lnTo>
                  <a:pt x="0" y="254"/>
                </a:lnTo>
                <a:lnTo>
                  <a:pt x="0" y="249"/>
                </a:lnTo>
                <a:cubicBezTo>
                  <a:pt x="0" y="247"/>
                  <a:pt x="1" y="245"/>
                  <a:pt x="3" y="243"/>
                </a:cubicBezTo>
                <a:cubicBezTo>
                  <a:pt x="4" y="241"/>
                  <a:pt x="8" y="236"/>
                  <a:pt x="14" y="229"/>
                </a:cubicBezTo>
                <a:cubicBezTo>
                  <a:pt x="22" y="221"/>
                  <a:pt x="28" y="214"/>
                  <a:pt x="34" y="208"/>
                </a:cubicBezTo>
                <a:cubicBezTo>
                  <a:pt x="36" y="205"/>
                  <a:pt x="41" y="200"/>
                  <a:pt x="47" y="193"/>
                </a:cubicBezTo>
                <a:cubicBezTo>
                  <a:pt x="54" y="186"/>
                  <a:pt x="58" y="181"/>
                  <a:pt x="60" y="179"/>
                </a:cubicBezTo>
                <a:cubicBezTo>
                  <a:pt x="63" y="176"/>
                  <a:pt x="66" y="172"/>
                  <a:pt x="72" y="166"/>
                </a:cubicBezTo>
                <a:cubicBezTo>
                  <a:pt x="77" y="160"/>
                  <a:pt x="81" y="155"/>
                  <a:pt x="83" y="153"/>
                </a:cubicBezTo>
                <a:cubicBezTo>
                  <a:pt x="85" y="150"/>
                  <a:pt x="88" y="146"/>
                  <a:pt x="92" y="141"/>
                </a:cubicBezTo>
                <a:cubicBezTo>
                  <a:pt x="95" y="136"/>
                  <a:pt x="98" y="132"/>
                  <a:pt x="100" y="128"/>
                </a:cubicBezTo>
                <a:cubicBezTo>
                  <a:pt x="101" y="125"/>
                  <a:pt x="103" y="121"/>
                  <a:pt x="106" y="117"/>
                </a:cubicBezTo>
                <a:cubicBezTo>
                  <a:pt x="108" y="113"/>
                  <a:pt x="110" y="109"/>
                  <a:pt x="111" y="105"/>
                </a:cubicBezTo>
                <a:cubicBezTo>
                  <a:pt x="112" y="100"/>
                  <a:pt x="113" y="96"/>
                  <a:pt x="113" y="93"/>
                </a:cubicBezTo>
                <a:cubicBezTo>
                  <a:pt x="114" y="89"/>
                  <a:pt x="115" y="85"/>
                  <a:pt x="115" y="80"/>
                </a:cubicBezTo>
                <a:cubicBezTo>
                  <a:pt x="115" y="64"/>
                  <a:pt x="110" y="49"/>
                  <a:pt x="101" y="37"/>
                </a:cubicBezTo>
                <a:cubicBezTo>
                  <a:pt x="92" y="25"/>
                  <a:pt x="80" y="19"/>
                  <a:pt x="63" y="19"/>
                </a:cubicBezTo>
                <a:cubicBezTo>
                  <a:pt x="55" y="19"/>
                  <a:pt x="47" y="22"/>
                  <a:pt x="41" y="26"/>
                </a:cubicBezTo>
                <a:cubicBezTo>
                  <a:pt x="34" y="30"/>
                  <a:pt x="30" y="35"/>
                  <a:pt x="27" y="39"/>
                </a:cubicBezTo>
                <a:cubicBezTo>
                  <a:pt x="25" y="43"/>
                  <a:pt x="23" y="46"/>
                  <a:pt x="23" y="46"/>
                </a:cubicBezTo>
                <a:cubicBezTo>
                  <a:pt x="23" y="47"/>
                  <a:pt x="24" y="47"/>
                  <a:pt x="25" y="47"/>
                </a:cubicBezTo>
                <a:cubicBezTo>
                  <a:pt x="30" y="47"/>
                  <a:pt x="35" y="49"/>
                  <a:pt x="40" y="52"/>
                </a:cubicBezTo>
                <a:cubicBezTo>
                  <a:pt x="45" y="56"/>
                  <a:pt x="47" y="62"/>
                  <a:pt x="47" y="70"/>
                </a:cubicBezTo>
                <a:cubicBezTo>
                  <a:pt x="47" y="77"/>
                  <a:pt x="45" y="82"/>
                  <a:pt x="41" y="87"/>
                </a:cubicBezTo>
                <a:cubicBezTo>
                  <a:pt x="37" y="91"/>
                  <a:pt x="31" y="93"/>
                  <a:pt x="23" y="94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/>
          <p:nvPr/>
        </p:nvSpPr>
        <p:spPr>
          <a:xfrm>
            <a:off x="6685200" y="3895200"/>
            <a:ext cx="78840" cy="63720"/>
          </a:xfrm>
          <a:custGeom>
            <a:avLst/>
            <a:gdLst/>
            <a:ahLst/>
            <a:rect l="0" t="0" r="r" b="b"/>
            <a:pathLst>
              <a:path w="219" h="177">
                <a:moveTo>
                  <a:pt x="0" y="61"/>
                </a:moveTo>
                <a:cubicBezTo>
                  <a:pt x="0" y="59"/>
                  <a:pt x="1" y="57"/>
                  <a:pt x="1" y="55"/>
                </a:cubicBezTo>
                <a:cubicBezTo>
                  <a:pt x="2" y="52"/>
                  <a:pt x="3" y="47"/>
                  <a:pt x="6" y="40"/>
                </a:cubicBezTo>
                <a:cubicBezTo>
                  <a:pt x="9" y="33"/>
                  <a:pt x="11" y="27"/>
                  <a:pt x="14" y="22"/>
                </a:cubicBezTo>
                <a:cubicBezTo>
                  <a:pt x="16" y="17"/>
                  <a:pt x="21" y="12"/>
                  <a:pt x="27" y="7"/>
                </a:cubicBezTo>
                <a:cubicBezTo>
                  <a:pt x="33" y="1"/>
                  <a:pt x="39" y="-1"/>
                  <a:pt x="45" y="0"/>
                </a:cubicBezTo>
                <a:cubicBezTo>
                  <a:pt x="54" y="0"/>
                  <a:pt x="62" y="2"/>
                  <a:pt x="68" y="8"/>
                </a:cubicBezTo>
                <a:cubicBezTo>
                  <a:pt x="75" y="12"/>
                  <a:pt x="79" y="17"/>
                  <a:pt x="81" y="21"/>
                </a:cubicBezTo>
                <a:cubicBezTo>
                  <a:pt x="82" y="25"/>
                  <a:pt x="83" y="28"/>
                  <a:pt x="83" y="29"/>
                </a:cubicBezTo>
                <a:cubicBezTo>
                  <a:pt x="83" y="30"/>
                  <a:pt x="83" y="30"/>
                  <a:pt x="83" y="30"/>
                </a:cubicBezTo>
                <a:lnTo>
                  <a:pt x="88" y="26"/>
                </a:lnTo>
                <a:cubicBezTo>
                  <a:pt x="104" y="9"/>
                  <a:pt x="122" y="0"/>
                  <a:pt x="142" y="0"/>
                </a:cubicBezTo>
                <a:cubicBezTo>
                  <a:pt x="156" y="0"/>
                  <a:pt x="167" y="3"/>
                  <a:pt x="176" y="11"/>
                </a:cubicBezTo>
                <a:cubicBezTo>
                  <a:pt x="185" y="18"/>
                  <a:pt x="189" y="28"/>
                  <a:pt x="189" y="42"/>
                </a:cubicBezTo>
                <a:cubicBezTo>
                  <a:pt x="189" y="55"/>
                  <a:pt x="185" y="76"/>
                  <a:pt x="174" y="103"/>
                </a:cubicBezTo>
                <a:cubicBezTo>
                  <a:pt x="164" y="131"/>
                  <a:pt x="159" y="147"/>
                  <a:pt x="160" y="153"/>
                </a:cubicBezTo>
                <a:cubicBezTo>
                  <a:pt x="160" y="160"/>
                  <a:pt x="162" y="163"/>
                  <a:pt x="166" y="163"/>
                </a:cubicBezTo>
                <a:cubicBezTo>
                  <a:pt x="168" y="163"/>
                  <a:pt x="169" y="163"/>
                  <a:pt x="170" y="163"/>
                </a:cubicBezTo>
                <a:cubicBezTo>
                  <a:pt x="177" y="161"/>
                  <a:pt x="184" y="156"/>
                  <a:pt x="190" y="148"/>
                </a:cubicBezTo>
                <a:cubicBezTo>
                  <a:pt x="196" y="139"/>
                  <a:pt x="201" y="129"/>
                  <a:pt x="204" y="116"/>
                </a:cubicBezTo>
                <a:cubicBezTo>
                  <a:pt x="204" y="114"/>
                  <a:pt x="207" y="113"/>
                  <a:pt x="211" y="113"/>
                </a:cubicBezTo>
                <a:cubicBezTo>
                  <a:pt x="217" y="113"/>
                  <a:pt x="219" y="114"/>
                  <a:pt x="219" y="116"/>
                </a:cubicBezTo>
                <a:cubicBezTo>
                  <a:pt x="219" y="117"/>
                  <a:pt x="219" y="119"/>
                  <a:pt x="218" y="122"/>
                </a:cubicBezTo>
                <a:cubicBezTo>
                  <a:pt x="216" y="130"/>
                  <a:pt x="213" y="137"/>
                  <a:pt x="209" y="145"/>
                </a:cubicBezTo>
                <a:cubicBezTo>
                  <a:pt x="205" y="152"/>
                  <a:pt x="199" y="159"/>
                  <a:pt x="191" y="166"/>
                </a:cubicBezTo>
                <a:cubicBezTo>
                  <a:pt x="183" y="174"/>
                  <a:pt x="174" y="177"/>
                  <a:pt x="164" y="177"/>
                </a:cubicBezTo>
                <a:cubicBezTo>
                  <a:pt x="152" y="177"/>
                  <a:pt x="143" y="173"/>
                  <a:pt x="138" y="166"/>
                </a:cubicBezTo>
                <a:cubicBezTo>
                  <a:pt x="132" y="159"/>
                  <a:pt x="129" y="152"/>
                  <a:pt x="129" y="145"/>
                </a:cubicBezTo>
                <a:cubicBezTo>
                  <a:pt x="129" y="140"/>
                  <a:pt x="134" y="124"/>
                  <a:pt x="144" y="98"/>
                </a:cubicBezTo>
                <a:cubicBezTo>
                  <a:pt x="153" y="71"/>
                  <a:pt x="158" y="52"/>
                  <a:pt x="158" y="38"/>
                </a:cubicBezTo>
                <a:cubicBezTo>
                  <a:pt x="158" y="23"/>
                  <a:pt x="152" y="15"/>
                  <a:pt x="141" y="15"/>
                </a:cubicBezTo>
                <a:lnTo>
                  <a:pt x="139" y="15"/>
                </a:lnTo>
                <a:cubicBezTo>
                  <a:pt x="116" y="15"/>
                  <a:pt x="98" y="29"/>
                  <a:pt x="82" y="55"/>
                </a:cubicBezTo>
                <a:lnTo>
                  <a:pt x="80" y="59"/>
                </a:lnTo>
                <a:lnTo>
                  <a:pt x="66" y="112"/>
                </a:lnTo>
                <a:cubicBezTo>
                  <a:pt x="57" y="146"/>
                  <a:pt x="52" y="164"/>
                  <a:pt x="51" y="167"/>
                </a:cubicBezTo>
                <a:cubicBezTo>
                  <a:pt x="47" y="174"/>
                  <a:pt x="42" y="177"/>
                  <a:pt x="34" y="177"/>
                </a:cubicBezTo>
                <a:cubicBezTo>
                  <a:pt x="31" y="177"/>
                  <a:pt x="28" y="177"/>
                  <a:pt x="26" y="175"/>
                </a:cubicBezTo>
                <a:cubicBezTo>
                  <a:pt x="24" y="173"/>
                  <a:pt x="22" y="172"/>
                  <a:pt x="22" y="170"/>
                </a:cubicBezTo>
                <a:cubicBezTo>
                  <a:pt x="21" y="169"/>
                  <a:pt x="21" y="167"/>
                  <a:pt x="21" y="166"/>
                </a:cubicBezTo>
                <a:cubicBezTo>
                  <a:pt x="21" y="163"/>
                  <a:pt x="26" y="142"/>
                  <a:pt x="36" y="103"/>
                </a:cubicBezTo>
                <a:cubicBezTo>
                  <a:pt x="45" y="64"/>
                  <a:pt x="51" y="43"/>
                  <a:pt x="51" y="39"/>
                </a:cubicBezTo>
                <a:cubicBezTo>
                  <a:pt x="51" y="38"/>
                  <a:pt x="52" y="35"/>
                  <a:pt x="52" y="30"/>
                </a:cubicBezTo>
                <a:cubicBezTo>
                  <a:pt x="52" y="20"/>
                  <a:pt x="48" y="15"/>
                  <a:pt x="42" y="15"/>
                </a:cubicBezTo>
                <a:cubicBezTo>
                  <a:pt x="32" y="15"/>
                  <a:pt x="24" y="28"/>
                  <a:pt x="18" y="54"/>
                </a:cubicBezTo>
                <a:cubicBezTo>
                  <a:pt x="16" y="59"/>
                  <a:pt x="15" y="62"/>
                  <a:pt x="15" y="62"/>
                </a:cubicBezTo>
                <a:cubicBezTo>
                  <a:pt x="15" y="64"/>
                  <a:pt x="12" y="65"/>
                  <a:pt x="8" y="65"/>
                </a:cubicBezTo>
                <a:lnTo>
                  <a:pt x="2" y="65"/>
                </a:lnTo>
                <a:cubicBezTo>
                  <a:pt x="1" y="63"/>
                  <a:pt x="0" y="62"/>
                  <a:pt x="0" y="61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/>
          <p:nvPr/>
        </p:nvSpPr>
        <p:spPr>
          <a:xfrm>
            <a:off x="6685200" y="3895200"/>
            <a:ext cx="78840" cy="63720"/>
          </a:xfrm>
          <a:custGeom>
            <a:avLst/>
            <a:gdLst/>
            <a:ahLst/>
            <a:rect l="0" t="0" r="r" b="b"/>
            <a:pathLst>
              <a:path fill="none" w="219" h="177">
                <a:moveTo>
                  <a:pt x="0" y="61"/>
                </a:moveTo>
                <a:cubicBezTo>
                  <a:pt x="0" y="59"/>
                  <a:pt x="1" y="57"/>
                  <a:pt x="1" y="55"/>
                </a:cubicBezTo>
                <a:cubicBezTo>
                  <a:pt x="2" y="52"/>
                  <a:pt x="3" y="47"/>
                  <a:pt x="6" y="40"/>
                </a:cubicBezTo>
                <a:cubicBezTo>
                  <a:pt x="9" y="33"/>
                  <a:pt x="11" y="27"/>
                  <a:pt x="14" y="22"/>
                </a:cubicBezTo>
                <a:cubicBezTo>
                  <a:pt x="16" y="17"/>
                  <a:pt x="21" y="12"/>
                  <a:pt x="27" y="7"/>
                </a:cubicBezTo>
                <a:cubicBezTo>
                  <a:pt x="33" y="1"/>
                  <a:pt x="39" y="-1"/>
                  <a:pt x="45" y="0"/>
                </a:cubicBezTo>
                <a:cubicBezTo>
                  <a:pt x="54" y="0"/>
                  <a:pt x="62" y="2"/>
                  <a:pt x="68" y="8"/>
                </a:cubicBezTo>
                <a:cubicBezTo>
                  <a:pt x="75" y="12"/>
                  <a:pt x="79" y="17"/>
                  <a:pt x="81" y="21"/>
                </a:cubicBezTo>
                <a:cubicBezTo>
                  <a:pt x="82" y="25"/>
                  <a:pt x="83" y="28"/>
                  <a:pt x="83" y="29"/>
                </a:cubicBezTo>
                <a:cubicBezTo>
                  <a:pt x="83" y="30"/>
                  <a:pt x="83" y="30"/>
                  <a:pt x="83" y="30"/>
                </a:cubicBezTo>
                <a:lnTo>
                  <a:pt x="88" y="26"/>
                </a:lnTo>
                <a:cubicBezTo>
                  <a:pt x="104" y="9"/>
                  <a:pt x="122" y="0"/>
                  <a:pt x="142" y="0"/>
                </a:cubicBezTo>
                <a:cubicBezTo>
                  <a:pt x="156" y="0"/>
                  <a:pt x="167" y="3"/>
                  <a:pt x="176" y="11"/>
                </a:cubicBezTo>
                <a:cubicBezTo>
                  <a:pt x="185" y="18"/>
                  <a:pt x="189" y="28"/>
                  <a:pt x="189" y="42"/>
                </a:cubicBezTo>
                <a:cubicBezTo>
                  <a:pt x="189" y="55"/>
                  <a:pt x="185" y="76"/>
                  <a:pt x="174" y="103"/>
                </a:cubicBezTo>
                <a:cubicBezTo>
                  <a:pt x="164" y="131"/>
                  <a:pt x="159" y="147"/>
                  <a:pt x="160" y="153"/>
                </a:cubicBezTo>
                <a:cubicBezTo>
                  <a:pt x="160" y="160"/>
                  <a:pt x="162" y="163"/>
                  <a:pt x="166" y="163"/>
                </a:cubicBezTo>
                <a:cubicBezTo>
                  <a:pt x="168" y="163"/>
                  <a:pt x="169" y="163"/>
                  <a:pt x="170" y="163"/>
                </a:cubicBezTo>
                <a:cubicBezTo>
                  <a:pt x="177" y="161"/>
                  <a:pt x="184" y="156"/>
                  <a:pt x="190" y="148"/>
                </a:cubicBezTo>
                <a:cubicBezTo>
                  <a:pt x="196" y="139"/>
                  <a:pt x="201" y="129"/>
                  <a:pt x="204" y="116"/>
                </a:cubicBezTo>
                <a:cubicBezTo>
                  <a:pt x="204" y="114"/>
                  <a:pt x="207" y="113"/>
                  <a:pt x="211" y="113"/>
                </a:cubicBezTo>
                <a:cubicBezTo>
                  <a:pt x="217" y="113"/>
                  <a:pt x="219" y="114"/>
                  <a:pt x="219" y="116"/>
                </a:cubicBezTo>
                <a:cubicBezTo>
                  <a:pt x="219" y="117"/>
                  <a:pt x="219" y="119"/>
                  <a:pt x="218" y="122"/>
                </a:cubicBezTo>
                <a:cubicBezTo>
                  <a:pt x="216" y="130"/>
                  <a:pt x="213" y="137"/>
                  <a:pt x="209" y="145"/>
                </a:cubicBezTo>
                <a:cubicBezTo>
                  <a:pt x="205" y="152"/>
                  <a:pt x="199" y="159"/>
                  <a:pt x="191" y="166"/>
                </a:cubicBezTo>
                <a:cubicBezTo>
                  <a:pt x="183" y="174"/>
                  <a:pt x="174" y="177"/>
                  <a:pt x="164" y="177"/>
                </a:cubicBezTo>
                <a:cubicBezTo>
                  <a:pt x="152" y="177"/>
                  <a:pt x="143" y="173"/>
                  <a:pt x="138" y="166"/>
                </a:cubicBezTo>
                <a:cubicBezTo>
                  <a:pt x="132" y="159"/>
                  <a:pt x="129" y="152"/>
                  <a:pt x="129" y="145"/>
                </a:cubicBezTo>
                <a:cubicBezTo>
                  <a:pt x="129" y="140"/>
                  <a:pt x="134" y="124"/>
                  <a:pt x="144" y="98"/>
                </a:cubicBezTo>
                <a:cubicBezTo>
                  <a:pt x="153" y="71"/>
                  <a:pt x="158" y="52"/>
                  <a:pt x="158" y="38"/>
                </a:cubicBezTo>
                <a:cubicBezTo>
                  <a:pt x="158" y="23"/>
                  <a:pt x="152" y="15"/>
                  <a:pt x="141" y="15"/>
                </a:cubicBezTo>
                <a:lnTo>
                  <a:pt x="139" y="15"/>
                </a:lnTo>
                <a:cubicBezTo>
                  <a:pt x="116" y="15"/>
                  <a:pt x="98" y="29"/>
                  <a:pt x="82" y="55"/>
                </a:cubicBezTo>
                <a:lnTo>
                  <a:pt x="80" y="59"/>
                </a:lnTo>
                <a:lnTo>
                  <a:pt x="66" y="112"/>
                </a:lnTo>
                <a:cubicBezTo>
                  <a:pt x="57" y="146"/>
                  <a:pt x="52" y="164"/>
                  <a:pt x="51" y="167"/>
                </a:cubicBezTo>
                <a:cubicBezTo>
                  <a:pt x="47" y="174"/>
                  <a:pt x="42" y="177"/>
                  <a:pt x="34" y="177"/>
                </a:cubicBezTo>
                <a:cubicBezTo>
                  <a:pt x="31" y="177"/>
                  <a:pt x="28" y="177"/>
                  <a:pt x="26" y="175"/>
                </a:cubicBezTo>
                <a:cubicBezTo>
                  <a:pt x="24" y="173"/>
                  <a:pt x="22" y="172"/>
                  <a:pt x="22" y="170"/>
                </a:cubicBezTo>
                <a:cubicBezTo>
                  <a:pt x="21" y="169"/>
                  <a:pt x="21" y="167"/>
                  <a:pt x="21" y="166"/>
                </a:cubicBezTo>
                <a:cubicBezTo>
                  <a:pt x="21" y="163"/>
                  <a:pt x="26" y="142"/>
                  <a:pt x="36" y="103"/>
                </a:cubicBezTo>
                <a:cubicBezTo>
                  <a:pt x="45" y="64"/>
                  <a:pt x="51" y="43"/>
                  <a:pt x="51" y="39"/>
                </a:cubicBezTo>
                <a:cubicBezTo>
                  <a:pt x="51" y="38"/>
                  <a:pt x="52" y="35"/>
                  <a:pt x="52" y="30"/>
                </a:cubicBezTo>
                <a:cubicBezTo>
                  <a:pt x="52" y="20"/>
                  <a:pt x="48" y="15"/>
                  <a:pt x="42" y="15"/>
                </a:cubicBezTo>
                <a:cubicBezTo>
                  <a:pt x="32" y="15"/>
                  <a:pt x="24" y="28"/>
                  <a:pt x="18" y="54"/>
                </a:cubicBezTo>
                <a:cubicBezTo>
                  <a:pt x="16" y="59"/>
                  <a:pt x="15" y="62"/>
                  <a:pt x="15" y="62"/>
                </a:cubicBezTo>
                <a:cubicBezTo>
                  <a:pt x="15" y="64"/>
                  <a:pt x="12" y="65"/>
                  <a:pt x="8" y="65"/>
                </a:cubicBezTo>
                <a:lnTo>
                  <a:pt x="2" y="65"/>
                </a:lnTo>
                <a:cubicBezTo>
                  <a:pt x="1" y="63"/>
                  <a:pt x="0" y="62"/>
                  <a:pt x="0" y="61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/>
          <p:nvPr/>
        </p:nvSpPr>
        <p:spPr>
          <a:xfrm>
            <a:off x="6592320" y="3832920"/>
            <a:ext cx="194400" cy="12240"/>
          </a:xfrm>
          <a:custGeom>
            <a:avLst/>
            <a:gdLst/>
            <a:ahLst/>
            <a:rect l="0" t="0" r="r" b="b"/>
            <a:pathLst>
              <a:path w="540" h="34">
                <a:moveTo>
                  <a:pt x="0" y="0"/>
                </a:moveTo>
                <a:lnTo>
                  <a:pt x="540" y="0"/>
                </a:lnTo>
                <a:lnTo>
                  <a:pt x="540" y="34"/>
                </a:lnTo>
                <a:lnTo>
                  <a:pt x="0" y="34"/>
                </a:lnTo>
                <a:lnTo>
                  <a:pt x="0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/>
          <p:nvPr/>
        </p:nvSpPr>
        <p:spPr>
          <a:xfrm>
            <a:off x="6921000" y="3756240"/>
            <a:ext cx="132480" cy="132840"/>
          </a:xfrm>
          <a:custGeom>
            <a:avLst/>
            <a:gdLst/>
            <a:ahLst/>
            <a:rect l="0" t="0" r="r" b="b"/>
            <a:pathLst>
              <a:path w="368" h="369">
                <a:moveTo>
                  <a:pt x="0" y="192"/>
                </a:moveTo>
                <a:cubicBezTo>
                  <a:pt x="0" y="192"/>
                  <a:pt x="0" y="190"/>
                  <a:pt x="0" y="185"/>
                </a:cubicBezTo>
                <a:cubicBezTo>
                  <a:pt x="0" y="180"/>
                  <a:pt x="2" y="176"/>
                  <a:pt x="7" y="174"/>
                </a:cubicBezTo>
                <a:lnTo>
                  <a:pt x="174" y="174"/>
                </a:lnTo>
                <a:lnTo>
                  <a:pt x="174" y="91"/>
                </a:lnTo>
                <a:cubicBezTo>
                  <a:pt x="174" y="37"/>
                  <a:pt x="174" y="7"/>
                  <a:pt x="175" y="6"/>
                </a:cubicBezTo>
                <a:cubicBezTo>
                  <a:pt x="176" y="2"/>
                  <a:pt x="180" y="0"/>
                  <a:pt x="184" y="0"/>
                </a:cubicBezTo>
                <a:cubicBezTo>
                  <a:pt x="189" y="0"/>
                  <a:pt x="192" y="2"/>
                  <a:pt x="193" y="7"/>
                </a:cubicBezTo>
                <a:cubicBezTo>
                  <a:pt x="195" y="11"/>
                  <a:pt x="195" y="22"/>
                  <a:pt x="196" y="40"/>
                </a:cubicBezTo>
                <a:lnTo>
                  <a:pt x="196" y="93"/>
                </a:lnTo>
                <a:lnTo>
                  <a:pt x="196" y="174"/>
                </a:lnTo>
                <a:lnTo>
                  <a:pt x="360" y="174"/>
                </a:lnTo>
                <a:cubicBezTo>
                  <a:pt x="366" y="177"/>
                  <a:pt x="368" y="180"/>
                  <a:pt x="368" y="185"/>
                </a:cubicBezTo>
                <a:cubicBezTo>
                  <a:pt x="368" y="190"/>
                  <a:pt x="366" y="193"/>
                  <a:pt x="360" y="196"/>
                </a:cubicBezTo>
                <a:lnTo>
                  <a:pt x="196" y="196"/>
                </a:lnTo>
                <a:lnTo>
                  <a:pt x="196" y="346"/>
                </a:lnTo>
                <a:lnTo>
                  <a:pt x="360" y="346"/>
                </a:lnTo>
                <a:cubicBezTo>
                  <a:pt x="366" y="349"/>
                  <a:pt x="368" y="353"/>
                  <a:pt x="368" y="358"/>
                </a:cubicBezTo>
                <a:cubicBezTo>
                  <a:pt x="368" y="362"/>
                  <a:pt x="366" y="366"/>
                  <a:pt x="360" y="369"/>
                </a:cubicBezTo>
                <a:lnTo>
                  <a:pt x="7" y="369"/>
                </a:lnTo>
                <a:cubicBezTo>
                  <a:pt x="2" y="366"/>
                  <a:pt x="0" y="362"/>
                  <a:pt x="0" y="358"/>
                </a:cubicBezTo>
                <a:cubicBezTo>
                  <a:pt x="0" y="353"/>
                  <a:pt x="2" y="349"/>
                  <a:pt x="7" y="346"/>
                </a:cubicBezTo>
                <a:lnTo>
                  <a:pt x="174" y="346"/>
                </a:lnTo>
                <a:lnTo>
                  <a:pt x="174" y="196"/>
                </a:lnTo>
                <a:lnTo>
                  <a:pt x="7" y="196"/>
                </a:lnTo>
                <a:cubicBezTo>
                  <a:pt x="2" y="193"/>
                  <a:pt x="0" y="190"/>
                  <a:pt x="0" y="185"/>
                </a:cubicBezTo>
                <a:lnTo>
                  <a:pt x="0" y="192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"/>
          <p:cNvSpPr/>
          <p:nvPr/>
        </p:nvSpPr>
        <p:spPr>
          <a:xfrm>
            <a:off x="6921000" y="3756240"/>
            <a:ext cx="132480" cy="132840"/>
          </a:xfrm>
          <a:custGeom>
            <a:avLst/>
            <a:gdLst/>
            <a:ahLst/>
            <a:rect l="0" t="0" r="r" b="b"/>
            <a:pathLst>
              <a:path fill="none" w="368" h="369">
                <a:moveTo>
                  <a:pt x="0" y="192"/>
                </a:moveTo>
                <a:cubicBezTo>
                  <a:pt x="0" y="192"/>
                  <a:pt x="0" y="190"/>
                  <a:pt x="0" y="185"/>
                </a:cubicBezTo>
                <a:cubicBezTo>
                  <a:pt x="0" y="180"/>
                  <a:pt x="2" y="176"/>
                  <a:pt x="7" y="174"/>
                </a:cubicBezTo>
                <a:lnTo>
                  <a:pt x="174" y="174"/>
                </a:lnTo>
                <a:lnTo>
                  <a:pt x="174" y="91"/>
                </a:lnTo>
                <a:cubicBezTo>
                  <a:pt x="174" y="37"/>
                  <a:pt x="174" y="7"/>
                  <a:pt x="175" y="6"/>
                </a:cubicBezTo>
                <a:cubicBezTo>
                  <a:pt x="176" y="2"/>
                  <a:pt x="180" y="0"/>
                  <a:pt x="184" y="0"/>
                </a:cubicBezTo>
                <a:cubicBezTo>
                  <a:pt x="189" y="0"/>
                  <a:pt x="192" y="2"/>
                  <a:pt x="193" y="7"/>
                </a:cubicBezTo>
                <a:cubicBezTo>
                  <a:pt x="195" y="11"/>
                  <a:pt x="195" y="22"/>
                  <a:pt x="196" y="40"/>
                </a:cubicBezTo>
                <a:lnTo>
                  <a:pt x="196" y="93"/>
                </a:lnTo>
                <a:lnTo>
                  <a:pt x="196" y="174"/>
                </a:lnTo>
                <a:lnTo>
                  <a:pt x="360" y="174"/>
                </a:lnTo>
                <a:cubicBezTo>
                  <a:pt x="366" y="177"/>
                  <a:pt x="368" y="180"/>
                  <a:pt x="368" y="185"/>
                </a:cubicBezTo>
                <a:cubicBezTo>
                  <a:pt x="368" y="190"/>
                  <a:pt x="366" y="193"/>
                  <a:pt x="360" y="196"/>
                </a:cubicBezTo>
                <a:lnTo>
                  <a:pt x="196" y="196"/>
                </a:lnTo>
                <a:lnTo>
                  <a:pt x="196" y="346"/>
                </a:lnTo>
                <a:lnTo>
                  <a:pt x="360" y="346"/>
                </a:lnTo>
                <a:cubicBezTo>
                  <a:pt x="366" y="349"/>
                  <a:pt x="368" y="353"/>
                  <a:pt x="368" y="358"/>
                </a:cubicBezTo>
                <a:cubicBezTo>
                  <a:pt x="368" y="362"/>
                  <a:pt x="366" y="366"/>
                  <a:pt x="360" y="369"/>
                </a:cubicBezTo>
                <a:lnTo>
                  <a:pt x="7" y="369"/>
                </a:lnTo>
                <a:cubicBezTo>
                  <a:pt x="2" y="366"/>
                  <a:pt x="0" y="362"/>
                  <a:pt x="0" y="358"/>
                </a:cubicBezTo>
                <a:cubicBezTo>
                  <a:pt x="0" y="353"/>
                  <a:pt x="2" y="349"/>
                  <a:pt x="7" y="346"/>
                </a:cubicBezTo>
                <a:lnTo>
                  <a:pt x="174" y="346"/>
                </a:lnTo>
                <a:lnTo>
                  <a:pt x="174" y="196"/>
                </a:lnTo>
                <a:lnTo>
                  <a:pt x="7" y="196"/>
                </a:lnTo>
                <a:cubicBezTo>
                  <a:pt x="2" y="193"/>
                  <a:pt x="0" y="190"/>
                  <a:pt x="0" y="185"/>
                </a:cubicBezTo>
                <a:lnTo>
                  <a:pt x="0" y="192"/>
                </a:ln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"/>
          <p:cNvSpPr/>
          <p:nvPr/>
        </p:nvSpPr>
        <p:spPr>
          <a:xfrm>
            <a:off x="7170840" y="3800880"/>
            <a:ext cx="86400" cy="90360"/>
          </a:xfrm>
          <a:custGeom>
            <a:avLst/>
            <a:gdLst/>
            <a:ahLst/>
            <a:rect l="0" t="0" r="r" b="b"/>
            <a:pathLst>
              <a:path w="240" h="251">
                <a:moveTo>
                  <a:pt x="173" y="57"/>
                </a:moveTo>
                <a:cubicBezTo>
                  <a:pt x="169" y="57"/>
                  <a:pt x="160" y="55"/>
                  <a:pt x="144" y="51"/>
                </a:cubicBezTo>
                <a:cubicBezTo>
                  <a:pt x="128" y="47"/>
                  <a:pt x="116" y="45"/>
                  <a:pt x="109" y="45"/>
                </a:cubicBezTo>
                <a:cubicBezTo>
                  <a:pt x="102" y="45"/>
                  <a:pt x="95" y="46"/>
                  <a:pt x="90" y="47"/>
                </a:cubicBezTo>
                <a:cubicBezTo>
                  <a:pt x="85" y="49"/>
                  <a:pt x="81" y="50"/>
                  <a:pt x="78" y="53"/>
                </a:cubicBezTo>
                <a:cubicBezTo>
                  <a:pt x="74" y="55"/>
                  <a:pt x="72" y="57"/>
                  <a:pt x="71" y="59"/>
                </a:cubicBezTo>
                <a:cubicBezTo>
                  <a:pt x="70" y="60"/>
                  <a:pt x="69" y="62"/>
                  <a:pt x="67" y="65"/>
                </a:cubicBezTo>
                <a:lnTo>
                  <a:pt x="66" y="68"/>
                </a:lnTo>
                <a:cubicBezTo>
                  <a:pt x="65" y="69"/>
                  <a:pt x="62" y="70"/>
                  <a:pt x="58" y="70"/>
                </a:cubicBezTo>
                <a:cubicBezTo>
                  <a:pt x="50" y="70"/>
                  <a:pt x="46" y="68"/>
                  <a:pt x="46" y="64"/>
                </a:cubicBezTo>
                <a:cubicBezTo>
                  <a:pt x="46" y="62"/>
                  <a:pt x="47" y="60"/>
                  <a:pt x="48" y="56"/>
                </a:cubicBezTo>
                <a:cubicBezTo>
                  <a:pt x="53" y="42"/>
                  <a:pt x="60" y="30"/>
                  <a:pt x="72" y="19"/>
                </a:cubicBezTo>
                <a:cubicBezTo>
                  <a:pt x="83" y="9"/>
                  <a:pt x="95" y="3"/>
                  <a:pt x="108" y="1"/>
                </a:cubicBezTo>
                <a:cubicBezTo>
                  <a:pt x="112" y="0"/>
                  <a:pt x="115" y="0"/>
                  <a:pt x="117" y="0"/>
                </a:cubicBezTo>
                <a:cubicBezTo>
                  <a:pt x="127" y="0"/>
                  <a:pt x="135" y="3"/>
                  <a:pt x="142" y="9"/>
                </a:cubicBezTo>
                <a:cubicBezTo>
                  <a:pt x="150" y="15"/>
                  <a:pt x="157" y="21"/>
                  <a:pt x="163" y="27"/>
                </a:cubicBezTo>
                <a:cubicBezTo>
                  <a:pt x="170" y="33"/>
                  <a:pt x="177" y="36"/>
                  <a:pt x="184" y="37"/>
                </a:cubicBezTo>
                <a:cubicBezTo>
                  <a:pt x="192" y="37"/>
                  <a:pt x="200" y="30"/>
                  <a:pt x="208" y="18"/>
                </a:cubicBezTo>
                <a:cubicBezTo>
                  <a:pt x="217" y="6"/>
                  <a:pt x="221" y="0"/>
                  <a:pt x="221" y="0"/>
                </a:cubicBezTo>
                <a:cubicBezTo>
                  <a:pt x="221" y="0"/>
                  <a:pt x="224" y="0"/>
                  <a:pt x="229" y="0"/>
                </a:cubicBezTo>
                <a:lnTo>
                  <a:pt x="237" y="0"/>
                </a:lnTo>
                <a:cubicBezTo>
                  <a:pt x="239" y="2"/>
                  <a:pt x="240" y="3"/>
                  <a:pt x="240" y="4"/>
                </a:cubicBezTo>
                <a:cubicBezTo>
                  <a:pt x="240" y="5"/>
                  <a:pt x="239" y="8"/>
                  <a:pt x="237" y="12"/>
                </a:cubicBezTo>
                <a:cubicBezTo>
                  <a:pt x="235" y="15"/>
                  <a:pt x="233" y="19"/>
                  <a:pt x="229" y="23"/>
                </a:cubicBezTo>
                <a:cubicBezTo>
                  <a:pt x="226" y="27"/>
                  <a:pt x="223" y="31"/>
                  <a:pt x="220" y="35"/>
                </a:cubicBezTo>
                <a:cubicBezTo>
                  <a:pt x="217" y="39"/>
                  <a:pt x="214" y="43"/>
                  <a:pt x="212" y="46"/>
                </a:cubicBezTo>
                <a:lnTo>
                  <a:pt x="208" y="51"/>
                </a:lnTo>
                <a:cubicBezTo>
                  <a:pt x="193" y="71"/>
                  <a:pt x="168" y="96"/>
                  <a:pt x="133" y="126"/>
                </a:cubicBezTo>
                <a:cubicBezTo>
                  <a:pt x="99" y="157"/>
                  <a:pt x="78" y="177"/>
                  <a:pt x="70" y="186"/>
                </a:cubicBezTo>
                <a:lnTo>
                  <a:pt x="63" y="193"/>
                </a:lnTo>
                <a:lnTo>
                  <a:pt x="72" y="193"/>
                </a:lnTo>
                <a:cubicBezTo>
                  <a:pt x="80" y="193"/>
                  <a:pt x="91" y="195"/>
                  <a:pt x="107" y="199"/>
                </a:cubicBezTo>
                <a:cubicBezTo>
                  <a:pt x="122" y="203"/>
                  <a:pt x="134" y="205"/>
                  <a:pt x="142" y="205"/>
                </a:cubicBezTo>
                <a:cubicBezTo>
                  <a:pt x="156" y="205"/>
                  <a:pt x="168" y="202"/>
                  <a:pt x="180" y="195"/>
                </a:cubicBezTo>
                <a:cubicBezTo>
                  <a:pt x="192" y="188"/>
                  <a:pt x="200" y="179"/>
                  <a:pt x="203" y="167"/>
                </a:cubicBezTo>
                <a:cubicBezTo>
                  <a:pt x="205" y="164"/>
                  <a:pt x="206" y="162"/>
                  <a:pt x="207" y="161"/>
                </a:cubicBezTo>
                <a:cubicBezTo>
                  <a:pt x="208" y="160"/>
                  <a:pt x="211" y="160"/>
                  <a:pt x="216" y="160"/>
                </a:cubicBezTo>
                <a:cubicBezTo>
                  <a:pt x="223" y="160"/>
                  <a:pt x="226" y="162"/>
                  <a:pt x="226" y="166"/>
                </a:cubicBezTo>
                <a:cubicBezTo>
                  <a:pt x="226" y="167"/>
                  <a:pt x="226" y="169"/>
                  <a:pt x="226" y="171"/>
                </a:cubicBezTo>
                <a:cubicBezTo>
                  <a:pt x="219" y="193"/>
                  <a:pt x="207" y="212"/>
                  <a:pt x="189" y="227"/>
                </a:cubicBezTo>
                <a:cubicBezTo>
                  <a:pt x="171" y="243"/>
                  <a:pt x="153" y="250"/>
                  <a:pt x="135" y="251"/>
                </a:cubicBezTo>
                <a:cubicBezTo>
                  <a:pt x="125" y="251"/>
                  <a:pt x="117" y="248"/>
                  <a:pt x="110" y="241"/>
                </a:cubicBezTo>
                <a:cubicBezTo>
                  <a:pt x="102" y="235"/>
                  <a:pt x="95" y="229"/>
                  <a:pt x="88" y="222"/>
                </a:cubicBezTo>
                <a:cubicBezTo>
                  <a:pt x="81" y="216"/>
                  <a:pt x="74" y="213"/>
                  <a:pt x="67" y="213"/>
                </a:cubicBezTo>
                <a:cubicBezTo>
                  <a:pt x="51" y="213"/>
                  <a:pt x="35" y="224"/>
                  <a:pt x="22" y="246"/>
                </a:cubicBezTo>
                <a:cubicBezTo>
                  <a:pt x="20" y="249"/>
                  <a:pt x="17" y="251"/>
                  <a:pt x="13" y="251"/>
                </a:cubicBezTo>
                <a:lnTo>
                  <a:pt x="10" y="251"/>
                </a:lnTo>
                <a:lnTo>
                  <a:pt x="3" y="251"/>
                </a:lnTo>
                <a:cubicBezTo>
                  <a:pt x="1" y="248"/>
                  <a:pt x="0" y="247"/>
                  <a:pt x="0" y="246"/>
                </a:cubicBezTo>
                <a:cubicBezTo>
                  <a:pt x="0" y="240"/>
                  <a:pt x="11" y="224"/>
                  <a:pt x="32" y="198"/>
                </a:cubicBezTo>
                <a:cubicBezTo>
                  <a:pt x="47" y="182"/>
                  <a:pt x="72" y="158"/>
                  <a:pt x="106" y="126"/>
                </a:cubicBezTo>
                <a:cubicBezTo>
                  <a:pt x="140" y="95"/>
                  <a:pt x="161" y="75"/>
                  <a:pt x="169" y="66"/>
                </a:cubicBezTo>
                <a:cubicBezTo>
                  <a:pt x="174" y="60"/>
                  <a:pt x="175" y="57"/>
                  <a:pt x="173" y="57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"/>
          <p:cNvSpPr/>
          <p:nvPr/>
        </p:nvSpPr>
        <p:spPr>
          <a:xfrm>
            <a:off x="7170840" y="3800880"/>
            <a:ext cx="86400" cy="90360"/>
          </a:xfrm>
          <a:custGeom>
            <a:avLst/>
            <a:gdLst/>
            <a:ahLst/>
            <a:rect l="0" t="0" r="r" b="b"/>
            <a:pathLst>
              <a:path fill="none" w="240" h="251">
                <a:moveTo>
                  <a:pt x="173" y="57"/>
                </a:moveTo>
                <a:cubicBezTo>
                  <a:pt x="169" y="57"/>
                  <a:pt x="160" y="55"/>
                  <a:pt x="144" y="51"/>
                </a:cubicBezTo>
                <a:cubicBezTo>
                  <a:pt x="128" y="47"/>
                  <a:pt x="116" y="45"/>
                  <a:pt x="109" y="45"/>
                </a:cubicBezTo>
                <a:cubicBezTo>
                  <a:pt x="102" y="45"/>
                  <a:pt x="95" y="46"/>
                  <a:pt x="90" y="47"/>
                </a:cubicBezTo>
                <a:cubicBezTo>
                  <a:pt x="85" y="49"/>
                  <a:pt x="81" y="50"/>
                  <a:pt x="78" y="53"/>
                </a:cubicBezTo>
                <a:cubicBezTo>
                  <a:pt x="74" y="55"/>
                  <a:pt x="72" y="57"/>
                  <a:pt x="71" y="59"/>
                </a:cubicBezTo>
                <a:cubicBezTo>
                  <a:pt x="70" y="60"/>
                  <a:pt x="69" y="62"/>
                  <a:pt x="67" y="65"/>
                </a:cubicBezTo>
                <a:lnTo>
                  <a:pt x="66" y="68"/>
                </a:lnTo>
                <a:cubicBezTo>
                  <a:pt x="65" y="69"/>
                  <a:pt x="62" y="70"/>
                  <a:pt x="58" y="70"/>
                </a:cubicBezTo>
                <a:cubicBezTo>
                  <a:pt x="50" y="70"/>
                  <a:pt x="46" y="68"/>
                  <a:pt x="46" y="64"/>
                </a:cubicBezTo>
                <a:cubicBezTo>
                  <a:pt x="46" y="62"/>
                  <a:pt x="47" y="60"/>
                  <a:pt x="48" y="56"/>
                </a:cubicBezTo>
                <a:cubicBezTo>
                  <a:pt x="53" y="42"/>
                  <a:pt x="60" y="30"/>
                  <a:pt x="72" y="19"/>
                </a:cubicBezTo>
                <a:cubicBezTo>
                  <a:pt x="83" y="9"/>
                  <a:pt x="95" y="3"/>
                  <a:pt x="108" y="1"/>
                </a:cubicBezTo>
                <a:cubicBezTo>
                  <a:pt x="112" y="0"/>
                  <a:pt x="115" y="0"/>
                  <a:pt x="117" y="0"/>
                </a:cubicBezTo>
                <a:cubicBezTo>
                  <a:pt x="127" y="0"/>
                  <a:pt x="135" y="3"/>
                  <a:pt x="142" y="9"/>
                </a:cubicBezTo>
                <a:cubicBezTo>
                  <a:pt x="150" y="15"/>
                  <a:pt x="157" y="21"/>
                  <a:pt x="163" y="27"/>
                </a:cubicBezTo>
                <a:cubicBezTo>
                  <a:pt x="170" y="33"/>
                  <a:pt x="177" y="36"/>
                  <a:pt x="184" y="37"/>
                </a:cubicBezTo>
                <a:cubicBezTo>
                  <a:pt x="192" y="37"/>
                  <a:pt x="200" y="30"/>
                  <a:pt x="208" y="18"/>
                </a:cubicBezTo>
                <a:cubicBezTo>
                  <a:pt x="217" y="6"/>
                  <a:pt x="221" y="0"/>
                  <a:pt x="221" y="0"/>
                </a:cubicBezTo>
                <a:cubicBezTo>
                  <a:pt x="221" y="0"/>
                  <a:pt x="224" y="0"/>
                  <a:pt x="229" y="0"/>
                </a:cubicBezTo>
                <a:lnTo>
                  <a:pt x="237" y="0"/>
                </a:lnTo>
                <a:cubicBezTo>
                  <a:pt x="239" y="2"/>
                  <a:pt x="240" y="3"/>
                  <a:pt x="240" y="4"/>
                </a:cubicBezTo>
                <a:cubicBezTo>
                  <a:pt x="240" y="5"/>
                  <a:pt x="239" y="8"/>
                  <a:pt x="237" y="12"/>
                </a:cubicBezTo>
                <a:cubicBezTo>
                  <a:pt x="235" y="15"/>
                  <a:pt x="233" y="19"/>
                  <a:pt x="229" y="23"/>
                </a:cubicBezTo>
                <a:cubicBezTo>
                  <a:pt x="226" y="27"/>
                  <a:pt x="223" y="31"/>
                  <a:pt x="220" y="35"/>
                </a:cubicBezTo>
                <a:cubicBezTo>
                  <a:pt x="217" y="39"/>
                  <a:pt x="214" y="43"/>
                  <a:pt x="212" y="46"/>
                </a:cubicBezTo>
                <a:lnTo>
                  <a:pt x="208" y="51"/>
                </a:lnTo>
                <a:cubicBezTo>
                  <a:pt x="193" y="71"/>
                  <a:pt x="168" y="96"/>
                  <a:pt x="133" y="126"/>
                </a:cubicBezTo>
                <a:cubicBezTo>
                  <a:pt x="99" y="157"/>
                  <a:pt x="78" y="177"/>
                  <a:pt x="70" y="186"/>
                </a:cubicBezTo>
                <a:lnTo>
                  <a:pt x="63" y="193"/>
                </a:lnTo>
                <a:lnTo>
                  <a:pt x="72" y="193"/>
                </a:lnTo>
                <a:cubicBezTo>
                  <a:pt x="80" y="193"/>
                  <a:pt x="91" y="195"/>
                  <a:pt x="107" y="199"/>
                </a:cubicBezTo>
                <a:cubicBezTo>
                  <a:pt x="122" y="203"/>
                  <a:pt x="134" y="205"/>
                  <a:pt x="142" y="205"/>
                </a:cubicBezTo>
                <a:cubicBezTo>
                  <a:pt x="156" y="205"/>
                  <a:pt x="168" y="202"/>
                  <a:pt x="180" y="195"/>
                </a:cubicBezTo>
                <a:cubicBezTo>
                  <a:pt x="192" y="188"/>
                  <a:pt x="200" y="179"/>
                  <a:pt x="203" y="167"/>
                </a:cubicBezTo>
                <a:cubicBezTo>
                  <a:pt x="205" y="164"/>
                  <a:pt x="206" y="162"/>
                  <a:pt x="207" y="161"/>
                </a:cubicBezTo>
                <a:cubicBezTo>
                  <a:pt x="208" y="160"/>
                  <a:pt x="211" y="160"/>
                  <a:pt x="216" y="160"/>
                </a:cubicBezTo>
                <a:cubicBezTo>
                  <a:pt x="223" y="160"/>
                  <a:pt x="226" y="162"/>
                  <a:pt x="226" y="166"/>
                </a:cubicBezTo>
                <a:cubicBezTo>
                  <a:pt x="226" y="167"/>
                  <a:pt x="226" y="169"/>
                  <a:pt x="226" y="171"/>
                </a:cubicBezTo>
                <a:cubicBezTo>
                  <a:pt x="219" y="193"/>
                  <a:pt x="207" y="212"/>
                  <a:pt x="189" y="227"/>
                </a:cubicBezTo>
                <a:cubicBezTo>
                  <a:pt x="171" y="243"/>
                  <a:pt x="153" y="250"/>
                  <a:pt x="135" y="251"/>
                </a:cubicBezTo>
                <a:cubicBezTo>
                  <a:pt x="125" y="251"/>
                  <a:pt x="117" y="248"/>
                  <a:pt x="110" y="241"/>
                </a:cubicBezTo>
                <a:cubicBezTo>
                  <a:pt x="102" y="235"/>
                  <a:pt x="95" y="229"/>
                  <a:pt x="88" y="222"/>
                </a:cubicBezTo>
                <a:cubicBezTo>
                  <a:pt x="81" y="216"/>
                  <a:pt x="74" y="213"/>
                  <a:pt x="67" y="213"/>
                </a:cubicBezTo>
                <a:cubicBezTo>
                  <a:pt x="51" y="213"/>
                  <a:pt x="35" y="224"/>
                  <a:pt x="22" y="246"/>
                </a:cubicBezTo>
                <a:cubicBezTo>
                  <a:pt x="20" y="249"/>
                  <a:pt x="17" y="251"/>
                  <a:pt x="13" y="251"/>
                </a:cubicBezTo>
                <a:lnTo>
                  <a:pt x="10" y="251"/>
                </a:lnTo>
                <a:lnTo>
                  <a:pt x="3" y="251"/>
                </a:lnTo>
                <a:cubicBezTo>
                  <a:pt x="1" y="248"/>
                  <a:pt x="0" y="247"/>
                  <a:pt x="0" y="246"/>
                </a:cubicBezTo>
                <a:cubicBezTo>
                  <a:pt x="0" y="240"/>
                  <a:pt x="11" y="224"/>
                  <a:pt x="32" y="198"/>
                </a:cubicBezTo>
                <a:cubicBezTo>
                  <a:pt x="47" y="182"/>
                  <a:pt x="72" y="158"/>
                  <a:pt x="106" y="126"/>
                </a:cubicBezTo>
                <a:cubicBezTo>
                  <a:pt x="140" y="95"/>
                  <a:pt x="161" y="75"/>
                  <a:pt x="169" y="66"/>
                </a:cubicBezTo>
                <a:cubicBezTo>
                  <a:pt x="174" y="60"/>
                  <a:pt x="175" y="57"/>
                  <a:pt x="173" y="57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"/>
          <p:cNvSpPr/>
          <p:nvPr/>
        </p:nvSpPr>
        <p:spPr>
          <a:xfrm>
            <a:off x="7497360" y="3723840"/>
            <a:ext cx="75600" cy="89640"/>
          </a:xfrm>
          <a:custGeom>
            <a:avLst/>
            <a:gdLst/>
            <a:ahLst/>
            <a:rect l="0" t="0" r="r" b="b"/>
            <a:pathLst>
              <a:path w="210" h="249">
                <a:moveTo>
                  <a:pt x="24" y="60"/>
                </a:moveTo>
                <a:cubicBezTo>
                  <a:pt x="24" y="59"/>
                  <a:pt x="24" y="58"/>
                  <a:pt x="25" y="57"/>
                </a:cubicBezTo>
                <a:cubicBezTo>
                  <a:pt x="25" y="56"/>
                  <a:pt x="26" y="53"/>
                  <a:pt x="27" y="49"/>
                </a:cubicBezTo>
                <a:cubicBezTo>
                  <a:pt x="28" y="44"/>
                  <a:pt x="29" y="40"/>
                  <a:pt x="30" y="36"/>
                </a:cubicBezTo>
                <a:cubicBezTo>
                  <a:pt x="32" y="33"/>
                  <a:pt x="34" y="28"/>
                  <a:pt x="36" y="24"/>
                </a:cubicBezTo>
                <a:cubicBezTo>
                  <a:pt x="39" y="19"/>
                  <a:pt x="41" y="15"/>
                  <a:pt x="44" y="12"/>
                </a:cubicBezTo>
                <a:cubicBezTo>
                  <a:pt x="47" y="9"/>
                  <a:pt x="50" y="6"/>
                  <a:pt x="54" y="3"/>
                </a:cubicBezTo>
                <a:cubicBezTo>
                  <a:pt x="58" y="0"/>
                  <a:pt x="62" y="-1"/>
                  <a:pt x="67" y="0"/>
                </a:cubicBezTo>
                <a:cubicBezTo>
                  <a:pt x="87" y="0"/>
                  <a:pt x="99" y="8"/>
                  <a:pt x="105" y="25"/>
                </a:cubicBezTo>
                <a:lnTo>
                  <a:pt x="109" y="21"/>
                </a:lnTo>
                <a:cubicBezTo>
                  <a:pt x="125" y="7"/>
                  <a:pt x="140" y="0"/>
                  <a:pt x="155" y="0"/>
                </a:cubicBezTo>
                <a:cubicBezTo>
                  <a:pt x="172" y="0"/>
                  <a:pt x="186" y="6"/>
                  <a:pt x="195" y="18"/>
                </a:cubicBezTo>
                <a:cubicBezTo>
                  <a:pt x="205" y="30"/>
                  <a:pt x="210" y="45"/>
                  <a:pt x="210" y="63"/>
                </a:cubicBezTo>
                <a:cubicBezTo>
                  <a:pt x="210" y="91"/>
                  <a:pt x="200" y="117"/>
                  <a:pt x="180" y="140"/>
                </a:cubicBezTo>
                <a:cubicBezTo>
                  <a:pt x="159" y="164"/>
                  <a:pt x="137" y="176"/>
                  <a:pt x="112" y="176"/>
                </a:cubicBezTo>
                <a:cubicBezTo>
                  <a:pt x="106" y="176"/>
                  <a:pt x="101" y="175"/>
                  <a:pt x="97" y="174"/>
                </a:cubicBezTo>
                <a:cubicBezTo>
                  <a:pt x="94" y="173"/>
                  <a:pt x="91" y="171"/>
                  <a:pt x="88" y="168"/>
                </a:cubicBezTo>
                <a:cubicBezTo>
                  <a:pt x="85" y="165"/>
                  <a:pt x="82" y="163"/>
                  <a:pt x="80" y="161"/>
                </a:cubicBezTo>
                <a:lnTo>
                  <a:pt x="78" y="158"/>
                </a:lnTo>
                <a:cubicBezTo>
                  <a:pt x="77" y="158"/>
                  <a:pt x="75" y="170"/>
                  <a:pt x="69" y="192"/>
                </a:cubicBezTo>
                <a:cubicBezTo>
                  <a:pt x="64" y="216"/>
                  <a:pt x="61" y="227"/>
                  <a:pt x="61" y="227"/>
                </a:cubicBezTo>
                <a:cubicBezTo>
                  <a:pt x="61" y="229"/>
                  <a:pt x="62" y="230"/>
                  <a:pt x="64" y="230"/>
                </a:cubicBezTo>
                <a:cubicBezTo>
                  <a:pt x="66" y="230"/>
                  <a:pt x="71" y="231"/>
                  <a:pt x="78" y="231"/>
                </a:cubicBezTo>
                <a:lnTo>
                  <a:pt x="88" y="231"/>
                </a:lnTo>
                <a:cubicBezTo>
                  <a:pt x="90" y="233"/>
                  <a:pt x="91" y="234"/>
                  <a:pt x="91" y="235"/>
                </a:cubicBezTo>
                <a:cubicBezTo>
                  <a:pt x="91" y="235"/>
                  <a:pt x="90" y="237"/>
                  <a:pt x="89" y="242"/>
                </a:cubicBezTo>
                <a:cubicBezTo>
                  <a:pt x="89" y="245"/>
                  <a:pt x="88" y="247"/>
                  <a:pt x="87" y="247"/>
                </a:cubicBezTo>
                <a:cubicBezTo>
                  <a:pt x="86" y="248"/>
                  <a:pt x="85" y="249"/>
                  <a:pt x="82" y="249"/>
                </a:cubicBezTo>
                <a:cubicBezTo>
                  <a:pt x="81" y="249"/>
                  <a:pt x="80" y="249"/>
                  <a:pt x="78" y="249"/>
                </a:cubicBezTo>
                <a:cubicBezTo>
                  <a:pt x="75" y="249"/>
                  <a:pt x="71" y="249"/>
                  <a:pt x="64" y="249"/>
                </a:cubicBezTo>
                <a:cubicBezTo>
                  <a:pt x="58" y="248"/>
                  <a:pt x="50" y="248"/>
                  <a:pt x="40" y="248"/>
                </a:cubicBezTo>
                <a:cubicBezTo>
                  <a:pt x="22" y="248"/>
                  <a:pt x="10" y="248"/>
                  <a:pt x="5" y="249"/>
                </a:cubicBezTo>
                <a:lnTo>
                  <a:pt x="2" y="249"/>
                </a:lnTo>
                <a:cubicBezTo>
                  <a:pt x="1" y="247"/>
                  <a:pt x="0" y="246"/>
                  <a:pt x="0" y="245"/>
                </a:cubicBezTo>
                <a:cubicBezTo>
                  <a:pt x="0" y="238"/>
                  <a:pt x="2" y="233"/>
                  <a:pt x="5" y="231"/>
                </a:cubicBezTo>
                <a:lnTo>
                  <a:pt x="13" y="231"/>
                </a:lnTo>
                <a:cubicBezTo>
                  <a:pt x="21" y="231"/>
                  <a:pt x="26" y="229"/>
                  <a:pt x="28" y="226"/>
                </a:cubicBezTo>
                <a:cubicBezTo>
                  <a:pt x="29" y="225"/>
                  <a:pt x="36" y="193"/>
                  <a:pt x="52" y="132"/>
                </a:cubicBezTo>
                <a:cubicBezTo>
                  <a:pt x="67" y="71"/>
                  <a:pt x="75" y="39"/>
                  <a:pt x="75" y="36"/>
                </a:cubicBezTo>
                <a:cubicBezTo>
                  <a:pt x="76" y="34"/>
                  <a:pt x="76" y="33"/>
                  <a:pt x="76" y="30"/>
                </a:cubicBezTo>
                <a:cubicBezTo>
                  <a:pt x="76" y="20"/>
                  <a:pt x="72" y="14"/>
                  <a:pt x="66" y="14"/>
                </a:cubicBezTo>
                <a:cubicBezTo>
                  <a:pt x="60" y="14"/>
                  <a:pt x="55" y="18"/>
                  <a:pt x="52" y="25"/>
                </a:cubicBezTo>
                <a:cubicBezTo>
                  <a:pt x="48" y="32"/>
                  <a:pt x="45" y="40"/>
                  <a:pt x="43" y="49"/>
                </a:cubicBezTo>
                <a:cubicBezTo>
                  <a:pt x="40" y="57"/>
                  <a:pt x="39" y="62"/>
                  <a:pt x="38" y="63"/>
                </a:cubicBezTo>
                <a:cubicBezTo>
                  <a:pt x="37" y="63"/>
                  <a:pt x="35" y="64"/>
                  <a:pt x="32" y="64"/>
                </a:cubicBezTo>
                <a:lnTo>
                  <a:pt x="26" y="64"/>
                </a:lnTo>
                <a:cubicBezTo>
                  <a:pt x="25" y="62"/>
                  <a:pt x="24" y="61"/>
                  <a:pt x="24" y="60"/>
                </a:cubicBezTo>
                <a:moveTo>
                  <a:pt x="84" y="132"/>
                </a:moveTo>
                <a:cubicBezTo>
                  <a:pt x="90" y="152"/>
                  <a:pt x="100" y="162"/>
                  <a:pt x="113" y="162"/>
                </a:cubicBezTo>
                <a:cubicBezTo>
                  <a:pt x="121" y="162"/>
                  <a:pt x="129" y="159"/>
                  <a:pt x="136" y="153"/>
                </a:cubicBezTo>
                <a:cubicBezTo>
                  <a:pt x="143" y="147"/>
                  <a:pt x="149" y="140"/>
                  <a:pt x="154" y="130"/>
                </a:cubicBezTo>
                <a:cubicBezTo>
                  <a:pt x="158" y="122"/>
                  <a:pt x="163" y="108"/>
                  <a:pt x="168" y="88"/>
                </a:cubicBezTo>
                <a:cubicBezTo>
                  <a:pt x="173" y="69"/>
                  <a:pt x="175" y="55"/>
                  <a:pt x="175" y="45"/>
                </a:cubicBezTo>
                <a:lnTo>
                  <a:pt x="175" y="43"/>
                </a:lnTo>
                <a:cubicBezTo>
                  <a:pt x="175" y="24"/>
                  <a:pt x="167" y="14"/>
                  <a:pt x="151" y="14"/>
                </a:cubicBezTo>
                <a:cubicBezTo>
                  <a:pt x="149" y="14"/>
                  <a:pt x="146" y="15"/>
                  <a:pt x="143" y="15"/>
                </a:cubicBezTo>
                <a:cubicBezTo>
                  <a:pt x="140" y="16"/>
                  <a:pt x="137" y="17"/>
                  <a:pt x="134" y="19"/>
                </a:cubicBezTo>
                <a:cubicBezTo>
                  <a:pt x="131" y="20"/>
                  <a:pt x="129" y="22"/>
                  <a:pt x="126" y="24"/>
                </a:cubicBezTo>
                <a:cubicBezTo>
                  <a:pt x="124" y="26"/>
                  <a:pt x="122" y="28"/>
                  <a:pt x="120" y="30"/>
                </a:cubicBezTo>
                <a:cubicBezTo>
                  <a:pt x="118" y="32"/>
                  <a:pt x="116" y="34"/>
                  <a:pt x="114" y="36"/>
                </a:cubicBezTo>
                <a:cubicBezTo>
                  <a:pt x="112" y="37"/>
                  <a:pt x="111" y="39"/>
                  <a:pt x="110" y="41"/>
                </a:cubicBezTo>
                <a:cubicBezTo>
                  <a:pt x="109" y="43"/>
                  <a:pt x="108" y="44"/>
                  <a:pt x="107" y="45"/>
                </a:cubicBezTo>
                <a:lnTo>
                  <a:pt x="105" y="47"/>
                </a:lnTo>
                <a:cubicBezTo>
                  <a:pt x="105" y="47"/>
                  <a:pt x="105" y="49"/>
                  <a:pt x="104" y="52"/>
                </a:cubicBezTo>
                <a:cubicBezTo>
                  <a:pt x="103" y="55"/>
                  <a:pt x="102" y="61"/>
                  <a:pt x="100" y="69"/>
                </a:cubicBezTo>
                <a:cubicBezTo>
                  <a:pt x="98" y="77"/>
                  <a:pt x="96" y="84"/>
                  <a:pt x="94" y="90"/>
                </a:cubicBezTo>
                <a:cubicBezTo>
                  <a:pt x="88" y="117"/>
                  <a:pt x="84" y="131"/>
                  <a:pt x="84" y="132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/>
          <p:nvPr/>
        </p:nvSpPr>
        <p:spPr>
          <a:xfrm>
            <a:off x="7497360" y="3723840"/>
            <a:ext cx="75600" cy="89640"/>
          </a:xfrm>
          <a:custGeom>
            <a:avLst/>
            <a:gdLst/>
            <a:ahLst/>
            <a:rect l="0" t="0" r="r" b="b"/>
            <a:pathLst>
              <a:path fill="none" w="210" h="249">
                <a:moveTo>
                  <a:pt x="24" y="60"/>
                </a:moveTo>
                <a:cubicBezTo>
                  <a:pt x="24" y="59"/>
                  <a:pt x="24" y="58"/>
                  <a:pt x="25" y="57"/>
                </a:cubicBezTo>
                <a:cubicBezTo>
                  <a:pt x="25" y="56"/>
                  <a:pt x="26" y="53"/>
                  <a:pt x="27" y="49"/>
                </a:cubicBezTo>
                <a:cubicBezTo>
                  <a:pt x="28" y="44"/>
                  <a:pt x="29" y="40"/>
                  <a:pt x="30" y="36"/>
                </a:cubicBezTo>
                <a:cubicBezTo>
                  <a:pt x="32" y="33"/>
                  <a:pt x="34" y="28"/>
                  <a:pt x="36" y="24"/>
                </a:cubicBezTo>
                <a:cubicBezTo>
                  <a:pt x="39" y="19"/>
                  <a:pt x="41" y="15"/>
                  <a:pt x="44" y="12"/>
                </a:cubicBezTo>
                <a:cubicBezTo>
                  <a:pt x="47" y="9"/>
                  <a:pt x="50" y="6"/>
                  <a:pt x="54" y="3"/>
                </a:cubicBezTo>
                <a:cubicBezTo>
                  <a:pt x="58" y="0"/>
                  <a:pt x="62" y="-1"/>
                  <a:pt x="67" y="0"/>
                </a:cubicBezTo>
                <a:cubicBezTo>
                  <a:pt x="87" y="0"/>
                  <a:pt x="99" y="8"/>
                  <a:pt x="105" y="25"/>
                </a:cubicBezTo>
                <a:lnTo>
                  <a:pt x="109" y="21"/>
                </a:lnTo>
                <a:cubicBezTo>
                  <a:pt x="125" y="7"/>
                  <a:pt x="140" y="0"/>
                  <a:pt x="155" y="0"/>
                </a:cubicBezTo>
                <a:cubicBezTo>
                  <a:pt x="172" y="0"/>
                  <a:pt x="186" y="6"/>
                  <a:pt x="195" y="18"/>
                </a:cubicBezTo>
                <a:cubicBezTo>
                  <a:pt x="205" y="30"/>
                  <a:pt x="210" y="45"/>
                  <a:pt x="210" y="63"/>
                </a:cubicBezTo>
                <a:cubicBezTo>
                  <a:pt x="210" y="91"/>
                  <a:pt x="200" y="117"/>
                  <a:pt x="180" y="140"/>
                </a:cubicBezTo>
                <a:cubicBezTo>
                  <a:pt x="159" y="164"/>
                  <a:pt x="137" y="176"/>
                  <a:pt x="112" y="176"/>
                </a:cubicBezTo>
                <a:cubicBezTo>
                  <a:pt x="106" y="176"/>
                  <a:pt x="101" y="175"/>
                  <a:pt x="97" y="174"/>
                </a:cubicBezTo>
                <a:cubicBezTo>
                  <a:pt x="94" y="173"/>
                  <a:pt x="91" y="171"/>
                  <a:pt x="88" y="168"/>
                </a:cubicBezTo>
                <a:cubicBezTo>
                  <a:pt x="85" y="165"/>
                  <a:pt x="82" y="163"/>
                  <a:pt x="80" y="161"/>
                </a:cubicBezTo>
                <a:lnTo>
                  <a:pt x="78" y="158"/>
                </a:lnTo>
                <a:cubicBezTo>
                  <a:pt x="77" y="158"/>
                  <a:pt x="75" y="170"/>
                  <a:pt x="69" y="192"/>
                </a:cubicBezTo>
                <a:cubicBezTo>
                  <a:pt x="64" y="216"/>
                  <a:pt x="61" y="227"/>
                  <a:pt x="61" y="227"/>
                </a:cubicBezTo>
                <a:cubicBezTo>
                  <a:pt x="61" y="229"/>
                  <a:pt x="62" y="230"/>
                  <a:pt x="64" y="230"/>
                </a:cubicBezTo>
                <a:cubicBezTo>
                  <a:pt x="66" y="230"/>
                  <a:pt x="71" y="231"/>
                  <a:pt x="78" y="231"/>
                </a:cubicBezTo>
                <a:lnTo>
                  <a:pt x="88" y="231"/>
                </a:lnTo>
                <a:cubicBezTo>
                  <a:pt x="90" y="233"/>
                  <a:pt x="91" y="234"/>
                  <a:pt x="91" y="235"/>
                </a:cubicBezTo>
                <a:cubicBezTo>
                  <a:pt x="91" y="235"/>
                  <a:pt x="90" y="237"/>
                  <a:pt x="89" y="242"/>
                </a:cubicBezTo>
                <a:cubicBezTo>
                  <a:pt x="89" y="245"/>
                  <a:pt x="88" y="247"/>
                  <a:pt x="87" y="247"/>
                </a:cubicBezTo>
                <a:cubicBezTo>
                  <a:pt x="86" y="248"/>
                  <a:pt x="85" y="249"/>
                  <a:pt x="82" y="249"/>
                </a:cubicBezTo>
                <a:cubicBezTo>
                  <a:pt x="81" y="249"/>
                  <a:pt x="80" y="249"/>
                  <a:pt x="78" y="249"/>
                </a:cubicBezTo>
                <a:cubicBezTo>
                  <a:pt x="75" y="249"/>
                  <a:pt x="71" y="249"/>
                  <a:pt x="64" y="249"/>
                </a:cubicBezTo>
                <a:cubicBezTo>
                  <a:pt x="58" y="248"/>
                  <a:pt x="50" y="248"/>
                  <a:pt x="40" y="248"/>
                </a:cubicBezTo>
                <a:cubicBezTo>
                  <a:pt x="22" y="248"/>
                  <a:pt x="10" y="248"/>
                  <a:pt x="5" y="249"/>
                </a:cubicBezTo>
                <a:lnTo>
                  <a:pt x="2" y="249"/>
                </a:lnTo>
                <a:cubicBezTo>
                  <a:pt x="1" y="247"/>
                  <a:pt x="0" y="246"/>
                  <a:pt x="0" y="245"/>
                </a:cubicBezTo>
                <a:cubicBezTo>
                  <a:pt x="0" y="238"/>
                  <a:pt x="2" y="233"/>
                  <a:pt x="5" y="231"/>
                </a:cubicBezTo>
                <a:lnTo>
                  <a:pt x="13" y="231"/>
                </a:lnTo>
                <a:cubicBezTo>
                  <a:pt x="21" y="231"/>
                  <a:pt x="26" y="229"/>
                  <a:pt x="28" y="226"/>
                </a:cubicBezTo>
                <a:cubicBezTo>
                  <a:pt x="29" y="225"/>
                  <a:pt x="36" y="193"/>
                  <a:pt x="52" y="132"/>
                </a:cubicBezTo>
                <a:cubicBezTo>
                  <a:pt x="67" y="71"/>
                  <a:pt x="75" y="39"/>
                  <a:pt x="75" y="36"/>
                </a:cubicBezTo>
                <a:cubicBezTo>
                  <a:pt x="76" y="34"/>
                  <a:pt x="76" y="33"/>
                  <a:pt x="76" y="30"/>
                </a:cubicBezTo>
                <a:cubicBezTo>
                  <a:pt x="76" y="20"/>
                  <a:pt x="72" y="14"/>
                  <a:pt x="66" y="14"/>
                </a:cubicBezTo>
                <a:cubicBezTo>
                  <a:pt x="60" y="14"/>
                  <a:pt x="55" y="18"/>
                  <a:pt x="52" y="25"/>
                </a:cubicBezTo>
                <a:cubicBezTo>
                  <a:pt x="48" y="32"/>
                  <a:pt x="45" y="40"/>
                  <a:pt x="43" y="49"/>
                </a:cubicBezTo>
                <a:cubicBezTo>
                  <a:pt x="40" y="57"/>
                  <a:pt x="39" y="62"/>
                  <a:pt x="38" y="63"/>
                </a:cubicBezTo>
                <a:cubicBezTo>
                  <a:pt x="37" y="63"/>
                  <a:pt x="35" y="64"/>
                  <a:pt x="32" y="64"/>
                </a:cubicBezTo>
                <a:lnTo>
                  <a:pt x="26" y="64"/>
                </a:lnTo>
                <a:cubicBezTo>
                  <a:pt x="25" y="62"/>
                  <a:pt x="24" y="61"/>
                  <a:pt x="24" y="60"/>
                </a:cubicBezTo>
                <a:moveTo>
                  <a:pt x="84" y="132"/>
                </a:moveTo>
                <a:cubicBezTo>
                  <a:pt x="90" y="152"/>
                  <a:pt x="100" y="162"/>
                  <a:pt x="113" y="162"/>
                </a:cubicBezTo>
                <a:cubicBezTo>
                  <a:pt x="121" y="162"/>
                  <a:pt x="129" y="159"/>
                  <a:pt x="136" y="153"/>
                </a:cubicBezTo>
                <a:cubicBezTo>
                  <a:pt x="143" y="147"/>
                  <a:pt x="149" y="140"/>
                  <a:pt x="154" y="130"/>
                </a:cubicBezTo>
                <a:cubicBezTo>
                  <a:pt x="158" y="122"/>
                  <a:pt x="163" y="108"/>
                  <a:pt x="168" y="88"/>
                </a:cubicBezTo>
                <a:cubicBezTo>
                  <a:pt x="173" y="69"/>
                  <a:pt x="175" y="55"/>
                  <a:pt x="175" y="45"/>
                </a:cubicBezTo>
                <a:lnTo>
                  <a:pt x="175" y="43"/>
                </a:lnTo>
                <a:cubicBezTo>
                  <a:pt x="175" y="24"/>
                  <a:pt x="167" y="14"/>
                  <a:pt x="151" y="14"/>
                </a:cubicBezTo>
                <a:cubicBezTo>
                  <a:pt x="149" y="14"/>
                  <a:pt x="146" y="15"/>
                  <a:pt x="143" y="15"/>
                </a:cubicBezTo>
                <a:cubicBezTo>
                  <a:pt x="140" y="16"/>
                  <a:pt x="137" y="17"/>
                  <a:pt x="134" y="19"/>
                </a:cubicBezTo>
                <a:cubicBezTo>
                  <a:pt x="131" y="20"/>
                  <a:pt x="129" y="22"/>
                  <a:pt x="126" y="24"/>
                </a:cubicBezTo>
                <a:cubicBezTo>
                  <a:pt x="124" y="26"/>
                  <a:pt x="122" y="28"/>
                  <a:pt x="120" y="30"/>
                </a:cubicBezTo>
                <a:cubicBezTo>
                  <a:pt x="118" y="32"/>
                  <a:pt x="116" y="34"/>
                  <a:pt x="114" y="36"/>
                </a:cubicBezTo>
                <a:cubicBezTo>
                  <a:pt x="112" y="37"/>
                  <a:pt x="111" y="39"/>
                  <a:pt x="110" y="41"/>
                </a:cubicBezTo>
                <a:cubicBezTo>
                  <a:pt x="109" y="43"/>
                  <a:pt x="108" y="44"/>
                  <a:pt x="107" y="45"/>
                </a:cubicBezTo>
                <a:lnTo>
                  <a:pt x="105" y="47"/>
                </a:lnTo>
                <a:cubicBezTo>
                  <a:pt x="105" y="47"/>
                  <a:pt x="105" y="49"/>
                  <a:pt x="104" y="52"/>
                </a:cubicBezTo>
                <a:cubicBezTo>
                  <a:pt x="103" y="55"/>
                  <a:pt x="102" y="61"/>
                  <a:pt x="100" y="69"/>
                </a:cubicBezTo>
                <a:cubicBezTo>
                  <a:pt x="98" y="77"/>
                  <a:pt x="96" y="84"/>
                  <a:pt x="94" y="90"/>
                </a:cubicBezTo>
                <a:cubicBezTo>
                  <a:pt x="88" y="117"/>
                  <a:pt x="84" y="131"/>
                  <a:pt x="84" y="132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"/>
          <p:cNvSpPr/>
          <p:nvPr/>
        </p:nvSpPr>
        <p:spPr>
          <a:xfrm>
            <a:off x="7586640" y="3680640"/>
            <a:ext cx="33840" cy="140760"/>
          </a:xfrm>
          <a:custGeom>
            <a:avLst/>
            <a:gdLst/>
            <a:ahLst/>
            <a:rect l="0" t="0" r="r" b="b"/>
            <a:pathLst>
              <a:path w="94" h="391">
                <a:moveTo>
                  <a:pt x="0" y="196"/>
                </a:moveTo>
                <a:cubicBezTo>
                  <a:pt x="0" y="178"/>
                  <a:pt x="1" y="161"/>
                  <a:pt x="4" y="145"/>
                </a:cubicBezTo>
                <a:cubicBezTo>
                  <a:pt x="6" y="128"/>
                  <a:pt x="9" y="114"/>
                  <a:pt x="13" y="102"/>
                </a:cubicBezTo>
                <a:cubicBezTo>
                  <a:pt x="16" y="90"/>
                  <a:pt x="21" y="79"/>
                  <a:pt x="27" y="67"/>
                </a:cubicBezTo>
                <a:cubicBezTo>
                  <a:pt x="33" y="56"/>
                  <a:pt x="38" y="48"/>
                  <a:pt x="42" y="41"/>
                </a:cubicBezTo>
                <a:cubicBezTo>
                  <a:pt x="46" y="35"/>
                  <a:pt x="51" y="28"/>
                  <a:pt x="58" y="21"/>
                </a:cubicBezTo>
                <a:cubicBezTo>
                  <a:pt x="66" y="14"/>
                  <a:pt x="70" y="9"/>
                  <a:pt x="71" y="8"/>
                </a:cubicBezTo>
                <a:cubicBezTo>
                  <a:pt x="73" y="6"/>
                  <a:pt x="76" y="3"/>
                  <a:pt x="81" y="0"/>
                </a:cubicBezTo>
                <a:lnTo>
                  <a:pt x="87" y="0"/>
                </a:lnTo>
                <a:lnTo>
                  <a:pt x="89" y="0"/>
                </a:lnTo>
                <a:cubicBezTo>
                  <a:pt x="92" y="0"/>
                  <a:pt x="94" y="1"/>
                  <a:pt x="94" y="3"/>
                </a:cubicBezTo>
                <a:cubicBezTo>
                  <a:pt x="94" y="4"/>
                  <a:pt x="92" y="7"/>
                  <a:pt x="88" y="11"/>
                </a:cubicBezTo>
                <a:cubicBezTo>
                  <a:pt x="82" y="16"/>
                  <a:pt x="77" y="23"/>
                  <a:pt x="71" y="32"/>
                </a:cubicBezTo>
                <a:cubicBezTo>
                  <a:pt x="64" y="41"/>
                  <a:pt x="58" y="52"/>
                  <a:pt x="51" y="65"/>
                </a:cubicBezTo>
                <a:cubicBezTo>
                  <a:pt x="45" y="79"/>
                  <a:pt x="39" y="97"/>
                  <a:pt x="35" y="120"/>
                </a:cubicBezTo>
                <a:cubicBezTo>
                  <a:pt x="31" y="143"/>
                  <a:pt x="28" y="168"/>
                  <a:pt x="28" y="196"/>
                </a:cubicBezTo>
                <a:cubicBezTo>
                  <a:pt x="28" y="223"/>
                  <a:pt x="31" y="248"/>
                  <a:pt x="35" y="271"/>
                </a:cubicBezTo>
                <a:cubicBezTo>
                  <a:pt x="39" y="293"/>
                  <a:pt x="45" y="311"/>
                  <a:pt x="51" y="325"/>
                </a:cubicBezTo>
                <a:cubicBezTo>
                  <a:pt x="57" y="339"/>
                  <a:pt x="64" y="350"/>
                  <a:pt x="70" y="358"/>
                </a:cubicBezTo>
                <a:cubicBezTo>
                  <a:pt x="77" y="367"/>
                  <a:pt x="82" y="374"/>
                  <a:pt x="88" y="379"/>
                </a:cubicBezTo>
                <a:cubicBezTo>
                  <a:pt x="92" y="384"/>
                  <a:pt x="94" y="387"/>
                  <a:pt x="94" y="387"/>
                </a:cubicBezTo>
                <a:cubicBezTo>
                  <a:pt x="94" y="390"/>
                  <a:pt x="92" y="391"/>
                  <a:pt x="88" y="391"/>
                </a:cubicBezTo>
                <a:lnTo>
                  <a:pt x="87" y="391"/>
                </a:lnTo>
                <a:lnTo>
                  <a:pt x="81" y="391"/>
                </a:lnTo>
                <a:lnTo>
                  <a:pt x="70" y="381"/>
                </a:lnTo>
                <a:cubicBezTo>
                  <a:pt x="46" y="359"/>
                  <a:pt x="28" y="332"/>
                  <a:pt x="17" y="299"/>
                </a:cubicBezTo>
                <a:cubicBezTo>
                  <a:pt x="5" y="266"/>
                  <a:pt x="0" y="231"/>
                  <a:pt x="0" y="196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/>
          <p:nvPr/>
        </p:nvSpPr>
        <p:spPr>
          <a:xfrm>
            <a:off x="7586640" y="3680640"/>
            <a:ext cx="33840" cy="140760"/>
          </a:xfrm>
          <a:custGeom>
            <a:avLst/>
            <a:gdLst/>
            <a:ahLst/>
            <a:rect l="0" t="0" r="r" b="b"/>
            <a:pathLst>
              <a:path fill="none" w="94" h="391">
                <a:moveTo>
                  <a:pt x="0" y="196"/>
                </a:moveTo>
                <a:cubicBezTo>
                  <a:pt x="0" y="178"/>
                  <a:pt x="1" y="161"/>
                  <a:pt x="4" y="145"/>
                </a:cubicBezTo>
                <a:cubicBezTo>
                  <a:pt x="6" y="128"/>
                  <a:pt x="9" y="114"/>
                  <a:pt x="13" y="102"/>
                </a:cubicBezTo>
                <a:cubicBezTo>
                  <a:pt x="16" y="90"/>
                  <a:pt x="21" y="79"/>
                  <a:pt x="27" y="67"/>
                </a:cubicBezTo>
                <a:cubicBezTo>
                  <a:pt x="33" y="56"/>
                  <a:pt x="38" y="48"/>
                  <a:pt x="42" y="41"/>
                </a:cubicBezTo>
                <a:cubicBezTo>
                  <a:pt x="46" y="35"/>
                  <a:pt x="51" y="28"/>
                  <a:pt x="58" y="21"/>
                </a:cubicBezTo>
                <a:cubicBezTo>
                  <a:pt x="66" y="14"/>
                  <a:pt x="70" y="9"/>
                  <a:pt x="71" y="8"/>
                </a:cubicBezTo>
                <a:cubicBezTo>
                  <a:pt x="73" y="6"/>
                  <a:pt x="76" y="3"/>
                  <a:pt x="81" y="0"/>
                </a:cubicBezTo>
                <a:lnTo>
                  <a:pt x="87" y="0"/>
                </a:lnTo>
                <a:lnTo>
                  <a:pt x="89" y="0"/>
                </a:lnTo>
                <a:cubicBezTo>
                  <a:pt x="92" y="0"/>
                  <a:pt x="94" y="1"/>
                  <a:pt x="94" y="3"/>
                </a:cubicBezTo>
                <a:cubicBezTo>
                  <a:pt x="94" y="4"/>
                  <a:pt x="92" y="7"/>
                  <a:pt x="88" y="11"/>
                </a:cubicBezTo>
                <a:cubicBezTo>
                  <a:pt x="82" y="16"/>
                  <a:pt x="77" y="23"/>
                  <a:pt x="71" y="32"/>
                </a:cubicBezTo>
                <a:cubicBezTo>
                  <a:pt x="64" y="41"/>
                  <a:pt x="58" y="52"/>
                  <a:pt x="51" y="65"/>
                </a:cubicBezTo>
                <a:cubicBezTo>
                  <a:pt x="45" y="79"/>
                  <a:pt x="39" y="97"/>
                  <a:pt x="35" y="120"/>
                </a:cubicBezTo>
                <a:cubicBezTo>
                  <a:pt x="31" y="143"/>
                  <a:pt x="28" y="168"/>
                  <a:pt x="28" y="196"/>
                </a:cubicBezTo>
                <a:cubicBezTo>
                  <a:pt x="28" y="223"/>
                  <a:pt x="31" y="248"/>
                  <a:pt x="35" y="271"/>
                </a:cubicBezTo>
                <a:cubicBezTo>
                  <a:pt x="39" y="293"/>
                  <a:pt x="45" y="311"/>
                  <a:pt x="51" y="325"/>
                </a:cubicBezTo>
                <a:cubicBezTo>
                  <a:pt x="57" y="339"/>
                  <a:pt x="64" y="350"/>
                  <a:pt x="70" y="358"/>
                </a:cubicBezTo>
                <a:cubicBezTo>
                  <a:pt x="77" y="367"/>
                  <a:pt x="82" y="374"/>
                  <a:pt x="88" y="379"/>
                </a:cubicBezTo>
                <a:cubicBezTo>
                  <a:pt x="92" y="384"/>
                  <a:pt x="94" y="387"/>
                  <a:pt x="94" y="387"/>
                </a:cubicBezTo>
                <a:cubicBezTo>
                  <a:pt x="94" y="390"/>
                  <a:pt x="92" y="391"/>
                  <a:pt x="88" y="391"/>
                </a:cubicBezTo>
                <a:lnTo>
                  <a:pt x="87" y="391"/>
                </a:lnTo>
                <a:lnTo>
                  <a:pt x="81" y="391"/>
                </a:lnTo>
                <a:lnTo>
                  <a:pt x="70" y="381"/>
                </a:lnTo>
                <a:cubicBezTo>
                  <a:pt x="46" y="359"/>
                  <a:pt x="28" y="332"/>
                  <a:pt x="17" y="299"/>
                </a:cubicBezTo>
                <a:cubicBezTo>
                  <a:pt x="5" y="266"/>
                  <a:pt x="0" y="231"/>
                  <a:pt x="0" y="196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/>
          <p:nvPr/>
        </p:nvSpPr>
        <p:spPr>
          <a:xfrm>
            <a:off x="7639560" y="3692160"/>
            <a:ext cx="48960" cy="93960"/>
          </a:xfrm>
          <a:custGeom>
            <a:avLst/>
            <a:gdLst/>
            <a:ahLst/>
            <a:rect l="0" t="0" r="r" b="b"/>
            <a:pathLst>
              <a:path w="136" h="261">
                <a:moveTo>
                  <a:pt x="52" y="35"/>
                </a:moveTo>
                <a:lnTo>
                  <a:pt x="47" y="37"/>
                </a:lnTo>
                <a:cubicBezTo>
                  <a:pt x="43" y="38"/>
                  <a:pt x="38" y="39"/>
                  <a:pt x="31" y="40"/>
                </a:cubicBezTo>
                <a:cubicBezTo>
                  <a:pt x="25" y="42"/>
                  <a:pt x="16" y="43"/>
                  <a:pt x="8" y="43"/>
                </a:cubicBezTo>
                <a:lnTo>
                  <a:pt x="0" y="43"/>
                </a:lnTo>
                <a:lnTo>
                  <a:pt x="0" y="25"/>
                </a:lnTo>
                <a:lnTo>
                  <a:pt x="8" y="25"/>
                </a:lnTo>
                <a:cubicBezTo>
                  <a:pt x="21" y="25"/>
                  <a:pt x="32" y="23"/>
                  <a:pt x="43" y="19"/>
                </a:cubicBezTo>
                <a:cubicBezTo>
                  <a:pt x="53" y="16"/>
                  <a:pt x="60" y="13"/>
                  <a:pt x="65" y="10"/>
                </a:cubicBezTo>
                <a:cubicBezTo>
                  <a:pt x="69" y="7"/>
                  <a:pt x="72" y="4"/>
                  <a:pt x="76" y="1"/>
                </a:cubicBezTo>
                <a:cubicBezTo>
                  <a:pt x="76" y="1"/>
                  <a:pt x="78" y="0"/>
                  <a:pt x="80" y="0"/>
                </a:cubicBezTo>
                <a:cubicBezTo>
                  <a:pt x="83" y="0"/>
                  <a:pt x="85" y="1"/>
                  <a:pt x="87" y="3"/>
                </a:cubicBezTo>
                <a:lnTo>
                  <a:pt x="87" y="119"/>
                </a:lnTo>
                <a:lnTo>
                  <a:pt x="87" y="237"/>
                </a:lnTo>
                <a:cubicBezTo>
                  <a:pt x="89" y="239"/>
                  <a:pt x="91" y="240"/>
                  <a:pt x="92" y="241"/>
                </a:cubicBezTo>
                <a:cubicBezTo>
                  <a:pt x="93" y="241"/>
                  <a:pt x="96" y="242"/>
                  <a:pt x="101" y="243"/>
                </a:cubicBezTo>
                <a:cubicBezTo>
                  <a:pt x="106" y="243"/>
                  <a:pt x="114" y="243"/>
                  <a:pt x="126" y="243"/>
                </a:cubicBezTo>
                <a:lnTo>
                  <a:pt x="136" y="243"/>
                </a:lnTo>
                <a:lnTo>
                  <a:pt x="136" y="261"/>
                </a:lnTo>
                <a:lnTo>
                  <a:pt x="131" y="261"/>
                </a:lnTo>
                <a:cubicBezTo>
                  <a:pt x="126" y="260"/>
                  <a:pt x="105" y="260"/>
                  <a:pt x="69" y="260"/>
                </a:cubicBezTo>
                <a:cubicBezTo>
                  <a:pt x="34" y="260"/>
                  <a:pt x="13" y="260"/>
                  <a:pt x="7" y="261"/>
                </a:cubicBezTo>
                <a:lnTo>
                  <a:pt x="2" y="261"/>
                </a:lnTo>
                <a:lnTo>
                  <a:pt x="2" y="243"/>
                </a:lnTo>
                <a:lnTo>
                  <a:pt x="13" y="243"/>
                </a:lnTo>
                <a:cubicBezTo>
                  <a:pt x="19" y="243"/>
                  <a:pt x="24" y="243"/>
                  <a:pt x="28" y="243"/>
                </a:cubicBezTo>
                <a:cubicBezTo>
                  <a:pt x="33" y="243"/>
                  <a:pt x="36" y="243"/>
                  <a:pt x="38" y="243"/>
                </a:cubicBezTo>
                <a:cubicBezTo>
                  <a:pt x="40" y="243"/>
                  <a:pt x="43" y="242"/>
                  <a:pt x="44" y="242"/>
                </a:cubicBezTo>
                <a:cubicBezTo>
                  <a:pt x="46" y="241"/>
                  <a:pt x="47" y="241"/>
                  <a:pt x="47" y="241"/>
                </a:cubicBezTo>
                <a:cubicBezTo>
                  <a:pt x="48" y="241"/>
                  <a:pt x="49" y="240"/>
                  <a:pt x="50" y="239"/>
                </a:cubicBezTo>
                <a:cubicBezTo>
                  <a:pt x="51" y="238"/>
                  <a:pt x="52" y="237"/>
                  <a:pt x="52" y="237"/>
                </a:cubicBezTo>
                <a:lnTo>
                  <a:pt x="52" y="35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/>
          <p:nvPr/>
        </p:nvSpPr>
        <p:spPr>
          <a:xfrm>
            <a:off x="7639560" y="3692160"/>
            <a:ext cx="48960" cy="93960"/>
          </a:xfrm>
          <a:custGeom>
            <a:avLst/>
            <a:gdLst/>
            <a:ahLst/>
            <a:rect l="0" t="0" r="r" b="b"/>
            <a:pathLst>
              <a:path fill="none" w="136" h="261">
                <a:moveTo>
                  <a:pt x="52" y="35"/>
                </a:moveTo>
                <a:lnTo>
                  <a:pt x="47" y="37"/>
                </a:lnTo>
                <a:cubicBezTo>
                  <a:pt x="43" y="38"/>
                  <a:pt x="38" y="39"/>
                  <a:pt x="31" y="40"/>
                </a:cubicBezTo>
                <a:cubicBezTo>
                  <a:pt x="25" y="42"/>
                  <a:pt x="16" y="43"/>
                  <a:pt x="8" y="43"/>
                </a:cubicBezTo>
                <a:lnTo>
                  <a:pt x="0" y="43"/>
                </a:lnTo>
                <a:lnTo>
                  <a:pt x="0" y="25"/>
                </a:lnTo>
                <a:lnTo>
                  <a:pt x="8" y="25"/>
                </a:lnTo>
                <a:cubicBezTo>
                  <a:pt x="21" y="25"/>
                  <a:pt x="32" y="23"/>
                  <a:pt x="43" y="19"/>
                </a:cubicBezTo>
                <a:cubicBezTo>
                  <a:pt x="53" y="16"/>
                  <a:pt x="60" y="13"/>
                  <a:pt x="65" y="10"/>
                </a:cubicBezTo>
                <a:cubicBezTo>
                  <a:pt x="69" y="7"/>
                  <a:pt x="72" y="4"/>
                  <a:pt x="76" y="1"/>
                </a:cubicBezTo>
                <a:cubicBezTo>
                  <a:pt x="76" y="1"/>
                  <a:pt x="78" y="0"/>
                  <a:pt x="80" y="0"/>
                </a:cubicBezTo>
                <a:cubicBezTo>
                  <a:pt x="83" y="0"/>
                  <a:pt x="85" y="1"/>
                  <a:pt x="87" y="3"/>
                </a:cubicBezTo>
                <a:lnTo>
                  <a:pt x="87" y="119"/>
                </a:lnTo>
                <a:lnTo>
                  <a:pt x="87" y="237"/>
                </a:lnTo>
                <a:cubicBezTo>
                  <a:pt x="89" y="239"/>
                  <a:pt x="91" y="240"/>
                  <a:pt x="92" y="241"/>
                </a:cubicBezTo>
                <a:cubicBezTo>
                  <a:pt x="93" y="241"/>
                  <a:pt x="96" y="242"/>
                  <a:pt x="101" y="243"/>
                </a:cubicBezTo>
                <a:cubicBezTo>
                  <a:pt x="106" y="243"/>
                  <a:pt x="114" y="243"/>
                  <a:pt x="126" y="243"/>
                </a:cubicBezTo>
                <a:lnTo>
                  <a:pt x="136" y="243"/>
                </a:lnTo>
                <a:lnTo>
                  <a:pt x="136" y="261"/>
                </a:lnTo>
                <a:lnTo>
                  <a:pt x="131" y="261"/>
                </a:lnTo>
                <a:cubicBezTo>
                  <a:pt x="126" y="260"/>
                  <a:pt x="105" y="260"/>
                  <a:pt x="69" y="260"/>
                </a:cubicBezTo>
                <a:cubicBezTo>
                  <a:pt x="34" y="260"/>
                  <a:pt x="13" y="260"/>
                  <a:pt x="7" y="261"/>
                </a:cubicBezTo>
                <a:lnTo>
                  <a:pt x="2" y="261"/>
                </a:lnTo>
                <a:lnTo>
                  <a:pt x="2" y="243"/>
                </a:lnTo>
                <a:lnTo>
                  <a:pt x="13" y="243"/>
                </a:lnTo>
                <a:cubicBezTo>
                  <a:pt x="19" y="243"/>
                  <a:pt x="24" y="243"/>
                  <a:pt x="28" y="243"/>
                </a:cubicBezTo>
                <a:cubicBezTo>
                  <a:pt x="33" y="243"/>
                  <a:pt x="36" y="243"/>
                  <a:pt x="38" y="243"/>
                </a:cubicBezTo>
                <a:cubicBezTo>
                  <a:pt x="40" y="243"/>
                  <a:pt x="43" y="242"/>
                  <a:pt x="44" y="242"/>
                </a:cubicBezTo>
                <a:cubicBezTo>
                  <a:pt x="46" y="241"/>
                  <a:pt x="47" y="241"/>
                  <a:pt x="47" y="241"/>
                </a:cubicBezTo>
                <a:cubicBezTo>
                  <a:pt x="48" y="241"/>
                  <a:pt x="49" y="240"/>
                  <a:pt x="50" y="239"/>
                </a:cubicBezTo>
                <a:cubicBezTo>
                  <a:pt x="51" y="238"/>
                  <a:pt x="52" y="237"/>
                  <a:pt x="52" y="237"/>
                </a:cubicBezTo>
                <a:lnTo>
                  <a:pt x="52" y="35"/>
                </a:ln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/>
          <p:nvPr/>
        </p:nvSpPr>
        <p:spPr>
          <a:xfrm>
            <a:off x="7710120" y="3747960"/>
            <a:ext cx="86040" cy="5760"/>
          </a:xfrm>
          <a:custGeom>
            <a:avLst/>
            <a:gdLst/>
            <a:ahLst/>
            <a:rect l="0" t="0" r="r" b="b"/>
            <a:pathLst>
              <a:path w="239" h="16">
                <a:moveTo>
                  <a:pt x="0" y="14"/>
                </a:moveTo>
                <a:cubicBezTo>
                  <a:pt x="0" y="14"/>
                  <a:pt x="0" y="12"/>
                  <a:pt x="0" y="9"/>
                </a:cubicBezTo>
                <a:cubicBezTo>
                  <a:pt x="0" y="4"/>
                  <a:pt x="2" y="2"/>
                  <a:pt x="5" y="0"/>
                </a:cubicBezTo>
                <a:lnTo>
                  <a:pt x="233" y="0"/>
                </a:lnTo>
                <a:cubicBezTo>
                  <a:pt x="237" y="2"/>
                  <a:pt x="239" y="5"/>
                  <a:pt x="239" y="9"/>
                </a:cubicBezTo>
                <a:cubicBezTo>
                  <a:pt x="239" y="12"/>
                  <a:pt x="237" y="14"/>
                  <a:pt x="233" y="16"/>
                </a:cubicBezTo>
                <a:lnTo>
                  <a:pt x="5" y="16"/>
                </a:lnTo>
                <a:cubicBezTo>
                  <a:pt x="2" y="15"/>
                  <a:pt x="0" y="12"/>
                  <a:pt x="0" y="9"/>
                </a:cubicBezTo>
                <a:lnTo>
                  <a:pt x="0" y="14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"/>
          <p:cNvSpPr/>
          <p:nvPr/>
        </p:nvSpPr>
        <p:spPr>
          <a:xfrm>
            <a:off x="7710120" y="3747960"/>
            <a:ext cx="86040" cy="5760"/>
          </a:xfrm>
          <a:custGeom>
            <a:avLst/>
            <a:gdLst/>
            <a:ahLst/>
            <a:rect l="0" t="0" r="r" b="b"/>
            <a:pathLst>
              <a:path fill="none" w="239" h="16">
                <a:moveTo>
                  <a:pt x="0" y="14"/>
                </a:moveTo>
                <a:cubicBezTo>
                  <a:pt x="0" y="14"/>
                  <a:pt x="0" y="12"/>
                  <a:pt x="0" y="9"/>
                </a:cubicBezTo>
                <a:cubicBezTo>
                  <a:pt x="0" y="4"/>
                  <a:pt x="2" y="2"/>
                  <a:pt x="5" y="0"/>
                </a:cubicBezTo>
                <a:lnTo>
                  <a:pt x="233" y="0"/>
                </a:lnTo>
                <a:cubicBezTo>
                  <a:pt x="237" y="2"/>
                  <a:pt x="239" y="5"/>
                  <a:pt x="239" y="9"/>
                </a:cubicBezTo>
                <a:cubicBezTo>
                  <a:pt x="239" y="12"/>
                  <a:pt x="237" y="14"/>
                  <a:pt x="233" y="16"/>
                </a:cubicBezTo>
                <a:lnTo>
                  <a:pt x="5" y="16"/>
                </a:lnTo>
                <a:cubicBezTo>
                  <a:pt x="2" y="15"/>
                  <a:pt x="0" y="12"/>
                  <a:pt x="0" y="9"/>
                </a:cubicBezTo>
                <a:lnTo>
                  <a:pt x="0" y="14"/>
                </a:ln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"/>
          <p:cNvSpPr/>
          <p:nvPr/>
        </p:nvSpPr>
        <p:spPr>
          <a:xfrm>
            <a:off x="7802280" y="3723840"/>
            <a:ext cx="75600" cy="89640"/>
          </a:xfrm>
          <a:custGeom>
            <a:avLst/>
            <a:gdLst/>
            <a:ahLst/>
            <a:rect l="0" t="0" r="r" b="b"/>
            <a:pathLst>
              <a:path w="210" h="249">
                <a:moveTo>
                  <a:pt x="24" y="60"/>
                </a:moveTo>
                <a:cubicBezTo>
                  <a:pt x="24" y="59"/>
                  <a:pt x="24" y="58"/>
                  <a:pt x="25" y="57"/>
                </a:cubicBezTo>
                <a:cubicBezTo>
                  <a:pt x="25" y="56"/>
                  <a:pt x="26" y="53"/>
                  <a:pt x="27" y="49"/>
                </a:cubicBezTo>
                <a:cubicBezTo>
                  <a:pt x="28" y="44"/>
                  <a:pt x="29" y="40"/>
                  <a:pt x="30" y="36"/>
                </a:cubicBezTo>
                <a:cubicBezTo>
                  <a:pt x="32" y="33"/>
                  <a:pt x="34" y="28"/>
                  <a:pt x="36" y="24"/>
                </a:cubicBezTo>
                <a:cubicBezTo>
                  <a:pt x="39" y="19"/>
                  <a:pt x="41" y="15"/>
                  <a:pt x="44" y="12"/>
                </a:cubicBezTo>
                <a:cubicBezTo>
                  <a:pt x="47" y="9"/>
                  <a:pt x="50" y="6"/>
                  <a:pt x="54" y="3"/>
                </a:cubicBezTo>
                <a:cubicBezTo>
                  <a:pt x="58" y="0"/>
                  <a:pt x="62" y="-1"/>
                  <a:pt x="67" y="0"/>
                </a:cubicBezTo>
                <a:cubicBezTo>
                  <a:pt x="87" y="0"/>
                  <a:pt x="99" y="8"/>
                  <a:pt x="105" y="25"/>
                </a:cubicBezTo>
                <a:lnTo>
                  <a:pt x="109" y="21"/>
                </a:lnTo>
                <a:cubicBezTo>
                  <a:pt x="125" y="7"/>
                  <a:pt x="140" y="0"/>
                  <a:pt x="155" y="0"/>
                </a:cubicBezTo>
                <a:cubicBezTo>
                  <a:pt x="173" y="0"/>
                  <a:pt x="186" y="6"/>
                  <a:pt x="195" y="18"/>
                </a:cubicBezTo>
                <a:cubicBezTo>
                  <a:pt x="205" y="30"/>
                  <a:pt x="210" y="45"/>
                  <a:pt x="210" y="63"/>
                </a:cubicBezTo>
                <a:cubicBezTo>
                  <a:pt x="210" y="91"/>
                  <a:pt x="200" y="117"/>
                  <a:pt x="180" y="140"/>
                </a:cubicBezTo>
                <a:cubicBezTo>
                  <a:pt x="159" y="164"/>
                  <a:pt x="137" y="176"/>
                  <a:pt x="112" y="176"/>
                </a:cubicBezTo>
                <a:cubicBezTo>
                  <a:pt x="106" y="176"/>
                  <a:pt x="101" y="175"/>
                  <a:pt x="97" y="174"/>
                </a:cubicBezTo>
                <a:cubicBezTo>
                  <a:pt x="94" y="173"/>
                  <a:pt x="91" y="171"/>
                  <a:pt x="88" y="168"/>
                </a:cubicBezTo>
                <a:cubicBezTo>
                  <a:pt x="85" y="165"/>
                  <a:pt x="82" y="163"/>
                  <a:pt x="80" y="161"/>
                </a:cubicBezTo>
                <a:lnTo>
                  <a:pt x="78" y="158"/>
                </a:lnTo>
                <a:cubicBezTo>
                  <a:pt x="77" y="158"/>
                  <a:pt x="75" y="170"/>
                  <a:pt x="69" y="192"/>
                </a:cubicBezTo>
                <a:cubicBezTo>
                  <a:pt x="64" y="216"/>
                  <a:pt x="61" y="227"/>
                  <a:pt x="61" y="227"/>
                </a:cubicBezTo>
                <a:cubicBezTo>
                  <a:pt x="61" y="229"/>
                  <a:pt x="62" y="230"/>
                  <a:pt x="64" y="230"/>
                </a:cubicBezTo>
                <a:cubicBezTo>
                  <a:pt x="66" y="230"/>
                  <a:pt x="71" y="231"/>
                  <a:pt x="79" y="231"/>
                </a:cubicBezTo>
                <a:lnTo>
                  <a:pt x="88" y="231"/>
                </a:lnTo>
                <a:cubicBezTo>
                  <a:pt x="90" y="233"/>
                  <a:pt x="91" y="234"/>
                  <a:pt x="91" y="235"/>
                </a:cubicBezTo>
                <a:cubicBezTo>
                  <a:pt x="91" y="235"/>
                  <a:pt x="90" y="237"/>
                  <a:pt x="89" y="242"/>
                </a:cubicBezTo>
                <a:cubicBezTo>
                  <a:pt x="89" y="245"/>
                  <a:pt x="88" y="247"/>
                  <a:pt x="87" y="247"/>
                </a:cubicBezTo>
                <a:cubicBezTo>
                  <a:pt x="86" y="248"/>
                  <a:pt x="85" y="249"/>
                  <a:pt x="82" y="249"/>
                </a:cubicBezTo>
                <a:cubicBezTo>
                  <a:pt x="81" y="249"/>
                  <a:pt x="80" y="249"/>
                  <a:pt x="78" y="249"/>
                </a:cubicBezTo>
                <a:cubicBezTo>
                  <a:pt x="75" y="249"/>
                  <a:pt x="71" y="249"/>
                  <a:pt x="64" y="249"/>
                </a:cubicBezTo>
                <a:cubicBezTo>
                  <a:pt x="58" y="248"/>
                  <a:pt x="50" y="248"/>
                  <a:pt x="40" y="248"/>
                </a:cubicBezTo>
                <a:cubicBezTo>
                  <a:pt x="22" y="248"/>
                  <a:pt x="10" y="248"/>
                  <a:pt x="6" y="249"/>
                </a:cubicBezTo>
                <a:lnTo>
                  <a:pt x="2" y="249"/>
                </a:lnTo>
                <a:cubicBezTo>
                  <a:pt x="1" y="247"/>
                  <a:pt x="0" y="246"/>
                  <a:pt x="0" y="245"/>
                </a:cubicBezTo>
                <a:cubicBezTo>
                  <a:pt x="0" y="238"/>
                  <a:pt x="2" y="233"/>
                  <a:pt x="5" y="231"/>
                </a:cubicBezTo>
                <a:lnTo>
                  <a:pt x="13" y="231"/>
                </a:lnTo>
                <a:cubicBezTo>
                  <a:pt x="21" y="231"/>
                  <a:pt x="26" y="229"/>
                  <a:pt x="28" y="226"/>
                </a:cubicBezTo>
                <a:cubicBezTo>
                  <a:pt x="29" y="225"/>
                  <a:pt x="36" y="193"/>
                  <a:pt x="52" y="132"/>
                </a:cubicBezTo>
                <a:cubicBezTo>
                  <a:pt x="67" y="71"/>
                  <a:pt x="75" y="39"/>
                  <a:pt x="75" y="36"/>
                </a:cubicBezTo>
                <a:cubicBezTo>
                  <a:pt x="76" y="34"/>
                  <a:pt x="76" y="33"/>
                  <a:pt x="76" y="30"/>
                </a:cubicBezTo>
                <a:cubicBezTo>
                  <a:pt x="76" y="20"/>
                  <a:pt x="73" y="14"/>
                  <a:pt x="66" y="14"/>
                </a:cubicBezTo>
                <a:cubicBezTo>
                  <a:pt x="60" y="14"/>
                  <a:pt x="55" y="18"/>
                  <a:pt x="52" y="25"/>
                </a:cubicBezTo>
                <a:cubicBezTo>
                  <a:pt x="48" y="32"/>
                  <a:pt x="45" y="40"/>
                  <a:pt x="43" y="49"/>
                </a:cubicBezTo>
                <a:cubicBezTo>
                  <a:pt x="41" y="57"/>
                  <a:pt x="39" y="62"/>
                  <a:pt x="38" y="63"/>
                </a:cubicBezTo>
                <a:cubicBezTo>
                  <a:pt x="37" y="63"/>
                  <a:pt x="35" y="64"/>
                  <a:pt x="32" y="64"/>
                </a:cubicBezTo>
                <a:lnTo>
                  <a:pt x="26" y="64"/>
                </a:lnTo>
                <a:cubicBezTo>
                  <a:pt x="25" y="62"/>
                  <a:pt x="24" y="61"/>
                  <a:pt x="24" y="60"/>
                </a:cubicBezTo>
                <a:moveTo>
                  <a:pt x="84" y="132"/>
                </a:moveTo>
                <a:cubicBezTo>
                  <a:pt x="90" y="152"/>
                  <a:pt x="100" y="162"/>
                  <a:pt x="113" y="162"/>
                </a:cubicBezTo>
                <a:cubicBezTo>
                  <a:pt x="121" y="162"/>
                  <a:pt x="129" y="159"/>
                  <a:pt x="136" y="153"/>
                </a:cubicBezTo>
                <a:cubicBezTo>
                  <a:pt x="143" y="147"/>
                  <a:pt x="149" y="140"/>
                  <a:pt x="154" y="130"/>
                </a:cubicBezTo>
                <a:cubicBezTo>
                  <a:pt x="159" y="122"/>
                  <a:pt x="163" y="108"/>
                  <a:pt x="169" y="88"/>
                </a:cubicBezTo>
                <a:cubicBezTo>
                  <a:pt x="174" y="69"/>
                  <a:pt x="176" y="55"/>
                  <a:pt x="176" y="45"/>
                </a:cubicBezTo>
                <a:lnTo>
                  <a:pt x="176" y="43"/>
                </a:lnTo>
                <a:cubicBezTo>
                  <a:pt x="176" y="24"/>
                  <a:pt x="167" y="14"/>
                  <a:pt x="151" y="14"/>
                </a:cubicBezTo>
                <a:cubicBezTo>
                  <a:pt x="149" y="14"/>
                  <a:pt x="146" y="15"/>
                  <a:pt x="143" y="15"/>
                </a:cubicBezTo>
                <a:cubicBezTo>
                  <a:pt x="140" y="16"/>
                  <a:pt x="137" y="17"/>
                  <a:pt x="134" y="19"/>
                </a:cubicBezTo>
                <a:cubicBezTo>
                  <a:pt x="131" y="20"/>
                  <a:pt x="129" y="22"/>
                  <a:pt x="127" y="24"/>
                </a:cubicBezTo>
                <a:cubicBezTo>
                  <a:pt x="124" y="26"/>
                  <a:pt x="122" y="28"/>
                  <a:pt x="120" y="30"/>
                </a:cubicBezTo>
                <a:cubicBezTo>
                  <a:pt x="118" y="32"/>
                  <a:pt x="116" y="34"/>
                  <a:pt x="114" y="36"/>
                </a:cubicBezTo>
                <a:cubicBezTo>
                  <a:pt x="112" y="37"/>
                  <a:pt x="111" y="39"/>
                  <a:pt x="110" y="41"/>
                </a:cubicBezTo>
                <a:cubicBezTo>
                  <a:pt x="109" y="43"/>
                  <a:pt x="108" y="44"/>
                  <a:pt x="107" y="45"/>
                </a:cubicBezTo>
                <a:lnTo>
                  <a:pt x="105" y="47"/>
                </a:lnTo>
                <a:cubicBezTo>
                  <a:pt x="105" y="47"/>
                  <a:pt x="105" y="49"/>
                  <a:pt x="104" y="52"/>
                </a:cubicBezTo>
                <a:cubicBezTo>
                  <a:pt x="103" y="55"/>
                  <a:pt x="102" y="61"/>
                  <a:pt x="100" y="69"/>
                </a:cubicBezTo>
                <a:cubicBezTo>
                  <a:pt x="98" y="77"/>
                  <a:pt x="96" y="84"/>
                  <a:pt x="95" y="90"/>
                </a:cubicBezTo>
                <a:cubicBezTo>
                  <a:pt x="88" y="117"/>
                  <a:pt x="84" y="131"/>
                  <a:pt x="84" y="132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"/>
          <p:cNvSpPr/>
          <p:nvPr/>
        </p:nvSpPr>
        <p:spPr>
          <a:xfrm>
            <a:off x="7802280" y="3723840"/>
            <a:ext cx="75600" cy="89640"/>
          </a:xfrm>
          <a:custGeom>
            <a:avLst/>
            <a:gdLst/>
            <a:ahLst/>
            <a:rect l="0" t="0" r="r" b="b"/>
            <a:pathLst>
              <a:path fill="none" w="210" h="249">
                <a:moveTo>
                  <a:pt x="24" y="60"/>
                </a:moveTo>
                <a:cubicBezTo>
                  <a:pt x="24" y="59"/>
                  <a:pt x="24" y="58"/>
                  <a:pt x="25" y="57"/>
                </a:cubicBezTo>
                <a:cubicBezTo>
                  <a:pt x="25" y="56"/>
                  <a:pt x="26" y="53"/>
                  <a:pt x="27" y="49"/>
                </a:cubicBezTo>
                <a:cubicBezTo>
                  <a:pt x="28" y="44"/>
                  <a:pt x="29" y="40"/>
                  <a:pt x="30" y="36"/>
                </a:cubicBezTo>
                <a:cubicBezTo>
                  <a:pt x="32" y="33"/>
                  <a:pt x="34" y="28"/>
                  <a:pt x="36" y="24"/>
                </a:cubicBezTo>
                <a:cubicBezTo>
                  <a:pt x="39" y="19"/>
                  <a:pt x="41" y="15"/>
                  <a:pt x="44" y="12"/>
                </a:cubicBezTo>
                <a:cubicBezTo>
                  <a:pt x="47" y="9"/>
                  <a:pt x="50" y="6"/>
                  <a:pt x="54" y="3"/>
                </a:cubicBezTo>
                <a:cubicBezTo>
                  <a:pt x="58" y="0"/>
                  <a:pt x="62" y="-1"/>
                  <a:pt x="67" y="0"/>
                </a:cubicBezTo>
                <a:cubicBezTo>
                  <a:pt x="87" y="0"/>
                  <a:pt x="99" y="8"/>
                  <a:pt x="105" y="25"/>
                </a:cubicBezTo>
                <a:lnTo>
                  <a:pt x="109" y="21"/>
                </a:lnTo>
                <a:cubicBezTo>
                  <a:pt x="125" y="7"/>
                  <a:pt x="140" y="0"/>
                  <a:pt x="155" y="0"/>
                </a:cubicBezTo>
                <a:cubicBezTo>
                  <a:pt x="173" y="0"/>
                  <a:pt x="186" y="6"/>
                  <a:pt x="195" y="18"/>
                </a:cubicBezTo>
                <a:cubicBezTo>
                  <a:pt x="205" y="30"/>
                  <a:pt x="210" y="45"/>
                  <a:pt x="210" y="63"/>
                </a:cubicBezTo>
                <a:cubicBezTo>
                  <a:pt x="210" y="91"/>
                  <a:pt x="200" y="117"/>
                  <a:pt x="180" y="140"/>
                </a:cubicBezTo>
                <a:cubicBezTo>
                  <a:pt x="159" y="164"/>
                  <a:pt x="137" y="176"/>
                  <a:pt x="112" y="176"/>
                </a:cubicBezTo>
                <a:cubicBezTo>
                  <a:pt x="106" y="176"/>
                  <a:pt x="101" y="175"/>
                  <a:pt x="97" y="174"/>
                </a:cubicBezTo>
                <a:cubicBezTo>
                  <a:pt x="94" y="173"/>
                  <a:pt x="91" y="171"/>
                  <a:pt x="88" y="168"/>
                </a:cubicBezTo>
                <a:cubicBezTo>
                  <a:pt x="85" y="165"/>
                  <a:pt x="82" y="163"/>
                  <a:pt x="80" y="161"/>
                </a:cubicBezTo>
                <a:lnTo>
                  <a:pt x="78" y="158"/>
                </a:lnTo>
                <a:cubicBezTo>
                  <a:pt x="77" y="158"/>
                  <a:pt x="75" y="170"/>
                  <a:pt x="69" y="192"/>
                </a:cubicBezTo>
                <a:cubicBezTo>
                  <a:pt x="64" y="216"/>
                  <a:pt x="61" y="227"/>
                  <a:pt x="61" y="227"/>
                </a:cubicBezTo>
                <a:cubicBezTo>
                  <a:pt x="61" y="229"/>
                  <a:pt x="62" y="230"/>
                  <a:pt x="64" y="230"/>
                </a:cubicBezTo>
                <a:cubicBezTo>
                  <a:pt x="66" y="230"/>
                  <a:pt x="71" y="231"/>
                  <a:pt x="79" y="231"/>
                </a:cubicBezTo>
                <a:lnTo>
                  <a:pt x="88" y="231"/>
                </a:lnTo>
                <a:cubicBezTo>
                  <a:pt x="90" y="233"/>
                  <a:pt x="91" y="234"/>
                  <a:pt x="91" y="235"/>
                </a:cubicBezTo>
                <a:cubicBezTo>
                  <a:pt x="91" y="235"/>
                  <a:pt x="90" y="237"/>
                  <a:pt x="89" y="242"/>
                </a:cubicBezTo>
                <a:cubicBezTo>
                  <a:pt x="89" y="245"/>
                  <a:pt x="88" y="247"/>
                  <a:pt x="87" y="247"/>
                </a:cubicBezTo>
                <a:cubicBezTo>
                  <a:pt x="86" y="248"/>
                  <a:pt x="85" y="249"/>
                  <a:pt x="82" y="249"/>
                </a:cubicBezTo>
                <a:cubicBezTo>
                  <a:pt x="81" y="249"/>
                  <a:pt x="80" y="249"/>
                  <a:pt x="78" y="249"/>
                </a:cubicBezTo>
                <a:cubicBezTo>
                  <a:pt x="75" y="249"/>
                  <a:pt x="71" y="249"/>
                  <a:pt x="64" y="249"/>
                </a:cubicBezTo>
                <a:cubicBezTo>
                  <a:pt x="58" y="248"/>
                  <a:pt x="50" y="248"/>
                  <a:pt x="40" y="248"/>
                </a:cubicBezTo>
                <a:cubicBezTo>
                  <a:pt x="22" y="248"/>
                  <a:pt x="10" y="248"/>
                  <a:pt x="6" y="249"/>
                </a:cubicBezTo>
                <a:lnTo>
                  <a:pt x="2" y="249"/>
                </a:lnTo>
                <a:cubicBezTo>
                  <a:pt x="1" y="247"/>
                  <a:pt x="0" y="246"/>
                  <a:pt x="0" y="245"/>
                </a:cubicBezTo>
                <a:cubicBezTo>
                  <a:pt x="0" y="238"/>
                  <a:pt x="2" y="233"/>
                  <a:pt x="5" y="231"/>
                </a:cubicBezTo>
                <a:lnTo>
                  <a:pt x="13" y="231"/>
                </a:lnTo>
                <a:cubicBezTo>
                  <a:pt x="21" y="231"/>
                  <a:pt x="26" y="229"/>
                  <a:pt x="28" y="226"/>
                </a:cubicBezTo>
                <a:cubicBezTo>
                  <a:pt x="29" y="225"/>
                  <a:pt x="36" y="193"/>
                  <a:pt x="52" y="132"/>
                </a:cubicBezTo>
                <a:cubicBezTo>
                  <a:pt x="67" y="71"/>
                  <a:pt x="75" y="39"/>
                  <a:pt x="75" y="36"/>
                </a:cubicBezTo>
                <a:cubicBezTo>
                  <a:pt x="76" y="34"/>
                  <a:pt x="76" y="33"/>
                  <a:pt x="76" y="30"/>
                </a:cubicBezTo>
                <a:cubicBezTo>
                  <a:pt x="76" y="20"/>
                  <a:pt x="73" y="14"/>
                  <a:pt x="66" y="14"/>
                </a:cubicBezTo>
                <a:cubicBezTo>
                  <a:pt x="60" y="14"/>
                  <a:pt x="55" y="18"/>
                  <a:pt x="52" y="25"/>
                </a:cubicBezTo>
                <a:cubicBezTo>
                  <a:pt x="48" y="32"/>
                  <a:pt x="45" y="40"/>
                  <a:pt x="43" y="49"/>
                </a:cubicBezTo>
                <a:cubicBezTo>
                  <a:pt x="41" y="57"/>
                  <a:pt x="39" y="62"/>
                  <a:pt x="38" y="63"/>
                </a:cubicBezTo>
                <a:cubicBezTo>
                  <a:pt x="37" y="63"/>
                  <a:pt x="35" y="64"/>
                  <a:pt x="32" y="64"/>
                </a:cubicBezTo>
                <a:lnTo>
                  <a:pt x="26" y="64"/>
                </a:lnTo>
                <a:cubicBezTo>
                  <a:pt x="25" y="62"/>
                  <a:pt x="24" y="61"/>
                  <a:pt x="24" y="60"/>
                </a:cubicBezTo>
                <a:moveTo>
                  <a:pt x="84" y="132"/>
                </a:moveTo>
                <a:cubicBezTo>
                  <a:pt x="90" y="152"/>
                  <a:pt x="100" y="162"/>
                  <a:pt x="113" y="162"/>
                </a:cubicBezTo>
                <a:cubicBezTo>
                  <a:pt x="121" y="162"/>
                  <a:pt x="129" y="159"/>
                  <a:pt x="136" y="153"/>
                </a:cubicBezTo>
                <a:cubicBezTo>
                  <a:pt x="143" y="147"/>
                  <a:pt x="149" y="140"/>
                  <a:pt x="154" y="130"/>
                </a:cubicBezTo>
                <a:cubicBezTo>
                  <a:pt x="159" y="122"/>
                  <a:pt x="163" y="108"/>
                  <a:pt x="169" y="88"/>
                </a:cubicBezTo>
                <a:cubicBezTo>
                  <a:pt x="174" y="69"/>
                  <a:pt x="176" y="55"/>
                  <a:pt x="176" y="45"/>
                </a:cubicBezTo>
                <a:lnTo>
                  <a:pt x="176" y="43"/>
                </a:lnTo>
                <a:cubicBezTo>
                  <a:pt x="176" y="24"/>
                  <a:pt x="167" y="14"/>
                  <a:pt x="151" y="14"/>
                </a:cubicBezTo>
                <a:cubicBezTo>
                  <a:pt x="149" y="14"/>
                  <a:pt x="146" y="15"/>
                  <a:pt x="143" y="15"/>
                </a:cubicBezTo>
                <a:cubicBezTo>
                  <a:pt x="140" y="16"/>
                  <a:pt x="137" y="17"/>
                  <a:pt x="134" y="19"/>
                </a:cubicBezTo>
                <a:cubicBezTo>
                  <a:pt x="131" y="20"/>
                  <a:pt x="129" y="22"/>
                  <a:pt x="127" y="24"/>
                </a:cubicBezTo>
                <a:cubicBezTo>
                  <a:pt x="124" y="26"/>
                  <a:pt x="122" y="28"/>
                  <a:pt x="120" y="30"/>
                </a:cubicBezTo>
                <a:cubicBezTo>
                  <a:pt x="118" y="32"/>
                  <a:pt x="116" y="34"/>
                  <a:pt x="114" y="36"/>
                </a:cubicBezTo>
                <a:cubicBezTo>
                  <a:pt x="112" y="37"/>
                  <a:pt x="111" y="39"/>
                  <a:pt x="110" y="41"/>
                </a:cubicBezTo>
                <a:cubicBezTo>
                  <a:pt x="109" y="43"/>
                  <a:pt x="108" y="44"/>
                  <a:pt x="107" y="45"/>
                </a:cubicBezTo>
                <a:lnTo>
                  <a:pt x="105" y="47"/>
                </a:lnTo>
                <a:cubicBezTo>
                  <a:pt x="105" y="47"/>
                  <a:pt x="105" y="49"/>
                  <a:pt x="104" y="52"/>
                </a:cubicBezTo>
                <a:cubicBezTo>
                  <a:pt x="103" y="55"/>
                  <a:pt x="102" y="61"/>
                  <a:pt x="100" y="69"/>
                </a:cubicBezTo>
                <a:cubicBezTo>
                  <a:pt x="98" y="77"/>
                  <a:pt x="96" y="84"/>
                  <a:pt x="95" y="90"/>
                </a:cubicBezTo>
                <a:cubicBezTo>
                  <a:pt x="88" y="117"/>
                  <a:pt x="84" y="131"/>
                  <a:pt x="84" y="132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"/>
          <p:cNvSpPr/>
          <p:nvPr/>
        </p:nvSpPr>
        <p:spPr>
          <a:xfrm>
            <a:off x="7886160" y="3680640"/>
            <a:ext cx="33840" cy="140760"/>
          </a:xfrm>
          <a:custGeom>
            <a:avLst/>
            <a:gdLst/>
            <a:ahLst/>
            <a:rect l="0" t="0" r="r" b="b"/>
            <a:pathLst>
              <a:path w="94" h="391">
                <a:moveTo>
                  <a:pt x="2" y="0"/>
                </a:moveTo>
                <a:lnTo>
                  <a:pt x="3" y="0"/>
                </a:lnTo>
                <a:cubicBezTo>
                  <a:pt x="4" y="0"/>
                  <a:pt x="6" y="0"/>
                  <a:pt x="7" y="0"/>
                </a:cubicBezTo>
                <a:lnTo>
                  <a:pt x="12" y="0"/>
                </a:lnTo>
                <a:lnTo>
                  <a:pt x="23" y="9"/>
                </a:lnTo>
                <a:cubicBezTo>
                  <a:pt x="47" y="31"/>
                  <a:pt x="65" y="59"/>
                  <a:pt x="76" y="92"/>
                </a:cubicBezTo>
                <a:cubicBezTo>
                  <a:pt x="87" y="126"/>
                  <a:pt x="94" y="160"/>
                  <a:pt x="94" y="196"/>
                </a:cubicBezTo>
                <a:cubicBezTo>
                  <a:pt x="94" y="213"/>
                  <a:pt x="93" y="230"/>
                  <a:pt x="90" y="247"/>
                </a:cubicBezTo>
                <a:cubicBezTo>
                  <a:pt x="86" y="263"/>
                  <a:pt x="83" y="277"/>
                  <a:pt x="80" y="289"/>
                </a:cubicBezTo>
                <a:cubicBezTo>
                  <a:pt x="77" y="300"/>
                  <a:pt x="72" y="311"/>
                  <a:pt x="66" y="323"/>
                </a:cubicBezTo>
                <a:cubicBezTo>
                  <a:pt x="59" y="334"/>
                  <a:pt x="54" y="343"/>
                  <a:pt x="51" y="349"/>
                </a:cubicBezTo>
                <a:cubicBezTo>
                  <a:pt x="47" y="355"/>
                  <a:pt x="42" y="362"/>
                  <a:pt x="35" y="369"/>
                </a:cubicBezTo>
                <a:cubicBezTo>
                  <a:pt x="28" y="376"/>
                  <a:pt x="24" y="381"/>
                  <a:pt x="22" y="382"/>
                </a:cubicBezTo>
                <a:cubicBezTo>
                  <a:pt x="21" y="383"/>
                  <a:pt x="18" y="386"/>
                  <a:pt x="13" y="389"/>
                </a:cubicBezTo>
                <a:cubicBezTo>
                  <a:pt x="13" y="390"/>
                  <a:pt x="12" y="391"/>
                  <a:pt x="12" y="391"/>
                </a:cubicBezTo>
                <a:lnTo>
                  <a:pt x="7" y="391"/>
                </a:lnTo>
                <a:cubicBezTo>
                  <a:pt x="5" y="391"/>
                  <a:pt x="4" y="391"/>
                  <a:pt x="3" y="391"/>
                </a:cubicBezTo>
                <a:cubicBezTo>
                  <a:pt x="2" y="391"/>
                  <a:pt x="1" y="390"/>
                  <a:pt x="1" y="390"/>
                </a:cubicBezTo>
                <a:cubicBezTo>
                  <a:pt x="0" y="389"/>
                  <a:pt x="0" y="388"/>
                  <a:pt x="0" y="386"/>
                </a:cubicBezTo>
                <a:cubicBezTo>
                  <a:pt x="0" y="386"/>
                  <a:pt x="1" y="384"/>
                  <a:pt x="4" y="381"/>
                </a:cubicBezTo>
                <a:cubicBezTo>
                  <a:pt x="44" y="339"/>
                  <a:pt x="64" y="277"/>
                  <a:pt x="64" y="196"/>
                </a:cubicBezTo>
                <a:cubicBezTo>
                  <a:pt x="64" y="114"/>
                  <a:pt x="44" y="51"/>
                  <a:pt x="4" y="9"/>
                </a:cubicBezTo>
                <a:cubicBezTo>
                  <a:pt x="1" y="6"/>
                  <a:pt x="0" y="4"/>
                  <a:pt x="0" y="4"/>
                </a:cubicBezTo>
                <a:cubicBezTo>
                  <a:pt x="0" y="2"/>
                  <a:pt x="0" y="1"/>
                  <a:pt x="2" y="0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"/>
          <p:cNvSpPr/>
          <p:nvPr/>
        </p:nvSpPr>
        <p:spPr>
          <a:xfrm>
            <a:off x="7886160" y="3680640"/>
            <a:ext cx="33840" cy="140760"/>
          </a:xfrm>
          <a:custGeom>
            <a:avLst/>
            <a:gdLst/>
            <a:ahLst/>
            <a:rect l="0" t="0" r="r" b="b"/>
            <a:pathLst>
              <a:path fill="none" w="94" h="391">
                <a:moveTo>
                  <a:pt x="2" y="0"/>
                </a:moveTo>
                <a:lnTo>
                  <a:pt x="3" y="0"/>
                </a:lnTo>
                <a:cubicBezTo>
                  <a:pt x="4" y="0"/>
                  <a:pt x="6" y="0"/>
                  <a:pt x="7" y="0"/>
                </a:cubicBezTo>
                <a:lnTo>
                  <a:pt x="12" y="0"/>
                </a:lnTo>
                <a:lnTo>
                  <a:pt x="23" y="9"/>
                </a:lnTo>
                <a:cubicBezTo>
                  <a:pt x="47" y="31"/>
                  <a:pt x="65" y="59"/>
                  <a:pt x="76" y="92"/>
                </a:cubicBezTo>
                <a:cubicBezTo>
                  <a:pt x="87" y="126"/>
                  <a:pt x="94" y="160"/>
                  <a:pt x="94" y="196"/>
                </a:cubicBezTo>
                <a:cubicBezTo>
                  <a:pt x="94" y="213"/>
                  <a:pt x="93" y="230"/>
                  <a:pt x="90" y="247"/>
                </a:cubicBezTo>
                <a:cubicBezTo>
                  <a:pt x="86" y="263"/>
                  <a:pt x="83" y="277"/>
                  <a:pt x="80" y="289"/>
                </a:cubicBezTo>
                <a:cubicBezTo>
                  <a:pt x="77" y="300"/>
                  <a:pt x="72" y="311"/>
                  <a:pt x="66" y="323"/>
                </a:cubicBezTo>
                <a:cubicBezTo>
                  <a:pt x="59" y="334"/>
                  <a:pt x="54" y="343"/>
                  <a:pt x="51" y="349"/>
                </a:cubicBezTo>
                <a:cubicBezTo>
                  <a:pt x="47" y="355"/>
                  <a:pt x="42" y="362"/>
                  <a:pt x="35" y="369"/>
                </a:cubicBezTo>
                <a:cubicBezTo>
                  <a:pt x="28" y="376"/>
                  <a:pt x="24" y="381"/>
                  <a:pt x="22" y="382"/>
                </a:cubicBezTo>
                <a:cubicBezTo>
                  <a:pt x="21" y="383"/>
                  <a:pt x="18" y="386"/>
                  <a:pt x="13" y="389"/>
                </a:cubicBezTo>
                <a:cubicBezTo>
                  <a:pt x="13" y="390"/>
                  <a:pt x="12" y="391"/>
                  <a:pt x="12" y="391"/>
                </a:cubicBezTo>
                <a:lnTo>
                  <a:pt x="7" y="391"/>
                </a:lnTo>
                <a:cubicBezTo>
                  <a:pt x="5" y="391"/>
                  <a:pt x="4" y="391"/>
                  <a:pt x="3" y="391"/>
                </a:cubicBezTo>
                <a:cubicBezTo>
                  <a:pt x="2" y="391"/>
                  <a:pt x="1" y="390"/>
                  <a:pt x="1" y="390"/>
                </a:cubicBezTo>
                <a:cubicBezTo>
                  <a:pt x="0" y="389"/>
                  <a:pt x="0" y="388"/>
                  <a:pt x="0" y="386"/>
                </a:cubicBezTo>
                <a:cubicBezTo>
                  <a:pt x="0" y="386"/>
                  <a:pt x="1" y="384"/>
                  <a:pt x="4" y="381"/>
                </a:cubicBezTo>
                <a:cubicBezTo>
                  <a:pt x="44" y="339"/>
                  <a:pt x="64" y="277"/>
                  <a:pt x="64" y="196"/>
                </a:cubicBezTo>
                <a:cubicBezTo>
                  <a:pt x="64" y="114"/>
                  <a:pt x="44" y="51"/>
                  <a:pt x="4" y="9"/>
                </a:cubicBezTo>
                <a:cubicBezTo>
                  <a:pt x="1" y="6"/>
                  <a:pt x="0" y="4"/>
                  <a:pt x="0" y="4"/>
                </a:cubicBezTo>
                <a:cubicBezTo>
                  <a:pt x="0" y="2"/>
                  <a:pt x="0" y="1"/>
                  <a:pt x="2" y="0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"/>
          <p:cNvSpPr/>
          <p:nvPr/>
        </p:nvSpPr>
        <p:spPr>
          <a:xfrm>
            <a:off x="7678800" y="3895200"/>
            <a:ext cx="78840" cy="63720"/>
          </a:xfrm>
          <a:custGeom>
            <a:avLst/>
            <a:gdLst/>
            <a:ahLst/>
            <a:rect l="0" t="0" r="r" b="b"/>
            <a:pathLst>
              <a:path w="219" h="177">
                <a:moveTo>
                  <a:pt x="0" y="61"/>
                </a:moveTo>
                <a:cubicBezTo>
                  <a:pt x="0" y="59"/>
                  <a:pt x="0" y="57"/>
                  <a:pt x="1" y="55"/>
                </a:cubicBezTo>
                <a:cubicBezTo>
                  <a:pt x="1" y="52"/>
                  <a:pt x="3" y="47"/>
                  <a:pt x="5" y="40"/>
                </a:cubicBezTo>
                <a:cubicBezTo>
                  <a:pt x="8" y="33"/>
                  <a:pt x="11" y="27"/>
                  <a:pt x="13" y="22"/>
                </a:cubicBezTo>
                <a:cubicBezTo>
                  <a:pt x="16" y="17"/>
                  <a:pt x="20" y="12"/>
                  <a:pt x="26" y="7"/>
                </a:cubicBezTo>
                <a:cubicBezTo>
                  <a:pt x="32" y="1"/>
                  <a:pt x="38" y="-1"/>
                  <a:pt x="44" y="0"/>
                </a:cubicBezTo>
                <a:cubicBezTo>
                  <a:pt x="53" y="0"/>
                  <a:pt x="61" y="2"/>
                  <a:pt x="68" y="8"/>
                </a:cubicBezTo>
                <a:cubicBezTo>
                  <a:pt x="74" y="12"/>
                  <a:pt x="78" y="17"/>
                  <a:pt x="79" y="21"/>
                </a:cubicBezTo>
                <a:cubicBezTo>
                  <a:pt x="81" y="25"/>
                  <a:pt x="82" y="28"/>
                  <a:pt x="82" y="29"/>
                </a:cubicBezTo>
                <a:cubicBezTo>
                  <a:pt x="82" y="30"/>
                  <a:pt x="82" y="30"/>
                  <a:pt x="82" y="30"/>
                </a:cubicBezTo>
                <a:lnTo>
                  <a:pt x="86" y="26"/>
                </a:lnTo>
                <a:cubicBezTo>
                  <a:pt x="102" y="9"/>
                  <a:pt x="120" y="0"/>
                  <a:pt x="141" y="0"/>
                </a:cubicBezTo>
                <a:cubicBezTo>
                  <a:pt x="156" y="0"/>
                  <a:pt x="167" y="3"/>
                  <a:pt x="175" y="11"/>
                </a:cubicBezTo>
                <a:cubicBezTo>
                  <a:pt x="184" y="18"/>
                  <a:pt x="188" y="28"/>
                  <a:pt x="189" y="42"/>
                </a:cubicBezTo>
                <a:cubicBezTo>
                  <a:pt x="189" y="55"/>
                  <a:pt x="184" y="76"/>
                  <a:pt x="174" y="103"/>
                </a:cubicBezTo>
                <a:cubicBezTo>
                  <a:pt x="164" y="131"/>
                  <a:pt x="159" y="147"/>
                  <a:pt x="159" y="153"/>
                </a:cubicBezTo>
                <a:cubicBezTo>
                  <a:pt x="159" y="160"/>
                  <a:pt x="161" y="163"/>
                  <a:pt x="166" y="163"/>
                </a:cubicBezTo>
                <a:cubicBezTo>
                  <a:pt x="167" y="163"/>
                  <a:pt x="168" y="163"/>
                  <a:pt x="169" y="163"/>
                </a:cubicBezTo>
                <a:cubicBezTo>
                  <a:pt x="177" y="161"/>
                  <a:pt x="184" y="156"/>
                  <a:pt x="190" y="148"/>
                </a:cubicBezTo>
                <a:cubicBezTo>
                  <a:pt x="196" y="139"/>
                  <a:pt x="200" y="129"/>
                  <a:pt x="203" y="116"/>
                </a:cubicBezTo>
                <a:cubicBezTo>
                  <a:pt x="204" y="114"/>
                  <a:pt x="206" y="113"/>
                  <a:pt x="211" y="113"/>
                </a:cubicBezTo>
                <a:cubicBezTo>
                  <a:pt x="216" y="113"/>
                  <a:pt x="219" y="114"/>
                  <a:pt x="219" y="116"/>
                </a:cubicBezTo>
                <a:cubicBezTo>
                  <a:pt x="219" y="117"/>
                  <a:pt x="218" y="119"/>
                  <a:pt x="217" y="122"/>
                </a:cubicBezTo>
                <a:cubicBezTo>
                  <a:pt x="215" y="130"/>
                  <a:pt x="212" y="137"/>
                  <a:pt x="209" y="145"/>
                </a:cubicBezTo>
                <a:cubicBezTo>
                  <a:pt x="205" y="152"/>
                  <a:pt x="199" y="159"/>
                  <a:pt x="191" y="166"/>
                </a:cubicBezTo>
                <a:cubicBezTo>
                  <a:pt x="182" y="174"/>
                  <a:pt x="173" y="177"/>
                  <a:pt x="164" y="177"/>
                </a:cubicBezTo>
                <a:cubicBezTo>
                  <a:pt x="152" y="177"/>
                  <a:pt x="142" y="173"/>
                  <a:pt x="136" y="166"/>
                </a:cubicBezTo>
                <a:cubicBezTo>
                  <a:pt x="131" y="159"/>
                  <a:pt x="128" y="152"/>
                  <a:pt x="128" y="145"/>
                </a:cubicBezTo>
                <a:cubicBezTo>
                  <a:pt x="128" y="140"/>
                  <a:pt x="133" y="124"/>
                  <a:pt x="142" y="98"/>
                </a:cubicBezTo>
                <a:cubicBezTo>
                  <a:pt x="152" y="71"/>
                  <a:pt x="157" y="52"/>
                  <a:pt x="158" y="38"/>
                </a:cubicBezTo>
                <a:cubicBezTo>
                  <a:pt x="158" y="23"/>
                  <a:pt x="152" y="15"/>
                  <a:pt x="139" y="15"/>
                </a:cubicBezTo>
                <a:lnTo>
                  <a:pt x="137" y="15"/>
                </a:lnTo>
                <a:cubicBezTo>
                  <a:pt x="115" y="15"/>
                  <a:pt x="96" y="29"/>
                  <a:pt x="81" y="55"/>
                </a:cubicBezTo>
                <a:lnTo>
                  <a:pt x="78" y="59"/>
                </a:lnTo>
                <a:lnTo>
                  <a:pt x="65" y="112"/>
                </a:lnTo>
                <a:cubicBezTo>
                  <a:pt x="57" y="146"/>
                  <a:pt x="52" y="164"/>
                  <a:pt x="50" y="167"/>
                </a:cubicBezTo>
                <a:cubicBezTo>
                  <a:pt x="47" y="174"/>
                  <a:pt x="41" y="177"/>
                  <a:pt x="34" y="177"/>
                </a:cubicBezTo>
                <a:cubicBezTo>
                  <a:pt x="30" y="177"/>
                  <a:pt x="27" y="177"/>
                  <a:pt x="25" y="175"/>
                </a:cubicBezTo>
                <a:cubicBezTo>
                  <a:pt x="23" y="173"/>
                  <a:pt x="22" y="172"/>
                  <a:pt x="21" y="170"/>
                </a:cubicBezTo>
                <a:cubicBezTo>
                  <a:pt x="20" y="169"/>
                  <a:pt x="20" y="167"/>
                  <a:pt x="20" y="166"/>
                </a:cubicBezTo>
                <a:cubicBezTo>
                  <a:pt x="20" y="163"/>
                  <a:pt x="25" y="142"/>
                  <a:pt x="35" y="103"/>
                </a:cubicBezTo>
                <a:cubicBezTo>
                  <a:pt x="45" y="64"/>
                  <a:pt x="50" y="43"/>
                  <a:pt x="51" y="39"/>
                </a:cubicBezTo>
                <a:cubicBezTo>
                  <a:pt x="51" y="38"/>
                  <a:pt x="51" y="35"/>
                  <a:pt x="51" y="30"/>
                </a:cubicBezTo>
                <a:cubicBezTo>
                  <a:pt x="51" y="20"/>
                  <a:pt x="48" y="15"/>
                  <a:pt x="42" y="15"/>
                </a:cubicBezTo>
                <a:cubicBezTo>
                  <a:pt x="32" y="15"/>
                  <a:pt x="24" y="28"/>
                  <a:pt x="17" y="54"/>
                </a:cubicBezTo>
                <a:cubicBezTo>
                  <a:pt x="16" y="59"/>
                  <a:pt x="15" y="62"/>
                  <a:pt x="15" y="62"/>
                </a:cubicBezTo>
                <a:cubicBezTo>
                  <a:pt x="14" y="64"/>
                  <a:pt x="12" y="65"/>
                  <a:pt x="7" y="65"/>
                </a:cubicBezTo>
                <a:lnTo>
                  <a:pt x="2" y="65"/>
                </a:lnTo>
                <a:cubicBezTo>
                  <a:pt x="0" y="63"/>
                  <a:pt x="0" y="62"/>
                  <a:pt x="0" y="61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"/>
          <p:cNvSpPr/>
          <p:nvPr/>
        </p:nvSpPr>
        <p:spPr>
          <a:xfrm>
            <a:off x="7678800" y="3895200"/>
            <a:ext cx="78840" cy="63720"/>
          </a:xfrm>
          <a:custGeom>
            <a:avLst/>
            <a:gdLst/>
            <a:ahLst/>
            <a:rect l="0" t="0" r="r" b="b"/>
            <a:pathLst>
              <a:path fill="none" w="219" h="177">
                <a:moveTo>
                  <a:pt x="0" y="61"/>
                </a:moveTo>
                <a:cubicBezTo>
                  <a:pt x="0" y="59"/>
                  <a:pt x="0" y="57"/>
                  <a:pt x="1" y="55"/>
                </a:cubicBezTo>
                <a:cubicBezTo>
                  <a:pt x="1" y="52"/>
                  <a:pt x="3" y="47"/>
                  <a:pt x="5" y="40"/>
                </a:cubicBezTo>
                <a:cubicBezTo>
                  <a:pt x="8" y="33"/>
                  <a:pt x="11" y="27"/>
                  <a:pt x="13" y="22"/>
                </a:cubicBezTo>
                <a:cubicBezTo>
                  <a:pt x="16" y="17"/>
                  <a:pt x="20" y="12"/>
                  <a:pt x="26" y="7"/>
                </a:cubicBezTo>
                <a:cubicBezTo>
                  <a:pt x="32" y="1"/>
                  <a:pt x="38" y="-1"/>
                  <a:pt x="44" y="0"/>
                </a:cubicBezTo>
                <a:cubicBezTo>
                  <a:pt x="53" y="0"/>
                  <a:pt x="61" y="2"/>
                  <a:pt x="68" y="8"/>
                </a:cubicBezTo>
                <a:cubicBezTo>
                  <a:pt x="74" y="12"/>
                  <a:pt x="78" y="17"/>
                  <a:pt x="79" y="21"/>
                </a:cubicBezTo>
                <a:cubicBezTo>
                  <a:pt x="81" y="25"/>
                  <a:pt x="82" y="28"/>
                  <a:pt x="82" y="29"/>
                </a:cubicBezTo>
                <a:cubicBezTo>
                  <a:pt x="82" y="30"/>
                  <a:pt x="82" y="30"/>
                  <a:pt x="82" y="30"/>
                </a:cubicBezTo>
                <a:lnTo>
                  <a:pt x="86" y="26"/>
                </a:lnTo>
                <a:cubicBezTo>
                  <a:pt x="102" y="9"/>
                  <a:pt x="120" y="0"/>
                  <a:pt x="141" y="0"/>
                </a:cubicBezTo>
                <a:cubicBezTo>
                  <a:pt x="156" y="0"/>
                  <a:pt x="167" y="3"/>
                  <a:pt x="175" y="11"/>
                </a:cubicBezTo>
                <a:cubicBezTo>
                  <a:pt x="184" y="18"/>
                  <a:pt x="188" y="28"/>
                  <a:pt x="189" y="42"/>
                </a:cubicBezTo>
                <a:cubicBezTo>
                  <a:pt x="189" y="55"/>
                  <a:pt x="184" y="76"/>
                  <a:pt x="174" y="103"/>
                </a:cubicBezTo>
                <a:cubicBezTo>
                  <a:pt x="164" y="131"/>
                  <a:pt x="159" y="147"/>
                  <a:pt x="159" y="153"/>
                </a:cubicBezTo>
                <a:cubicBezTo>
                  <a:pt x="159" y="160"/>
                  <a:pt x="161" y="163"/>
                  <a:pt x="166" y="163"/>
                </a:cubicBezTo>
                <a:cubicBezTo>
                  <a:pt x="167" y="163"/>
                  <a:pt x="168" y="163"/>
                  <a:pt x="169" y="163"/>
                </a:cubicBezTo>
                <a:cubicBezTo>
                  <a:pt x="177" y="161"/>
                  <a:pt x="184" y="156"/>
                  <a:pt x="190" y="148"/>
                </a:cubicBezTo>
                <a:cubicBezTo>
                  <a:pt x="196" y="139"/>
                  <a:pt x="200" y="129"/>
                  <a:pt x="203" y="116"/>
                </a:cubicBezTo>
                <a:cubicBezTo>
                  <a:pt x="204" y="114"/>
                  <a:pt x="206" y="113"/>
                  <a:pt x="211" y="113"/>
                </a:cubicBezTo>
                <a:cubicBezTo>
                  <a:pt x="216" y="113"/>
                  <a:pt x="219" y="114"/>
                  <a:pt x="219" y="116"/>
                </a:cubicBezTo>
                <a:cubicBezTo>
                  <a:pt x="219" y="117"/>
                  <a:pt x="218" y="119"/>
                  <a:pt x="217" y="122"/>
                </a:cubicBezTo>
                <a:cubicBezTo>
                  <a:pt x="215" y="130"/>
                  <a:pt x="212" y="137"/>
                  <a:pt x="209" y="145"/>
                </a:cubicBezTo>
                <a:cubicBezTo>
                  <a:pt x="205" y="152"/>
                  <a:pt x="199" y="159"/>
                  <a:pt x="191" y="166"/>
                </a:cubicBezTo>
                <a:cubicBezTo>
                  <a:pt x="182" y="174"/>
                  <a:pt x="173" y="177"/>
                  <a:pt x="164" y="177"/>
                </a:cubicBezTo>
                <a:cubicBezTo>
                  <a:pt x="152" y="177"/>
                  <a:pt x="142" y="173"/>
                  <a:pt x="136" y="166"/>
                </a:cubicBezTo>
                <a:cubicBezTo>
                  <a:pt x="131" y="159"/>
                  <a:pt x="128" y="152"/>
                  <a:pt x="128" y="145"/>
                </a:cubicBezTo>
                <a:cubicBezTo>
                  <a:pt x="128" y="140"/>
                  <a:pt x="133" y="124"/>
                  <a:pt x="142" y="98"/>
                </a:cubicBezTo>
                <a:cubicBezTo>
                  <a:pt x="152" y="71"/>
                  <a:pt x="157" y="52"/>
                  <a:pt x="158" y="38"/>
                </a:cubicBezTo>
                <a:cubicBezTo>
                  <a:pt x="158" y="23"/>
                  <a:pt x="152" y="15"/>
                  <a:pt x="139" y="15"/>
                </a:cubicBezTo>
                <a:lnTo>
                  <a:pt x="137" y="15"/>
                </a:lnTo>
                <a:cubicBezTo>
                  <a:pt x="115" y="15"/>
                  <a:pt x="96" y="29"/>
                  <a:pt x="81" y="55"/>
                </a:cubicBezTo>
                <a:lnTo>
                  <a:pt x="78" y="59"/>
                </a:lnTo>
                <a:lnTo>
                  <a:pt x="65" y="112"/>
                </a:lnTo>
                <a:cubicBezTo>
                  <a:pt x="57" y="146"/>
                  <a:pt x="52" y="164"/>
                  <a:pt x="50" y="167"/>
                </a:cubicBezTo>
                <a:cubicBezTo>
                  <a:pt x="47" y="174"/>
                  <a:pt x="41" y="177"/>
                  <a:pt x="34" y="177"/>
                </a:cubicBezTo>
                <a:cubicBezTo>
                  <a:pt x="30" y="177"/>
                  <a:pt x="27" y="177"/>
                  <a:pt x="25" y="175"/>
                </a:cubicBezTo>
                <a:cubicBezTo>
                  <a:pt x="23" y="173"/>
                  <a:pt x="22" y="172"/>
                  <a:pt x="21" y="170"/>
                </a:cubicBezTo>
                <a:cubicBezTo>
                  <a:pt x="20" y="169"/>
                  <a:pt x="20" y="167"/>
                  <a:pt x="20" y="166"/>
                </a:cubicBezTo>
                <a:cubicBezTo>
                  <a:pt x="20" y="163"/>
                  <a:pt x="25" y="142"/>
                  <a:pt x="35" y="103"/>
                </a:cubicBezTo>
                <a:cubicBezTo>
                  <a:pt x="45" y="64"/>
                  <a:pt x="50" y="43"/>
                  <a:pt x="51" y="39"/>
                </a:cubicBezTo>
                <a:cubicBezTo>
                  <a:pt x="51" y="38"/>
                  <a:pt x="51" y="35"/>
                  <a:pt x="51" y="30"/>
                </a:cubicBezTo>
                <a:cubicBezTo>
                  <a:pt x="51" y="20"/>
                  <a:pt x="48" y="15"/>
                  <a:pt x="42" y="15"/>
                </a:cubicBezTo>
                <a:cubicBezTo>
                  <a:pt x="32" y="15"/>
                  <a:pt x="24" y="28"/>
                  <a:pt x="17" y="54"/>
                </a:cubicBezTo>
                <a:cubicBezTo>
                  <a:pt x="16" y="59"/>
                  <a:pt x="15" y="62"/>
                  <a:pt x="15" y="62"/>
                </a:cubicBezTo>
                <a:cubicBezTo>
                  <a:pt x="14" y="64"/>
                  <a:pt x="12" y="65"/>
                  <a:pt x="7" y="65"/>
                </a:cubicBezTo>
                <a:lnTo>
                  <a:pt x="2" y="65"/>
                </a:lnTo>
                <a:cubicBezTo>
                  <a:pt x="0" y="63"/>
                  <a:pt x="0" y="62"/>
                  <a:pt x="0" y="61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"/>
          <p:cNvSpPr/>
          <p:nvPr/>
        </p:nvSpPr>
        <p:spPr>
          <a:xfrm>
            <a:off x="7482960" y="3832920"/>
            <a:ext cx="470160" cy="12240"/>
          </a:xfrm>
          <a:custGeom>
            <a:avLst/>
            <a:gdLst/>
            <a:ahLst/>
            <a:rect l="0" t="0" r="r" b="b"/>
            <a:pathLst>
              <a:path w="1306" h="34">
                <a:moveTo>
                  <a:pt x="0" y="0"/>
                </a:moveTo>
                <a:lnTo>
                  <a:pt x="1306" y="0"/>
                </a:lnTo>
                <a:lnTo>
                  <a:pt x="1306" y="34"/>
                </a:lnTo>
                <a:lnTo>
                  <a:pt x="0" y="34"/>
                </a:lnTo>
                <a:lnTo>
                  <a:pt x="0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8031960" y="3772800"/>
            <a:ext cx="132840" cy="132480"/>
          </a:xfrm>
          <a:custGeom>
            <a:avLst/>
            <a:gdLst/>
            <a:ahLst/>
            <a:rect l="0" t="0" r="r" b="b"/>
            <a:pathLst>
              <a:path w="369" h="368">
                <a:moveTo>
                  <a:pt x="0" y="191"/>
                </a:moveTo>
                <a:cubicBezTo>
                  <a:pt x="0" y="191"/>
                  <a:pt x="0" y="188"/>
                  <a:pt x="0" y="184"/>
                </a:cubicBezTo>
                <a:cubicBezTo>
                  <a:pt x="0" y="179"/>
                  <a:pt x="3" y="175"/>
                  <a:pt x="8" y="173"/>
                </a:cubicBezTo>
                <a:lnTo>
                  <a:pt x="173" y="173"/>
                </a:lnTo>
                <a:lnTo>
                  <a:pt x="173" y="90"/>
                </a:lnTo>
                <a:lnTo>
                  <a:pt x="174" y="7"/>
                </a:lnTo>
                <a:cubicBezTo>
                  <a:pt x="177" y="2"/>
                  <a:pt x="181" y="0"/>
                  <a:pt x="184" y="0"/>
                </a:cubicBezTo>
                <a:cubicBezTo>
                  <a:pt x="189" y="0"/>
                  <a:pt x="193" y="2"/>
                  <a:pt x="195" y="8"/>
                </a:cubicBezTo>
                <a:lnTo>
                  <a:pt x="195" y="173"/>
                </a:lnTo>
                <a:lnTo>
                  <a:pt x="361" y="173"/>
                </a:lnTo>
                <a:cubicBezTo>
                  <a:pt x="366" y="175"/>
                  <a:pt x="369" y="179"/>
                  <a:pt x="369" y="184"/>
                </a:cubicBezTo>
                <a:cubicBezTo>
                  <a:pt x="369" y="188"/>
                  <a:pt x="366" y="192"/>
                  <a:pt x="361" y="195"/>
                </a:cubicBezTo>
                <a:lnTo>
                  <a:pt x="195" y="195"/>
                </a:lnTo>
                <a:lnTo>
                  <a:pt x="195" y="360"/>
                </a:lnTo>
                <a:cubicBezTo>
                  <a:pt x="192" y="365"/>
                  <a:pt x="189" y="368"/>
                  <a:pt x="185" y="368"/>
                </a:cubicBezTo>
                <a:lnTo>
                  <a:pt x="184" y="368"/>
                </a:lnTo>
                <a:lnTo>
                  <a:pt x="183" y="368"/>
                </a:lnTo>
                <a:cubicBezTo>
                  <a:pt x="179" y="368"/>
                  <a:pt x="175" y="365"/>
                  <a:pt x="173" y="360"/>
                </a:cubicBezTo>
                <a:lnTo>
                  <a:pt x="173" y="195"/>
                </a:lnTo>
                <a:lnTo>
                  <a:pt x="8" y="195"/>
                </a:lnTo>
                <a:cubicBezTo>
                  <a:pt x="3" y="192"/>
                  <a:pt x="0" y="188"/>
                  <a:pt x="0" y="184"/>
                </a:cubicBezTo>
                <a:lnTo>
                  <a:pt x="0" y="191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>
            <a:off x="8031960" y="3772800"/>
            <a:ext cx="132840" cy="132480"/>
          </a:xfrm>
          <a:custGeom>
            <a:avLst/>
            <a:gdLst/>
            <a:ahLst/>
            <a:rect l="0" t="0" r="r" b="b"/>
            <a:pathLst>
              <a:path fill="none" w="369" h="368">
                <a:moveTo>
                  <a:pt x="0" y="191"/>
                </a:moveTo>
                <a:cubicBezTo>
                  <a:pt x="0" y="191"/>
                  <a:pt x="0" y="188"/>
                  <a:pt x="0" y="184"/>
                </a:cubicBezTo>
                <a:cubicBezTo>
                  <a:pt x="0" y="179"/>
                  <a:pt x="3" y="175"/>
                  <a:pt x="8" y="173"/>
                </a:cubicBezTo>
                <a:lnTo>
                  <a:pt x="173" y="173"/>
                </a:lnTo>
                <a:lnTo>
                  <a:pt x="173" y="90"/>
                </a:lnTo>
                <a:lnTo>
                  <a:pt x="174" y="7"/>
                </a:lnTo>
                <a:cubicBezTo>
                  <a:pt x="177" y="2"/>
                  <a:pt x="181" y="0"/>
                  <a:pt x="184" y="0"/>
                </a:cubicBezTo>
                <a:cubicBezTo>
                  <a:pt x="189" y="0"/>
                  <a:pt x="193" y="2"/>
                  <a:pt x="195" y="8"/>
                </a:cubicBezTo>
                <a:lnTo>
                  <a:pt x="195" y="173"/>
                </a:lnTo>
                <a:lnTo>
                  <a:pt x="361" y="173"/>
                </a:lnTo>
                <a:cubicBezTo>
                  <a:pt x="366" y="175"/>
                  <a:pt x="369" y="179"/>
                  <a:pt x="369" y="184"/>
                </a:cubicBezTo>
                <a:cubicBezTo>
                  <a:pt x="369" y="188"/>
                  <a:pt x="366" y="192"/>
                  <a:pt x="361" y="195"/>
                </a:cubicBezTo>
                <a:lnTo>
                  <a:pt x="195" y="195"/>
                </a:lnTo>
                <a:lnTo>
                  <a:pt x="195" y="360"/>
                </a:lnTo>
                <a:cubicBezTo>
                  <a:pt x="192" y="365"/>
                  <a:pt x="189" y="368"/>
                  <a:pt x="185" y="368"/>
                </a:cubicBezTo>
                <a:lnTo>
                  <a:pt x="184" y="368"/>
                </a:lnTo>
                <a:lnTo>
                  <a:pt x="183" y="368"/>
                </a:lnTo>
                <a:cubicBezTo>
                  <a:pt x="179" y="368"/>
                  <a:pt x="175" y="365"/>
                  <a:pt x="173" y="360"/>
                </a:cubicBezTo>
                <a:lnTo>
                  <a:pt x="173" y="195"/>
                </a:lnTo>
                <a:lnTo>
                  <a:pt x="8" y="195"/>
                </a:lnTo>
                <a:cubicBezTo>
                  <a:pt x="3" y="192"/>
                  <a:pt x="0" y="188"/>
                  <a:pt x="0" y="184"/>
                </a:cubicBezTo>
                <a:lnTo>
                  <a:pt x="0" y="191"/>
                </a:ln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"/>
          <p:cNvSpPr/>
          <p:nvPr/>
        </p:nvSpPr>
        <p:spPr>
          <a:xfrm>
            <a:off x="8313120" y="3748320"/>
            <a:ext cx="61200" cy="63720"/>
          </a:xfrm>
          <a:custGeom>
            <a:avLst/>
            <a:gdLst/>
            <a:ahLst/>
            <a:rect l="0" t="0" r="r" b="b"/>
            <a:pathLst>
              <a:path w="170" h="177">
                <a:moveTo>
                  <a:pt x="121" y="40"/>
                </a:moveTo>
                <a:cubicBezTo>
                  <a:pt x="119" y="40"/>
                  <a:pt x="112" y="39"/>
                  <a:pt x="101" y="36"/>
                </a:cubicBezTo>
                <a:cubicBezTo>
                  <a:pt x="90" y="33"/>
                  <a:pt x="81" y="32"/>
                  <a:pt x="76" y="32"/>
                </a:cubicBezTo>
                <a:cubicBezTo>
                  <a:pt x="71" y="32"/>
                  <a:pt x="67" y="32"/>
                  <a:pt x="63" y="33"/>
                </a:cubicBezTo>
                <a:cubicBezTo>
                  <a:pt x="59" y="34"/>
                  <a:pt x="56" y="35"/>
                  <a:pt x="54" y="37"/>
                </a:cubicBezTo>
                <a:cubicBezTo>
                  <a:pt x="52" y="39"/>
                  <a:pt x="50" y="40"/>
                  <a:pt x="49" y="41"/>
                </a:cubicBezTo>
                <a:cubicBezTo>
                  <a:pt x="48" y="43"/>
                  <a:pt x="48" y="44"/>
                  <a:pt x="47" y="46"/>
                </a:cubicBezTo>
                <a:lnTo>
                  <a:pt x="46" y="47"/>
                </a:lnTo>
                <a:cubicBezTo>
                  <a:pt x="45" y="48"/>
                  <a:pt x="43" y="48"/>
                  <a:pt x="40" y="48"/>
                </a:cubicBezTo>
                <a:cubicBezTo>
                  <a:pt x="34" y="48"/>
                  <a:pt x="32" y="47"/>
                  <a:pt x="32" y="45"/>
                </a:cubicBezTo>
                <a:cubicBezTo>
                  <a:pt x="32" y="44"/>
                  <a:pt x="32" y="42"/>
                  <a:pt x="33" y="40"/>
                </a:cubicBezTo>
                <a:cubicBezTo>
                  <a:pt x="36" y="30"/>
                  <a:pt x="42" y="21"/>
                  <a:pt x="50" y="14"/>
                </a:cubicBezTo>
                <a:cubicBezTo>
                  <a:pt x="57" y="6"/>
                  <a:pt x="66" y="2"/>
                  <a:pt x="75" y="0"/>
                </a:cubicBezTo>
                <a:cubicBezTo>
                  <a:pt x="79" y="0"/>
                  <a:pt x="81" y="0"/>
                  <a:pt x="82" y="0"/>
                </a:cubicBezTo>
                <a:cubicBezTo>
                  <a:pt x="89" y="0"/>
                  <a:pt x="94" y="2"/>
                  <a:pt x="100" y="6"/>
                </a:cubicBezTo>
                <a:cubicBezTo>
                  <a:pt x="105" y="11"/>
                  <a:pt x="110" y="15"/>
                  <a:pt x="114" y="19"/>
                </a:cubicBezTo>
                <a:cubicBezTo>
                  <a:pt x="119" y="23"/>
                  <a:pt x="124" y="25"/>
                  <a:pt x="129" y="26"/>
                </a:cubicBezTo>
                <a:cubicBezTo>
                  <a:pt x="135" y="26"/>
                  <a:pt x="141" y="21"/>
                  <a:pt x="147" y="13"/>
                </a:cubicBezTo>
                <a:cubicBezTo>
                  <a:pt x="153" y="4"/>
                  <a:pt x="156" y="0"/>
                  <a:pt x="156" y="0"/>
                </a:cubicBezTo>
                <a:cubicBezTo>
                  <a:pt x="157" y="0"/>
                  <a:pt x="159" y="0"/>
                  <a:pt x="162" y="0"/>
                </a:cubicBezTo>
                <a:lnTo>
                  <a:pt x="167" y="0"/>
                </a:lnTo>
                <a:cubicBezTo>
                  <a:pt x="169" y="1"/>
                  <a:pt x="170" y="2"/>
                  <a:pt x="170" y="3"/>
                </a:cubicBezTo>
                <a:cubicBezTo>
                  <a:pt x="170" y="4"/>
                  <a:pt x="169" y="6"/>
                  <a:pt x="168" y="8"/>
                </a:cubicBezTo>
                <a:cubicBezTo>
                  <a:pt x="166" y="11"/>
                  <a:pt x="165" y="13"/>
                  <a:pt x="162" y="16"/>
                </a:cubicBezTo>
                <a:cubicBezTo>
                  <a:pt x="160" y="19"/>
                  <a:pt x="158" y="22"/>
                  <a:pt x="156" y="25"/>
                </a:cubicBezTo>
                <a:cubicBezTo>
                  <a:pt x="154" y="28"/>
                  <a:pt x="152" y="30"/>
                  <a:pt x="150" y="32"/>
                </a:cubicBezTo>
                <a:lnTo>
                  <a:pt x="147" y="36"/>
                </a:lnTo>
                <a:cubicBezTo>
                  <a:pt x="135" y="49"/>
                  <a:pt x="118" y="68"/>
                  <a:pt x="93" y="90"/>
                </a:cubicBezTo>
                <a:cubicBezTo>
                  <a:pt x="69" y="111"/>
                  <a:pt x="54" y="125"/>
                  <a:pt x="48" y="132"/>
                </a:cubicBezTo>
                <a:lnTo>
                  <a:pt x="44" y="136"/>
                </a:lnTo>
                <a:lnTo>
                  <a:pt x="50" y="137"/>
                </a:lnTo>
                <a:cubicBezTo>
                  <a:pt x="55" y="137"/>
                  <a:pt x="64" y="138"/>
                  <a:pt x="75" y="141"/>
                </a:cubicBezTo>
                <a:cubicBezTo>
                  <a:pt x="86" y="144"/>
                  <a:pt x="94" y="145"/>
                  <a:pt x="99" y="145"/>
                </a:cubicBezTo>
                <a:cubicBezTo>
                  <a:pt x="109" y="145"/>
                  <a:pt x="118" y="143"/>
                  <a:pt x="127" y="138"/>
                </a:cubicBezTo>
                <a:cubicBezTo>
                  <a:pt x="135" y="133"/>
                  <a:pt x="140" y="126"/>
                  <a:pt x="143" y="118"/>
                </a:cubicBezTo>
                <a:cubicBezTo>
                  <a:pt x="144" y="116"/>
                  <a:pt x="145" y="115"/>
                  <a:pt x="147" y="114"/>
                </a:cubicBezTo>
                <a:cubicBezTo>
                  <a:pt x="147" y="114"/>
                  <a:pt x="149" y="113"/>
                  <a:pt x="153" y="113"/>
                </a:cubicBezTo>
                <a:cubicBezTo>
                  <a:pt x="157" y="113"/>
                  <a:pt x="160" y="115"/>
                  <a:pt x="160" y="117"/>
                </a:cubicBezTo>
                <a:cubicBezTo>
                  <a:pt x="160" y="119"/>
                  <a:pt x="160" y="120"/>
                  <a:pt x="160" y="121"/>
                </a:cubicBezTo>
                <a:cubicBezTo>
                  <a:pt x="155" y="137"/>
                  <a:pt x="147" y="150"/>
                  <a:pt x="133" y="161"/>
                </a:cubicBezTo>
                <a:cubicBezTo>
                  <a:pt x="120" y="172"/>
                  <a:pt x="107" y="177"/>
                  <a:pt x="95" y="177"/>
                </a:cubicBezTo>
                <a:cubicBezTo>
                  <a:pt x="88" y="177"/>
                  <a:pt x="82" y="175"/>
                  <a:pt x="77" y="171"/>
                </a:cubicBezTo>
                <a:cubicBezTo>
                  <a:pt x="71" y="166"/>
                  <a:pt x="66" y="162"/>
                  <a:pt x="61" y="157"/>
                </a:cubicBezTo>
                <a:cubicBezTo>
                  <a:pt x="56" y="153"/>
                  <a:pt x="51" y="151"/>
                  <a:pt x="47" y="151"/>
                </a:cubicBezTo>
                <a:cubicBezTo>
                  <a:pt x="35" y="151"/>
                  <a:pt x="25" y="159"/>
                  <a:pt x="16" y="174"/>
                </a:cubicBezTo>
                <a:cubicBezTo>
                  <a:pt x="14" y="176"/>
                  <a:pt x="12" y="177"/>
                  <a:pt x="9" y="177"/>
                </a:cubicBezTo>
                <a:lnTo>
                  <a:pt x="7" y="177"/>
                </a:lnTo>
                <a:lnTo>
                  <a:pt x="2" y="177"/>
                </a:lnTo>
                <a:cubicBezTo>
                  <a:pt x="0" y="176"/>
                  <a:pt x="0" y="175"/>
                  <a:pt x="0" y="174"/>
                </a:cubicBezTo>
                <a:cubicBezTo>
                  <a:pt x="0" y="170"/>
                  <a:pt x="7" y="159"/>
                  <a:pt x="22" y="140"/>
                </a:cubicBezTo>
                <a:cubicBezTo>
                  <a:pt x="32" y="129"/>
                  <a:pt x="50" y="112"/>
                  <a:pt x="74" y="90"/>
                </a:cubicBezTo>
                <a:cubicBezTo>
                  <a:pt x="98" y="67"/>
                  <a:pt x="113" y="52"/>
                  <a:pt x="119" y="46"/>
                </a:cubicBezTo>
                <a:cubicBezTo>
                  <a:pt x="122" y="42"/>
                  <a:pt x="123" y="40"/>
                  <a:pt x="121" y="40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8313120" y="3748320"/>
            <a:ext cx="61200" cy="63720"/>
          </a:xfrm>
          <a:custGeom>
            <a:avLst/>
            <a:gdLst/>
            <a:ahLst/>
            <a:rect l="0" t="0" r="r" b="b"/>
            <a:pathLst>
              <a:path fill="none" w="170" h="177">
                <a:moveTo>
                  <a:pt x="121" y="40"/>
                </a:moveTo>
                <a:cubicBezTo>
                  <a:pt x="119" y="40"/>
                  <a:pt x="112" y="39"/>
                  <a:pt x="101" y="36"/>
                </a:cubicBezTo>
                <a:cubicBezTo>
                  <a:pt x="90" y="33"/>
                  <a:pt x="81" y="32"/>
                  <a:pt x="76" y="32"/>
                </a:cubicBezTo>
                <a:cubicBezTo>
                  <a:pt x="71" y="32"/>
                  <a:pt x="67" y="32"/>
                  <a:pt x="63" y="33"/>
                </a:cubicBezTo>
                <a:cubicBezTo>
                  <a:pt x="59" y="34"/>
                  <a:pt x="56" y="35"/>
                  <a:pt x="54" y="37"/>
                </a:cubicBezTo>
                <a:cubicBezTo>
                  <a:pt x="52" y="39"/>
                  <a:pt x="50" y="40"/>
                  <a:pt x="49" y="41"/>
                </a:cubicBezTo>
                <a:cubicBezTo>
                  <a:pt x="48" y="43"/>
                  <a:pt x="48" y="44"/>
                  <a:pt x="47" y="46"/>
                </a:cubicBezTo>
                <a:lnTo>
                  <a:pt x="46" y="47"/>
                </a:lnTo>
                <a:cubicBezTo>
                  <a:pt x="45" y="48"/>
                  <a:pt x="43" y="48"/>
                  <a:pt x="40" y="48"/>
                </a:cubicBezTo>
                <a:cubicBezTo>
                  <a:pt x="34" y="48"/>
                  <a:pt x="32" y="47"/>
                  <a:pt x="32" y="45"/>
                </a:cubicBezTo>
                <a:cubicBezTo>
                  <a:pt x="32" y="44"/>
                  <a:pt x="32" y="42"/>
                  <a:pt x="33" y="40"/>
                </a:cubicBezTo>
                <a:cubicBezTo>
                  <a:pt x="36" y="30"/>
                  <a:pt x="42" y="21"/>
                  <a:pt x="50" y="14"/>
                </a:cubicBezTo>
                <a:cubicBezTo>
                  <a:pt x="57" y="6"/>
                  <a:pt x="66" y="2"/>
                  <a:pt x="75" y="0"/>
                </a:cubicBezTo>
                <a:cubicBezTo>
                  <a:pt x="79" y="0"/>
                  <a:pt x="81" y="0"/>
                  <a:pt x="82" y="0"/>
                </a:cubicBezTo>
                <a:cubicBezTo>
                  <a:pt x="89" y="0"/>
                  <a:pt x="94" y="2"/>
                  <a:pt x="100" y="6"/>
                </a:cubicBezTo>
                <a:cubicBezTo>
                  <a:pt x="105" y="11"/>
                  <a:pt x="110" y="15"/>
                  <a:pt x="114" y="19"/>
                </a:cubicBezTo>
                <a:cubicBezTo>
                  <a:pt x="119" y="23"/>
                  <a:pt x="124" y="25"/>
                  <a:pt x="129" y="26"/>
                </a:cubicBezTo>
                <a:cubicBezTo>
                  <a:pt x="135" y="26"/>
                  <a:pt x="141" y="21"/>
                  <a:pt x="147" y="13"/>
                </a:cubicBezTo>
                <a:cubicBezTo>
                  <a:pt x="153" y="4"/>
                  <a:pt x="156" y="0"/>
                  <a:pt x="156" y="0"/>
                </a:cubicBezTo>
                <a:cubicBezTo>
                  <a:pt x="157" y="0"/>
                  <a:pt x="159" y="0"/>
                  <a:pt x="162" y="0"/>
                </a:cubicBezTo>
                <a:lnTo>
                  <a:pt x="167" y="0"/>
                </a:lnTo>
                <a:cubicBezTo>
                  <a:pt x="169" y="1"/>
                  <a:pt x="170" y="2"/>
                  <a:pt x="170" y="3"/>
                </a:cubicBezTo>
                <a:cubicBezTo>
                  <a:pt x="170" y="4"/>
                  <a:pt x="169" y="6"/>
                  <a:pt x="168" y="8"/>
                </a:cubicBezTo>
                <a:cubicBezTo>
                  <a:pt x="166" y="11"/>
                  <a:pt x="165" y="13"/>
                  <a:pt x="162" y="16"/>
                </a:cubicBezTo>
                <a:cubicBezTo>
                  <a:pt x="160" y="19"/>
                  <a:pt x="158" y="22"/>
                  <a:pt x="156" y="25"/>
                </a:cubicBezTo>
                <a:cubicBezTo>
                  <a:pt x="154" y="28"/>
                  <a:pt x="152" y="30"/>
                  <a:pt x="150" y="32"/>
                </a:cubicBezTo>
                <a:lnTo>
                  <a:pt x="147" y="36"/>
                </a:lnTo>
                <a:cubicBezTo>
                  <a:pt x="135" y="49"/>
                  <a:pt x="118" y="68"/>
                  <a:pt x="93" y="90"/>
                </a:cubicBezTo>
                <a:cubicBezTo>
                  <a:pt x="69" y="111"/>
                  <a:pt x="54" y="125"/>
                  <a:pt x="48" y="132"/>
                </a:cubicBezTo>
                <a:lnTo>
                  <a:pt x="44" y="136"/>
                </a:lnTo>
                <a:lnTo>
                  <a:pt x="50" y="137"/>
                </a:lnTo>
                <a:cubicBezTo>
                  <a:pt x="55" y="137"/>
                  <a:pt x="64" y="138"/>
                  <a:pt x="75" y="141"/>
                </a:cubicBezTo>
                <a:cubicBezTo>
                  <a:pt x="86" y="144"/>
                  <a:pt x="94" y="145"/>
                  <a:pt x="99" y="145"/>
                </a:cubicBezTo>
                <a:cubicBezTo>
                  <a:pt x="109" y="145"/>
                  <a:pt x="118" y="143"/>
                  <a:pt x="127" y="138"/>
                </a:cubicBezTo>
                <a:cubicBezTo>
                  <a:pt x="135" y="133"/>
                  <a:pt x="140" y="126"/>
                  <a:pt x="143" y="118"/>
                </a:cubicBezTo>
                <a:cubicBezTo>
                  <a:pt x="144" y="116"/>
                  <a:pt x="145" y="115"/>
                  <a:pt x="147" y="114"/>
                </a:cubicBezTo>
                <a:cubicBezTo>
                  <a:pt x="147" y="114"/>
                  <a:pt x="149" y="113"/>
                  <a:pt x="153" y="113"/>
                </a:cubicBezTo>
                <a:cubicBezTo>
                  <a:pt x="157" y="113"/>
                  <a:pt x="160" y="115"/>
                  <a:pt x="160" y="117"/>
                </a:cubicBezTo>
                <a:cubicBezTo>
                  <a:pt x="160" y="119"/>
                  <a:pt x="160" y="120"/>
                  <a:pt x="160" y="121"/>
                </a:cubicBezTo>
                <a:cubicBezTo>
                  <a:pt x="155" y="137"/>
                  <a:pt x="147" y="150"/>
                  <a:pt x="133" y="161"/>
                </a:cubicBezTo>
                <a:cubicBezTo>
                  <a:pt x="120" y="172"/>
                  <a:pt x="107" y="177"/>
                  <a:pt x="95" y="177"/>
                </a:cubicBezTo>
                <a:cubicBezTo>
                  <a:pt x="88" y="177"/>
                  <a:pt x="82" y="175"/>
                  <a:pt x="77" y="171"/>
                </a:cubicBezTo>
                <a:cubicBezTo>
                  <a:pt x="71" y="166"/>
                  <a:pt x="66" y="162"/>
                  <a:pt x="61" y="157"/>
                </a:cubicBezTo>
                <a:cubicBezTo>
                  <a:pt x="56" y="153"/>
                  <a:pt x="51" y="151"/>
                  <a:pt x="47" y="151"/>
                </a:cubicBezTo>
                <a:cubicBezTo>
                  <a:pt x="35" y="151"/>
                  <a:pt x="25" y="159"/>
                  <a:pt x="16" y="174"/>
                </a:cubicBezTo>
                <a:cubicBezTo>
                  <a:pt x="14" y="176"/>
                  <a:pt x="12" y="177"/>
                  <a:pt x="9" y="177"/>
                </a:cubicBezTo>
                <a:lnTo>
                  <a:pt x="7" y="177"/>
                </a:lnTo>
                <a:lnTo>
                  <a:pt x="2" y="177"/>
                </a:lnTo>
                <a:cubicBezTo>
                  <a:pt x="0" y="176"/>
                  <a:pt x="0" y="175"/>
                  <a:pt x="0" y="174"/>
                </a:cubicBezTo>
                <a:cubicBezTo>
                  <a:pt x="0" y="170"/>
                  <a:pt x="7" y="159"/>
                  <a:pt x="22" y="140"/>
                </a:cubicBezTo>
                <a:cubicBezTo>
                  <a:pt x="32" y="129"/>
                  <a:pt x="50" y="112"/>
                  <a:pt x="74" y="90"/>
                </a:cubicBezTo>
                <a:cubicBezTo>
                  <a:pt x="98" y="67"/>
                  <a:pt x="113" y="52"/>
                  <a:pt x="119" y="46"/>
                </a:cubicBezTo>
                <a:cubicBezTo>
                  <a:pt x="122" y="42"/>
                  <a:pt x="123" y="40"/>
                  <a:pt x="121" y="40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"/>
          <p:cNvSpPr/>
          <p:nvPr/>
        </p:nvSpPr>
        <p:spPr>
          <a:xfrm>
            <a:off x="8382960" y="3693240"/>
            <a:ext cx="39960" cy="66240"/>
          </a:xfrm>
          <a:custGeom>
            <a:avLst/>
            <a:gdLst/>
            <a:ahLst/>
            <a:rect l="0" t="0" r="r" b="b"/>
            <a:pathLst>
              <a:path w="111" h="184">
                <a:moveTo>
                  <a:pt x="16" y="65"/>
                </a:moveTo>
                <a:cubicBezTo>
                  <a:pt x="12" y="65"/>
                  <a:pt x="8" y="63"/>
                  <a:pt x="5" y="60"/>
                </a:cubicBezTo>
                <a:cubicBezTo>
                  <a:pt x="2" y="57"/>
                  <a:pt x="0" y="53"/>
                  <a:pt x="0" y="48"/>
                </a:cubicBezTo>
                <a:cubicBezTo>
                  <a:pt x="0" y="35"/>
                  <a:pt x="5" y="23"/>
                  <a:pt x="15" y="14"/>
                </a:cubicBezTo>
                <a:cubicBezTo>
                  <a:pt x="25" y="4"/>
                  <a:pt x="37" y="0"/>
                  <a:pt x="51" y="0"/>
                </a:cubicBezTo>
                <a:cubicBezTo>
                  <a:pt x="68" y="0"/>
                  <a:pt x="82" y="5"/>
                  <a:pt x="94" y="15"/>
                </a:cubicBezTo>
                <a:cubicBezTo>
                  <a:pt x="105" y="25"/>
                  <a:pt x="111" y="39"/>
                  <a:pt x="111" y="55"/>
                </a:cubicBezTo>
                <a:cubicBezTo>
                  <a:pt x="111" y="63"/>
                  <a:pt x="109" y="70"/>
                  <a:pt x="106" y="78"/>
                </a:cubicBezTo>
                <a:cubicBezTo>
                  <a:pt x="102" y="86"/>
                  <a:pt x="98" y="92"/>
                  <a:pt x="93" y="97"/>
                </a:cubicBezTo>
                <a:cubicBezTo>
                  <a:pt x="86" y="103"/>
                  <a:pt x="79" y="110"/>
                  <a:pt x="69" y="118"/>
                </a:cubicBezTo>
                <a:cubicBezTo>
                  <a:pt x="63" y="124"/>
                  <a:pt x="54" y="132"/>
                  <a:pt x="42" y="143"/>
                </a:cubicBezTo>
                <a:lnTo>
                  <a:pt x="26" y="159"/>
                </a:lnTo>
                <a:lnTo>
                  <a:pt x="47" y="159"/>
                </a:lnTo>
                <a:cubicBezTo>
                  <a:pt x="75" y="159"/>
                  <a:pt x="92" y="159"/>
                  <a:pt x="94" y="158"/>
                </a:cubicBezTo>
                <a:cubicBezTo>
                  <a:pt x="95" y="157"/>
                  <a:pt x="97" y="149"/>
                  <a:pt x="100" y="133"/>
                </a:cubicBezTo>
                <a:lnTo>
                  <a:pt x="100" y="132"/>
                </a:lnTo>
                <a:lnTo>
                  <a:pt x="111" y="132"/>
                </a:lnTo>
                <a:lnTo>
                  <a:pt x="111" y="133"/>
                </a:lnTo>
                <a:cubicBezTo>
                  <a:pt x="111" y="134"/>
                  <a:pt x="110" y="142"/>
                  <a:pt x="108" y="158"/>
                </a:cubicBezTo>
                <a:cubicBezTo>
                  <a:pt x="106" y="174"/>
                  <a:pt x="104" y="183"/>
                  <a:pt x="104" y="184"/>
                </a:cubicBezTo>
                <a:lnTo>
                  <a:pt x="0" y="184"/>
                </a:lnTo>
                <a:lnTo>
                  <a:pt x="0" y="179"/>
                </a:lnTo>
                <a:lnTo>
                  <a:pt x="0" y="176"/>
                </a:lnTo>
                <a:cubicBezTo>
                  <a:pt x="0" y="175"/>
                  <a:pt x="1" y="173"/>
                  <a:pt x="2" y="172"/>
                </a:cubicBezTo>
                <a:cubicBezTo>
                  <a:pt x="3" y="170"/>
                  <a:pt x="6" y="167"/>
                  <a:pt x="10" y="162"/>
                </a:cubicBezTo>
                <a:cubicBezTo>
                  <a:pt x="15" y="156"/>
                  <a:pt x="20" y="151"/>
                  <a:pt x="24" y="147"/>
                </a:cubicBezTo>
                <a:cubicBezTo>
                  <a:pt x="26" y="145"/>
                  <a:pt x="29" y="141"/>
                  <a:pt x="33" y="136"/>
                </a:cubicBezTo>
                <a:cubicBezTo>
                  <a:pt x="38" y="131"/>
                  <a:pt x="41" y="128"/>
                  <a:pt x="43" y="126"/>
                </a:cubicBezTo>
                <a:cubicBezTo>
                  <a:pt x="44" y="124"/>
                  <a:pt x="47" y="121"/>
                  <a:pt x="51" y="117"/>
                </a:cubicBezTo>
                <a:cubicBezTo>
                  <a:pt x="54" y="113"/>
                  <a:pt x="57" y="110"/>
                  <a:pt x="58" y="108"/>
                </a:cubicBezTo>
                <a:cubicBezTo>
                  <a:pt x="60" y="106"/>
                  <a:pt x="62" y="103"/>
                  <a:pt x="65" y="99"/>
                </a:cubicBezTo>
                <a:cubicBezTo>
                  <a:pt x="68" y="96"/>
                  <a:pt x="69" y="93"/>
                  <a:pt x="71" y="91"/>
                </a:cubicBezTo>
                <a:cubicBezTo>
                  <a:pt x="72" y="88"/>
                  <a:pt x="73" y="85"/>
                  <a:pt x="75" y="83"/>
                </a:cubicBezTo>
                <a:cubicBezTo>
                  <a:pt x="76" y="79"/>
                  <a:pt x="78" y="76"/>
                  <a:pt x="78" y="73"/>
                </a:cubicBezTo>
                <a:cubicBezTo>
                  <a:pt x="79" y="70"/>
                  <a:pt x="80" y="67"/>
                  <a:pt x="80" y="64"/>
                </a:cubicBezTo>
                <a:cubicBezTo>
                  <a:pt x="81" y="62"/>
                  <a:pt x="81" y="59"/>
                  <a:pt x="81" y="55"/>
                </a:cubicBezTo>
                <a:cubicBezTo>
                  <a:pt x="81" y="44"/>
                  <a:pt x="78" y="34"/>
                  <a:pt x="72" y="25"/>
                </a:cubicBezTo>
                <a:cubicBezTo>
                  <a:pt x="65" y="17"/>
                  <a:pt x="57" y="13"/>
                  <a:pt x="45" y="13"/>
                </a:cubicBezTo>
                <a:cubicBezTo>
                  <a:pt x="39" y="13"/>
                  <a:pt x="34" y="14"/>
                  <a:pt x="29" y="17"/>
                </a:cubicBezTo>
                <a:cubicBezTo>
                  <a:pt x="24" y="20"/>
                  <a:pt x="21" y="23"/>
                  <a:pt x="19" y="26"/>
                </a:cubicBezTo>
                <a:cubicBezTo>
                  <a:pt x="17" y="29"/>
                  <a:pt x="16" y="31"/>
                  <a:pt x="16" y="32"/>
                </a:cubicBezTo>
                <a:cubicBezTo>
                  <a:pt x="16" y="32"/>
                  <a:pt x="17" y="32"/>
                  <a:pt x="18" y="32"/>
                </a:cubicBezTo>
                <a:cubicBezTo>
                  <a:pt x="21" y="32"/>
                  <a:pt x="25" y="33"/>
                  <a:pt x="28" y="36"/>
                </a:cubicBezTo>
                <a:cubicBezTo>
                  <a:pt x="32" y="38"/>
                  <a:pt x="33" y="43"/>
                  <a:pt x="33" y="48"/>
                </a:cubicBezTo>
                <a:cubicBezTo>
                  <a:pt x="33" y="53"/>
                  <a:pt x="32" y="57"/>
                  <a:pt x="29" y="60"/>
                </a:cubicBezTo>
                <a:cubicBezTo>
                  <a:pt x="26" y="63"/>
                  <a:pt x="22" y="65"/>
                  <a:pt x="16" y="65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"/>
          <p:cNvSpPr/>
          <p:nvPr/>
        </p:nvSpPr>
        <p:spPr>
          <a:xfrm>
            <a:off x="8382960" y="3693240"/>
            <a:ext cx="39960" cy="66240"/>
          </a:xfrm>
          <a:custGeom>
            <a:avLst/>
            <a:gdLst/>
            <a:ahLst/>
            <a:rect l="0" t="0" r="r" b="b"/>
            <a:pathLst>
              <a:path fill="none" w="111" h="184">
                <a:moveTo>
                  <a:pt x="16" y="65"/>
                </a:moveTo>
                <a:cubicBezTo>
                  <a:pt x="12" y="65"/>
                  <a:pt x="8" y="63"/>
                  <a:pt x="5" y="60"/>
                </a:cubicBezTo>
                <a:cubicBezTo>
                  <a:pt x="2" y="57"/>
                  <a:pt x="0" y="53"/>
                  <a:pt x="0" y="48"/>
                </a:cubicBezTo>
                <a:cubicBezTo>
                  <a:pt x="0" y="35"/>
                  <a:pt x="5" y="23"/>
                  <a:pt x="15" y="14"/>
                </a:cubicBezTo>
                <a:cubicBezTo>
                  <a:pt x="25" y="4"/>
                  <a:pt x="37" y="0"/>
                  <a:pt x="51" y="0"/>
                </a:cubicBezTo>
                <a:cubicBezTo>
                  <a:pt x="68" y="0"/>
                  <a:pt x="82" y="5"/>
                  <a:pt x="94" y="15"/>
                </a:cubicBezTo>
                <a:cubicBezTo>
                  <a:pt x="105" y="25"/>
                  <a:pt x="111" y="39"/>
                  <a:pt x="111" y="55"/>
                </a:cubicBezTo>
                <a:cubicBezTo>
                  <a:pt x="111" y="63"/>
                  <a:pt x="109" y="70"/>
                  <a:pt x="106" y="78"/>
                </a:cubicBezTo>
                <a:cubicBezTo>
                  <a:pt x="102" y="86"/>
                  <a:pt x="98" y="92"/>
                  <a:pt x="93" y="97"/>
                </a:cubicBezTo>
                <a:cubicBezTo>
                  <a:pt x="86" y="103"/>
                  <a:pt x="79" y="110"/>
                  <a:pt x="69" y="118"/>
                </a:cubicBezTo>
                <a:cubicBezTo>
                  <a:pt x="63" y="124"/>
                  <a:pt x="54" y="132"/>
                  <a:pt x="42" y="143"/>
                </a:cubicBezTo>
                <a:lnTo>
                  <a:pt x="26" y="159"/>
                </a:lnTo>
                <a:lnTo>
                  <a:pt x="47" y="159"/>
                </a:lnTo>
                <a:cubicBezTo>
                  <a:pt x="75" y="159"/>
                  <a:pt x="92" y="159"/>
                  <a:pt x="94" y="158"/>
                </a:cubicBezTo>
                <a:cubicBezTo>
                  <a:pt x="95" y="157"/>
                  <a:pt x="97" y="149"/>
                  <a:pt x="100" y="133"/>
                </a:cubicBezTo>
                <a:lnTo>
                  <a:pt x="100" y="132"/>
                </a:lnTo>
                <a:lnTo>
                  <a:pt x="111" y="132"/>
                </a:lnTo>
                <a:lnTo>
                  <a:pt x="111" y="133"/>
                </a:lnTo>
                <a:cubicBezTo>
                  <a:pt x="111" y="134"/>
                  <a:pt x="110" y="142"/>
                  <a:pt x="108" y="158"/>
                </a:cubicBezTo>
                <a:cubicBezTo>
                  <a:pt x="106" y="174"/>
                  <a:pt x="104" y="183"/>
                  <a:pt x="104" y="184"/>
                </a:cubicBezTo>
                <a:lnTo>
                  <a:pt x="0" y="184"/>
                </a:lnTo>
                <a:lnTo>
                  <a:pt x="0" y="179"/>
                </a:lnTo>
                <a:lnTo>
                  <a:pt x="0" y="176"/>
                </a:lnTo>
                <a:cubicBezTo>
                  <a:pt x="0" y="175"/>
                  <a:pt x="1" y="173"/>
                  <a:pt x="2" y="172"/>
                </a:cubicBezTo>
                <a:cubicBezTo>
                  <a:pt x="3" y="170"/>
                  <a:pt x="6" y="167"/>
                  <a:pt x="10" y="162"/>
                </a:cubicBezTo>
                <a:cubicBezTo>
                  <a:pt x="15" y="156"/>
                  <a:pt x="20" y="151"/>
                  <a:pt x="24" y="147"/>
                </a:cubicBezTo>
                <a:cubicBezTo>
                  <a:pt x="26" y="145"/>
                  <a:pt x="29" y="141"/>
                  <a:pt x="33" y="136"/>
                </a:cubicBezTo>
                <a:cubicBezTo>
                  <a:pt x="38" y="131"/>
                  <a:pt x="41" y="128"/>
                  <a:pt x="43" y="126"/>
                </a:cubicBezTo>
                <a:cubicBezTo>
                  <a:pt x="44" y="124"/>
                  <a:pt x="47" y="121"/>
                  <a:pt x="51" y="117"/>
                </a:cubicBezTo>
                <a:cubicBezTo>
                  <a:pt x="54" y="113"/>
                  <a:pt x="57" y="110"/>
                  <a:pt x="58" y="108"/>
                </a:cubicBezTo>
                <a:cubicBezTo>
                  <a:pt x="60" y="106"/>
                  <a:pt x="62" y="103"/>
                  <a:pt x="65" y="99"/>
                </a:cubicBezTo>
                <a:cubicBezTo>
                  <a:pt x="68" y="96"/>
                  <a:pt x="69" y="93"/>
                  <a:pt x="71" y="91"/>
                </a:cubicBezTo>
                <a:cubicBezTo>
                  <a:pt x="72" y="88"/>
                  <a:pt x="73" y="85"/>
                  <a:pt x="75" y="83"/>
                </a:cubicBezTo>
                <a:cubicBezTo>
                  <a:pt x="76" y="79"/>
                  <a:pt x="78" y="76"/>
                  <a:pt x="78" y="73"/>
                </a:cubicBezTo>
                <a:cubicBezTo>
                  <a:pt x="79" y="70"/>
                  <a:pt x="80" y="67"/>
                  <a:pt x="80" y="64"/>
                </a:cubicBezTo>
                <a:cubicBezTo>
                  <a:pt x="81" y="62"/>
                  <a:pt x="81" y="59"/>
                  <a:pt x="81" y="55"/>
                </a:cubicBezTo>
                <a:cubicBezTo>
                  <a:pt x="81" y="44"/>
                  <a:pt x="78" y="34"/>
                  <a:pt x="72" y="25"/>
                </a:cubicBezTo>
                <a:cubicBezTo>
                  <a:pt x="65" y="17"/>
                  <a:pt x="57" y="13"/>
                  <a:pt x="45" y="13"/>
                </a:cubicBezTo>
                <a:cubicBezTo>
                  <a:pt x="39" y="13"/>
                  <a:pt x="34" y="14"/>
                  <a:pt x="29" y="17"/>
                </a:cubicBezTo>
                <a:cubicBezTo>
                  <a:pt x="24" y="20"/>
                  <a:pt x="21" y="23"/>
                  <a:pt x="19" y="26"/>
                </a:cubicBezTo>
                <a:cubicBezTo>
                  <a:pt x="17" y="29"/>
                  <a:pt x="16" y="31"/>
                  <a:pt x="16" y="32"/>
                </a:cubicBezTo>
                <a:cubicBezTo>
                  <a:pt x="16" y="32"/>
                  <a:pt x="17" y="32"/>
                  <a:pt x="18" y="32"/>
                </a:cubicBezTo>
                <a:cubicBezTo>
                  <a:pt x="21" y="32"/>
                  <a:pt x="25" y="33"/>
                  <a:pt x="28" y="36"/>
                </a:cubicBezTo>
                <a:cubicBezTo>
                  <a:pt x="32" y="38"/>
                  <a:pt x="33" y="43"/>
                  <a:pt x="33" y="48"/>
                </a:cubicBezTo>
                <a:cubicBezTo>
                  <a:pt x="33" y="53"/>
                  <a:pt x="32" y="57"/>
                  <a:pt x="29" y="60"/>
                </a:cubicBezTo>
                <a:cubicBezTo>
                  <a:pt x="26" y="63"/>
                  <a:pt x="22" y="65"/>
                  <a:pt x="16" y="65"/>
                </a:cubicBezTo>
              </a:path>
            </a:pathLst>
          </a:custGeom>
          <a:ln w="0"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"/>
          <p:cNvSpPr/>
          <p:nvPr/>
        </p:nvSpPr>
        <p:spPr>
          <a:xfrm>
            <a:off x="8267400" y="3868560"/>
            <a:ext cx="62640" cy="95400"/>
          </a:xfrm>
          <a:custGeom>
            <a:avLst/>
            <a:gdLst/>
            <a:ahLst/>
            <a:rect l="0" t="0" r="r" b="b"/>
            <a:pathLst>
              <a:path w="174" h="265">
                <a:moveTo>
                  <a:pt x="170" y="265"/>
                </a:moveTo>
                <a:cubicBezTo>
                  <a:pt x="165" y="264"/>
                  <a:pt x="148" y="264"/>
                  <a:pt x="119" y="264"/>
                </a:cubicBezTo>
                <a:cubicBezTo>
                  <a:pt x="89" y="264"/>
                  <a:pt x="71" y="264"/>
                  <a:pt x="67" y="265"/>
                </a:cubicBezTo>
                <a:lnTo>
                  <a:pt x="63" y="265"/>
                </a:lnTo>
                <a:lnTo>
                  <a:pt x="63" y="247"/>
                </a:lnTo>
                <a:lnTo>
                  <a:pt x="75" y="247"/>
                </a:lnTo>
                <a:cubicBezTo>
                  <a:pt x="81" y="247"/>
                  <a:pt x="84" y="247"/>
                  <a:pt x="86" y="247"/>
                </a:cubicBezTo>
                <a:cubicBezTo>
                  <a:pt x="88" y="247"/>
                  <a:pt x="90" y="247"/>
                  <a:pt x="93" y="246"/>
                </a:cubicBezTo>
                <a:cubicBezTo>
                  <a:pt x="95" y="246"/>
                  <a:pt x="97" y="245"/>
                  <a:pt x="98" y="244"/>
                </a:cubicBezTo>
                <a:cubicBezTo>
                  <a:pt x="99" y="243"/>
                  <a:pt x="100" y="242"/>
                  <a:pt x="101" y="241"/>
                </a:cubicBezTo>
                <a:cubicBezTo>
                  <a:pt x="101" y="241"/>
                  <a:pt x="101" y="234"/>
                  <a:pt x="101" y="220"/>
                </a:cubicBezTo>
                <a:lnTo>
                  <a:pt x="101" y="200"/>
                </a:lnTo>
                <a:lnTo>
                  <a:pt x="0" y="200"/>
                </a:lnTo>
                <a:lnTo>
                  <a:pt x="0" y="182"/>
                </a:lnTo>
                <a:lnTo>
                  <a:pt x="59" y="91"/>
                </a:lnTo>
                <a:cubicBezTo>
                  <a:pt x="99" y="31"/>
                  <a:pt x="119" y="1"/>
                  <a:pt x="119" y="0"/>
                </a:cubicBezTo>
                <a:cubicBezTo>
                  <a:pt x="120" y="0"/>
                  <a:pt x="123" y="0"/>
                  <a:pt x="128" y="0"/>
                </a:cubicBezTo>
                <a:lnTo>
                  <a:pt x="135" y="0"/>
                </a:lnTo>
                <a:lnTo>
                  <a:pt x="137" y="2"/>
                </a:lnTo>
                <a:lnTo>
                  <a:pt x="137" y="182"/>
                </a:lnTo>
                <a:lnTo>
                  <a:pt x="174" y="182"/>
                </a:lnTo>
                <a:lnTo>
                  <a:pt x="174" y="200"/>
                </a:lnTo>
                <a:lnTo>
                  <a:pt x="137" y="200"/>
                </a:lnTo>
                <a:lnTo>
                  <a:pt x="137" y="220"/>
                </a:lnTo>
                <a:cubicBezTo>
                  <a:pt x="137" y="231"/>
                  <a:pt x="137" y="237"/>
                  <a:pt x="137" y="239"/>
                </a:cubicBezTo>
                <a:cubicBezTo>
                  <a:pt x="137" y="241"/>
                  <a:pt x="138" y="243"/>
                  <a:pt x="139" y="244"/>
                </a:cubicBezTo>
                <a:cubicBezTo>
                  <a:pt x="141" y="246"/>
                  <a:pt x="149" y="247"/>
                  <a:pt x="162" y="247"/>
                </a:cubicBezTo>
                <a:lnTo>
                  <a:pt x="174" y="247"/>
                </a:lnTo>
                <a:lnTo>
                  <a:pt x="174" y="265"/>
                </a:lnTo>
                <a:lnTo>
                  <a:pt x="170" y="265"/>
                </a:lnTo>
                <a:moveTo>
                  <a:pt x="103" y="182"/>
                </a:moveTo>
                <a:lnTo>
                  <a:pt x="103" y="51"/>
                </a:lnTo>
                <a:lnTo>
                  <a:pt x="18" y="181"/>
                </a:lnTo>
                <a:lnTo>
                  <a:pt x="61" y="182"/>
                </a:lnTo>
                <a:lnTo>
                  <a:pt x="103" y="182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/>
          <p:nvPr/>
        </p:nvSpPr>
        <p:spPr>
          <a:xfrm>
            <a:off x="8267400" y="3868560"/>
            <a:ext cx="62640" cy="95400"/>
          </a:xfrm>
          <a:custGeom>
            <a:avLst/>
            <a:gdLst/>
            <a:ahLst/>
            <a:rect l="0" t="0" r="r" b="b"/>
            <a:pathLst>
              <a:path fill="none" w="174" h="265">
                <a:moveTo>
                  <a:pt x="170" y="265"/>
                </a:moveTo>
                <a:cubicBezTo>
                  <a:pt x="165" y="264"/>
                  <a:pt x="148" y="264"/>
                  <a:pt x="119" y="264"/>
                </a:cubicBezTo>
                <a:cubicBezTo>
                  <a:pt x="89" y="264"/>
                  <a:pt x="71" y="264"/>
                  <a:pt x="67" y="265"/>
                </a:cubicBezTo>
                <a:lnTo>
                  <a:pt x="63" y="265"/>
                </a:lnTo>
                <a:lnTo>
                  <a:pt x="63" y="247"/>
                </a:lnTo>
                <a:lnTo>
                  <a:pt x="75" y="247"/>
                </a:lnTo>
                <a:cubicBezTo>
                  <a:pt x="81" y="247"/>
                  <a:pt x="84" y="247"/>
                  <a:pt x="86" y="247"/>
                </a:cubicBezTo>
                <a:cubicBezTo>
                  <a:pt x="88" y="247"/>
                  <a:pt x="90" y="247"/>
                  <a:pt x="93" y="246"/>
                </a:cubicBezTo>
                <a:cubicBezTo>
                  <a:pt x="95" y="246"/>
                  <a:pt x="97" y="245"/>
                  <a:pt x="98" y="244"/>
                </a:cubicBezTo>
                <a:cubicBezTo>
                  <a:pt x="99" y="243"/>
                  <a:pt x="100" y="242"/>
                  <a:pt x="101" y="241"/>
                </a:cubicBezTo>
                <a:cubicBezTo>
                  <a:pt x="101" y="241"/>
                  <a:pt x="101" y="234"/>
                  <a:pt x="101" y="220"/>
                </a:cubicBezTo>
                <a:lnTo>
                  <a:pt x="101" y="200"/>
                </a:lnTo>
                <a:lnTo>
                  <a:pt x="0" y="200"/>
                </a:lnTo>
                <a:lnTo>
                  <a:pt x="0" y="182"/>
                </a:lnTo>
                <a:lnTo>
                  <a:pt x="59" y="91"/>
                </a:lnTo>
                <a:cubicBezTo>
                  <a:pt x="99" y="31"/>
                  <a:pt x="119" y="1"/>
                  <a:pt x="119" y="0"/>
                </a:cubicBezTo>
                <a:cubicBezTo>
                  <a:pt x="120" y="0"/>
                  <a:pt x="123" y="0"/>
                  <a:pt x="128" y="0"/>
                </a:cubicBezTo>
                <a:lnTo>
                  <a:pt x="135" y="0"/>
                </a:lnTo>
                <a:lnTo>
                  <a:pt x="137" y="2"/>
                </a:lnTo>
                <a:lnTo>
                  <a:pt x="137" y="182"/>
                </a:lnTo>
                <a:lnTo>
                  <a:pt x="174" y="182"/>
                </a:lnTo>
                <a:lnTo>
                  <a:pt x="174" y="200"/>
                </a:lnTo>
                <a:lnTo>
                  <a:pt x="137" y="200"/>
                </a:lnTo>
                <a:lnTo>
                  <a:pt x="137" y="220"/>
                </a:lnTo>
                <a:cubicBezTo>
                  <a:pt x="137" y="231"/>
                  <a:pt x="137" y="237"/>
                  <a:pt x="137" y="239"/>
                </a:cubicBezTo>
                <a:cubicBezTo>
                  <a:pt x="137" y="241"/>
                  <a:pt x="138" y="243"/>
                  <a:pt x="139" y="244"/>
                </a:cubicBezTo>
                <a:cubicBezTo>
                  <a:pt x="141" y="246"/>
                  <a:pt x="149" y="247"/>
                  <a:pt x="162" y="247"/>
                </a:cubicBezTo>
                <a:lnTo>
                  <a:pt x="174" y="247"/>
                </a:lnTo>
                <a:lnTo>
                  <a:pt x="174" y="265"/>
                </a:lnTo>
                <a:lnTo>
                  <a:pt x="170" y="265"/>
                </a:lnTo>
                <a:moveTo>
                  <a:pt x="103" y="182"/>
                </a:moveTo>
                <a:lnTo>
                  <a:pt x="103" y="51"/>
                </a:lnTo>
                <a:lnTo>
                  <a:pt x="18" y="181"/>
                </a:lnTo>
                <a:lnTo>
                  <a:pt x="61" y="182"/>
                </a:lnTo>
                <a:lnTo>
                  <a:pt x="103" y="182"/>
                </a:ln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"/>
          <p:cNvSpPr/>
          <p:nvPr/>
        </p:nvSpPr>
        <p:spPr>
          <a:xfrm>
            <a:off x="8336520" y="3901320"/>
            <a:ext cx="79200" cy="64080"/>
          </a:xfrm>
          <a:custGeom>
            <a:avLst/>
            <a:gdLst/>
            <a:ahLst/>
            <a:rect l="0" t="0" r="r" b="b"/>
            <a:pathLst>
              <a:path w="220" h="178">
                <a:moveTo>
                  <a:pt x="0" y="61"/>
                </a:moveTo>
                <a:cubicBezTo>
                  <a:pt x="1" y="59"/>
                  <a:pt x="1" y="57"/>
                  <a:pt x="2" y="55"/>
                </a:cubicBezTo>
                <a:cubicBezTo>
                  <a:pt x="2" y="52"/>
                  <a:pt x="4" y="47"/>
                  <a:pt x="6" y="40"/>
                </a:cubicBezTo>
                <a:cubicBezTo>
                  <a:pt x="9" y="33"/>
                  <a:pt x="11" y="26"/>
                  <a:pt x="14" y="21"/>
                </a:cubicBezTo>
                <a:cubicBezTo>
                  <a:pt x="17" y="17"/>
                  <a:pt x="21" y="12"/>
                  <a:pt x="27" y="7"/>
                </a:cubicBezTo>
                <a:cubicBezTo>
                  <a:pt x="33" y="2"/>
                  <a:pt x="39" y="0"/>
                  <a:pt x="45" y="0"/>
                </a:cubicBezTo>
                <a:cubicBezTo>
                  <a:pt x="54" y="0"/>
                  <a:pt x="63" y="3"/>
                  <a:pt x="69" y="7"/>
                </a:cubicBezTo>
                <a:cubicBezTo>
                  <a:pt x="76" y="12"/>
                  <a:pt x="80" y="17"/>
                  <a:pt x="81" y="21"/>
                </a:cubicBezTo>
                <a:cubicBezTo>
                  <a:pt x="83" y="25"/>
                  <a:pt x="83" y="28"/>
                  <a:pt x="83" y="29"/>
                </a:cubicBezTo>
                <a:lnTo>
                  <a:pt x="84" y="30"/>
                </a:lnTo>
                <a:lnTo>
                  <a:pt x="88" y="25"/>
                </a:lnTo>
                <a:cubicBezTo>
                  <a:pt x="104" y="9"/>
                  <a:pt x="122" y="0"/>
                  <a:pt x="142" y="0"/>
                </a:cubicBezTo>
                <a:cubicBezTo>
                  <a:pt x="156" y="0"/>
                  <a:pt x="168" y="4"/>
                  <a:pt x="176" y="11"/>
                </a:cubicBezTo>
                <a:cubicBezTo>
                  <a:pt x="185" y="18"/>
                  <a:pt x="189" y="28"/>
                  <a:pt x="190" y="42"/>
                </a:cubicBezTo>
                <a:cubicBezTo>
                  <a:pt x="190" y="55"/>
                  <a:pt x="185" y="76"/>
                  <a:pt x="175" y="103"/>
                </a:cubicBezTo>
                <a:cubicBezTo>
                  <a:pt x="165" y="130"/>
                  <a:pt x="160" y="147"/>
                  <a:pt x="160" y="153"/>
                </a:cubicBezTo>
                <a:cubicBezTo>
                  <a:pt x="160" y="159"/>
                  <a:pt x="162" y="164"/>
                  <a:pt x="167" y="164"/>
                </a:cubicBezTo>
                <a:cubicBezTo>
                  <a:pt x="168" y="164"/>
                  <a:pt x="169" y="164"/>
                  <a:pt x="170" y="162"/>
                </a:cubicBezTo>
                <a:cubicBezTo>
                  <a:pt x="178" y="161"/>
                  <a:pt x="184" y="156"/>
                  <a:pt x="190" y="148"/>
                </a:cubicBezTo>
                <a:cubicBezTo>
                  <a:pt x="196" y="139"/>
                  <a:pt x="201" y="129"/>
                  <a:pt x="204" y="116"/>
                </a:cubicBezTo>
                <a:cubicBezTo>
                  <a:pt x="205" y="114"/>
                  <a:pt x="207" y="113"/>
                  <a:pt x="212" y="113"/>
                </a:cubicBezTo>
                <a:cubicBezTo>
                  <a:pt x="217" y="113"/>
                  <a:pt x="220" y="114"/>
                  <a:pt x="220" y="116"/>
                </a:cubicBezTo>
                <a:cubicBezTo>
                  <a:pt x="220" y="117"/>
                  <a:pt x="219" y="119"/>
                  <a:pt x="218" y="122"/>
                </a:cubicBezTo>
                <a:cubicBezTo>
                  <a:pt x="216" y="130"/>
                  <a:pt x="213" y="137"/>
                  <a:pt x="209" y="144"/>
                </a:cubicBezTo>
                <a:cubicBezTo>
                  <a:pt x="206" y="152"/>
                  <a:pt x="200" y="159"/>
                  <a:pt x="192" y="167"/>
                </a:cubicBezTo>
                <a:cubicBezTo>
                  <a:pt x="183" y="175"/>
                  <a:pt x="174" y="178"/>
                  <a:pt x="165" y="178"/>
                </a:cubicBezTo>
                <a:cubicBezTo>
                  <a:pt x="152" y="178"/>
                  <a:pt x="144" y="174"/>
                  <a:pt x="138" y="167"/>
                </a:cubicBezTo>
                <a:cubicBezTo>
                  <a:pt x="133" y="159"/>
                  <a:pt x="130" y="152"/>
                  <a:pt x="130" y="144"/>
                </a:cubicBezTo>
                <a:cubicBezTo>
                  <a:pt x="130" y="140"/>
                  <a:pt x="135" y="124"/>
                  <a:pt x="144" y="98"/>
                </a:cubicBezTo>
                <a:cubicBezTo>
                  <a:pt x="153" y="71"/>
                  <a:pt x="158" y="52"/>
                  <a:pt x="158" y="38"/>
                </a:cubicBezTo>
                <a:cubicBezTo>
                  <a:pt x="158" y="23"/>
                  <a:pt x="153" y="15"/>
                  <a:pt x="141" y="15"/>
                </a:cubicBezTo>
                <a:lnTo>
                  <a:pt x="139" y="15"/>
                </a:lnTo>
                <a:cubicBezTo>
                  <a:pt x="117" y="15"/>
                  <a:pt x="98" y="28"/>
                  <a:pt x="83" y="55"/>
                </a:cubicBezTo>
                <a:lnTo>
                  <a:pt x="80" y="59"/>
                </a:lnTo>
                <a:lnTo>
                  <a:pt x="67" y="112"/>
                </a:lnTo>
                <a:cubicBezTo>
                  <a:pt x="57" y="146"/>
                  <a:pt x="52" y="165"/>
                  <a:pt x="51" y="168"/>
                </a:cubicBezTo>
                <a:cubicBezTo>
                  <a:pt x="48" y="175"/>
                  <a:pt x="42" y="178"/>
                  <a:pt x="34" y="178"/>
                </a:cubicBezTo>
                <a:cubicBezTo>
                  <a:pt x="31" y="178"/>
                  <a:pt x="28" y="177"/>
                  <a:pt x="26" y="176"/>
                </a:cubicBezTo>
                <a:cubicBezTo>
                  <a:pt x="24" y="174"/>
                  <a:pt x="23" y="173"/>
                  <a:pt x="22" y="171"/>
                </a:cubicBezTo>
                <a:cubicBezTo>
                  <a:pt x="21" y="170"/>
                  <a:pt x="21" y="168"/>
                  <a:pt x="21" y="167"/>
                </a:cubicBezTo>
                <a:cubicBezTo>
                  <a:pt x="21" y="163"/>
                  <a:pt x="26" y="142"/>
                  <a:pt x="36" y="103"/>
                </a:cubicBezTo>
                <a:cubicBezTo>
                  <a:pt x="46" y="64"/>
                  <a:pt x="51" y="42"/>
                  <a:pt x="52" y="39"/>
                </a:cubicBezTo>
                <a:cubicBezTo>
                  <a:pt x="52" y="38"/>
                  <a:pt x="52" y="35"/>
                  <a:pt x="52" y="30"/>
                </a:cubicBezTo>
                <a:cubicBezTo>
                  <a:pt x="52" y="20"/>
                  <a:pt x="49" y="15"/>
                  <a:pt x="43" y="15"/>
                </a:cubicBezTo>
                <a:cubicBezTo>
                  <a:pt x="33" y="15"/>
                  <a:pt x="25" y="28"/>
                  <a:pt x="18" y="54"/>
                </a:cubicBezTo>
                <a:cubicBezTo>
                  <a:pt x="16" y="59"/>
                  <a:pt x="16" y="62"/>
                  <a:pt x="16" y="62"/>
                </a:cubicBezTo>
                <a:cubicBezTo>
                  <a:pt x="15" y="64"/>
                  <a:pt x="13" y="64"/>
                  <a:pt x="8" y="64"/>
                </a:cubicBezTo>
                <a:lnTo>
                  <a:pt x="3" y="64"/>
                </a:lnTo>
                <a:cubicBezTo>
                  <a:pt x="1" y="63"/>
                  <a:pt x="0" y="62"/>
                  <a:pt x="0" y="61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"/>
          <p:cNvSpPr/>
          <p:nvPr/>
        </p:nvSpPr>
        <p:spPr>
          <a:xfrm>
            <a:off x="8336520" y="3901320"/>
            <a:ext cx="79200" cy="64080"/>
          </a:xfrm>
          <a:custGeom>
            <a:avLst/>
            <a:gdLst/>
            <a:ahLst/>
            <a:rect l="0" t="0" r="r" b="b"/>
            <a:pathLst>
              <a:path fill="none" w="220" h="178">
                <a:moveTo>
                  <a:pt x="0" y="61"/>
                </a:moveTo>
                <a:cubicBezTo>
                  <a:pt x="1" y="59"/>
                  <a:pt x="1" y="57"/>
                  <a:pt x="2" y="55"/>
                </a:cubicBezTo>
                <a:cubicBezTo>
                  <a:pt x="2" y="52"/>
                  <a:pt x="4" y="47"/>
                  <a:pt x="6" y="40"/>
                </a:cubicBezTo>
                <a:cubicBezTo>
                  <a:pt x="9" y="33"/>
                  <a:pt x="11" y="26"/>
                  <a:pt x="14" y="21"/>
                </a:cubicBezTo>
                <a:cubicBezTo>
                  <a:pt x="17" y="17"/>
                  <a:pt x="21" y="12"/>
                  <a:pt x="27" y="7"/>
                </a:cubicBezTo>
                <a:cubicBezTo>
                  <a:pt x="33" y="2"/>
                  <a:pt x="39" y="0"/>
                  <a:pt x="45" y="0"/>
                </a:cubicBezTo>
                <a:cubicBezTo>
                  <a:pt x="54" y="0"/>
                  <a:pt x="63" y="3"/>
                  <a:pt x="69" y="7"/>
                </a:cubicBezTo>
                <a:cubicBezTo>
                  <a:pt x="76" y="12"/>
                  <a:pt x="80" y="17"/>
                  <a:pt x="81" y="21"/>
                </a:cubicBezTo>
                <a:cubicBezTo>
                  <a:pt x="83" y="25"/>
                  <a:pt x="83" y="28"/>
                  <a:pt x="83" y="29"/>
                </a:cubicBezTo>
                <a:lnTo>
                  <a:pt x="84" y="30"/>
                </a:lnTo>
                <a:lnTo>
                  <a:pt x="88" y="25"/>
                </a:lnTo>
                <a:cubicBezTo>
                  <a:pt x="104" y="9"/>
                  <a:pt x="122" y="0"/>
                  <a:pt x="142" y="0"/>
                </a:cubicBezTo>
                <a:cubicBezTo>
                  <a:pt x="156" y="0"/>
                  <a:pt x="168" y="4"/>
                  <a:pt x="176" y="11"/>
                </a:cubicBezTo>
                <a:cubicBezTo>
                  <a:pt x="185" y="18"/>
                  <a:pt x="189" y="28"/>
                  <a:pt x="190" y="42"/>
                </a:cubicBezTo>
                <a:cubicBezTo>
                  <a:pt x="190" y="55"/>
                  <a:pt x="185" y="76"/>
                  <a:pt x="175" y="103"/>
                </a:cubicBezTo>
                <a:cubicBezTo>
                  <a:pt x="165" y="130"/>
                  <a:pt x="160" y="147"/>
                  <a:pt x="160" y="153"/>
                </a:cubicBezTo>
                <a:cubicBezTo>
                  <a:pt x="160" y="159"/>
                  <a:pt x="162" y="164"/>
                  <a:pt x="167" y="164"/>
                </a:cubicBezTo>
                <a:cubicBezTo>
                  <a:pt x="168" y="164"/>
                  <a:pt x="169" y="164"/>
                  <a:pt x="170" y="162"/>
                </a:cubicBezTo>
                <a:cubicBezTo>
                  <a:pt x="178" y="161"/>
                  <a:pt x="184" y="156"/>
                  <a:pt x="190" y="148"/>
                </a:cubicBezTo>
                <a:cubicBezTo>
                  <a:pt x="196" y="139"/>
                  <a:pt x="201" y="129"/>
                  <a:pt x="204" y="116"/>
                </a:cubicBezTo>
                <a:cubicBezTo>
                  <a:pt x="205" y="114"/>
                  <a:pt x="207" y="113"/>
                  <a:pt x="212" y="113"/>
                </a:cubicBezTo>
                <a:cubicBezTo>
                  <a:pt x="217" y="113"/>
                  <a:pt x="220" y="114"/>
                  <a:pt x="220" y="116"/>
                </a:cubicBezTo>
                <a:cubicBezTo>
                  <a:pt x="220" y="117"/>
                  <a:pt x="219" y="119"/>
                  <a:pt x="218" y="122"/>
                </a:cubicBezTo>
                <a:cubicBezTo>
                  <a:pt x="216" y="130"/>
                  <a:pt x="213" y="137"/>
                  <a:pt x="209" y="144"/>
                </a:cubicBezTo>
                <a:cubicBezTo>
                  <a:pt x="206" y="152"/>
                  <a:pt x="200" y="159"/>
                  <a:pt x="192" y="167"/>
                </a:cubicBezTo>
                <a:cubicBezTo>
                  <a:pt x="183" y="175"/>
                  <a:pt x="174" y="178"/>
                  <a:pt x="165" y="178"/>
                </a:cubicBezTo>
                <a:cubicBezTo>
                  <a:pt x="152" y="178"/>
                  <a:pt x="144" y="174"/>
                  <a:pt x="138" y="167"/>
                </a:cubicBezTo>
                <a:cubicBezTo>
                  <a:pt x="133" y="159"/>
                  <a:pt x="130" y="152"/>
                  <a:pt x="130" y="144"/>
                </a:cubicBezTo>
                <a:cubicBezTo>
                  <a:pt x="130" y="140"/>
                  <a:pt x="135" y="124"/>
                  <a:pt x="144" y="98"/>
                </a:cubicBezTo>
                <a:cubicBezTo>
                  <a:pt x="153" y="71"/>
                  <a:pt x="158" y="52"/>
                  <a:pt x="158" y="38"/>
                </a:cubicBezTo>
                <a:cubicBezTo>
                  <a:pt x="158" y="23"/>
                  <a:pt x="153" y="15"/>
                  <a:pt x="141" y="15"/>
                </a:cubicBezTo>
                <a:lnTo>
                  <a:pt x="139" y="15"/>
                </a:lnTo>
                <a:cubicBezTo>
                  <a:pt x="117" y="15"/>
                  <a:pt x="98" y="28"/>
                  <a:pt x="83" y="55"/>
                </a:cubicBezTo>
                <a:lnTo>
                  <a:pt x="80" y="59"/>
                </a:lnTo>
                <a:lnTo>
                  <a:pt x="67" y="112"/>
                </a:lnTo>
                <a:cubicBezTo>
                  <a:pt x="57" y="146"/>
                  <a:pt x="52" y="165"/>
                  <a:pt x="51" y="168"/>
                </a:cubicBezTo>
                <a:cubicBezTo>
                  <a:pt x="48" y="175"/>
                  <a:pt x="42" y="178"/>
                  <a:pt x="34" y="178"/>
                </a:cubicBezTo>
                <a:cubicBezTo>
                  <a:pt x="31" y="178"/>
                  <a:pt x="28" y="177"/>
                  <a:pt x="26" y="176"/>
                </a:cubicBezTo>
                <a:cubicBezTo>
                  <a:pt x="24" y="174"/>
                  <a:pt x="23" y="173"/>
                  <a:pt x="22" y="171"/>
                </a:cubicBezTo>
                <a:cubicBezTo>
                  <a:pt x="21" y="170"/>
                  <a:pt x="21" y="168"/>
                  <a:pt x="21" y="167"/>
                </a:cubicBezTo>
                <a:cubicBezTo>
                  <a:pt x="21" y="163"/>
                  <a:pt x="26" y="142"/>
                  <a:pt x="36" y="103"/>
                </a:cubicBezTo>
                <a:cubicBezTo>
                  <a:pt x="46" y="64"/>
                  <a:pt x="51" y="42"/>
                  <a:pt x="52" y="39"/>
                </a:cubicBezTo>
                <a:cubicBezTo>
                  <a:pt x="52" y="38"/>
                  <a:pt x="52" y="35"/>
                  <a:pt x="52" y="30"/>
                </a:cubicBezTo>
                <a:cubicBezTo>
                  <a:pt x="52" y="20"/>
                  <a:pt x="49" y="15"/>
                  <a:pt x="43" y="15"/>
                </a:cubicBezTo>
                <a:cubicBezTo>
                  <a:pt x="33" y="15"/>
                  <a:pt x="25" y="28"/>
                  <a:pt x="18" y="54"/>
                </a:cubicBezTo>
                <a:cubicBezTo>
                  <a:pt x="16" y="59"/>
                  <a:pt x="16" y="62"/>
                  <a:pt x="16" y="62"/>
                </a:cubicBezTo>
                <a:cubicBezTo>
                  <a:pt x="15" y="64"/>
                  <a:pt x="13" y="64"/>
                  <a:pt x="8" y="64"/>
                </a:cubicBezTo>
                <a:lnTo>
                  <a:pt x="3" y="64"/>
                </a:lnTo>
                <a:cubicBezTo>
                  <a:pt x="1" y="63"/>
                  <a:pt x="0" y="62"/>
                  <a:pt x="0" y="61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"/>
          <p:cNvSpPr/>
          <p:nvPr/>
        </p:nvSpPr>
        <p:spPr>
          <a:xfrm>
            <a:off x="8427600" y="3856680"/>
            <a:ext cx="39960" cy="66600"/>
          </a:xfrm>
          <a:custGeom>
            <a:avLst/>
            <a:gdLst/>
            <a:ahLst/>
            <a:rect l="0" t="0" r="r" b="b"/>
            <a:pathLst>
              <a:path w="111" h="185">
                <a:moveTo>
                  <a:pt x="16" y="66"/>
                </a:moveTo>
                <a:cubicBezTo>
                  <a:pt x="11" y="66"/>
                  <a:pt x="7" y="64"/>
                  <a:pt x="5" y="61"/>
                </a:cubicBezTo>
                <a:cubicBezTo>
                  <a:pt x="2" y="57"/>
                  <a:pt x="0" y="53"/>
                  <a:pt x="0" y="49"/>
                </a:cubicBezTo>
                <a:cubicBezTo>
                  <a:pt x="0" y="36"/>
                  <a:pt x="5" y="24"/>
                  <a:pt x="15" y="15"/>
                </a:cubicBezTo>
                <a:cubicBezTo>
                  <a:pt x="24" y="5"/>
                  <a:pt x="37" y="0"/>
                  <a:pt x="51" y="0"/>
                </a:cubicBezTo>
                <a:cubicBezTo>
                  <a:pt x="68" y="0"/>
                  <a:pt x="83" y="5"/>
                  <a:pt x="94" y="16"/>
                </a:cubicBezTo>
                <a:cubicBezTo>
                  <a:pt x="105" y="26"/>
                  <a:pt x="111" y="39"/>
                  <a:pt x="111" y="56"/>
                </a:cubicBezTo>
                <a:cubicBezTo>
                  <a:pt x="111" y="64"/>
                  <a:pt x="109" y="71"/>
                  <a:pt x="106" y="78"/>
                </a:cubicBezTo>
                <a:cubicBezTo>
                  <a:pt x="102" y="86"/>
                  <a:pt x="98" y="92"/>
                  <a:pt x="92" y="97"/>
                </a:cubicBezTo>
                <a:cubicBezTo>
                  <a:pt x="87" y="103"/>
                  <a:pt x="80" y="109"/>
                  <a:pt x="69" y="118"/>
                </a:cubicBezTo>
                <a:cubicBezTo>
                  <a:pt x="63" y="123"/>
                  <a:pt x="54" y="132"/>
                  <a:pt x="42" y="143"/>
                </a:cubicBezTo>
                <a:lnTo>
                  <a:pt x="26" y="158"/>
                </a:lnTo>
                <a:lnTo>
                  <a:pt x="46" y="159"/>
                </a:lnTo>
                <a:cubicBezTo>
                  <a:pt x="76" y="159"/>
                  <a:pt x="92" y="158"/>
                  <a:pt x="94" y="157"/>
                </a:cubicBezTo>
                <a:cubicBezTo>
                  <a:pt x="95" y="157"/>
                  <a:pt x="97" y="149"/>
                  <a:pt x="100" y="133"/>
                </a:cubicBezTo>
                <a:lnTo>
                  <a:pt x="100" y="132"/>
                </a:lnTo>
                <a:lnTo>
                  <a:pt x="111" y="132"/>
                </a:lnTo>
                <a:lnTo>
                  <a:pt x="111" y="133"/>
                </a:lnTo>
                <a:cubicBezTo>
                  <a:pt x="111" y="133"/>
                  <a:pt x="110" y="142"/>
                  <a:pt x="108" y="158"/>
                </a:cubicBezTo>
                <a:cubicBezTo>
                  <a:pt x="105" y="174"/>
                  <a:pt x="104" y="184"/>
                  <a:pt x="104" y="184"/>
                </a:cubicBezTo>
                <a:lnTo>
                  <a:pt x="104" y="185"/>
                </a:lnTo>
                <a:lnTo>
                  <a:pt x="0" y="185"/>
                </a:lnTo>
                <a:lnTo>
                  <a:pt x="0" y="180"/>
                </a:lnTo>
                <a:lnTo>
                  <a:pt x="0" y="177"/>
                </a:lnTo>
                <a:cubicBezTo>
                  <a:pt x="0" y="174"/>
                  <a:pt x="1" y="173"/>
                  <a:pt x="2" y="171"/>
                </a:cubicBezTo>
                <a:cubicBezTo>
                  <a:pt x="3" y="170"/>
                  <a:pt x="6" y="167"/>
                  <a:pt x="10" y="162"/>
                </a:cubicBezTo>
                <a:cubicBezTo>
                  <a:pt x="15" y="156"/>
                  <a:pt x="20" y="151"/>
                  <a:pt x="24" y="146"/>
                </a:cubicBezTo>
                <a:cubicBezTo>
                  <a:pt x="26" y="144"/>
                  <a:pt x="29" y="141"/>
                  <a:pt x="33" y="136"/>
                </a:cubicBezTo>
                <a:cubicBezTo>
                  <a:pt x="38" y="131"/>
                  <a:pt x="41" y="128"/>
                  <a:pt x="43" y="126"/>
                </a:cubicBezTo>
                <a:cubicBezTo>
                  <a:pt x="44" y="124"/>
                  <a:pt x="47" y="121"/>
                  <a:pt x="51" y="117"/>
                </a:cubicBezTo>
                <a:cubicBezTo>
                  <a:pt x="54" y="113"/>
                  <a:pt x="57" y="109"/>
                  <a:pt x="58" y="107"/>
                </a:cubicBezTo>
                <a:cubicBezTo>
                  <a:pt x="60" y="105"/>
                  <a:pt x="62" y="103"/>
                  <a:pt x="65" y="99"/>
                </a:cubicBezTo>
                <a:cubicBezTo>
                  <a:pt x="67" y="96"/>
                  <a:pt x="69" y="93"/>
                  <a:pt x="70" y="90"/>
                </a:cubicBezTo>
                <a:cubicBezTo>
                  <a:pt x="72" y="88"/>
                  <a:pt x="73" y="85"/>
                  <a:pt x="76" y="82"/>
                </a:cubicBezTo>
                <a:cubicBezTo>
                  <a:pt x="77" y="79"/>
                  <a:pt x="78" y="76"/>
                  <a:pt x="79" y="73"/>
                </a:cubicBezTo>
                <a:cubicBezTo>
                  <a:pt x="80" y="71"/>
                  <a:pt x="81" y="68"/>
                  <a:pt x="81" y="65"/>
                </a:cubicBezTo>
                <a:cubicBezTo>
                  <a:pt x="82" y="63"/>
                  <a:pt x="82" y="60"/>
                  <a:pt x="82" y="56"/>
                </a:cubicBezTo>
                <a:cubicBezTo>
                  <a:pt x="82" y="44"/>
                  <a:pt x="79" y="34"/>
                  <a:pt x="72" y="26"/>
                </a:cubicBezTo>
                <a:cubicBezTo>
                  <a:pt x="65" y="18"/>
                  <a:pt x="56" y="13"/>
                  <a:pt x="45" y="13"/>
                </a:cubicBezTo>
                <a:cubicBezTo>
                  <a:pt x="39" y="13"/>
                  <a:pt x="33" y="15"/>
                  <a:pt x="29" y="18"/>
                </a:cubicBezTo>
                <a:cubicBezTo>
                  <a:pt x="24" y="21"/>
                  <a:pt x="21" y="24"/>
                  <a:pt x="19" y="27"/>
                </a:cubicBezTo>
                <a:cubicBezTo>
                  <a:pt x="17" y="30"/>
                  <a:pt x="16" y="32"/>
                  <a:pt x="16" y="32"/>
                </a:cubicBezTo>
                <a:cubicBezTo>
                  <a:pt x="16" y="33"/>
                  <a:pt x="17" y="33"/>
                  <a:pt x="18" y="33"/>
                </a:cubicBezTo>
                <a:cubicBezTo>
                  <a:pt x="21" y="33"/>
                  <a:pt x="24" y="34"/>
                  <a:pt x="28" y="36"/>
                </a:cubicBezTo>
                <a:cubicBezTo>
                  <a:pt x="31" y="39"/>
                  <a:pt x="33" y="43"/>
                  <a:pt x="33" y="49"/>
                </a:cubicBezTo>
                <a:cubicBezTo>
                  <a:pt x="33" y="54"/>
                  <a:pt x="32" y="58"/>
                  <a:pt x="29" y="61"/>
                </a:cubicBezTo>
                <a:cubicBezTo>
                  <a:pt x="26" y="64"/>
                  <a:pt x="22" y="66"/>
                  <a:pt x="16" y="66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"/>
          <p:cNvSpPr/>
          <p:nvPr/>
        </p:nvSpPr>
        <p:spPr>
          <a:xfrm>
            <a:off x="8427600" y="3856680"/>
            <a:ext cx="39960" cy="66600"/>
          </a:xfrm>
          <a:custGeom>
            <a:avLst/>
            <a:gdLst/>
            <a:ahLst/>
            <a:rect l="0" t="0" r="r" b="b"/>
            <a:pathLst>
              <a:path fill="none" w="111" h="185">
                <a:moveTo>
                  <a:pt x="16" y="66"/>
                </a:moveTo>
                <a:cubicBezTo>
                  <a:pt x="11" y="66"/>
                  <a:pt x="7" y="64"/>
                  <a:pt x="5" y="61"/>
                </a:cubicBezTo>
                <a:cubicBezTo>
                  <a:pt x="2" y="57"/>
                  <a:pt x="0" y="53"/>
                  <a:pt x="0" y="49"/>
                </a:cubicBezTo>
                <a:cubicBezTo>
                  <a:pt x="0" y="36"/>
                  <a:pt x="5" y="24"/>
                  <a:pt x="15" y="15"/>
                </a:cubicBezTo>
                <a:cubicBezTo>
                  <a:pt x="24" y="5"/>
                  <a:pt x="37" y="0"/>
                  <a:pt x="51" y="0"/>
                </a:cubicBezTo>
                <a:cubicBezTo>
                  <a:pt x="68" y="0"/>
                  <a:pt x="83" y="5"/>
                  <a:pt x="94" y="16"/>
                </a:cubicBezTo>
                <a:cubicBezTo>
                  <a:pt x="105" y="26"/>
                  <a:pt x="111" y="39"/>
                  <a:pt x="111" y="56"/>
                </a:cubicBezTo>
                <a:cubicBezTo>
                  <a:pt x="111" y="64"/>
                  <a:pt x="109" y="71"/>
                  <a:pt x="106" y="78"/>
                </a:cubicBezTo>
                <a:cubicBezTo>
                  <a:pt x="102" y="86"/>
                  <a:pt x="98" y="92"/>
                  <a:pt x="92" y="97"/>
                </a:cubicBezTo>
                <a:cubicBezTo>
                  <a:pt x="87" y="103"/>
                  <a:pt x="80" y="109"/>
                  <a:pt x="69" y="118"/>
                </a:cubicBezTo>
                <a:cubicBezTo>
                  <a:pt x="63" y="123"/>
                  <a:pt x="54" y="132"/>
                  <a:pt x="42" y="143"/>
                </a:cubicBezTo>
                <a:lnTo>
                  <a:pt x="26" y="158"/>
                </a:lnTo>
                <a:lnTo>
                  <a:pt x="46" y="159"/>
                </a:lnTo>
                <a:cubicBezTo>
                  <a:pt x="76" y="159"/>
                  <a:pt x="92" y="158"/>
                  <a:pt x="94" y="157"/>
                </a:cubicBezTo>
                <a:cubicBezTo>
                  <a:pt x="95" y="157"/>
                  <a:pt x="97" y="149"/>
                  <a:pt x="100" y="133"/>
                </a:cubicBezTo>
                <a:lnTo>
                  <a:pt x="100" y="132"/>
                </a:lnTo>
                <a:lnTo>
                  <a:pt x="111" y="132"/>
                </a:lnTo>
                <a:lnTo>
                  <a:pt x="111" y="133"/>
                </a:lnTo>
                <a:cubicBezTo>
                  <a:pt x="111" y="133"/>
                  <a:pt x="110" y="142"/>
                  <a:pt x="108" y="158"/>
                </a:cubicBezTo>
                <a:cubicBezTo>
                  <a:pt x="105" y="174"/>
                  <a:pt x="104" y="184"/>
                  <a:pt x="104" y="184"/>
                </a:cubicBezTo>
                <a:lnTo>
                  <a:pt x="104" y="185"/>
                </a:lnTo>
                <a:lnTo>
                  <a:pt x="0" y="185"/>
                </a:lnTo>
                <a:lnTo>
                  <a:pt x="0" y="180"/>
                </a:lnTo>
                <a:lnTo>
                  <a:pt x="0" y="177"/>
                </a:lnTo>
                <a:cubicBezTo>
                  <a:pt x="0" y="174"/>
                  <a:pt x="1" y="173"/>
                  <a:pt x="2" y="171"/>
                </a:cubicBezTo>
                <a:cubicBezTo>
                  <a:pt x="3" y="170"/>
                  <a:pt x="6" y="167"/>
                  <a:pt x="10" y="162"/>
                </a:cubicBezTo>
                <a:cubicBezTo>
                  <a:pt x="15" y="156"/>
                  <a:pt x="20" y="151"/>
                  <a:pt x="24" y="146"/>
                </a:cubicBezTo>
                <a:cubicBezTo>
                  <a:pt x="26" y="144"/>
                  <a:pt x="29" y="141"/>
                  <a:pt x="33" y="136"/>
                </a:cubicBezTo>
                <a:cubicBezTo>
                  <a:pt x="38" y="131"/>
                  <a:pt x="41" y="128"/>
                  <a:pt x="43" y="126"/>
                </a:cubicBezTo>
                <a:cubicBezTo>
                  <a:pt x="44" y="124"/>
                  <a:pt x="47" y="121"/>
                  <a:pt x="51" y="117"/>
                </a:cubicBezTo>
                <a:cubicBezTo>
                  <a:pt x="54" y="113"/>
                  <a:pt x="57" y="109"/>
                  <a:pt x="58" y="107"/>
                </a:cubicBezTo>
                <a:cubicBezTo>
                  <a:pt x="60" y="105"/>
                  <a:pt x="62" y="103"/>
                  <a:pt x="65" y="99"/>
                </a:cubicBezTo>
                <a:cubicBezTo>
                  <a:pt x="67" y="96"/>
                  <a:pt x="69" y="93"/>
                  <a:pt x="70" y="90"/>
                </a:cubicBezTo>
                <a:cubicBezTo>
                  <a:pt x="72" y="88"/>
                  <a:pt x="73" y="85"/>
                  <a:pt x="76" y="82"/>
                </a:cubicBezTo>
                <a:cubicBezTo>
                  <a:pt x="77" y="79"/>
                  <a:pt x="78" y="76"/>
                  <a:pt x="79" y="73"/>
                </a:cubicBezTo>
                <a:cubicBezTo>
                  <a:pt x="80" y="71"/>
                  <a:pt x="81" y="68"/>
                  <a:pt x="81" y="65"/>
                </a:cubicBezTo>
                <a:cubicBezTo>
                  <a:pt x="82" y="63"/>
                  <a:pt x="82" y="60"/>
                  <a:pt x="82" y="56"/>
                </a:cubicBezTo>
                <a:cubicBezTo>
                  <a:pt x="82" y="44"/>
                  <a:pt x="79" y="34"/>
                  <a:pt x="72" y="26"/>
                </a:cubicBezTo>
                <a:cubicBezTo>
                  <a:pt x="65" y="18"/>
                  <a:pt x="56" y="13"/>
                  <a:pt x="45" y="13"/>
                </a:cubicBezTo>
                <a:cubicBezTo>
                  <a:pt x="39" y="13"/>
                  <a:pt x="33" y="15"/>
                  <a:pt x="29" y="18"/>
                </a:cubicBezTo>
                <a:cubicBezTo>
                  <a:pt x="24" y="21"/>
                  <a:pt x="21" y="24"/>
                  <a:pt x="19" y="27"/>
                </a:cubicBezTo>
                <a:cubicBezTo>
                  <a:pt x="17" y="30"/>
                  <a:pt x="16" y="32"/>
                  <a:pt x="16" y="32"/>
                </a:cubicBezTo>
                <a:cubicBezTo>
                  <a:pt x="16" y="33"/>
                  <a:pt x="17" y="33"/>
                  <a:pt x="18" y="33"/>
                </a:cubicBezTo>
                <a:cubicBezTo>
                  <a:pt x="21" y="33"/>
                  <a:pt x="24" y="34"/>
                  <a:pt x="28" y="36"/>
                </a:cubicBezTo>
                <a:cubicBezTo>
                  <a:pt x="31" y="39"/>
                  <a:pt x="33" y="43"/>
                  <a:pt x="33" y="49"/>
                </a:cubicBezTo>
                <a:cubicBezTo>
                  <a:pt x="33" y="54"/>
                  <a:pt x="32" y="58"/>
                  <a:pt x="29" y="61"/>
                </a:cubicBezTo>
                <a:cubicBezTo>
                  <a:pt x="26" y="64"/>
                  <a:pt x="22" y="66"/>
                  <a:pt x="16" y="66"/>
                </a:cubicBezTo>
              </a:path>
            </a:pathLst>
          </a:custGeom>
          <a:ln w="0"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"/>
          <p:cNvSpPr/>
          <p:nvPr/>
        </p:nvSpPr>
        <p:spPr>
          <a:xfrm>
            <a:off x="8243640" y="3832920"/>
            <a:ext cx="255960" cy="12240"/>
          </a:xfrm>
          <a:custGeom>
            <a:avLst/>
            <a:gdLst/>
            <a:ahLst/>
            <a:rect l="0" t="0" r="r" b="b"/>
            <a:pathLst>
              <a:path w="711" h="34">
                <a:moveTo>
                  <a:pt x="0" y="0"/>
                </a:moveTo>
                <a:lnTo>
                  <a:pt x="711" y="0"/>
                </a:lnTo>
                <a:lnTo>
                  <a:pt x="711" y="34"/>
                </a:lnTo>
                <a:lnTo>
                  <a:pt x="0" y="34"/>
                </a:lnTo>
                <a:lnTo>
                  <a:pt x="0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"/>
          <p:cNvSpPr/>
          <p:nvPr/>
        </p:nvSpPr>
        <p:spPr>
          <a:xfrm>
            <a:off x="7278480" y="3630600"/>
            <a:ext cx="180720" cy="357840"/>
          </a:xfrm>
          <a:custGeom>
            <a:avLst/>
            <a:gdLst/>
            <a:ahLst/>
            <a:rect l="0" t="0" r="r" b="b"/>
            <a:pathLst>
              <a:path w="502" h="994">
                <a:moveTo>
                  <a:pt x="492" y="0"/>
                </a:moveTo>
                <a:cubicBezTo>
                  <a:pt x="498" y="0"/>
                  <a:pt x="501" y="3"/>
                  <a:pt x="502" y="10"/>
                </a:cubicBezTo>
                <a:cubicBezTo>
                  <a:pt x="502" y="11"/>
                  <a:pt x="451" y="175"/>
                  <a:pt x="348" y="501"/>
                </a:cubicBezTo>
                <a:lnTo>
                  <a:pt x="193" y="991"/>
                </a:lnTo>
                <a:cubicBezTo>
                  <a:pt x="191" y="993"/>
                  <a:pt x="186" y="994"/>
                  <a:pt x="180" y="994"/>
                </a:cubicBezTo>
                <a:lnTo>
                  <a:pt x="173" y="994"/>
                </a:lnTo>
                <a:cubicBezTo>
                  <a:pt x="173" y="993"/>
                  <a:pt x="173" y="992"/>
                  <a:pt x="173" y="992"/>
                </a:cubicBezTo>
                <a:cubicBezTo>
                  <a:pt x="173" y="991"/>
                  <a:pt x="172" y="990"/>
                  <a:pt x="172" y="989"/>
                </a:cubicBezTo>
                <a:cubicBezTo>
                  <a:pt x="171" y="988"/>
                  <a:pt x="171" y="986"/>
                  <a:pt x="171" y="984"/>
                </a:cubicBezTo>
                <a:cubicBezTo>
                  <a:pt x="171" y="982"/>
                  <a:pt x="170" y="979"/>
                  <a:pt x="168" y="976"/>
                </a:cubicBezTo>
                <a:cubicBezTo>
                  <a:pt x="167" y="973"/>
                  <a:pt x="166" y="969"/>
                  <a:pt x="164" y="964"/>
                </a:cubicBezTo>
                <a:cubicBezTo>
                  <a:pt x="163" y="958"/>
                  <a:pt x="162" y="952"/>
                  <a:pt x="160" y="945"/>
                </a:cubicBezTo>
                <a:cubicBezTo>
                  <a:pt x="157" y="938"/>
                  <a:pt x="155" y="929"/>
                  <a:pt x="152" y="918"/>
                </a:cubicBezTo>
                <a:cubicBezTo>
                  <a:pt x="149" y="908"/>
                  <a:pt x="146" y="896"/>
                  <a:pt x="142" y="883"/>
                </a:cubicBezTo>
                <a:cubicBezTo>
                  <a:pt x="138" y="870"/>
                  <a:pt x="134" y="855"/>
                  <a:pt x="129" y="837"/>
                </a:cubicBezTo>
                <a:cubicBezTo>
                  <a:pt x="123" y="819"/>
                  <a:pt x="118" y="799"/>
                  <a:pt x="111" y="779"/>
                </a:cubicBezTo>
                <a:lnTo>
                  <a:pt x="50" y="570"/>
                </a:lnTo>
                <a:lnTo>
                  <a:pt x="14" y="613"/>
                </a:lnTo>
                <a:lnTo>
                  <a:pt x="0" y="599"/>
                </a:lnTo>
                <a:lnTo>
                  <a:pt x="55" y="532"/>
                </a:lnTo>
                <a:lnTo>
                  <a:pt x="85" y="499"/>
                </a:lnTo>
                <a:lnTo>
                  <a:pt x="200" y="897"/>
                </a:lnTo>
                <a:lnTo>
                  <a:pt x="482" y="5"/>
                </a:lnTo>
                <a:cubicBezTo>
                  <a:pt x="484" y="2"/>
                  <a:pt x="487" y="0"/>
                  <a:pt x="492" y="0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"/>
          <p:cNvSpPr/>
          <p:nvPr/>
        </p:nvSpPr>
        <p:spPr>
          <a:xfrm>
            <a:off x="7278480" y="3630600"/>
            <a:ext cx="180720" cy="357840"/>
          </a:xfrm>
          <a:custGeom>
            <a:avLst/>
            <a:gdLst/>
            <a:ahLst/>
            <a:rect l="0" t="0" r="r" b="b"/>
            <a:pathLst>
              <a:path fill="none" w="502" h="994">
                <a:moveTo>
                  <a:pt x="492" y="0"/>
                </a:moveTo>
                <a:cubicBezTo>
                  <a:pt x="498" y="0"/>
                  <a:pt x="501" y="3"/>
                  <a:pt x="502" y="10"/>
                </a:cubicBezTo>
                <a:cubicBezTo>
                  <a:pt x="502" y="11"/>
                  <a:pt x="451" y="175"/>
                  <a:pt x="348" y="501"/>
                </a:cubicBezTo>
                <a:lnTo>
                  <a:pt x="193" y="991"/>
                </a:lnTo>
                <a:cubicBezTo>
                  <a:pt x="191" y="993"/>
                  <a:pt x="186" y="994"/>
                  <a:pt x="180" y="994"/>
                </a:cubicBezTo>
                <a:lnTo>
                  <a:pt x="173" y="994"/>
                </a:lnTo>
                <a:cubicBezTo>
                  <a:pt x="173" y="993"/>
                  <a:pt x="173" y="992"/>
                  <a:pt x="173" y="992"/>
                </a:cubicBezTo>
                <a:cubicBezTo>
                  <a:pt x="173" y="991"/>
                  <a:pt x="172" y="990"/>
                  <a:pt x="172" y="989"/>
                </a:cubicBezTo>
                <a:cubicBezTo>
                  <a:pt x="171" y="988"/>
                  <a:pt x="171" y="986"/>
                  <a:pt x="171" y="984"/>
                </a:cubicBezTo>
                <a:cubicBezTo>
                  <a:pt x="171" y="982"/>
                  <a:pt x="170" y="979"/>
                  <a:pt x="168" y="976"/>
                </a:cubicBezTo>
                <a:cubicBezTo>
                  <a:pt x="167" y="973"/>
                  <a:pt x="166" y="969"/>
                  <a:pt x="164" y="964"/>
                </a:cubicBezTo>
                <a:cubicBezTo>
                  <a:pt x="163" y="958"/>
                  <a:pt x="162" y="952"/>
                  <a:pt x="160" y="945"/>
                </a:cubicBezTo>
                <a:cubicBezTo>
                  <a:pt x="157" y="938"/>
                  <a:pt x="155" y="929"/>
                  <a:pt x="152" y="918"/>
                </a:cubicBezTo>
                <a:cubicBezTo>
                  <a:pt x="149" y="908"/>
                  <a:pt x="146" y="896"/>
                  <a:pt x="142" y="883"/>
                </a:cubicBezTo>
                <a:cubicBezTo>
                  <a:pt x="138" y="870"/>
                  <a:pt x="134" y="855"/>
                  <a:pt x="129" y="837"/>
                </a:cubicBezTo>
                <a:cubicBezTo>
                  <a:pt x="123" y="819"/>
                  <a:pt x="118" y="799"/>
                  <a:pt x="111" y="779"/>
                </a:cubicBezTo>
                <a:lnTo>
                  <a:pt x="50" y="570"/>
                </a:lnTo>
                <a:lnTo>
                  <a:pt x="14" y="613"/>
                </a:lnTo>
                <a:lnTo>
                  <a:pt x="0" y="599"/>
                </a:lnTo>
                <a:lnTo>
                  <a:pt x="55" y="532"/>
                </a:lnTo>
                <a:lnTo>
                  <a:pt x="85" y="499"/>
                </a:lnTo>
                <a:lnTo>
                  <a:pt x="200" y="897"/>
                </a:lnTo>
                <a:lnTo>
                  <a:pt x="482" y="5"/>
                </a:lnTo>
                <a:cubicBezTo>
                  <a:pt x="484" y="2"/>
                  <a:pt x="487" y="0"/>
                  <a:pt x="492" y="0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"/>
          <p:cNvSpPr/>
          <p:nvPr/>
        </p:nvSpPr>
        <p:spPr>
          <a:xfrm>
            <a:off x="7458840" y="3630600"/>
            <a:ext cx="1064520" cy="12240"/>
          </a:xfrm>
          <a:custGeom>
            <a:avLst/>
            <a:gdLst/>
            <a:ahLst/>
            <a:rect l="0" t="0" r="r" b="b"/>
            <a:pathLst>
              <a:path w="2957" h="34">
                <a:moveTo>
                  <a:pt x="0" y="0"/>
                </a:moveTo>
                <a:lnTo>
                  <a:pt x="2957" y="0"/>
                </a:lnTo>
                <a:lnTo>
                  <a:pt x="2957" y="34"/>
                </a:lnTo>
                <a:lnTo>
                  <a:pt x="0" y="34"/>
                </a:lnTo>
                <a:lnTo>
                  <a:pt x="0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7112520" y="4134960"/>
            <a:ext cx="68760" cy="132480"/>
          </a:xfrm>
          <a:custGeom>
            <a:avLst/>
            <a:gdLst/>
            <a:ahLst/>
            <a:rect l="0" t="0" r="r" b="b"/>
            <a:pathLst>
              <a:path w="191" h="368">
                <a:moveTo>
                  <a:pt x="72" y="48"/>
                </a:moveTo>
                <a:lnTo>
                  <a:pt x="64" y="51"/>
                </a:lnTo>
                <a:cubicBezTo>
                  <a:pt x="59" y="53"/>
                  <a:pt x="52" y="55"/>
                  <a:pt x="42" y="57"/>
                </a:cubicBezTo>
                <a:cubicBezTo>
                  <a:pt x="33" y="58"/>
                  <a:pt x="22" y="60"/>
                  <a:pt x="10" y="60"/>
                </a:cubicBezTo>
                <a:lnTo>
                  <a:pt x="0" y="60"/>
                </a:lnTo>
                <a:lnTo>
                  <a:pt x="0" y="35"/>
                </a:lnTo>
                <a:lnTo>
                  <a:pt x="10" y="35"/>
                </a:lnTo>
                <a:cubicBezTo>
                  <a:pt x="28" y="34"/>
                  <a:pt x="44" y="32"/>
                  <a:pt x="58" y="27"/>
                </a:cubicBezTo>
                <a:cubicBezTo>
                  <a:pt x="73" y="22"/>
                  <a:pt x="83" y="18"/>
                  <a:pt x="89" y="14"/>
                </a:cubicBezTo>
                <a:cubicBezTo>
                  <a:pt x="95" y="9"/>
                  <a:pt x="100" y="5"/>
                  <a:pt x="105" y="1"/>
                </a:cubicBezTo>
                <a:cubicBezTo>
                  <a:pt x="106" y="0"/>
                  <a:pt x="108" y="0"/>
                  <a:pt x="111" y="0"/>
                </a:cubicBezTo>
                <a:cubicBezTo>
                  <a:pt x="115" y="0"/>
                  <a:pt x="118" y="1"/>
                  <a:pt x="121" y="3"/>
                </a:cubicBezTo>
                <a:lnTo>
                  <a:pt x="121" y="169"/>
                </a:lnTo>
                <a:lnTo>
                  <a:pt x="121" y="335"/>
                </a:lnTo>
                <a:cubicBezTo>
                  <a:pt x="124" y="337"/>
                  <a:pt x="126" y="339"/>
                  <a:pt x="128" y="340"/>
                </a:cubicBezTo>
                <a:cubicBezTo>
                  <a:pt x="130" y="340"/>
                  <a:pt x="134" y="341"/>
                  <a:pt x="141" y="342"/>
                </a:cubicBezTo>
                <a:cubicBezTo>
                  <a:pt x="148" y="343"/>
                  <a:pt x="160" y="343"/>
                  <a:pt x="175" y="343"/>
                </a:cubicBezTo>
                <a:lnTo>
                  <a:pt x="191" y="343"/>
                </a:lnTo>
                <a:lnTo>
                  <a:pt x="191" y="368"/>
                </a:lnTo>
                <a:lnTo>
                  <a:pt x="185" y="368"/>
                </a:lnTo>
                <a:cubicBezTo>
                  <a:pt x="176" y="367"/>
                  <a:pt x="147" y="367"/>
                  <a:pt x="96" y="367"/>
                </a:cubicBezTo>
                <a:cubicBezTo>
                  <a:pt x="46" y="367"/>
                  <a:pt x="17" y="367"/>
                  <a:pt x="9" y="368"/>
                </a:cubicBezTo>
                <a:lnTo>
                  <a:pt x="3" y="368"/>
                </a:lnTo>
                <a:lnTo>
                  <a:pt x="3" y="343"/>
                </a:lnTo>
                <a:lnTo>
                  <a:pt x="17" y="343"/>
                </a:lnTo>
                <a:cubicBezTo>
                  <a:pt x="25" y="343"/>
                  <a:pt x="32" y="343"/>
                  <a:pt x="38" y="343"/>
                </a:cubicBezTo>
                <a:cubicBezTo>
                  <a:pt x="44" y="343"/>
                  <a:pt x="48" y="343"/>
                  <a:pt x="52" y="342"/>
                </a:cubicBezTo>
                <a:cubicBezTo>
                  <a:pt x="55" y="342"/>
                  <a:pt x="58" y="342"/>
                  <a:pt x="61" y="341"/>
                </a:cubicBezTo>
                <a:cubicBezTo>
                  <a:pt x="63" y="340"/>
                  <a:pt x="65" y="340"/>
                  <a:pt x="65" y="340"/>
                </a:cubicBezTo>
                <a:cubicBezTo>
                  <a:pt x="65" y="340"/>
                  <a:pt x="67" y="339"/>
                  <a:pt x="68" y="337"/>
                </a:cubicBezTo>
                <a:cubicBezTo>
                  <a:pt x="70" y="335"/>
                  <a:pt x="71" y="334"/>
                  <a:pt x="72" y="335"/>
                </a:cubicBezTo>
                <a:lnTo>
                  <a:pt x="72" y="48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"/>
          <p:cNvSpPr/>
          <p:nvPr/>
        </p:nvSpPr>
        <p:spPr>
          <a:xfrm>
            <a:off x="7112520" y="4134960"/>
            <a:ext cx="68760" cy="132480"/>
          </a:xfrm>
          <a:custGeom>
            <a:avLst/>
            <a:gdLst/>
            <a:ahLst/>
            <a:rect l="0" t="0" r="r" b="b"/>
            <a:pathLst>
              <a:path fill="none" w="191" h="368">
                <a:moveTo>
                  <a:pt x="72" y="48"/>
                </a:moveTo>
                <a:lnTo>
                  <a:pt x="64" y="51"/>
                </a:lnTo>
                <a:cubicBezTo>
                  <a:pt x="59" y="53"/>
                  <a:pt x="52" y="55"/>
                  <a:pt x="42" y="57"/>
                </a:cubicBezTo>
                <a:cubicBezTo>
                  <a:pt x="33" y="58"/>
                  <a:pt x="22" y="60"/>
                  <a:pt x="10" y="60"/>
                </a:cubicBezTo>
                <a:lnTo>
                  <a:pt x="0" y="60"/>
                </a:lnTo>
                <a:lnTo>
                  <a:pt x="0" y="35"/>
                </a:lnTo>
                <a:lnTo>
                  <a:pt x="10" y="35"/>
                </a:lnTo>
                <a:cubicBezTo>
                  <a:pt x="28" y="34"/>
                  <a:pt x="44" y="32"/>
                  <a:pt x="58" y="27"/>
                </a:cubicBezTo>
                <a:cubicBezTo>
                  <a:pt x="73" y="22"/>
                  <a:pt x="83" y="18"/>
                  <a:pt x="89" y="14"/>
                </a:cubicBezTo>
                <a:cubicBezTo>
                  <a:pt x="95" y="9"/>
                  <a:pt x="100" y="5"/>
                  <a:pt x="105" y="1"/>
                </a:cubicBezTo>
                <a:cubicBezTo>
                  <a:pt x="106" y="0"/>
                  <a:pt x="108" y="0"/>
                  <a:pt x="111" y="0"/>
                </a:cubicBezTo>
                <a:cubicBezTo>
                  <a:pt x="115" y="0"/>
                  <a:pt x="118" y="1"/>
                  <a:pt x="121" y="3"/>
                </a:cubicBezTo>
                <a:lnTo>
                  <a:pt x="121" y="169"/>
                </a:lnTo>
                <a:lnTo>
                  <a:pt x="121" y="335"/>
                </a:lnTo>
                <a:cubicBezTo>
                  <a:pt x="124" y="337"/>
                  <a:pt x="126" y="339"/>
                  <a:pt x="128" y="340"/>
                </a:cubicBezTo>
                <a:cubicBezTo>
                  <a:pt x="130" y="340"/>
                  <a:pt x="134" y="341"/>
                  <a:pt x="141" y="342"/>
                </a:cubicBezTo>
                <a:cubicBezTo>
                  <a:pt x="148" y="343"/>
                  <a:pt x="160" y="343"/>
                  <a:pt x="175" y="343"/>
                </a:cubicBezTo>
                <a:lnTo>
                  <a:pt x="191" y="343"/>
                </a:lnTo>
                <a:lnTo>
                  <a:pt x="191" y="368"/>
                </a:lnTo>
                <a:lnTo>
                  <a:pt x="185" y="368"/>
                </a:lnTo>
                <a:cubicBezTo>
                  <a:pt x="176" y="367"/>
                  <a:pt x="147" y="367"/>
                  <a:pt x="96" y="367"/>
                </a:cubicBezTo>
                <a:cubicBezTo>
                  <a:pt x="46" y="367"/>
                  <a:pt x="17" y="367"/>
                  <a:pt x="9" y="368"/>
                </a:cubicBezTo>
                <a:lnTo>
                  <a:pt x="3" y="368"/>
                </a:lnTo>
                <a:lnTo>
                  <a:pt x="3" y="343"/>
                </a:lnTo>
                <a:lnTo>
                  <a:pt x="17" y="343"/>
                </a:lnTo>
                <a:cubicBezTo>
                  <a:pt x="25" y="343"/>
                  <a:pt x="32" y="343"/>
                  <a:pt x="38" y="343"/>
                </a:cubicBezTo>
                <a:cubicBezTo>
                  <a:pt x="44" y="343"/>
                  <a:pt x="48" y="343"/>
                  <a:pt x="52" y="342"/>
                </a:cubicBezTo>
                <a:cubicBezTo>
                  <a:pt x="55" y="342"/>
                  <a:pt x="58" y="342"/>
                  <a:pt x="61" y="341"/>
                </a:cubicBezTo>
                <a:cubicBezTo>
                  <a:pt x="63" y="340"/>
                  <a:pt x="65" y="340"/>
                  <a:pt x="65" y="340"/>
                </a:cubicBezTo>
                <a:cubicBezTo>
                  <a:pt x="65" y="340"/>
                  <a:pt x="67" y="339"/>
                  <a:pt x="68" y="337"/>
                </a:cubicBezTo>
                <a:cubicBezTo>
                  <a:pt x="70" y="335"/>
                  <a:pt x="71" y="334"/>
                  <a:pt x="72" y="335"/>
                </a:cubicBezTo>
                <a:lnTo>
                  <a:pt x="72" y="48"/>
                </a:ln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/>
          <p:nvPr/>
        </p:nvSpPr>
        <p:spPr>
          <a:xfrm>
            <a:off x="7250760" y="4151520"/>
            <a:ext cx="132480" cy="132480"/>
          </a:xfrm>
          <a:custGeom>
            <a:avLst/>
            <a:gdLst/>
            <a:ahLst/>
            <a:rect l="0" t="0" r="r" b="b"/>
            <a:pathLst>
              <a:path w="368" h="368">
                <a:moveTo>
                  <a:pt x="0" y="192"/>
                </a:moveTo>
                <a:cubicBezTo>
                  <a:pt x="0" y="192"/>
                  <a:pt x="0" y="189"/>
                  <a:pt x="0" y="184"/>
                </a:cubicBezTo>
                <a:cubicBezTo>
                  <a:pt x="0" y="180"/>
                  <a:pt x="2" y="176"/>
                  <a:pt x="7" y="173"/>
                </a:cubicBezTo>
                <a:lnTo>
                  <a:pt x="173" y="173"/>
                </a:lnTo>
                <a:lnTo>
                  <a:pt x="173" y="91"/>
                </a:lnTo>
                <a:lnTo>
                  <a:pt x="173" y="7"/>
                </a:lnTo>
                <a:cubicBezTo>
                  <a:pt x="177" y="2"/>
                  <a:pt x="180" y="0"/>
                  <a:pt x="184" y="0"/>
                </a:cubicBezTo>
                <a:cubicBezTo>
                  <a:pt x="188" y="0"/>
                  <a:pt x="192" y="2"/>
                  <a:pt x="195" y="8"/>
                </a:cubicBezTo>
                <a:lnTo>
                  <a:pt x="195" y="173"/>
                </a:lnTo>
                <a:lnTo>
                  <a:pt x="360" y="173"/>
                </a:lnTo>
                <a:cubicBezTo>
                  <a:pt x="366" y="176"/>
                  <a:pt x="368" y="180"/>
                  <a:pt x="368" y="184"/>
                </a:cubicBezTo>
                <a:cubicBezTo>
                  <a:pt x="368" y="189"/>
                  <a:pt x="366" y="193"/>
                  <a:pt x="360" y="195"/>
                </a:cubicBezTo>
                <a:lnTo>
                  <a:pt x="195" y="195"/>
                </a:lnTo>
                <a:lnTo>
                  <a:pt x="195" y="360"/>
                </a:lnTo>
                <a:cubicBezTo>
                  <a:pt x="192" y="365"/>
                  <a:pt x="188" y="368"/>
                  <a:pt x="185" y="368"/>
                </a:cubicBezTo>
                <a:lnTo>
                  <a:pt x="184" y="368"/>
                </a:lnTo>
                <a:lnTo>
                  <a:pt x="182" y="368"/>
                </a:lnTo>
                <a:cubicBezTo>
                  <a:pt x="178" y="368"/>
                  <a:pt x="175" y="365"/>
                  <a:pt x="173" y="360"/>
                </a:cubicBezTo>
                <a:lnTo>
                  <a:pt x="173" y="195"/>
                </a:lnTo>
                <a:lnTo>
                  <a:pt x="7" y="195"/>
                </a:lnTo>
                <a:cubicBezTo>
                  <a:pt x="2" y="193"/>
                  <a:pt x="0" y="189"/>
                  <a:pt x="0" y="184"/>
                </a:cubicBezTo>
                <a:lnTo>
                  <a:pt x="0" y="192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/>
          <p:nvPr/>
        </p:nvSpPr>
        <p:spPr>
          <a:xfrm>
            <a:off x="7250760" y="4151520"/>
            <a:ext cx="132480" cy="132480"/>
          </a:xfrm>
          <a:custGeom>
            <a:avLst/>
            <a:gdLst/>
            <a:ahLst/>
            <a:rect l="0" t="0" r="r" b="b"/>
            <a:pathLst>
              <a:path fill="none" w="368" h="368">
                <a:moveTo>
                  <a:pt x="0" y="192"/>
                </a:moveTo>
                <a:cubicBezTo>
                  <a:pt x="0" y="192"/>
                  <a:pt x="0" y="189"/>
                  <a:pt x="0" y="184"/>
                </a:cubicBezTo>
                <a:cubicBezTo>
                  <a:pt x="0" y="180"/>
                  <a:pt x="2" y="176"/>
                  <a:pt x="7" y="173"/>
                </a:cubicBezTo>
                <a:lnTo>
                  <a:pt x="173" y="173"/>
                </a:lnTo>
                <a:lnTo>
                  <a:pt x="173" y="91"/>
                </a:lnTo>
                <a:lnTo>
                  <a:pt x="173" y="7"/>
                </a:lnTo>
                <a:cubicBezTo>
                  <a:pt x="177" y="2"/>
                  <a:pt x="180" y="0"/>
                  <a:pt x="184" y="0"/>
                </a:cubicBezTo>
                <a:cubicBezTo>
                  <a:pt x="188" y="0"/>
                  <a:pt x="192" y="2"/>
                  <a:pt x="195" y="8"/>
                </a:cubicBezTo>
                <a:lnTo>
                  <a:pt x="195" y="173"/>
                </a:lnTo>
                <a:lnTo>
                  <a:pt x="360" y="173"/>
                </a:lnTo>
                <a:cubicBezTo>
                  <a:pt x="366" y="176"/>
                  <a:pt x="368" y="180"/>
                  <a:pt x="368" y="184"/>
                </a:cubicBezTo>
                <a:cubicBezTo>
                  <a:pt x="368" y="189"/>
                  <a:pt x="366" y="193"/>
                  <a:pt x="360" y="195"/>
                </a:cubicBezTo>
                <a:lnTo>
                  <a:pt x="195" y="195"/>
                </a:lnTo>
                <a:lnTo>
                  <a:pt x="195" y="360"/>
                </a:lnTo>
                <a:cubicBezTo>
                  <a:pt x="192" y="365"/>
                  <a:pt x="188" y="368"/>
                  <a:pt x="185" y="368"/>
                </a:cubicBezTo>
                <a:lnTo>
                  <a:pt x="184" y="368"/>
                </a:lnTo>
                <a:lnTo>
                  <a:pt x="182" y="368"/>
                </a:lnTo>
                <a:cubicBezTo>
                  <a:pt x="178" y="368"/>
                  <a:pt x="175" y="365"/>
                  <a:pt x="173" y="360"/>
                </a:cubicBezTo>
                <a:lnTo>
                  <a:pt x="173" y="195"/>
                </a:lnTo>
                <a:lnTo>
                  <a:pt x="7" y="195"/>
                </a:lnTo>
                <a:cubicBezTo>
                  <a:pt x="2" y="193"/>
                  <a:pt x="0" y="189"/>
                  <a:pt x="0" y="184"/>
                </a:cubicBezTo>
                <a:lnTo>
                  <a:pt x="0" y="192"/>
                </a:ln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/>
          <p:nvPr/>
        </p:nvSpPr>
        <p:spPr>
          <a:xfrm>
            <a:off x="7486920" y="4126680"/>
            <a:ext cx="61200" cy="64080"/>
          </a:xfrm>
          <a:custGeom>
            <a:avLst/>
            <a:gdLst/>
            <a:ahLst/>
            <a:rect l="0" t="0" r="r" b="b"/>
            <a:pathLst>
              <a:path w="170" h="178">
                <a:moveTo>
                  <a:pt x="123" y="41"/>
                </a:moveTo>
                <a:cubicBezTo>
                  <a:pt x="120" y="41"/>
                  <a:pt x="113" y="40"/>
                  <a:pt x="102" y="37"/>
                </a:cubicBezTo>
                <a:cubicBezTo>
                  <a:pt x="91" y="34"/>
                  <a:pt x="83" y="32"/>
                  <a:pt x="78" y="32"/>
                </a:cubicBezTo>
                <a:cubicBezTo>
                  <a:pt x="71" y="32"/>
                  <a:pt x="67" y="33"/>
                  <a:pt x="63" y="34"/>
                </a:cubicBezTo>
                <a:cubicBezTo>
                  <a:pt x="60" y="35"/>
                  <a:pt x="57" y="36"/>
                  <a:pt x="54" y="38"/>
                </a:cubicBezTo>
                <a:cubicBezTo>
                  <a:pt x="52" y="39"/>
                  <a:pt x="50" y="41"/>
                  <a:pt x="50" y="42"/>
                </a:cubicBezTo>
                <a:cubicBezTo>
                  <a:pt x="49" y="43"/>
                  <a:pt x="48" y="45"/>
                  <a:pt x="47" y="46"/>
                </a:cubicBezTo>
                <a:lnTo>
                  <a:pt x="46" y="48"/>
                </a:lnTo>
                <a:cubicBezTo>
                  <a:pt x="45" y="49"/>
                  <a:pt x="43" y="49"/>
                  <a:pt x="40" y="49"/>
                </a:cubicBezTo>
                <a:cubicBezTo>
                  <a:pt x="35" y="49"/>
                  <a:pt x="32" y="48"/>
                  <a:pt x="32" y="46"/>
                </a:cubicBezTo>
                <a:cubicBezTo>
                  <a:pt x="32" y="45"/>
                  <a:pt x="33" y="43"/>
                  <a:pt x="33" y="41"/>
                </a:cubicBezTo>
                <a:cubicBezTo>
                  <a:pt x="37" y="30"/>
                  <a:pt x="42" y="22"/>
                  <a:pt x="50" y="14"/>
                </a:cubicBezTo>
                <a:cubicBezTo>
                  <a:pt x="58" y="7"/>
                  <a:pt x="67" y="3"/>
                  <a:pt x="77" y="1"/>
                </a:cubicBezTo>
                <a:cubicBezTo>
                  <a:pt x="80" y="1"/>
                  <a:pt x="82" y="0"/>
                  <a:pt x="84" y="0"/>
                </a:cubicBezTo>
                <a:cubicBezTo>
                  <a:pt x="90" y="0"/>
                  <a:pt x="96" y="3"/>
                  <a:pt x="101" y="7"/>
                </a:cubicBezTo>
                <a:cubicBezTo>
                  <a:pt x="106" y="11"/>
                  <a:pt x="111" y="16"/>
                  <a:pt x="116" y="20"/>
                </a:cubicBezTo>
                <a:cubicBezTo>
                  <a:pt x="121" y="24"/>
                  <a:pt x="126" y="26"/>
                  <a:pt x="131" y="27"/>
                </a:cubicBezTo>
                <a:cubicBezTo>
                  <a:pt x="136" y="27"/>
                  <a:pt x="142" y="22"/>
                  <a:pt x="148" y="14"/>
                </a:cubicBezTo>
                <a:cubicBezTo>
                  <a:pt x="154" y="5"/>
                  <a:pt x="157" y="1"/>
                  <a:pt x="157" y="1"/>
                </a:cubicBezTo>
                <a:cubicBezTo>
                  <a:pt x="157" y="1"/>
                  <a:pt x="159" y="0"/>
                  <a:pt x="163" y="0"/>
                </a:cubicBezTo>
                <a:lnTo>
                  <a:pt x="168" y="0"/>
                </a:lnTo>
                <a:cubicBezTo>
                  <a:pt x="169" y="2"/>
                  <a:pt x="170" y="3"/>
                  <a:pt x="170" y="4"/>
                </a:cubicBezTo>
                <a:cubicBezTo>
                  <a:pt x="170" y="5"/>
                  <a:pt x="170" y="6"/>
                  <a:pt x="168" y="9"/>
                </a:cubicBezTo>
                <a:cubicBezTo>
                  <a:pt x="167" y="12"/>
                  <a:pt x="165" y="14"/>
                  <a:pt x="163" y="17"/>
                </a:cubicBezTo>
                <a:cubicBezTo>
                  <a:pt x="160" y="20"/>
                  <a:pt x="158" y="23"/>
                  <a:pt x="156" y="26"/>
                </a:cubicBezTo>
                <a:cubicBezTo>
                  <a:pt x="154" y="29"/>
                  <a:pt x="152" y="31"/>
                  <a:pt x="151" y="33"/>
                </a:cubicBezTo>
                <a:lnTo>
                  <a:pt x="148" y="37"/>
                </a:lnTo>
                <a:cubicBezTo>
                  <a:pt x="137" y="50"/>
                  <a:pt x="119" y="69"/>
                  <a:pt x="95" y="90"/>
                </a:cubicBezTo>
                <a:cubicBezTo>
                  <a:pt x="70" y="112"/>
                  <a:pt x="55" y="126"/>
                  <a:pt x="49" y="133"/>
                </a:cubicBezTo>
                <a:lnTo>
                  <a:pt x="44" y="137"/>
                </a:lnTo>
                <a:lnTo>
                  <a:pt x="50" y="138"/>
                </a:lnTo>
                <a:cubicBezTo>
                  <a:pt x="56" y="138"/>
                  <a:pt x="64" y="139"/>
                  <a:pt x="76" y="142"/>
                </a:cubicBezTo>
                <a:cubicBezTo>
                  <a:pt x="87" y="145"/>
                  <a:pt x="95" y="146"/>
                  <a:pt x="101" y="146"/>
                </a:cubicBezTo>
                <a:cubicBezTo>
                  <a:pt x="111" y="146"/>
                  <a:pt x="120" y="144"/>
                  <a:pt x="128" y="139"/>
                </a:cubicBezTo>
                <a:cubicBezTo>
                  <a:pt x="136" y="134"/>
                  <a:pt x="142" y="127"/>
                  <a:pt x="144" y="119"/>
                </a:cubicBezTo>
                <a:cubicBezTo>
                  <a:pt x="145" y="117"/>
                  <a:pt x="146" y="115"/>
                  <a:pt x="147" y="115"/>
                </a:cubicBezTo>
                <a:cubicBezTo>
                  <a:pt x="148" y="114"/>
                  <a:pt x="150" y="114"/>
                  <a:pt x="153" y="114"/>
                </a:cubicBezTo>
                <a:cubicBezTo>
                  <a:pt x="158" y="114"/>
                  <a:pt x="160" y="115"/>
                  <a:pt x="160" y="118"/>
                </a:cubicBezTo>
                <a:cubicBezTo>
                  <a:pt x="160" y="119"/>
                  <a:pt x="160" y="121"/>
                  <a:pt x="160" y="122"/>
                </a:cubicBezTo>
                <a:cubicBezTo>
                  <a:pt x="156" y="138"/>
                  <a:pt x="147" y="151"/>
                  <a:pt x="134" y="162"/>
                </a:cubicBezTo>
                <a:cubicBezTo>
                  <a:pt x="121" y="172"/>
                  <a:pt x="109" y="178"/>
                  <a:pt x="96" y="178"/>
                </a:cubicBezTo>
                <a:cubicBezTo>
                  <a:pt x="89" y="178"/>
                  <a:pt x="83" y="176"/>
                  <a:pt x="78" y="172"/>
                </a:cubicBezTo>
                <a:cubicBezTo>
                  <a:pt x="72" y="167"/>
                  <a:pt x="67" y="163"/>
                  <a:pt x="62" y="158"/>
                </a:cubicBezTo>
                <a:cubicBezTo>
                  <a:pt x="57" y="154"/>
                  <a:pt x="52" y="152"/>
                  <a:pt x="47" y="152"/>
                </a:cubicBezTo>
                <a:cubicBezTo>
                  <a:pt x="36" y="152"/>
                  <a:pt x="25" y="159"/>
                  <a:pt x="16" y="175"/>
                </a:cubicBezTo>
                <a:cubicBezTo>
                  <a:pt x="15" y="177"/>
                  <a:pt x="12" y="178"/>
                  <a:pt x="10" y="178"/>
                </a:cubicBezTo>
                <a:lnTo>
                  <a:pt x="8" y="178"/>
                </a:lnTo>
                <a:lnTo>
                  <a:pt x="2" y="178"/>
                </a:lnTo>
                <a:cubicBezTo>
                  <a:pt x="1" y="177"/>
                  <a:pt x="0" y="175"/>
                  <a:pt x="0" y="175"/>
                </a:cubicBezTo>
                <a:cubicBezTo>
                  <a:pt x="0" y="171"/>
                  <a:pt x="8" y="160"/>
                  <a:pt x="23" y="141"/>
                </a:cubicBezTo>
                <a:cubicBezTo>
                  <a:pt x="33" y="129"/>
                  <a:pt x="50" y="113"/>
                  <a:pt x="74" y="90"/>
                </a:cubicBezTo>
                <a:cubicBezTo>
                  <a:pt x="100" y="68"/>
                  <a:pt x="114" y="53"/>
                  <a:pt x="120" y="47"/>
                </a:cubicBezTo>
                <a:cubicBezTo>
                  <a:pt x="123" y="43"/>
                  <a:pt x="124" y="41"/>
                  <a:pt x="123" y="41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/>
          <p:nvPr/>
        </p:nvSpPr>
        <p:spPr>
          <a:xfrm>
            <a:off x="7486920" y="4126680"/>
            <a:ext cx="61200" cy="64080"/>
          </a:xfrm>
          <a:custGeom>
            <a:avLst/>
            <a:gdLst/>
            <a:ahLst/>
            <a:rect l="0" t="0" r="r" b="b"/>
            <a:pathLst>
              <a:path fill="none" w="170" h="178">
                <a:moveTo>
                  <a:pt x="123" y="41"/>
                </a:moveTo>
                <a:cubicBezTo>
                  <a:pt x="120" y="41"/>
                  <a:pt x="113" y="40"/>
                  <a:pt x="102" y="37"/>
                </a:cubicBezTo>
                <a:cubicBezTo>
                  <a:pt x="91" y="34"/>
                  <a:pt x="83" y="32"/>
                  <a:pt x="78" y="32"/>
                </a:cubicBezTo>
                <a:cubicBezTo>
                  <a:pt x="71" y="32"/>
                  <a:pt x="67" y="33"/>
                  <a:pt x="63" y="34"/>
                </a:cubicBezTo>
                <a:cubicBezTo>
                  <a:pt x="60" y="35"/>
                  <a:pt x="57" y="36"/>
                  <a:pt x="54" y="38"/>
                </a:cubicBezTo>
                <a:cubicBezTo>
                  <a:pt x="52" y="39"/>
                  <a:pt x="50" y="41"/>
                  <a:pt x="50" y="42"/>
                </a:cubicBezTo>
                <a:cubicBezTo>
                  <a:pt x="49" y="43"/>
                  <a:pt x="48" y="45"/>
                  <a:pt x="47" y="46"/>
                </a:cubicBezTo>
                <a:lnTo>
                  <a:pt x="46" y="48"/>
                </a:lnTo>
                <a:cubicBezTo>
                  <a:pt x="45" y="49"/>
                  <a:pt x="43" y="49"/>
                  <a:pt x="40" y="49"/>
                </a:cubicBezTo>
                <a:cubicBezTo>
                  <a:pt x="35" y="49"/>
                  <a:pt x="32" y="48"/>
                  <a:pt x="32" y="46"/>
                </a:cubicBezTo>
                <a:cubicBezTo>
                  <a:pt x="32" y="45"/>
                  <a:pt x="33" y="43"/>
                  <a:pt x="33" y="41"/>
                </a:cubicBezTo>
                <a:cubicBezTo>
                  <a:pt x="37" y="30"/>
                  <a:pt x="42" y="22"/>
                  <a:pt x="50" y="14"/>
                </a:cubicBezTo>
                <a:cubicBezTo>
                  <a:pt x="58" y="7"/>
                  <a:pt x="67" y="3"/>
                  <a:pt x="77" y="1"/>
                </a:cubicBezTo>
                <a:cubicBezTo>
                  <a:pt x="80" y="1"/>
                  <a:pt x="82" y="0"/>
                  <a:pt x="84" y="0"/>
                </a:cubicBezTo>
                <a:cubicBezTo>
                  <a:pt x="90" y="0"/>
                  <a:pt x="96" y="3"/>
                  <a:pt x="101" y="7"/>
                </a:cubicBezTo>
                <a:cubicBezTo>
                  <a:pt x="106" y="11"/>
                  <a:pt x="111" y="16"/>
                  <a:pt x="116" y="20"/>
                </a:cubicBezTo>
                <a:cubicBezTo>
                  <a:pt x="121" y="24"/>
                  <a:pt x="126" y="26"/>
                  <a:pt x="131" y="27"/>
                </a:cubicBezTo>
                <a:cubicBezTo>
                  <a:pt x="136" y="27"/>
                  <a:pt x="142" y="22"/>
                  <a:pt x="148" y="14"/>
                </a:cubicBezTo>
                <a:cubicBezTo>
                  <a:pt x="154" y="5"/>
                  <a:pt x="157" y="1"/>
                  <a:pt x="157" y="1"/>
                </a:cubicBezTo>
                <a:cubicBezTo>
                  <a:pt x="157" y="1"/>
                  <a:pt x="159" y="0"/>
                  <a:pt x="163" y="0"/>
                </a:cubicBezTo>
                <a:lnTo>
                  <a:pt x="168" y="0"/>
                </a:lnTo>
                <a:cubicBezTo>
                  <a:pt x="169" y="2"/>
                  <a:pt x="170" y="3"/>
                  <a:pt x="170" y="4"/>
                </a:cubicBezTo>
                <a:cubicBezTo>
                  <a:pt x="170" y="5"/>
                  <a:pt x="170" y="6"/>
                  <a:pt x="168" y="9"/>
                </a:cubicBezTo>
                <a:cubicBezTo>
                  <a:pt x="167" y="12"/>
                  <a:pt x="165" y="14"/>
                  <a:pt x="163" y="17"/>
                </a:cubicBezTo>
                <a:cubicBezTo>
                  <a:pt x="160" y="20"/>
                  <a:pt x="158" y="23"/>
                  <a:pt x="156" y="26"/>
                </a:cubicBezTo>
                <a:cubicBezTo>
                  <a:pt x="154" y="29"/>
                  <a:pt x="152" y="31"/>
                  <a:pt x="151" y="33"/>
                </a:cubicBezTo>
                <a:lnTo>
                  <a:pt x="148" y="37"/>
                </a:lnTo>
                <a:cubicBezTo>
                  <a:pt x="137" y="50"/>
                  <a:pt x="119" y="69"/>
                  <a:pt x="95" y="90"/>
                </a:cubicBezTo>
                <a:cubicBezTo>
                  <a:pt x="70" y="112"/>
                  <a:pt x="55" y="126"/>
                  <a:pt x="49" y="133"/>
                </a:cubicBezTo>
                <a:lnTo>
                  <a:pt x="44" y="137"/>
                </a:lnTo>
                <a:lnTo>
                  <a:pt x="50" y="138"/>
                </a:lnTo>
                <a:cubicBezTo>
                  <a:pt x="56" y="138"/>
                  <a:pt x="64" y="139"/>
                  <a:pt x="76" y="142"/>
                </a:cubicBezTo>
                <a:cubicBezTo>
                  <a:pt x="87" y="145"/>
                  <a:pt x="95" y="146"/>
                  <a:pt x="101" y="146"/>
                </a:cubicBezTo>
                <a:cubicBezTo>
                  <a:pt x="111" y="146"/>
                  <a:pt x="120" y="144"/>
                  <a:pt x="128" y="139"/>
                </a:cubicBezTo>
                <a:cubicBezTo>
                  <a:pt x="136" y="134"/>
                  <a:pt x="142" y="127"/>
                  <a:pt x="144" y="119"/>
                </a:cubicBezTo>
                <a:cubicBezTo>
                  <a:pt x="145" y="117"/>
                  <a:pt x="146" y="115"/>
                  <a:pt x="147" y="115"/>
                </a:cubicBezTo>
                <a:cubicBezTo>
                  <a:pt x="148" y="114"/>
                  <a:pt x="150" y="114"/>
                  <a:pt x="153" y="114"/>
                </a:cubicBezTo>
                <a:cubicBezTo>
                  <a:pt x="158" y="114"/>
                  <a:pt x="160" y="115"/>
                  <a:pt x="160" y="118"/>
                </a:cubicBezTo>
                <a:cubicBezTo>
                  <a:pt x="160" y="119"/>
                  <a:pt x="160" y="121"/>
                  <a:pt x="160" y="122"/>
                </a:cubicBezTo>
                <a:cubicBezTo>
                  <a:pt x="156" y="138"/>
                  <a:pt x="147" y="151"/>
                  <a:pt x="134" y="162"/>
                </a:cubicBezTo>
                <a:cubicBezTo>
                  <a:pt x="121" y="172"/>
                  <a:pt x="109" y="178"/>
                  <a:pt x="96" y="178"/>
                </a:cubicBezTo>
                <a:cubicBezTo>
                  <a:pt x="89" y="178"/>
                  <a:pt x="83" y="176"/>
                  <a:pt x="78" y="172"/>
                </a:cubicBezTo>
                <a:cubicBezTo>
                  <a:pt x="72" y="167"/>
                  <a:pt x="67" y="163"/>
                  <a:pt x="62" y="158"/>
                </a:cubicBezTo>
                <a:cubicBezTo>
                  <a:pt x="57" y="154"/>
                  <a:pt x="52" y="152"/>
                  <a:pt x="47" y="152"/>
                </a:cubicBezTo>
                <a:cubicBezTo>
                  <a:pt x="36" y="152"/>
                  <a:pt x="25" y="159"/>
                  <a:pt x="16" y="175"/>
                </a:cubicBezTo>
                <a:cubicBezTo>
                  <a:pt x="15" y="177"/>
                  <a:pt x="12" y="178"/>
                  <a:pt x="10" y="178"/>
                </a:cubicBezTo>
                <a:lnTo>
                  <a:pt x="8" y="178"/>
                </a:lnTo>
                <a:lnTo>
                  <a:pt x="2" y="178"/>
                </a:lnTo>
                <a:cubicBezTo>
                  <a:pt x="1" y="177"/>
                  <a:pt x="0" y="175"/>
                  <a:pt x="0" y="175"/>
                </a:cubicBezTo>
                <a:cubicBezTo>
                  <a:pt x="0" y="171"/>
                  <a:pt x="8" y="160"/>
                  <a:pt x="23" y="141"/>
                </a:cubicBezTo>
                <a:cubicBezTo>
                  <a:pt x="33" y="129"/>
                  <a:pt x="50" y="113"/>
                  <a:pt x="74" y="90"/>
                </a:cubicBezTo>
                <a:cubicBezTo>
                  <a:pt x="100" y="68"/>
                  <a:pt x="114" y="53"/>
                  <a:pt x="120" y="47"/>
                </a:cubicBezTo>
                <a:cubicBezTo>
                  <a:pt x="123" y="43"/>
                  <a:pt x="124" y="41"/>
                  <a:pt x="123" y="41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"/>
          <p:cNvSpPr/>
          <p:nvPr/>
        </p:nvSpPr>
        <p:spPr>
          <a:xfrm>
            <a:off x="7557120" y="4071600"/>
            <a:ext cx="39960" cy="66600"/>
          </a:xfrm>
          <a:custGeom>
            <a:avLst/>
            <a:gdLst/>
            <a:ahLst/>
            <a:rect l="0" t="0" r="r" b="b"/>
            <a:pathLst>
              <a:path w="111" h="185">
                <a:moveTo>
                  <a:pt x="16" y="66"/>
                </a:moveTo>
                <a:cubicBezTo>
                  <a:pt x="11" y="66"/>
                  <a:pt x="7" y="64"/>
                  <a:pt x="4" y="61"/>
                </a:cubicBezTo>
                <a:cubicBezTo>
                  <a:pt x="1" y="58"/>
                  <a:pt x="0" y="54"/>
                  <a:pt x="0" y="49"/>
                </a:cubicBezTo>
                <a:cubicBezTo>
                  <a:pt x="0" y="36"/>
                  <a:pt x="5" y="24"/>
                  <a:pt x="14" y="15"/>
                </a:cubicBezTo>
                <a:cubicBezTo>
                  <a:pt x="24" y="5"/>
                  <a:pt x="36" y="0"/>
                  <a:pt x="51" y="0"/>
                </a:cubicBezTo>
                <a:cubicBezTo>
                  <a:pt x="67" y="0"/>
                  <a:pt x="82" y="6"/>
                  <a:pt x="94" y="16"/>
                </a:cubicBezTo>
                <a:cubicBezTo>
                  <a:pt x="105" y="26"/>
                  <a:pt x="111" y="40"/>
                  <a:pt x="111" y="56"/>
                </a:cubicBezTo>
                <a:cubicBezTo>
                  <a:pt x="111" y="64"/>
                  <a:pt x="109" y="71"/>
                  <a:pt x="105" y="79"/>
                </a:cubicBezTo>
                <a:cubicBezTo>
                  <a:pt x="102" y="86"/>
                  <a:pt x="97" y="92"/>
                  <a:pt x="92" y="97"/>
                </a:cubicBezTo>
                <a:cubicBezTo>
                  <a:pt x="87" y="103"/>
                  <a:pt x="80" y="109"/>
                  <a:pt x="69" y="118"/>
                </a:cubicBezTo>
                <a:cubicBezTo>
                  <a:pt x="62" y="123"/>
                  <a:pt x="53" y="133"/>
                  <a:pt x="41" y="144"/>
                </a:cubicBezTo>
                <a:lnTo>
                  <a:pt x="25" y="160"/>
                </a:lnTo>
                <a:lnTo>
                  <a:pt x="46" y="160"/>
                </a:lnTo>
                <a:cubicBezTo>
                  <a:pt x="76" y="160"/>
                  <a:pt x="91" y="159"/>
                  <a:pt x="93" y="158"/>
                </a:cubicBezTo>
                <a:cubicBezTo>
                  <a:pt x="94" y="158"/>
                  <a:pt x="97" y="150"/>
                  <a:pt x="100" y="134"/>
                </a:cubicBezTo>
                <a:lnTo>
                  <a:pt x="100" y="133"/>
                </a:lnTo>
                <a:lnTo>
                  <a:pt x="111" y="133"/>
                </a:lnTo>
                <a:lnTo>
                  <a:pt x="111" y="134"/>
                </a:lnTo>
                <a:cubicBezTo>
                  <a:pt x="111" y="134"/>
                  <a:pt x="109" y="143"/>
                  <a:pt x="107" y="159"/>
                </a:cubicBezTo>
                <a:cubicBezTo>
                  <a:pt x="105" y="175"/>
                  <a:pt x="104" y="184"/>
                  <a:pt x="103" y="184"/>
                </a:cubicBezTo>
                <a:lnTo>
                  <a:pt x="103" y="185"/>
                </a:lnTo>
                <a:lnTo>
                  <a:pt x="0" y="185"/>
                </a:lnTo>
                <a:lnTo>
                  <a:pt x="0" y="180"/>
                </a:lnTo>
                <a:lnTo>
                  <a:pt x="0" y="177"/>
                </a:lnTo>
                <a:cubicBezTo>
                  <a:pt x="0" y="175"/>
                  <a:pt x="0" y="174"/>
                  <a:pt x="1" y="173"/>
                </a:cubicBezTo>
                <a:cubicBezTo>
                  <a:pt x="2" y="171"/>
                  <a:pt x="5" y="168"/>
                  <a:pt x="10" y="163"/>
                </a:cubicBezTo>
                <a:cubicBezTo>
                  <a:pt x="15" y="157"/>
                  <a:pt x="20" y="152"/>
                  <a:pt x="23" y="147"/>
                </a:cubicBezTo>
                <a:cubicBezTo>
                  <a:pt x="25" y="146"/>
                  <a:pt x="28" y="142"/>
                  <a:pt x="33" y="137"/>
                </a:cubicBezTo>
                <a:cubicBezTo>
                  <a:pt x="37" y="132"/>
                  <a:pt x="41" y="129"/>
                  <a:pt x="42" y="126"/>
                </a:cubicBezTo>
                <a:cubicBezTo>
                  <a:pt x="44" y="124"/>
                  <a:pt x="46" y="121"/>
                  <a:pt x="50" y="117"/>
                </a:cubicBezTo>
                <a:cubicBezTo>
                  <a:pt x="54" y="113"/>
                  <a:pt x="56" y="110"/>
                  <a:pt x="58" y="108"/>
                </a:cubicBezTo>
                <a:cubicBezTo>
                  <a:pt x="59" y="105"/>
                  <a:pt x="61" y="103"/>
                  <a:pt x="64" y="99"/>
                </a:cubicBezTo>
                <a:cubicBezTo>
                  <a:pt x="67" y="96"/>
                  <a:pt x="69" y="93"/>
                  <a:pt x="70" y="90"/>
                </a:cubicBezTo>
                <a:cubicBezTo>
                  <a:pt x="71" y="88"/>
                  <a:pt x="74" y="85"/>
                  <a:pt x="75" y="82"/>
                </a:cubicBezTo>
                <a:cubicBezTo>
                  <a:pt x="77" y="79"/>
                  <a:pt x="78" y="77"/>
                  <a:pt x="79" y="74"/>
                </a:cubicBezTo>
                <a:cubicBezTo>
                  <a:pt x="80" y="71"/>
                  <a:pt x="80" y="68"/>
                  <a:pt x="81" y="65"/>
                </a:cubicBezTo>
                <a:cubicBezTo>
                  <a:pt x="81" y="63"/>
                  <a:pt x="82" y="60"/>
                  <a:pt x="82" y="56"/>
                </a:cubicBezTo>
                <a:cubicBezTo>
                  <a:pt x="82" y="45"/>
                  <a:pt x="78" y="35"/>
                  <a:pt x="71" y="26"/>
                </a:cubicBezTo>
                <a:cubicBezTo>
                  <a:pt x="65" y="18"/>
                  <a:pt x="56" y="13"/>
                  <a:pt x="44" y="13"/>
                </a:cubicBezTo>
                <a:cubicBezTo>
                  <a:pt x="38" y="13"/>
                  <a:pt x="33" y="15"/>
                  <a:pt x="28" y="18"/>
                </a:cubicBezTo>
                <a:cubicBezTo>
                  <a:pt x="24" y="21"/>
                  <a:pt x="21" y="24"/>
                  <a:pt x="19" y="27"/>
                </a:cubicBezTo>
                <a:cubicBezTo>
                  <a:pt x="17" y="30"/>
                  <a:pt x="16" y="32"/>
                  <a:pt x="16" y="32"/>
                </a:cubicBezTo>
                <a:cubicBezTo>
                  <a:pt x="16" y="33"/>
                  <a:pt x="16" y="33"/>
                  <a:pt x="17" y="33"/>
                </a:cubicBezTo>
                <a:cubicBezTo>
                  <a:pt x="21" y="33"/>
                  <a:pt x="24" y="34"/>
                  <a:pt x="28" y="37"/>
                </a:cubicBezTo>
                <a:cubicBezTo>
                  <a:pt x="31" y="39"/>
                  <a:pt x="33" y="43"/>
                  <a:pt x="33" y="49"/>
                </a:cubicBezTo>
                <a:cubicBezTo>
                  <a:pt x="33" y="54"/>
                  <a:pt x="31" y="58"/>
                  <a:pt x="28" y="61"/>
                </a:cubicBezTo>
                <a:cubicBezTo>
                  <a:pt x="25" y="64"/>
                  <a:pt x="21" y="66"/>
                  <a:pt x="16" y="66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/>
          <p:nvPr/>
        </p:nvSpPr>
        <p:spPr>
          <a:xfrm>
            <a:off x="7557120" y="4071600"/>
            <a:ext cx="39960" cy="66600"/>
          </a:xfrm>
          <a:custGeom>
            <a:avLst/>
            <a:gdLst/>
            <a:ahLst/>
            <a:rect l="0" t="0" r="r" b="b"/>
            <a:pathLst>
              <a:path fill="none" w="111" h="185">
                <a:moveTo>
                  <a:pt x="16" y="66"/>
                </a:moveTo>
                <a:cubicBezTo>
                  <a:pt x="11" y="66"/>
                  <a:pt x="7" y="64"/>
                  <a:pt x="4" y="61"/>
                </a:cubicBezTo>
                <a:cubicBezTo>
                  <a:pt x="1" y="58"/>
                  <a:pt x="0" y="54"/>
                  <a:pt x="0" y="49"/>
                </a:cubicBezTo>
                <a:cubicBezTo>
                  <a:pt x="0" y="36"/>
                  <a:pt x="5" y="24"/>
                  <a:pt x="14" y="15"/>
                </a:cubicBezTo>
                <a:cubicBezTo>
                  <a:pt x="24" y="5"/>
                  <a:pt x="36" y="0"/>
                  <a:pt x="51" y="0"/>
                </a:cubicBezTo>
                <a:cubicBezTo>
                  <a:pt x="67" y="0"/>
                  <a:pt x="82" y="6"/>
                  <a:pt x="94" y="16"/>
                </a:cubicBezTo>
                <a:cubicBezTo>
                  <a:pt x="105" y="26"/>
                  <a:pt x="111" y="40"/>
                  <a:pt x="111" y="56"/>
                </a:cubicBezTo>
                <a:cubicBezTo>
                  <a:pt x="111" y="64"/>
                  <a:pt x="109" y="71"/>
                  <a:pt x="105" y="79"/>
                </a:cubicBezTo>
                <a:cubicBezTo>
                  <a:pt x="102" y="86"/>
                  <a:pt x="97" y="92"/>
                  <a:pt x="92" y="97"/>
                </a:cubicBezTo>
                <a:cubicBezTo>
                  <a:pt x="87" y="103"/>
                  <a:pt x="80" y="109"/>
                  <a:pt x="69" y="118"/>
                </a:cubicBezTo>
                <a:cubicBezTo>
                  <a:pt x="62" y="123"/>
                  <a:pt x="53" y="133"/>
                  <a:pt x="41" y="144"/>
                </a:cubicBezTo>
                <a:lnTo>
                  <a:pt x="25" y="160"/>
                </a:lnTo>
                <a:lnTo>
                  <a:pt x="46" y="160"/>
                </a:lnTo>
                <a:cubicBezTo>
                  <a:pt x="76" y="160"/>
                  <a:pt x="91" y="159"/>
                  <a:pt x="93" y="158"/>
                </a:cubicBezTo>
                <a:cubicBezTo>
                  <a:pt x="94" y="158"/>
                  <a:pt x="97" y="150"/>
                  <a:pt x="100" y="134"/>
                </a:cubicBezTo>
                <a:lnTo>
                  <a:pt x="100" y="133"/>
                </a:lnTo>
                <a:lnTo>
                  <a:pt x="111" y="133"/>
                </a:lnTo>
                <a:lnTo>
                  <a:pt x="111" y="134"/>
                </a:lnTo>
                <a:cubicBezTo>
                  <a:pt x="111" y="134"/>
                  <a:pt x="109" y="143"/>
                  <a:pt x="107" y="159"/>
                </a:cubicBezTo>
                <a:cubicBezTo>
                  <a:pt x="105" y="175"/>
                  <a:pt x="104" y="184"/>
                  <a:pt x="103" y="184"/>
                </a:cubicBezTo>
                <a:lnTo>
                  <a:pt x="103" y="185"/>
                </a:lnTo>
                <a:lnTo>
                  <a:pt x="0" y="185"/>
                </a:lnTo>
                <a:lnTo>
                  <a:pt x="0" y="180"/>
                </a:lnTo>
                <a:lnTo>
                  <a:pt x="0" y="177"/>
                </a:lnTo>
                <a:cubicBezTo>
                  <a:pt x="0" y="175"/>
                  <a:pt x="0" y="174"/>
                  <a:pt x="1" y="173"/>
                </a:cubicBezTo>
                <a:cubicBezTo>
                  <a:pt x="2" y="171"/>
                  <a:pt x="5" y="168"/>
                  <a:pt x="10" y="163"/>
                </a:cubicBezTo>
                <a:cubicBezTo>
                  <a:pt x="15" y="157"/>
                  <a:pt x="20" y="152"/>
                  <a:pt x="23" y="147"/>
                </a:cubicBezTo>
                <a:cubicBezTo>
                  <a:pt x="25" y="146"/>
                  <a:pt x="28" y="142"/>
                  <a:pt x="33" y="137"/>
                </a:cubicBezTo>
                <a:cubicBezTo>
                  <a:pt x="37" y="132"/>
                  <a:pt x="41" y="129"/>
                  <a:pt x="42" y="126"/>
                </a:cubicBezTo>
                <a:cubicBezTo>
                  <a:pt x="44" y="124"/>
                  <a:pt x="46" y="121"/>
                  <a:pt x="50" y="117"/>
                </a:cubicBezTo>
                <a:cubicBezTo>
                  <a:pt x="54" y="113"/>
                  <a:pt x="56" y="110"/>
                  <a:pt x="58" y="108"/>
                </a:cubicBezTo>
                <a:cubicBezTo>
                  <a:pt x="59" y="105"/>
                  <a:pt x="61" y="103"/>
                  <a:pt x="64" y="99"/>
                </a:cubicBezTo>
                <a:cubicBezTo>
                  <a:pt x="67" y="96"/>
                  <a:pt x="69" y="93"/>
                  <a:pt x="70" y="90"/>
                </a:cubicBezTo>
                <a:cubicBezTo>
                  <a:pt x="71" y="88"/>
                  <a:pt x="74" y="85"/>
                  <a:pt x="75" y="82"/>
                </a:cubicBezTo>
                <a:cubicBezTo>
                  <a:pt x="77" y="79"/>
                  <a:pt x="78" y="77"/>
                  <a:pt x="79" y="74"/>
                </a:cubicBezTo>
                <a:cubicBezTo>
                  <a:pt x="80" y="71"/>
                  <a:pt x="80" y="68"/>
                  <a:pt x="81" y="65"/>
                </a:cubicBezTo>
                <a:cubicBezTo>
                  <a:pt x="81" y="63"/>
                  <a:pt x="82" y="60"/>
                  <a:pt x="82" y="56"/>
                </a:cubicBezTo>
                <a:cubicBezTo>
                  <a:pt x="82" y="45"/>
                  <a:pt x="78" y="35"/>
                  <a:pt x="71" y="26"/>
                </a:cubicBezTo>
                <a:cubicBezTo>
                  <a:pt x="65" y="18"/>
                  <a:pt x="56" y="13"/>
                  <a:pt x="44" y="13"/>
                </a:cubicBezTo>
                <a:cubicBezTo>
                  <a:pt x="38" y="13"/>
                  <a:pt x="33" y="15"/>
                  <a:pt x="28" y="18"/>
                </a:cubicBezTo>
                <a:cubicBezTo>
                  <a:pt x="24" y="21"/>
                  <a:pt x="21" y="24"/>
                  <a:pt x="19" y="27"/>
                </a:cubicBezTo>
                <a:cubicBezTo>
                  <a:pt x="17" y="30"/>
                  <a:pt x="16" y="32"/>
                  <a:pt x="16" y="32"/>
                </a:cubicBezTo>
                <a:cubicBezTo>
                  <a:pt x="16" y="33"/>
                  <a:pt x="16" y="33"/>
                  <a:pt x="17" y="33"/>
                </a:cubicBezTo>
                <a:cubicBezTo>
                  <a:pt x="21" y="33"/>
                  <a:pt x="24" y="34"/>
                  <a:pt x="28" y="37"/>
                </a:cubicBezTo>
                <a:cubicBezTo>
                  <a:pt x="31" y="39"/>
                  <a:pt x="33" y="43"/>
                  <a:pt x="33" y="49"/>
                </a:cubicBezTo>
                <a:cubicBezTo>
                  <a:pt x="33" y="54"/>
                  <a:pt x="31" y="58"/>
                  <a:pt x="28" y="61"/>
                </a:cubicBezTo>
                <a:cubicBezTo>
                  <a:pt x="25" y="64"/>
                  <a:pt x="21" y="66"/>
                  <a:pt x="16" y="66"/>
                </a:cubicBezTo>
              </a:path>
            </a:pathLst>
          </a:custGeom>
          <a:ln w="0"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/>
          <p:nvPr/>
        </p:nvSpPr>
        <p:spPr>
          <a:xfrm>
            <a:off x="7506360" y="4273560"/>
            <a:ext cx="78840" cy="64080"/>
          </a:xfrm>
          <a:custGeom>
            <a:avLst/>
            <a:gdLst/>
            <a:ahLst/>
            <a:rect l="0" t="0" r="r" b="b"/>
            <a:pathLst>
              <a:path w="219" h="178">
                <a:moveTo>
                  <a:pt x="0" y="62"/>
                </a:moveTo>
                <a:cubicBezTo>
                  <a:pt x="0" y="60"/>
                  <a:pt x="0" y="58"/>
                  <a:pt x="1" y="56"/>
                </a:cubicBezTo>
                <a:cubicBezTo>
                  <a:pt x="1" y="53"/>
                  <a:pt x="3" y="48"/>
                  <a:pt x="5" y="41"/>
                </a:cubicBezTo>
                <a:cubicBezTo>
                  <a:pt x="8" y="34"/>
                  <a:pt x="11" y="27"/>
                  <a:pt x="13" y="22"/>
                </a:cubicBezTo>
                <a:cubicBezTo>
                  <a:pt x="16" y="18"/>
                  <a:pt x="20" y="13"/>
                  <a:pt x="26" y="7"/>
                </a:cubicBezTo>
                <a:cubicBezTo>
                  <a:pt x="32" y="2"/>
                  <a:pt x="38" y="0"/>
                  <a:pt x="44" y="0"/>
                </a:cubicBezTo>
                <a:cubicBezTo>
                  <a:pt x="53" y="0"/>
                  <a:pt x="61" y="3"/>
                  <a:pt x="67" y="7"/>
                </a:cubicBezTo>
                <a:cubicBezTo>
                  <a:pt x="74" y="13"/>
                  <a:pt x="78" y="18"/>
                  <a:pt x="79" y="22"/>
                </a:cubicBezTo>
                <a:cubicBezTo>
                  <a:pt x="81" y="26"/>
                  <a:pt x="82" y="29"/>
                  <a:pt x="82" y="30"/>
                </a:cubicBezTo>
                <a:lnTo>
                  <a:pt x="82" y="31"/>
                </a:lnTo>
                <a:lnTo>
                  <a:pt x="86" y="26"/>
                </a:lnTo>
                <a:cubicBezTo>
                  <a:pt x="102" y="9"/>
                  <a:pt x="120" y="0"/>
                  <a:pt x="140" y="0"/>
                </a:cubicBezTo>
                <a:cubicBezTo>
                  <a:pt x="154" y="0"/>
                  <a:pt x="166" y="4"/>
                  <a:pt x="174" y="12"/>
                </a:cubicBezTo>
                <a:cubicBezTo>
                  <a:pt x="183" y="19"/>
                  <a:pt x="188" y="29"/>
                  <a:pt x="189" y="43"/>
                </a:cubicBezTo>
                <a:cubicBezTo>
                  <a:pt x="189" y="56"/>
                  <a:pt x="183" y="77"/>
                  <a:pt x="173" y="104"/>
                </a:cubicBezTo>
                <a:cubicBezTo>
                  <a:pt x="163" y="131"/>
                  <a:pt x="158" y="148"/>
                  <a:pt x="158" y="154"/>
                </a:cubicBezTo>
                <a:cubicBezTo>
                  <a:pt x="158" y="160"/>
                  <a:pt x="160" y="164"/>
                  <a:pt x="165" y="164"/>
                </a:cubicBezTo>
                <a:cubicBezTo>
                  <a:pt x="166" y="164"/>
                  <a:pt x="167" y="164"/>
                  <a:pt x="168" y="163"/>
                </a:cubicBezTo>
                <a:cubicBezTo>
                  <a:pt x="176" y="162"/>
                  <a:pt x="182" y="157"/>
                  <a:pt x="189" y="149"/>
                </a:cubicBezTo>
                <a:cubicBezTo>
                  <a:pt x="195" y="140"/>
                  <a:pt x="200" y="130"/>
                  <a:pt x="203" y="117"/>
                </a:cubicBezTo>
                <a:cubicBezTo>
                  <a:pt x="204" y="115"/>
                  <a:pt x="206" y="114"/>
                  <a:pt x="211" y="114"/>
                </a:cubicBezTo>
                <a:cubicBezTo>
                  <a:pt x="216" y="114"/>
                  <a:pt x="219" y="115"/>
                  <a:pt x="219" y="117"/>
                </a:cubicBezTo>
                <a:cubicBezTo>
                  <a:pt x="219" y="118"/>
                  <a:pt x="218" y="120"/>
                  <a:pt x="217" y="123"/>
                </a:cubicBezTo>
                <a:cubicBezTo>
                  <a:pt x="215" y="131"/>
                  <a:pt x="212" y="138"/>
                  <a:pt x="209" y="145"/>
                </a:cubicBezTo>
                <a:cubicBezTo>
                  <a:pt x="205" y="153"/>
                  <a:pt x="199" y="160"/>
                  <a:pt x="191" y="167"/>
                </a:cubicBezTo>
                <a:cubicBezTo>
                  <a:pt x="181" y="175"/>
                  <a:pt x="172" y="178"/>
                  <a:pt x="163" y="178"/>
                </a:cubicBezTo>
                <a:cubicBezTo>
                  <a:pt x="150" y="178"/>
                  <a:pt x="142" y="174"/>
                  <a:pt x="136" y="167"/>
                </a:cubicBezTo>
                <a:cubicBezTo>
                  <a:pt x="131" y="160"/>
                  <a:pt x="128" y="153"/>
                  <a:pt x="128" y="145"/>
                </a:cubicBezTo>
                <a:cubicBezTo>
                  <a:pt x="128" y="140"/>
                  <a:pt x="133" y="125"/>
                  <a:pt x="142" y="99"/>
                </a:cubicBezTo>
                <a:cubicBezTo>
                  <a:pt x="151" y="72"/>
                  <a:pt x="156" y="53"/>
                  <a:pt x="156" y="39"/>
                </a:cubicBezTo>
                <a:cubicBezTo>
                  <a:pt x="156" y="24"/>
                  <a:pt x="151" y="16"/>
                  <a:pt x="139" y="16"/>
                </a:cubicBezTo>
                <a:lnTo>
                  <a:pt x="137" y="16"/>
                </a:lnTo>
                <a:cubicBezTo>
                  <a:pt x="115" y="16"/>
                  <a:pt x="96" y="29"/>
                  <a:pt x="81" y="56"/>
                </a:cubicBezTo>
                <a:lnTo>
                  <a:pt x="78" y="60"/>
                </a:lnTo>
                <a:lnTo>
                  <a:pt x="65" y="113"/>
                </a:lnTo>
                <a:cubicBezTo>
                  <a:pt x="57" y="147"/>
                  <a:pt x="52" y="165"/>
                  <a:pt x="50" y="168"/>
                </a:cubicBezTo>
                <a:cubicBezTo>
                  <a:pt x="47" y="175"/>
                  <a:pt x="41" y="178"/>
                  <a:pt x="33" y="178"/>
                </a:cubicBezTo>
                <a:cubicBezTo>
                  <a:pt x="30" y="178"/>
                  <a:pt x="27" y="177"/>
                  <a:pt x="25" y="176"/>
                </a:cubicBezTo>
                <a:cubicBezTo>
                  <a:pt x="23" y="174"/>
                  <a:pt x="22" y="173"/>
                  <a:pt x="21" y="171"/>
                </a:cubicBezTo>
                <a:cubicBezTo>
                  <a:pt x="20" y="170"/>
                  <a:pt x="20" y="168"/>
                  <a:pt x="20" y="167"/>
                </a:cubicBezTo>
                <a:cubicBezTo>
                  <a:pt x="20" y="164"/>
                  <a:pt x="25" y="143"/>
                  <a:pt x="35" y="104"/>
                </a:cubicBezTo>
                <a:cubicBezTo>
                  <a:pt x="45" y="65"/>
                  <a:pt x="50" y="43"/>
                  <a:pt x="51" y="40"/>
                </a:cubicBezTo>
                <a:cubicBezTo>
                  <a:pt x="51" y="39"/>
                  <a:pt x="51" y="36"/>
                  <a:pt x="51" y="31"/>
                </a:cubicBezTo>
                <a:cubicBezTo>
                  <a:pt x="51" y="21"/>
                  <a:pt x="48" y="16"/>
                  <a:pt x="42" y="16"/>
                </a:cubicBezTo>
                <a:cubicBezTo>
                  <a:pt x="32" y="16"/>
                  <a:pt x="24" y="29"/>
                  <a:pt x="17" y="55"/>
                </a:cubicBezTo>
                <a:cubicBezTo>
                  <a:pt x="16" y="60"/>
                  <a:pt x="15" y="63"/>
                  <a:pt x="15" y="63"/>
                </a:cubicBezTo>
                <a:cubicBezTo>
                  <a:pt x="14" y="65"/>
                  <a:pt x="12" y="65"/>
                  <a:pt x="7" y="65"/>
                </a:cubicBezTo>
                <a:lnTo>
                  <a:pt x="2" y="65"/>
                </a:lnTo>
                <a:cubicBezTo>
                  <a:pt x="0" y="64"/>
                  <a:pt x="0" y="63"/>
                  <a:pt x="0" y="62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/>
          <p:nvPr/>
        </p:nvSpPr>
        <p:spPr>
          <a:xfrm>
            <a:off x="7506360" y="4273560"/>
            <a:ext cx="78840" cy="64080"/>
          </a:xfrm>
          <a:custGeom>
            <a:avLst/>
            <a:gdLst/>
            <a:ahLst/>
            <a:rect l="0" t="0" r="r" b="b"/>
            <a:pathLst>
              <a:path fill="none" w="219" h="178">
                <a:moveTo>
                  <a:pt x="0" y="62"/>
                </a:moveTo>
                <a:cubicBezTo>
                  <a:pt x="0" y="60"/>
                  <a:pt x="0" y="58"/>
                  <a:pt x="1" y="56"/>
                </a:cubicBezTo>
                <a:cubicBezTo>
                  <a:pt x="1" y="53"/>
                  <a:pt x="3" y="48"/>
                  <a:pt x="5" y="41"/>
                </a:cubicBezTo>
                <a:cubicBezTo>
                  <a:pt x="8" y="34"/>
                  <a:pt x="11" y="27"/>
                  <a:pt x="13" y="22"/>
                </a:cubicBezTo>
                <a:cubicBezTo>
                  <a:pt x="16" y="18"/>
                  <a:pt x="20" y="13"/>
                  <a:pt x="26" y="7"/>
                </a:cubicBezTo>
                <a:cubicBezTo>
                  <a:pt x="32" y="2"/>
                  <a:pt x="38" y="0"/>
                  <a:pt x="44" y="0"/>
                </a:cubicBezTo>
                <a:cubicBezTo>
                  <a:pt x="53" y="0"/>
                  <a:pt x="61" y="3"/>
                  <a:pt x="67" y="7"/>
                </a:cubicBezTo>
                <a:cubicBezTo>
                  <a:pt x="74" y="13"/>
                  <a:pt x="78" y="18"/>
                  <a:pt x="79" y="22"/>
                </a:cubicBezTo>
                <a:cubicBezTo>
                  <a:pt x="81" y="26"/>
                  <a:pt x="82" y="29"/>
                  <a:pt x="82" y="30"/>
                </a:cubicBezTo>
                <a:lnTo>
                  <a:pt x="82" y="31"/>
                </a:lnTo>
                <a:lnTo>
                  <a:pt x="86" y="26"/>
                </a:lnTo>
                <a:cubicBezTo>
                  <a:pt x="102" y="9"/>
                  <a:pt x="120" y="0"/>
                  <a:pt x="140" y="0"/>
                </a:cubicBezTo>
                <a:cubicBezTo>
                  <a:pt x="154" y="0"/>
                  <a:pt x="166" y="4"/>
                  <a:pt x="174" y="12"/>
                </a:cubicBezTo>
                <a:cubicBezTo>
                  <a:pt x="183" y="19"/>
                  <a:pt x="188" y="29"/>
                  <a:pt x="189" y="43"/>
                </a:cubicBezTo>
                <a:cubicBezTo>
                  <a:pt x="189" y="56"/>
                  <a:pt x="183" y="77"/>
                  <a:pt x="173" y="104"/>
                </a:cubicBezTo>
                <a:cubicBezTo>
                  <a:pt x="163" y="131"/>
                  <a:pt x="158" y="148"/>
                  <a:pt x="158" y="154"/>
                </a:cubicBezTo>
                <a:cubicBezTo>
                  <a:pt x="158" y="160"/>
                  <a:pt x="160" y="164"/>
                  <a:pt x="165" y="164"/>
                </a:cubicBezTo>
                <a:cubicBezTo>
                  <a:pt x="166" y="164"/>
                  <a:pt x="167" y="164"/>
                  <a:pt x="168" y="163"/>
                </a:cubicBezTo>
                <a:cubicBezTo>
                  <a:pt x="176" y="162"/>
                  <a:pt x="182" y="157"/>
                  <a:pt x="189" y="149"/>
                </a:cubicBezTo>
                <a:cubicBezTo>
                  <a:pt x="195" y="140"/>
                  <a:pt x="200" y="130"/>
                  <a:pt x="203" y="117"/>
                </a:cubicBezTo>
                <a:cubicBezTo>
                  <a:pt x="204" y="115"/>
                  <a:pt x="206" y="114"/>
                  <a:pt x="211" y="114"/>
                </a:cubicBezTo>
                <a:cubicBezTo>
                  <a:pt x="216" y="114"/>
                  <a:pt x="219" y="115"/>
                  <a:pt x="219" y="117"/>
                </a:cubicBezTo>
                <a:cubicBezTo>
                  <a:pt x="219" y="118"/>
                  <a:pt x="218" y="120"/>
                  <a:pt x="217" y="123"/>
                </a:cubicBezTo>
                <a:cubicBezTo>
                  <a:pt x="215" y="131"/>
                  <a:pt x="212" y="138"/>
                  <a:pt x="209" y="145"/>
                </a:cubicBezTo>
                <a:cubicBezTo>
                  <a:pt x="205" y="153"/>
                  <a:pt x="199" y="160"/>
                  <a:pt x="191" y="167"/>
                </a:cubicBezTo>
                <a:cubicBezTo>
                  <a:pt x="181" y="175"/>
                  <a:pt x="172" y="178"/>
                  <a:pt x="163" y="178"/>
                </a:cubicBezTo>
                <a:cubicBezTo>
                  <a:pt x="150" y="178"/>
                  <a:pt x="142" y="174"/>
                  <a:pt x="136" y="167"/>
                </a:cubicBezTo>
                <a:cubicBezTo>
                  <a:pt x="131" y="160"/>
                  <a:pt x="128" y="153"/>
                  <a:pt x="128" y="145"/>
                </a:cubicBezTo>
                <a:cubicBezTo>
                  <a:pt x="128" y="140"/>
                  <a:pt x="133" y="125"/>
                  <a:pt x="142" y="99"/>
                </a:cubicBezTo>
                <a:cubicBezTo>
                  <a:pt x="151" y="72"/>
                  <a:pt x="156" y="53"/>
                  <a:pt x="156" y="39"/>
                </a:cubicBezTo>
                <a:cubicBezTo>
                  <a:pt x="156" y="24"/>
                  <a:pt x="151" y="16"/>
                  <a:pt x="139" y="16"/>
                </a:cubicBezTo>
                <a:lnTo>
                  <a:pt x="137" y="16"/>
                </a:lnTo>
                <a:cubicBezTo>
                  <a:pt x="115" y="16"/>
                  <a:pt x="96" y="29"/>
                  <a:pt x="81" y="56"/>
                </a:cubicBezTo>
                <a:lnTo>
                  <a:pt x="78" y="60"/>
                </a:lnTo>
                <a:lnTo>
                  <a:pt x="65" y="113"/>
                </a:lnTo>
                <a:cubicBezTo>
                  <a:pt x="57" y="147"/>
                  <a:pt x="52" y="165"/>
                  <a:pt x="50" y="168"/>
                </a:cubicBezTo>
                <a:cubicBezTo>
                  <a:pt x="47" y="175"/>
                  <a:pt x="41" y="178"/>
                  <a:pt x="33" y="178"/>
                </a:cubicBezTo>
                <a:cubicBezTo>
                  <a:pt x="30" y="178"/>
                  <a:pt x="27" y="177"/>
                  <a:pt x="25" y="176"/>
                </a:cubicBezTo>
                <a:cubicBezTo>
                  <a:pt x="23" y="174"/>
                  <a:pt x="22" y="173"/>
                  <a:pt x="21" y="171"/>
                </a:cubicBezTo>
                <a:cubicBezTo>
                  <a:pt x="20" y="170"/>
                  <a:pt x="20" y="168"/>
                  <a:pt x="20" y="167"/>
                </a:cubicBezTo>
                <a:cubicBezTo>
                  <a:pt x="20" y="164"/>
                  <a:pt x="25" y="143"/>
                  <a:pt x="35" y="104"/>
                </a:cubicBezTo>
                <a:cubicBezTo>
                  <a:pt x="45" y="65"/>
                  <a:pt x="50" y="43"/>
                  <a:pt x="51" y="40"/>
                </a:cubicBezTo>
                <a:cubicBezTo>
                  <a:pt x="51" y="39"/>
                  <a:pt x="51" y="36"/>
                  <a:pt x="51" y="31"/>
                </a:cubicBezTo>
                <a:cubicBezTo>
                  <a:pt x="51" y="21"/>
                  <a:pt x="48" y="16"/>
                  <a:pt x="42" y="16"/>
                </a:cubicBezTo>
                <a:cubicBezTo>
                  <a:pt x="32" y="16"/>
                  <a:pt x="24" y="29"/>
                  <a:pt x="17" y="55"/>
                </a:cubicBezTo>
                <a:cubicBezTo>
                  <a:pt x="16" y="60"/>
                  <a:pt x="15" y="63"/>
                  <a:pt x="15" y="63"/>
                </a:cubicBezTo>
                <a:cubicBezTo>
                  <a:pt x="14" y="65"/>
                  <a:pt x="12" y="65"/>
                  <a:pt x="7" y="65"/>
                </a:cubicBezTo>
                <a:lnTo>
                  <a:pt x="2" y="65"/>
                </a:lnTo>
                <a:cubicBezTo>
                  <a:pt x="0" y="64"/>
                  <a:pt x="0" y="63"/>
                  <a:pt x="0" y="62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"/>
          <p:cNvSpPr/>
          <p:nvPr/>
        </p:nvSpPr>
        <p:spPr>
          <a:xfrm>
            <a:off x="7462080" y="4211640"/>
            <a:ext cx="167040" cy="12240"/>
          </a:xfrm>
          <a:custGeom>
            <a:avLst/>
            <a:gdLst/>
            <a:ahLst/>
            <a:rect l="0" t="0" r="r" b="b"/>
            <a:pathLst>
              <a:path w="464" h="34">
                <a:moveTo>
                  <a:pt x="0" y="0"/>
                </a:moveTo>
                <a:lnTo>
                  <a:pt x="464" y="0"/>
                </a:lnTo>
                <a:lnTo>
                  <a:pt x="464" y="34"/>
                </a:lnTo>
                <a:lnTo>
                  <a:pt x="0" y="34"/>
                </a:lnTo>
                <a:lnTo>
                  <a:pt x="0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"/>
          <p:cNvSpPr/>
          <p:nvPr/>
        </p:nvSpPr>
        <p:spPr>
          <a:xfrm>
            <a:off x="6205320" y="4024080"/>
            <a:ext cx="2338200" cy="12240"/>
          </a:xfrm>
          <a:custGeom>
            <a:avLst/>
            <a:gdLst/>
            <a:ahLst/>
            <a:rect l="0" t="0" r="r" b="b"/>
            <a:pathLst>
              <a:path w="6495" h="34">
                <a:moveTo>
                  <a:pt x="0" y="0"/>
                </a:moveTo>
                <a:lnTo>
                  <a:pt x="6495" y="0"/>
                </a:lnTo>
                <a:lnTo>
                  <a:pt x="6495" y="34"/>
                </a:lnTo>
                <a:lnTo>
                  <a:pt x="0" y="34"/>
                </a:lnTo>
                <a:lnTo>
                  <a:pt x="0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"/>
          <p:cNvSpPr txBox="1"/>
          <p:nvPr/>
        </p:nvSpPr>
        <p:spPr>
          <a:xfrm>
            <a:off x="4367880" y="2583360"/>
            <a:ext cx="18972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5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.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15" name="" descr=""/>
          <p:cNvPicPr/>
          <p:nvPr/>
        </p:nvPicPr>
        <p:blipFill>
          <a:blip r:embed="rId3"/>
          <a:stretch/>
        </p:blipFill>
        <p:spPr>
          <a:xfrm>
            <a:off x="713160" y="5062680"/>
            <a:ext cx="12289320" cy="185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6" name=""/>
          <p:cNvSpPr/>
          <p:nvPr/>
        </p:nvSpPr>
        <p:spPr>
          <a:xfrm>
            <a:off x="713160" y="5062680"/>
            <a:ext cx="12289680" cy="1856520"/>
          </a:xfrm>
          <a:custGeom>
            <a:avLst/>
            <a:gdLst/>
            <a:ahLst/>
            <a:rect l="0" t="0" r="r" b="b"/>
            <a:pathLst>
              <a:path w="34138" h="5157">
                <a:moveTo>
                  <a:pt x="635" y="611"/>
                </a:moveTo>
                <a:lnTo>
                  <a:pt x="635" y="4143"/>
                </a:lnTo>
                <a:cubicBezTo>
                  <a:pt x="635" y="4167"/>
                  <a:pt x="639" y="4189"/>
                  <a:pt x="648" y="4211"/>
                </a:cubicBezTo>
                <a:cubicBezTo>
                  <a:pt x="657" y="4233"/>
                  <a:pt x="670" y="4252"/>
                  <a:pt x="687" y="4269"/>
                </a:cubicBezTo>
                <a:cubicBezTo>
                  <a:pt x="703" y="4285"/>
                  <a:pt x="723" y="4298"/>
                  <a:pt x="744" y="4307"/>
                </a:cubicBezTo>
                <a:cubicBezTo>
                  <a:pt x="766" y="4316"/>
                  <a:pt x="789" y="4321"/>
                  <a:pt x="812" y="4321"/>
                </a:cubicBezTo>
                <a:lnTo>
                  <a:pt x="33325" y="4321"/>
                </a:lnTo>
                <a:cubicBezTo>
                  <a:pt x="33349" y="4321"/>
                  <a:pt x="33372" y="4316"/>
                  <a:pt x="33394" y="4307"/>
                </a:cubicBezTo>
                <a:cubicBezTo>
                  <a:pt x="33415" y="4298"/>
                  <a:pt x="33435" y="4285"/>
                  <a:pt x="33451" y="4269"/>
                </a:cubicBezTo>
                <a:cubicBezTo>
                  <a:pt x="33468" y="4252"/>
                  <a:pt x="33481" y="4233"/>
                  <a:pt x="33490" y="4211"/>
                </a:cubicBezTo>
                <a:cubicBezTo>
                  <a:pt x="33499" y="4189"/>
                  <a:pt x="33503" y="4167"/>
                  <a:pt x="33503" y="4143"/>
                </a:cubicBezTo>
                <a:lnTo>
                  <a:pt x="33503" y="611"/>
                </a:lnTo>
                <a:cubicBezTo>
                  <a:pt x="33503" y="588"/>
                  <a:pt x="33499" y="565"/>
                  <a:pt x="33490" y="543"/>
                </a:cubicBezTo>
                <a:cubicBezTo>
                  <a:pt x="33481" y="522"/>
                  <a:pt x="33468" y="502"/>
                  <a:pt x="33451" y="486"/>
                </a:cubicBezTo>
                <a:cubicBezTo>
                  <a:pt x="33435" y="469"/>
                  <a:pt x="33415" y="456"/>
                  <a:pt x="33394" y="447"/>
                </a:cubicBezTo>
                <a:cubicBezTo>
                  <a:pt x="33372" y="438"/>
                  <a:pt x="33349" y="434"/>
                  <a:pt x="33325" y="434"/>
                </a:cubicBezTo>
                <a:lnTo>
                  <a:pt x="812" y="434"/>
                </a:lnTo>
                <a:cubicBezTo>
                  <a:pt x="789" y="434"/>
                  <a:pt x="766" y="438"/>
                  <a:pt x="744" y="447"/>
                </a:cubicBezTo>
                <a:cubicBezTo>
                  <a:pt x="723" y="456"/>
                  <a:pt x="703" y="469"/>
                  <a:pt x="687" y="486"/>
                </a:cubicBezTo>
                <a:cubicBezTo>
                  <a:pt x="670" y="502"/>
                  <a:pt x="657" y="522"/>
                  <a:pt x="648" y="543"/>
                </a:cubicBezTo>
                <a:cubicBezTo>
                  <a:pt x="639" y="565"/>
                  <a:pt x="635" y="588"/>
                  <a:pt x="635" y="611"/>
                </a:cubicBezTo>
                <a:moveTo>
                  <a:pt x="0" y="0"/>
                </a:moveTo>
                <a:lnTo>
                  <a:pt x="34138" y="0"/>
                </a:lnTo>
                <a:lnTo>
                  <a:pt x="34138" y="5157"/>
                </a:lnTo>
                <a:lnTo>
                  <a:pt x="0" y="515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817" name="" descr=""/>
          <p:cNvPicPr/>
          <p:nvPr/>
        </p:nvPicPr>
        <p:blipFill>
          <a:blip r:embed="rId4"/>
          <a:stretch/>
        </p:blipFill>
        <p:spPr>
          <a:xfrm>
            <a:off x="905400" y="5190840"/>
            <a:ext cx="11905200" cy="147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8" name=""/>
          <p:cNvSpPr/>
          <p:nvPr/>
        </p:nvSpPr>
        <p:spPr>
          <a:xfrm>
            <a:off x="905040" y="5190480"/>
            <a:ext cx="11905920" cy="1472760"/>
          </a:xfrm>
          <a:custGeom>
            <a:avLst/>
            <a:gdLst/>
            <a:ahLst/>
            <a:rect l="0" t="0" r="r" b="b"/>
            <a:pathLst>
              <a:path w="33072" h="4091">
                <a:moveTo>
                  <a:pt x="102" y="256"/>
                </a:moveTo>
                <a:lnTo>
                  <a:pt x="102" y="3787"/>
                </a:lnTo>
                <a:cubicBezTo>
                  <a:pt x="102" y="3811"/>
                  <a:pt x="106" y="3833"/>
                  <a:pt x="115" y="3855"/>
                </a:cubicBezTo>
                <a:cubicBezTo>
                  <a:pt x="124" y="3877"/>
                  <a:pt x="137" y="3896"/>
                  <a:pt x="154" y="3913"/>
                </a:cubicBezTo>
                <a:cubicBezTo>
                  <a:pt x="170" y="3929"/>
                  <a:pt x="190" y="3942"/>
                  <a:pt x="211" y="3951"/>
                </a:cubicBezTo>
                <a:cubicBezTo>
                  <a:pt x="233" y="3960"/>
                  <a:pt x="256" y="3965"/>
                  <a:pt x="279" y="3965"/>
                </a:cubicBezTo>
                <a:lnTo>
                  <a:pt x="32792" y="3965"/>
                </a:lnTo>
                <a:cubicBezTo>
                  <a:pt x="32816" y="3965"/>
                  <a:pt x="32839" y="3960"/>
                  <a:pt x="32861" y="3951"/>
                </a:cubicBezTo>
                <a:cubicBezTo>
                  <a:pt x="32882" y="3942"/>
                  <a:pt x="32902" y="3929"/>
                  <a:pt x="32918" y="3913"/>
                </a:cubicBezTo>
                <a:cubicBezTo>
                  <a:pt x="32935" y="3896"/>
                  <a:pt x="32948" y="3877"/>
                  <a:pt x="32957" y="3855"/>
                </a:cubicBezTo>
                <a:cubicBezTo>
                  <a:pt x="32966" y="3833"/>
                  <a:pt x="32970" y="3811"/>
                  <a:pt x="32970" y="3787"/>
                </a:cubicBezTo>
                <a:lnTo>
                  <a:pt x="32970" y="256"/>
                </a:lnTo>
                <a:cubicBezTo>
                  <a:pt x="32970" y="233"/>
                  <a:pt x="32966" y="210"/>
                  <a:pt x="32957" y="188"/>
                </a:cubicBezTo>
                <a:cubicBezTo>
                  <a:pt x="32948" y="167"/>
                  <a:pt x="32935" y="147"/>
                  <a:pt x="32918" y="131"/>
                </a:cubicBezTo>
                <a:cubicBezTo>
                  <a:pt x="32902" y="114"/>
                  <a:pt x="32882" y="101"/>
                  <a:pt x="32861" y="92"/>
                </a:cubicBezTo>
                <a:cubicBezTo>
                  <a:pt x="32839" y="83"/>
                  <a:pt x="32816" y="79"/>
                  <a:pt x="32792" y="79"/>
                </a:cubicBezTo>
                <a:lnTo>
                  <a:pt x="279" y="79"/>
                </a:lnTo>
                <a:cubicBezTo>
                  <a:pt x="256" y="79"/>
                  <a:pt x="233" y="83"/>
                  <a:pt x="211" y="92"/>
                </a:cubicBezTo>
                <a:cubicBezTo>
                  <a:pt x="190" y="101"/>
                  <a:pt x="170" y="114"/>
                  <a:pt x="154" y="131"/>
                </a:cubicBezTo>
                <a:cubicBezTo>
                  <a:pt x="137" y="147"/>
                  <a:pt x="124" y="167"/>
                  <a:pt x="115" y="188"/>
                </a:cubicBezTo>
                <a:cubicBezTo>
                  <a:pt x="106" y="210"/>
                  <a:pt x="102" y="233"/>
                  <a:pt x="102" y="256"/>
                </a:cubicBezTo>
                <a:moveTo>
                  <a:pt x="0" y="0"/>
                </a:moveTo>
                <a:lnTo>
                  <a:pt x="33072" y="0"/>
                </a:lnTo>
                <a:lnTo>
                  <a:pt x="33072" y="4091"/>
                </a:lnTo>
                <a:lnTo>
                  <a:pt x="0" y="40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"/>
          <p:cNvSpPr/>
          <p:nvPr/>
        </p:nvSpPr>
        <p:spPr>
          <a:xfrm>
            <a:off x="937080" y="5214240"/>
            <a:ext cx="11841840" cy="1408320"/>
          </a:xfrm>
          <a:custGeom>
            <a:avLst/>
            <a:gdLst/>
            <a:ahLst/>
            <a:rect l="0" t="0" r="r" b="b"/>
            <a:pathLst>
              <a:path w="32894" h="3912">
                <a:moveTo>
                  <a:pt x="0" y="3722"/>
                </a:moveTo>
                <a:lnTo>
                  <a:pt x="0" y="190"/>
                </a:lnTo>
                <a:cubicBezTo>
                  <a:pt x="0" y="178"/>
                  <a:pt x="1" y="165"/>
                  <a:pt x="4" y="153"/>
                </a:cubicBezTo>
                <a:cubicBezTo>
                  <a:pt x="6" y="141"/>
                  <a:pt x="10" y="129"/>
                  <a:pt x="15" y="117"/>
                </a:cubicBezTo>
                <a:cubicBezTo>
                  <a:pt x="19" y="106"/>
                  <a:pt x="25" y="95"/>
                  <a:pt x="32" y="85"/>
                </a:cubicBezTo>
                <a:cubicBezTo>
                  <a:pt x="39" y="74"/>
                  <a:pt x="47" y="64"/>
                  <a:pt x="56" y="56"/>
                </a:cubicBezTo>
                <a:cubicBezTo>
                  <a:pt x="65" y="47"/>
                  <a:pt x="74" y="39"/>
                  <a:pt x="85" y="32"/>
                </a:cubicBezTo>
                <a:cubicBezTo>
                  <a:pt x="95" y="25"/>
                  <a:pt x="106" y="19"/>
                  <a:pt x="118" y="14"/>
                </a:cubicBezTo>
                <a:cubicBezTo>
                  <a:pt x="129" y="10"/>
                  <a:pt x="141" y="6"/>
                  <a:pt x="153" y="4"/>
                </a:cubicBezTo>
                <a:cubicBezTo>
                  <a:pt x="166" y="1"/>
                  <a:pt x="178" y="0"/>
                  <a:pt x="190" y="0"/>
                </a:cubicBezTo>
                <a:lnTo>
                  <a:pt x="32703" y="0"/>
                </a:lnTo>
                <a:cubicBezTo>
                  <a:pt x="32716" y="0"/>
                  <a:pt x="32728" y="1"/>
                  <a:pt x="32741" y="4"/>
                </a:cubicBezTo>
                <a:cubicBezTo>
                  <a:pt x="32753" y="6"/>
                  <a:pt x="32765" y="10"/>
                  <a:pt x="32776" y="14"/>
                </a:cubicBezTo>
                <a:cubicBezTo>
                  <a:pt x="32788" y="19"/>
                  <a:pt x="32799" y="25"/>
                  <a:pt x="32809" y="32"/>
                </a:cubicBezTo>
                <a:cubicBezTo>
                  <a:pt x="32820" y="39"/>
                  <a:pt x="32829" y="47"/>
                  <a:pt x="32838" y="56"/>
                </a:cubicBezTo>
                <a:cubicBezTo>
                  <a:pt x="32847" y="64"/>
                  <a:pt x="32855" y="74"/>
                  <a:pt x="32862" y="85"/>
                </a:cubicBezTo>
                <a:cubicBezTo>
                  <a:pt x="32869" y="95"/>
                  <a:pt x="32875" y="106"/>
                  <a:pt x="32879" y="117"/>
                </a:cubicBezTo>
                <a:cubicBezTo>
                  <a:pt x="32884" y="129"/>
                  <a:pt x="32888" y="141"/>
                  <a:pt x="32890" y="153"/>
                </a:cubicBezTo>
                <a:cubicBezTo>
                  <a:pt x="32893" y="165"/>
                  <a:pt x="32894" y="178"/>
                  <a:pt x="32894" y="190"/>
                </a:cubicBezTo>
                <a:lnTo>
                  <a:pt x="32894" y="3722"/>
                </a:lnTo>
                <a:cubicBezTo>
                  <a:pt x="32894" y="3734"/>
                  <a:pt x="32893" y="3747"/>
                  <a:pt x="32890" y="3759"/>
                </a:cubicBezTo>
                <a:cubicBezTo>
                  <a:pt x="32888" y="3771"/>
                  <a:pt x="32884" y="3783"/>
                  <a:pt x="32879" y="3795"/>
                </a:cubicBezTo>
                <a:cubicBezTo>
                  <a:pt x="32875" y="3806"/>
                  <a:pt x="32869" y="3817"/>
                  <a:pt x="32862" y="3828"/>
                </a:cubicBezTo>
                <a:cubicBezTo>
                  <a:pt x="32855" y="3838"/>
                  <a:pt x="32847" y="3848"/>
                  <a:pt x="32838" y="3857"/>
                </a:cubicBezTo>
                <a:cubicBezTo>
                  <a:pt x="32829" y="3865"/>
                  <a:pt x="32820" y="3873"/>
                  <a:pt x="32809" y="3880"/>
                </a:cubicBezTo>
                <a:cubicBezTo>
                  <a:pt x="32799" y="3887"/>
                  <a:pt x="32788" y="3893"/>
                  <a:pt x="32776" y="3898"/>
                </a:cubicBezTo>
                <a:cubicBezTo>
                  <a:pt x="32765" y="3903"/>
                  <a:pt x="32753" y="3906"/>
                  <a:pt x="32741" y="3909"/>
                </a:cubicBezTo>
                <a:cubicBezTo>
                  <a:pt x="32728" y="3911"/>
                  <a:pt x="32716" y="3912"/>
                  <a:pt x="32703" y="3912"/>
                </a:cubicBezTo>
                <a:lnTo>
                  <a:pt x="190" y="3912"/>
                </a:lnTo>
                <a:cubicBezTo>
                  <a:pt x="178" y="3912"/>
                  <a:pt x="166" y="3911"/>
                  <a:pt x="153" y="3909"/>
                </a:cubicBezTo>
                <a:cubicBezTo>
                  <a:pt x="141" y="3906"/>
                  <a:pt x="129" y="3903"/>
                  <a:pt x="118" y="3898"/>
                </a:cubicBezTo>
                <a:cubicBezTo>
                  <a:pt x="106" y="3893"/>
                  <a:pt x="95" y="3887"/>
                  <a:pt x="85" y="3880"/>
                </a:cubicBezTo>
                <a:cubicBezTo>
                  <a:pt x="74" y="3873"/>
                  <a:pt x="65" y="3865"/>
                  <a:pt x="56" y="3857"/>
                </a:cubicBezTo>
                <a:cubicBezTo>
                  <a:pt x="47" y="3848"/>
                  <a:pt x="39" y="3838"/>
                  <a:pt x="32" y="3828"/>
                </a:cubicBezTo>
                <a:cubicBezTo>
                  <a:pt x="25" y="3817"/>
                  <a:pt x="19" y="3806"/>
                  <a:pt x="15" y="3795"/>
                </a:cubicBezTo>
                <a:cubicBezTo>
                  <a:pt x="10" y="3783"/>
                  <a:pt x="6" y="3771"/>
                  <a:pt x="4" y="3759"/>
                </a:cubicBezTo>
                <a:cubicBezTo>
                  <a:pt x="1" y="3747"/>
                  <a:pt x="0" y="3734"/>
                  <a:pt x="0" y="372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"/>
          <p:cNvSpPr/>
          <p:nvPr/>
        </p:nvSpPr>
        <p:spPr>
          <a:xfrm>
            <a:off x="937080" y="5214240"/>
            <a:ext cx="11841840" cy="1408320"/>
          </a:xfrm>
          <a:custGeom>
            <a:avLst/>
            <a:gdLst/>
            <a:ahLst/>
            <a:rect l="0" t="0" r="r" b="b"/>
            <a:pathLst>
              <a:path fill="none" w="32894" h="3912">
                <a:moveTo>
                  <a:pt x="0" y="3722"/>
                </a:moveTo>
                <a:lnTo>
                  <a:pt x="0" y="190"/>
                </a:lnTo>
                <a:cubicBezTo>
                  <a:pt x="0" y="178"/>
                  <a:pt x="1" y="165"/>
                  <a:pt x="4" y="153"/>
                </a:cubicBezTo>
                <a:cubicBezTo>
                  <a:pt x="6" y="141"/>
                  <a:pt x="10" y="129"/>
                  <a:pt x="15" y="117"/>
                </a:cubicBezTo>
                <a:cubicBezTo>
                  <a:pt x="19" y="106"/>
                  <a:pt x="25" y="95"/>
                  <a:pt x="32" y="85"/>
                </a:cubicBezTo>
                <a:cubicBezTo>
                  <a:pt x="39" y="74"/>
                  <a:pt x="47" y="64"/>
                  <a:pt x="56" y="56"/>
                </a:cubicBezTo>
                <a:cubicBezTo>
                  <a:pt x="65" y="47"/>
                  <a:pt x="74" y="39"/>
                  <a:pt x="85" y="32"/>
                </a:cubicBezTo>
                <a:cubicBezTo>
                  <a:pt x="95" y="25"/>
                  <a:pt x="106" y="19"/>
                  <a:pt x="118" y="14"/>
                </a:cubicBezTo>
                <a:cubicBezTo>
                  <a:pt x="129" y="10"/>
                  <a:pt x="141" y="6"/>
                  <a:pt x="153" y="4"/>
                </a:cubicBezTo>
                <a:cubicBezTo>
                  <a:pt x="166" y="1"/>
                  <a:pt x="178" y="0"/>
                  <a:pt x="190" y="0"/>
                </a:cubicBezTo>
                <a:lnTo>
                  <a:pt x="32703" y="0"/>
                </a:lnTo>
                <a:cubicBezTo>
                  <a:pt x="32716" y="0"/>
                  <a:pt x="32728" y="1"/>
                  <a:pt x="32741" y="4"/>
                </a:cubicBezTo>
                <a:cubicBezTo>
                  <a:pt x="32753" y="6"/>
                  <a:pt x="32765" y="10"/>
                  <a:pt x="32776" y="14"/>
                </a:cubicBezTo>
                <a:cubicBezTo>
                  <a:pt x="32788" y="19"/>
                  <a:pt x="32799" y="25"/>
                  <a:pt x="32809" y="32"/>
                </a:cubicBezTo>
                <a:cubicBezTo>
                  <a:pt x="32820" y="39"/>
                  <a:pt x="32829" y="47"/>
                  <a:pt x="32838" y="56"/>
                </a:cubicBezTo>
                <a:cubicBezTo>
                  <a:pt x="32847" y="64"/>
                  <a:pt x="32855" y="74"/>
                  <a:pt x="32862" y="85"/>
                </a:cubicBezTo>
                <a:cubicBezTo>
                  <a:pt x="32869" y="95"/>
                  <a:pt x="32875" y="106"/>
                  <a:pt x="32879" y="117"/>
                </a:cubicBezTo>
                <a:cubicBezTo>
                  <a:pt x="32884" y="129"/>
                  <a:pt x="32888" y="141"/>
                  <a:pt x="32890" y="153"/>
                </a:cubicBezTo>
                <a:cubicBezTo>
                  <a:pt x="32893" y="165"/>
                  <a:pt x="32894" y="178"/>
                  <a:pt x="32894" y="190"/>
                </a:cubicBezTo>
                <a:lnTo>
                  <a:pt x="32894" y="3722"/>
                </a:lnTo>
                <a:cubicBezTo>
                  <a:pt x="32894" y="3734"/>
                  <a:pt x="32893" y="3747"/>
                  <a:pt x="32890" y="3759"/>
                </a:cubicBezTo>
                <a:cubicBezTo>
                  <a:pt x="32888" y="3771"/>
                  <a:pt x="32884" y="3783"/>
                  <a:pt x="32879" y="3795"/>
                </a:cubicBezTo>
                <a:cubicBezTo>
                  <a:pt x="32875" y="3806"/>
                  <a:pt x="32869" y="3817"/>
                  <a:pt x="32862" y="3828"/>
                </a:cubicBezTo>
                <a:cubicBezTo>
                  <a:pt x="32855" y="3838"/>
                  <a:pt x="32847" y="3848"/>
                  <a:pt x="32838" y="3857"/>
                </a:cubicBezTo>
                <a:cubicBezTo>
                  <a:pt x="32829" y="3865"/>
                  <a:pt x="32820" y="3873"/>
                  <a:pt x="32809" y="3880"/>
                </a:cubicBezTo>
                <a:cubicBezTo>
                  <a:pt x="32799" y="3887"/>
                  <a:pt x="32788" y="3893"/>
                  <a:pt x="32776" y="3898"/>
                </a:cubicBezTo>
                <a:cubicBezTo>
                  <a:pt x="32765" y="3903"/>
                  <a:pt x="32753" y="3906"/>
                  <a:pt x="32741" y="3909"/>
                </a:cubicBezTo>
                <a:cubicBezTo>
                  <a:pt x="32728" y="3911"/>
                  <a:pt x="32716" y="3912"/>
                  <a:pt x="32703" y="3912"/>
                </a:cubicBezTo>
                <a:lnTo>
                  <a:pt x="190" y="3912"/>
                </a:lnTo>
                <a:cubicBezTo>
                  <a:pt x="178" y="3912"/>
                  <a:pt x="166" y="3911"/>
                  <a:pt x="153" y="3909"/>
                </a:cubicBezTo>
                <a:cubicBezTo>
                  <a:pt x="141" y="3906"/>
                  <a:pt x="129" y="3903"/>
                  <a:pt x="118" y="3898"/>
                </a:cubicBezTo>
                <a:cubicBezTo>
                  <a:pt x="106" y="3893"/>
                  <a:pt x="95" y="3887"/>
                  <a:pt x="85" y="3880"/>
                </a:cubicBezTo>
                <a:cubicBezTo>
                  <a:pt x="74" y="3873"/>
                  <a:pt x="65" y="3865"/>
                  <a:pt x="56" y="3857"/>
                </a:cubicBezTo>
                <a:cubicBezTo>
                  <a:pt x="47" y="3848"/>
                  <a:pt x="39" y="3838"/>
                  <a:pt x="32" y="3828"/>
                </a:cubicBezTo>
                <a:cubicBezTo>
                  <a:pt x="25" y="3817"/>
                  <a:pt x="19" y="3806"/>
                  <a:pt x="15" y="3795"/>
                </a:cubicBezTo>
                <a:cubicBezTo>
                  <a:pt x="10" y="3783"/>
                  <a:pt x="6" y="3771"/>
                  <a:pt x="4" y="3759"/>
                </a:cubicBezTo>
                <a:cubicBezTo>
                  <a:pt x="1" y="3747"/>
                  <a:pt x="0" y="3734"/>
                  <a:pt x="0" y="3722"/>
                </a:cubicBezTo>
              </a:path>
            </a:pathLst>
          </a:custGeom>
          <a:ln w="9000">
            <a:solidFill>
              <a:srgbClr val="d9d6cb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"/>
          <p:cNvSpPr/>
          <p:nvPr/>
        </p:nvSpPr>
        <p:spPr>
          <a:xfrm>
            <a:off x="5323320" y="5886000"/>
            <a:ext cx="106920" cy="126720"/>
          </a:xfrm>
          <a:custGeom>
            <a:avLst/>
            <a:gdLst/>
            <a:ahLst/>
            <a:rect l="0" t="0" r="r" b="b"/>
            <a:pathLst>
              <a:path w="297" h="352">
                <a:moveTo>
                  <a:pt x="34" y="85"/>
                </a:moveTo>
                <a:cubicBezTo>
                  <a:pt x="34" y="84"/>
                  <a:pt x="35" y="83"/>
                  <a:pt x="35" y="81"/>
                </a:cubicBezTo>
                <a:cubicBezTo>
                  <a:pt x="35" y="79"/>
                  <a:pt x="36" y="75"/>
                  <a:pt x="38" y="69"/>
                </a:cubicBezTo>
                <a:cubicBezTo>
                  <a:pt x="39" y="62"/>
                  <a:pt x="41" y="57"/>
                  <a:pt x="43" y="52"/>
                </a:cubicBezTo>
                <a:cubicBezTo>
                  <a:pt x="45" y="46"/>
                  <a:pt x="48" y="40"/>
                  <a:pt x="52" y="33"/>
                </a:cubicBezTo>
                <a:cubicBezTo>
                  <a:pt x="55" y="26"/>
                  <a:pt x="59" y="21"/>
                  <a:pt x="63" y="17"/>
                </a:cubicBezTo>
                <a:cubicBezTo>
                  <a:pt x="67" y="13"/>
                  <a:pt x="71" y="9"/>
                  <a:pt x="77" y="5"/>
                </a:cubicBezTo>
                <a:cubicBezTo>
                  <a:pt x="82" y="1"/>
                  <a:pt x="89" y="-1"/>
                  <a:pt x="95" y="0"/>
                </a:cubicBezTo>
                <a:cubicBezTo>
                  <a:pt x="124" y="0"/>
                  <a:pt x="141" y="11"/>
                  <a:pt x="149" y="35"/>
                </a:cubicBezTo>
                <a:lnTo>
                  <a:pt x="155" y="30"/>
                </a:lnTo>
                <a:cubicBezTo>
                  <a:pt x="178" y="10"/>
                  <a:pt x="199" y="0"/>
                  <a:pt x="220" y="0"/>
                </a:cubicBezTo>
                <a:cubicBezTo>
                  <a:pt x="244" y="0"/>
                  <a:pt x="263" y="8"/>
                  <a:pt x="276" y="26"/>
                </a:cubicBezTo>
                <a:cubicBezTo>
                  <a:pt x="290" y="43"/>
                  <a:pt x="297" y="64"/>
                  <a:pt x="297" y="88"/>
                </a:cubicBezTo>
                <a:cubicBezTo>
                  <a:pt x="297" y="128"/>
                  <a:pt x="283" y="165"/>
                  <a:pt x="255" y="198"/>
                </a:cubicBezTo>
                <a:cubicBezTo>
                  <a:pt x="227" y="232"/>
                  <a:pt x="195" y="249"/>
                  <a:pt x="160" y="249"/>
                </a:cubicBezTo>
                <a:cubicBezTo>
                  <a:pt x="152" y="249"/>
                  <a:pt x="144" y="248"/>
                  <a:pt x="138" y="246"/>
                </a:cubicBezTo>
                <a:cubicBezTo>
                  <a:pt x="134" y="244"/>
                  <a:pt x="130" y="241"/>
                  <a:pt x="125" y="238"/>
                </a:cubicBezTo>
                <a:cubicBezTo>
                  <a:pt x="121" y="234"/>
                  <a:pt x="118" y="231"/>
                  <a:pt x="115" y="228"/>
                </a:cubicBezTo>
                <a:lnTo>
                  <a:pt x="110" y="224"/>
                </a:lnTo>
                <a:cubicBezTo>
                  <a:pt x="110" y="224"/>
                  <a:pt x="106" y="240"/>
                  <a:pt x="98" y="272"/>
                </a:cubicBezTo>
                <a:cubicBezTo>
                  <a:pt x="90" y="303"/>
                  <a:pt x="86" y="319"/>
                  <a:pt x="86" y="320"/>
                </a:cubicBezTo>
                <a:cubicBezTo>
                  <a:pt x="86" y="323"/>
                  <a:pt x="88" y="324"/>
                  <a:pt x="91" y="325"/>
                </a:cubicBezTo>
                <a:cubicBezTo>
                  <a:pt x="94" y="325"/>
                  <a:pt x="101" y="326"/>
                  <a:pt x="112" y="326"/>
                </a:cubicBezTo>
                <a:lnTo>
                  <a:pt x="126" y="326"/>
                </a:lnTo>
                <a:cubicBezTo>
                  <a:pt x="128" y="329"/>
                  <a:pt x="129" y="331"/>
                  <a:pt x="129" y="331"/>
                </a:cubicBezTo>
                <a:cubicBezTo>
                  <a:pt x="129" y="332"/>
                  <a:pt x="129" y="335"/>
                  <a:pt x="128" y="341"/>
                </a:cubicBezTo>
                <a:cubicBezTo>
                  <a:pt x="127" y="346"/>
                  <a:pt x="125" y="348"/>
                  <a:pt x="124" y="349"/>
                </a:cubicBezTo>
                <a:cubicBezTo>
                  <a:pt x="123" y="351"/>
                  <a:pt x="121" y="351"/>
                  <a:pt x="117" y="352"/>
                </a:cubicBezTo>
                <a:cubicBezTo>
                  <a:pt x="116" y="352"/>
                  <a:pt x="114" y="352"/>
                  <a:pt x="110" y="352"/>
                </a:cubicBezTo>
                <a:cubicBezTo>
                  <a:pt x="107" y="352"/>
                  <a:pt x="101" y="352"/>
                  <a:pt x="91" y="351"/>
                </a:cubicBezTo>
                <a:cubicBezTo>
                  <a:pt x="82" y="351"/>
                  <a:pt x="71" y="351"/>
                  <a:pt x="57" y="351"/>
                </a:cubicBezTo>
                <a:cubicBezTo>
                  <a:pt x="31" y="351"/>
                  <a:pt x="15" y="351"/>
                  <a:pt x="8" y="352"/>
                </a:cubicBezTo>
                <a:lnTo>
                  <a:pt x="4" y="352"/>
                </a:lnTo>
                <a:cubicBezTo>
                  <a:pt x="1" y="349"/>
                  <a:pt x="0" y="347"/>
                  <a:pt x="0" y="346"/>
                </a:cubicBezTo>
                <a:cubicBezTo>
                  <a:pt x="0" y="336"/>
                  <a:pt x="3" y="329"/>
                  <a:pt x="7" y="326"/>
                </a:cubicBezTo>
                <a:lnTo>
                  <a:pt x="18" y="326"/>
                </a:lnTo>
                <a:cubicBezTo>
                  <a:pt x="30" y="326"/>
                  <a:pt x="38" y="324"/>
                  <a:pt x="39" y="319"/>
                </a:cubicBezTo>
                <a:cubicBezTo>
                  <a:pt x="41" y="316"/>
                  <a:pt x="52" y="273"/>
                  <a:pt x="73" y="187"/>
                </a:cubicBezTo>
                <a:cubicBezTo>
                  <a:pt x="94" y="101"/>
                  <a:pt x="106" y="56"/>
                  <a:pt x="107" y="50"/>
                </a:cubicBezTo>
                <a:cubicBezTo>
                  <a:pt x="107" y="49"/>
                  <a:pt x="107" y="46"/>
                  <a:pt x="107" y="43"/>
                </a:cubicBezTo>
                <a:cubicBezTo>
                  <a:pt x="107" y="28"/>
                  <a:pt x="103" y="20"/>
                  <a:pt x="94" y="20"/>
                </a:cubicBezTo>
                <a:cubicBezTo>
                  <a:pt x="85" y="20"/>
                  <a:pt x="79" y="25"/>
                  <a:pt x="73" y="35"/>
                </a:cubicBezTo>
                <a:cubicBezTo>
                  <a:pt x="68" y="46"/>
                  <a:pt x="63" y="57"/>
                  <a:pt x="60" y="69"/>
                </a:cubicBezTo>
                <a:cubicBezTo>
                  <a:pt x="57" y="81"/>
                  <a:pt x="55" y="88"/>
                  <a:pt x="54" y="89"/>
                </a:cubicBezTo>
                <a:cubicBezTo>
                  <a:pt x="53" y="90"/>
                  <a:pt x="50" y="90"/>
                  <a:pt x="45" y="90"/>
                </a:cubicBezTo>
                <a:lnTo>
                  <a:pt x="37" y="90"/>
                </a:lnTo>
                <a:cubicBezTo>
                  <a:pt x="35" y="88"/>
                  <a:pt x="34" y="86"/>
                  <a:pt x="34" y="85"/>
                </a:cubicBezTo>
                <a:moveTo>
                  <a:pt x="120" y="187"/>
                </a:moveTo>
                <a:cubicBezTo>
                  <a:pt x="129" y="215"/>
                  <a:pt x="142" y="229"/>
                  <a:pt x="161" y="229"/>
                </a:cubicBezTo>
                <a:cubicBezTo>
                  <a:pt x="172" y="229"/>
                  <a:pt x="183" y="225"/>
                  <a:pt x="193" y="217"/>
                </a:cubicBezTo>
                <a:cubicBezTo>
                  <a:pt x="204" y="208"/>
                  <a:pt x="212" y="197"/>
                  <a:pt x="219" y="185"/>
                </a:cubicBezTo>
                <a:cubicBezTo>
                  <a:pt x="225" y="172"/>
                  <a:pt x="232" y="152"/>
                  <a:pt x="239" y="125"/>
                </a:cubicBezTo>
                <a:cubicBezTo>
                  <a:pt x="245" y="98"/>
                  <a:pt x="249" y="77"/>
                  <a:pt x="249" y="64"/>
                </a:cubicBezTo>
                <a:lnTo>
                  <a:pt x="249" y="61"/>
                </a:lnTo>
                <a:cubicBezTo>
                  <a:pt x="249" y="34"/>
                  <a:pt x="238" y="20"/>
                  <a:pt x="215" y="20"/>
                </a:cubicBezTo>
                <a:cubicBezTo>
                  <a:pt x="211" y="20"/>
                  <a:pt x="207" y="21"/>
                  <a:pt x="203" y="22"/>
                </a:cubicBezTo>
                <a:cubicBezTo>
                  <a:pt x="199" y="23"/>
                  <a:pt x="195" y="24"/>
                  <a:pt x="191" y="27"/>
                </a:cubicBezTo>
                <a:cubicBezTo>
                  <a:pt x="187" y="29"/>
                  <a:pt x="183" y="31"/>
                  <a:pt x="180" y="34"/>
                </a:cubicBezTo>
                <a:cubicBezTo>
                  <a:pt x="177" y="36"/>
                  <a:pt x="174" y="39"/>
                  <a:pt x="171" y="42"/>
                </a:cubicBezTo>
                <a:cubicBezTo>
                  <a:pt x="168" y="45"/>
                  <a:pt x="165" y="48"/>
                  <a:pt x="162" y="50"/>
                </a:cubicBezTo>
                <a:cubicBezTo>
                  <a:pt x="160" y="53"/>
                  <a:pt x="158" y="56"/>
                  <a:pt x="156" y="58"/>
                </a:cubicBezTo>
                <a:cubicBezTo>
                  <a:pt x="155" y="61"/>
                  <a:pt x="153" y="63"/>
                  <a:pt x="152" y="64"/>
                </a:cubicBezTo>
                <a:lnTo>
                  <a:pt x="150" y="66"/>
                </a:lnTo>
                <a:cubicBezTo>
                  <a:pt x="150" y="66"/>
                  <a:pt x="150" y="69"/>
                  <a:pt x="149" y="74"/>
                </a:cubicBezTo>
                <a:cubicBezTo>
                  <a:pt x="148" y="78"/>
                  <a:pt x="145" y="86"/>
                  <a:pt x="143" y="98"/>
                </a:cubicBezTo>
                <a:cubicBezTo>
                  <a:pt x="140" y="109"/>
                  <a:pt x="137" y="119"/>
                  <a:pt x="135" y="127"/>
                </a:cubicBezTo>
                <a:cubicBezTo>
                  <a:pt x="125" y="166"/>
                  <a:pt x="120" y="186"/>
                  <a:pt x="120" y="187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"/>
          <p:cNvSpPr/>
          <p:nvPr/>
        </p:nvSpPr>
        <p:spPr>
          <a:xfrm>
            <a:off x="5323320" y="5886000"/>
            <a:ext cx="106920" cy="126720"/>
          </a:xfrm>
          <a:custGeom>
            <a:avLst/>
            <a:gdLst/>
            <a:ahLst/>
            <a:rect l="0" t="0" r="r" b="b"/>
            <a:pathLst>
              <a:path fill="none" w="297" h="352">
                <a:moveTo>
                  <a:pt x="34" y="85"/>
                </a:moveTo>
                <a:cubicBezTo>
                  <a:pt x="34" y="84"/>
                  <a:pt x="35" y="83"/>
                  <a:pt x="35" y="81"/>
                </a:cubicBezTo>
                <a:cubicBezTo>
                  <a:pt x="35" y="79"/>
                  <a:pt x="36" y="75"/>
                  <a:pt x="38" y="69"/>
                </a:cubicBezTo>
                <a:cubicBezTo>
                  <a:pt x="39" y="62"/>
                  <a:pt x="41" y="57"/>
                  <a:pt x="43" y="52"/>
                </a:cubicBezTo>
                <a:cubicBezTo>
                  <a:pt x="45" y="46"/>
                  <a:pt x="48" y="40"/>
                  <a:pt x="52" y="33"/>
                </a:cubicBezTo>
                <a:cubicBezTo>
                  <a:pt x="55" y="26"/>
                  <a:pt x="59" y="21"/>
                  <a:pt x="63" y="17"/>
                </a:cubicBezTo>
                <a:cubicBezTo>
                  <a:pt x="67" y="13"/>
                  <a:pt x="71" y="9"/>
                  <a:pt x="77" y="5"/>
                </a:cubicBezTo>
                <a:cubicBezTo>
                  <a:pt x="82" y="1"/>
                  <a:pt x="89" y="-1"/>
                  <a:pt x="95" y="0"/>
                </a:cubicBezTo>
                <a:cubicBezTo>
                  <a:pt x="124" y="0"/>
                  <a:pt x="141" y="11"/>
                  <a:pt x="149" y="35"/>
                </a:cubicBezTo>
                <a:lnTo>
                  <a:pt x="155" y="30"/>
                </a:lnTo>
                <a:cubicBezTo>
                  <a:pt x="178" y="10"/>
                  <a:pt x="199" y="0"/>
                  <a:pt x="220" y="0"/>
                </a:cubicBezTo>
                <a:cubicBezTo>
                  <a:pt x="244" y="0"/>
                  <a:pt x="263" y="8"/>
                  <a:pt x="276" y="26"/>
                </a:cubicBezTo>
                <a:cubicBezTo>
                  <a:pt x="290" y="43"/>
                  <a:pt x="297" y="64"/>
                  <a:pt x="297" y="88"/>
                </a:cubicBezTo>
                <a:cubicBezTo>
                  <a:pt x="297" y="128"/>
                  <a:pt x="283" y="165"/>
                  <a:pt x="255" y="198"/>
                </a:cubicBezTo>
                <a:cubicBezTo>
                  <a:pt x="227" y="232"/>
                  <a:pt x="195" y="249"/>
                  <a:pt x="160" y="249"/>
                </a:cubicBezTo>
                <a:cubicBezTo>
                  <a:pt x="152" y="249"/>
                  <a:pt x="144" y="248"/>
                  <a:pt x="138" y="246"/>
                </a:cubicBezTo>
                <a:cubicBezTo>
                  <a:pt x="134" y="244"/>
                  <a:pt x="130" y="241"/>
                  <a:pt x="125" y="238"/>
                </a:cubicBezTo>
                <a:cubicBezTo>
                  <a:pt x="121" y="234"/>
                  <a:pt x="118" y="231"/>
                  <a:pt x="115" y="228"/>
                </a:cubicBezTo>
                <a:lnTo>
                  <a:pt x="110" y="224"/>
                </a:lnTo>
                <a:cubicBezTo>
                  <a:pt x="110" y="224"/>
                  <a:pt x="106" y="240"/>
                  <a:pt x="98" y="272"/>
                </a:cubicBezTo>
                <a:cubicBezTo>
                  <a:pt x="90" y="303"/>
                  <a:pt x="86" y="319"/>
                  <a:pt x="86" y="320"/>
                </a:cubicBezTo>
                <a:cubicBezTo>
                  <a:pt x="86" y="323"/>
                  <a:pt x="88" y="324"/>
                  <a:pt x="91" y="325"/>
                </a:cubicBezTo>
                <a:cubicBezTo>
                  <a:pt x="94" y="325"/>
                  <a:pt x="101" y="326"/>
                  <a:pt x="112" y="326"/>
                </a:cubicBezTo>
                <a:lnTo>
                  <a:pt x="126" y="326"/>
                </a:lnTo>
                <a:cubicBezTo>
                  <a:pt x="128" y="329"/>
                  <a:pt x="129" y="331"/>
                  <a:pt x="129" y="331"/>
                </a:cubicBezTo>
                <a:cubicBezTo>
                  <a:pt x="129" y="332"/>
                  <a:pt x="129" y="335"/>
                  <a:pt x="128" y="341"/>
                </a:cubicBezTo>
                <a:cubicBezTo>
                  <a:pt x="127" y="346"/>
                  <a:pt x="125" y="348"/>
                  <a:pt x="124" y="349"/>
                </a:cubicBezTo>
                <a:cubicBezTo>
                  <a:pt x="123" y="351"/>
                  <a:pt x="121" y="351"/>
                  <a:pt x="117" y="352"/>
                </a:cubicBezTo>
                <a:cubicBezTo>
                  <a:pt x="116" y="352"/>
                  <a:pt x="114" y="352"/>
                  <a:pt x="110" y="352"/>
                </a:cubicBezTo>
                <a:cubicBezTo>
                  <a:pt x="107" y="352"/>
                  <a:pt x="101" y="352"/>
                  <a:pt x="91" y="351"/>
                </a:cubicBezTo>
                <a:cubicBezTo>
                  <a:pt x="82" y="351"/>
                  <a:pt x="71" y="351"/>
                  <a:pt x="57" y="351"/>
                </a:cubicBezTo>
                <a:cubicBezTo>
                  <a:pt x="31" y="351"/>
                  <a:pt x="15" y="351"/>
                  <a:pt x="8" y="352"/>
                </a:cubicBezTo>
                <a:lnTo>
                  <a:pt x="4" y="352"/>
                </a:lnTo>
                <a:cubicBezTo>
                  <a:pt x="1" y="349"/>
                  <a:pt x="0" y="347"/>
                  <a:pt x="0" y="346"/>
                </a:cubicBezTo>
                <a:cubicBezTo>
                  <a:pt x="0" y="336"/>
                  <a:pt x="3" y="329"/>
                  <a:pt x="7" y="326"/>
                </a:cubicBezTo>
                <a:lnTo>
                  <a:pt x="18" y="326"/>
                </a:lnTo>
                <a:cubicBezTo>
                  <a:pt x="30" y="326"/>
                  <a:pt x="38" y="324"/>
                  <a:pt x="39" y="319"/>
                </a:cubicBezTo>
                <a:cubicBezTo>
                  <a:pt x="41" y="316"/>
                  <a:pt x="52" y="273"/>
                  <a:pt x="73" y="187"/>
                </a:cubicBezTo>
                <a:cubicBezTo>
                  <a:pt x="94" y="101"/>
                  <a:pt x="106" y="56"/>
                  <a:pt x="107" y="50"/>
                </a:cubicBezTo>
                <a:cubicBezTo>
                  <a:pt x="107" y="49"/>
                  <a:pt x="107" y="46"/>
                  <a:pt x="107" y="43"/>
                </a:cubicBezTo>
                <a:cubicBezTo>
                  <a:pt x="107" y="28"/>
                  <a:pt x="103" y="20"/>
                  <a:pt x="94" y="20"/>
                </a:cubicBezTo>
                <a:cubicBezTo>
                  <a:pt x="85" y="20"/>
                  <a:pt x="79" y="25"/>
                  <a:pt x="73" y="35"/>
                </a:cubicBezTo>
                <a:cubicBezTo>
                  <a:pt x="68" y="46"/>
                  <a:pt x="63" y="57"/>
                  <a:pt x="60" y="69"/>
                </a:cubicBezTo>
                <a:cubicBezTo>
                  <a:pt x="57" y="81"/>
                  <a:pt x="55" y="88"/>
                  <a:pt x="54" y="89"/>
                </a:cubicBezTo>
                <a:cubicBezTo>
                  <a:pt x="53" y="90"/>
                  <a:pt x="50" y="90"/>
                  <a:pt x="45" y="90"/>
                </a:cubicBezTo>
                <a:lnTo>
                  <a:pt x="37" y="90"/>
                </a:lnTo>
                <a:cubicBezTo>
                  <a:pt x="35" y="88"/>
                  <a:pt x="34" y="86"/>
                  <a:pt x="34" y="85"/>
                </a:cubicBezTo>
                <a:moveTo>
                  <a:pt x="120" y="187"/>
                </a:moveTo>
                <a:cubicBezTo>
                  <a:pt x="129" y="215"/>
                  <a:pt x="142" y="229"/>
                  <a:pt x="161" y="229"/>
                </a:cubicBezTo>
                <a:cubicBezTo>
                  <a:pt x="172" y="229"/>
                  <a:pt x="183" y="225"/>
                  <a:pt x="193" y="217"/>
                </a:cubicBezTo>
                <a:cubicBezTo>
                  <a:pt x="204" y="208"/>
                  <a:pt x="212" y="197"/>
                  <a:pt x="219" y="185"/>
                </a:cubicBezTo>
                <a:cubicBezTo>
                  <a:pt x="225" y="172"/>
                  <a:pt x="232" y="152"/>
                  <a:pt x="239" y="125"/>
                </a:cubicBezTo>
                <a:cubicBezTo>
                  <a:pt x="245" y="98"/>
                  <a:pt x="249" y="77"/>
                  <a:pt x="249" y="64"/>
                </a:cubicBezTo>
                <a:lnTo>
                  <a:pt x="249" y="61"/>
                </a:lnTo>
                <a:cubicBezTo>
                  <a:pt x="249" y="34"/>
                  <a:pt x="238" y="20"/>
                  <a:pt x="215" y="20"/>
                </a:cubicBezTo>
                <a:cubicBezTo>
                  <a:pt x="211" y="20"/>
                  <a:pt x="207" y="21"/>
                  <a:pt x="203" y="22"/>
                </a:cubicBezTo>
                <a:cubicBezTo>
                  <a:pt x="199" y="23"/>
                  <a:pt x="195" y="24"/>
                  <a:pt x="191" y="27"/>
                </a:cubicBezTo>
                <a:cubicBezTo>
                  <a:pt x="187" y="29"/>
                  <a:pt x="183" y="31"/>
                  <a:pt x="180" y="34"/>
                </a:cubicBezTo>
                <a:cubicBezTo>
                  <a:pt x="177" y="36"/>
                  <a:pt x="174" y="39"/>
                  <a:pt x="171" y="42"/>
                </a:cubicBezTo>
                <a:cubicBezTo>
                  <a:pt x="168" y="45"/>
                  <a:pt x="165" y="48"/>
                  <a:pt x="162" y="50"/>
                </a:cubicBezTo>
                <a:cubicBezTo>
                  <a:pt x="160" y="53"/>
                  <a:pt x="158" y="56"/>
                  <a:pt x="156" y="58"/>
                </a:cubicBezTo>
                <a:cubicBezTo>
                  <a:pt x="155" y="61"/>
                  <a:pt x="153" y="63"/>
                  <a:pt x="152" y="64"/>
                </a:cubicBezTo>
                <a:lnTo>
                  <a:pt x="150" y="66"/>
                </a:lnTo>
                <a:cubicBezTo>
                  <a:pt x="150" y="66"/>
                  <a:pt x="150" y="69"/>
                  <a:pt x="149" y="74"/>
                </a:cubicBezTo>
                <a:cubicBezTo>
                  <a:pt x="148" y="78"/>
                  <a:pt x="145" y="86"/>
                  <a:pt x="143" y="98"/>
                </a:cubicBezTo>
                <a:cubicBezTo>
                  <a:pt x="140" y="109"/>
                  <a:pt x="137" y="119"/>
                  <a:pt x="135" y="127"/>
                </a:cubicBezTo>
                <a:cubicBezTo>
                  <a:pt x="125" y="166"/>
                  <a:pt x="120" y="186"/>
                  <a:pt x="120" y="187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"/>
          <p:cNvSpPr/>
          <p:nvPr/>
        </p:nvSpPr>
        <p:spPr>
          <a:xfrm>
            <a:off x="5441400" y="5907960"/>
            <a:ext cx="120960" cy="96120"/>
          </a:xfrm>
          <a:custGeom>
            <a:avLst/>
            <a:gdLst/>
            <a:ahLst/>
            <a:rect l="0" t="0" r="r" b="b"/>
            <a:pathLst>
              <a:path w="336" h="267">
                <a:moveTo>
                  <a:pt x="41" y="24"/>
                </a:moveTo>
                <a:cubicBezTo>
                  <a:pt x="39" y="22"/>
                  <a:pt x="37" y="21"/>
                  <a:pt x="36" y="20"/>
                </a:cubicBezTo>
                <a:cubicBezTo>
                  <a:pt x="35" y="20"/>
                  <a:pt x="33" y="19"/>
                  <a:pt x="30" y="19"/>
                </a:cubicBezTo>
                <a:cubicBezTo>
                  <a:pt x="27" y="19"/>
                  <a:pt x="21" y="18"/>
                  <a:pt x="13" y="18"/>
                </a:cubicBezTo>
                <a:lnTo>
                  <a:pt x="0" y="18"/>
                </a:lnTo>
                <a:lnTo>
                  <a:pt x="0" y="0"/>
                </a:lnTo>
                <a:lnTo>
                  <a:pt x="42" y="0"/>
                </a:lnTo>
                <a:cubicBezTo>
                  <a:pt x="64" y="0"/>
                  <a:pt x="77" y="0"/>
                  <a:pt x="80" y="0"/>
                </a:cubicBezTo>
                <a:cubicBezTo>
                  <a:pt x="82" y="0"/>
                  <a:pt x="86" y="1"/>
                  <a:pt x="87" y="3"/>
                </a:cubicBezTo>
                <a:cubicBezTo>
                  <a:pt x="88" y="3"/>
                  <a:pt x="101" y="39"/>
                  <a:pt x="128" y="111"/>
                </a:cubicBezTo>
                <a:lnTo>
                  <a:pt x="169" y="219"/>
                </a:lnTo>
                <a:lnTo>
                  <a:pt x="209" y="111"/>
                </a:lnTo>
                <a:cubicBezTo>
                  <a:pt x="236" y="39"/>
                  <a:pt x="250" y="3"/>
                  <a:pt x="251" y="3"/>
                </a:cubicBezTo>
                <a:cubicBezTo>
                  <a:pt x="252" y="1"/>
                  <a:pt x="254" y="0"/>
                  <a:pt x="257" y="0"/>
                </a:cubicBezTo>
                <a:cubicBezTo>
                  <a:pt x="260" y="0"/>
                  <a:pt x="273" y="0"/>
                  <a:pt x="295" y="0"/>
                </a:cubicBezTo>
                <a:lnTo>
                  <a:pt x="336" y="0"/>
                </a:lnTo>
                <a:lnTo>
                  <a:pt x="336" y="18"/>
                </a:lnTo>
                <a:lnTo>
                  <a:pt x="323" y="18"/>
                </a:lnTo>
                <a:cubicBezTo>
                  <a:pt x="313" y="18"/>
                  <a:pt x="306" y="18"/>
                  <a:pt x="303" y="19"/>
                </a:cubicBezTo>
                <a:cubicBezTo>
                  <a:pt x="301" y="19"/>
                  <a:pt x="298" y="21"/>
                  <a:pt x="296" y="24"/>
                </a:cubicBezTo>
                <a:lnTo>
                  <a:pt x="296" y="244"/>
                </a:lnTo>
                <a:cubicBezTo>
                  <a:pt x="298" y="246"/>
                  <a:pt x="300" y="248"/>
                  <a:pt x="303" y="248"/>
                </a:cubicBezTo>
                <a:cubicBezTo>
                  <a:pt x="306" y="249"/>
                  <a:pt x="313" y="249"/>
                  <a:pt x="323" y="249"/>
                </a:cubicBezTo>
                <a:lnTo>
                  <a:pt x="336" y="249"/>
                </a:lnTo>
                <a:lnTo>
                  <a:pt x="336" y="267"/>
                </a:lnTo>
                <a:lnTo>
                  <a:pt x="332" y="267"/>
                </a:lnTo>
                <a:cubicBezTo>
                  <a:pt x="327" y="267"/>
                  <a:pt x="308" y="266"/>
                  <a:pt x="277" y="266"/>
                </a:cubicBezTo>
                <a:cubicBezTo>
                  <a:pt x="243" y="266"/>
                  <a:pt x="225" y="267"/>
                  <a:pt x="223" y="267"/>
                </a:cubicBezTo>
                <a:lnTo>
                  <a:pt x="218" y="267"/>
                </a:lnTo>
                <a:lnTo>
                  <a:pt x="218" y="249"/>
                </a:lnTo>
                <a:lnTo>
                  <a:pt x="231" y="249"/>
                </a:lnTo>
                <a:cubicBezTo>
                  <a:pt x="242" y="249"/>
                  <a:pt x="249" y="249"/>
                  <a:pt x="251" y="248"/>
                </a:cubicBezTo>
                <a:cubicBezTo>
                  <a:pt x="254" y="248"/>
                  <a:pt x="256" y="246"/>
                  <a:pt x="259" y="244"/>
                </a:cubicBezTo>
                <a:lnTo>
                  <a:pt x="259" y="131"/>
                </a:lnTo>
                <a:cubicBezTo>
                  <a:pt x="259" y="111"/>
                  <a:pt x="259" y="96"/>
                  <a:pt x="259" y="86"/>
                </a:cubicBezTo>
                <a:cubicBezTo>
                  <a:pt x="259" y="77"/>
                  <a:pt x="259" y="66"/>
                  <a:pt x="259" y="53"/>
                </a:cubicBezTo>
                <a:cubicBezTo>
                  <a:pt x="259" y="41"/>
                  <a:pt x="259" y="32"/>
                  <a:pt x="259" y="27"/>
                </a:cubicBezTo>
                <a:lnTo>
                  <a:pt x="258" y="20"/>
                </a:lnTo>
                <a:cubicBezTo>
                  <a:pt x="198" y="181"/>
                  <a:pt x="167" y="263"/>
                  <a:pt x="166" y="265"/>
                </a:cubicBezTo>
                <a:cubicBezTo>
                  <a:pt x="165" y="266"/>
                  <a:pt x="162" y="267"/>
                  <a:pt x="158" y="267"/>
                </a:cubicBezTo>
                <a:cubicBezTo>
                  <a:pt x="154" y="267"/>
                  <a:pt x="151" y="266"/>
                  <a:pt x="150" y="265"/>
                </a:cubicBezTo>
                <a:cubicBezTo>
                  <a:pt x="150" y="264"/>
                  <a:pt x="134" y="224"/>
                  <a:pt x="104" y="143"/>
                </a:cubicBezTo>
                <a:lnTo>
                  <a:pt x="58" y="23"/>
                </a:lnTo>
                <a:lnTo>
                  <a:pt x="58" y="30"/>
                </a:lnTo>
                <a:cubicBezTo>
                  <a:pt x="58" y="35"/>
                  <a:pt x="57" y="43"/>
                  <a:pt x="57" y="54"/>
                </a:cubicBezTo>
                <a:cubicBezTo>
                  <a:pt x="57" y="66"/>
                  <a:pt x="57" y="77"/>
                  <a:pt x="57" y="86"/>
                </a:cubicBezTo>
                <a:cubicBezTo>
                  <a:pt x="57" y="95"/>
                  <a:pt x="57" y="109"/>
                  <a:pt x="57" y="127"/>
                </a:cubicBezTo>
                <a:lnTo>
                  <a:pt x="58" y="234"/>
                </a:lnTo>
                <a:cubicBezTo>
                  <a:pt x="61" y="243"/>
                  <a:pt x="72" y="248"/>
                  <a:pt x="92" y="249"/>
                </a:cubicBezTo>
                <a:lnTo>
                  <a:pt x="99" y="249"/>
                </a:lnTo>
                <a:lnTo>
                  <a:pt x="99" y="267"/>
                </a:lnTo>
                <a:lnTo>
                  <a:pt x="95" y="267"/>
                </a:lnTo>
                <a:cubicBezTo>
                  <a:pt x="91" y="267"/>
                  <a:pt x="75" y="266"/>
                  <a:pt x="49" y="266"/>
                </a:cubicBezTo>
                <a:cubicBezTo>
                  <a:pt x="23" y="266"/>
                  <a:pt x="7" y="267"/>
                  <a:pt x="4" y="267"/>
                </a:cubicBezTo>
                <a:lnTo>
                  <a:pt x="0" y="267"/>
                </a:lnTo>
                <a:lnTo>
                  <a:pt x="0" y="249"/>
                </a:lnTo>
                <a:lnTo>
                  <a:pt x="7" y="249"/>
                </a:lnTo>
                <a:cubicBezTo>
                  <a:pt x="15" y="249"/>
                  <a:pt x="22" y="248"/>
                  <a:pt x="27" y="246"/>
                </a:cubicBezTo>
                <a:cubicBezTo>
                  <a:pt x="33" y="243"/>
                  <a:pt x="36" y="242"/>
                  <a:pt x="37" y="240"/>
                </a:cubicBezTo>
                <a:cubicBezTo>
                  <a:pt x="38" y="239"/>
                  <a:pt x="39" y="237"/>
                  <a:pt x="41" y="234"/>
                </a:cubicBezTo>
                <a:lnTo>
                  <a:pt x="41" y="24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"/>
          <p:cNvSpPr/>
          <p:nvPr/>
        </p:nvSpPr>
        <p:spPr>
          <a:xfrm>
            <a:off x="5441400" y="5907960"/>
            <a:ext cx="120960" cy="96120"/>
          </a:xfrm>
          <a:custGeom>
            <a:avLst/>
            <a:gdLst/>
            <a:ahLst/>
            <a:rect l="0" t="0" r="r" b="b"/>
            <a:pathLst>
              <a:path fill="none" w="336" h="267">
                <a:moveTo>
                  <a:pt x="41" y="24"/>
                </a:moveTo>
                <a:cubicBezTo>
                  <a:pt x="39" y="22"/>
                  <a:pt x="37" y="21"/>
                  <a:pt x="36" y="20"/>
                </a:cubicBezTo>
                <a:cubicBezTo>
                  <a:pt x="35" y="20"/>
                  <a:pt x="33" y="19"/>
                  <a:pt x="30" y="19"/>
                </a:cubicBezTo>
                <a:cubicBezTo>
                  <a:pt x="27" y="19"/>
                  <a:pt x="21" y="18"/>
                  <a:pt x="13" y="18"/>
                </a:cubicBezTo>
                <a:lnTo>
                  <a:pt x="0" y="18"/>
                </a:lnTo>
                <a:lnTo>
                  <a:pt x="0" y="0"/>
                </a:lnTo>
                <a:lnTo>
                  <a:pt x="42" y="0"/>
                </a:lnTo>
                <a:cubicBezTo>
                  <a:pt x="64" y="0"/>
                  <a:pt x="77" y="0"/>
                  <a:pt x="80" y="0"/>
                </a:cubicBezTo>
                <a:cubicBezTo>
                  <a:pt x="82" y="0"/>
                  <a:pt x="86" y="1"/>
                  <a:pt x="87" y="3"/>
                </a:cubicBezTo>
                <a:cubicBezTo>
                  <a:pt x="88" y="3"/>
                  <a:pt x="101" y="39"/>
                  <a:pt x="128" y="111"/>
                </a:cubicBezTo>
                <a:lnTo>
                  <a:pt x="169" y="219"/>
                </a:lnTo>
                <a:lnTo>
                  <a:pt x="209" y="111"/>
                </a:lnTo>
                <a:cubicBezTo>
                  <a:pt x="236" y="39"/>
                  <a:pt x="250" y="3"/>
                  <a:pt x="251" y="3"/>
                </a:cubicBezTo>
                <a:cubicBezTo>
                  <a:pt x="252" y="1"/>
                  <a:pt x="254" y="0"/>
                  <a:pt x="257" y="0"/>
                </a:cubicBezTo>
                <a:cubicBezTo>
                  <a:pt x="260" y="0"/>
                  <a:pt x="273" y="0"/>
                  <a:pt x="295" y="0"/>
                </a:cubicBezTo>
                <a:lnTo>
                  <a:pt x="336" y="0"/>
                </a:lnTo>
                <a:lnTo>
                  <a:pt x="336" y="18"/>
                </a:lnTo>
                <a:lnTo>
                  <a:pt x="323" y="18"/>
                </a:lnTo>
                <a:cubicBezTo>
                  <a:pt x="313" y="18"/>
                  <a:pt x="306" y="18"/>
                  <a:pt x="303" y="19"/>
                </a:cubicBezTo>
                <a:cubicBezTo>
                  <a:pt x="301" y="19"/>
                  <a:pt x="298" y="21"/>
                  <a:pt x="296" y="24"/>
                </a:cubicBezTo>
                <a:lnTo>
                  <a:pt x="296" y="244"/>
                </a:lnTo>
                <a:cubicBezTo>
                  <a:pt x="298" y="246"/>
                  <a:pt x="300" y="248"/>
                  <a:pt x="303" y="248"/>
                </a:cubicBezTo>
                <a:cubicBezTo>
                  <a:pt x="306" y="249"/>
                  <a:pt x="313" y="249"/>
                  <a:pt x="323" y="249"/>
                </a:cubicBezTo>
                <a:lnTo>
                  <a:pt x="336" y="249"/>
                </a:lnTo>
                <a:lnTo>
                  <a:pt x="336" y="267"/>
                </a:lnTo>
                <a:lnTo>
                  <a:pt x="332" y="267"/>
                </a:lnTo>
                <a:cubicBezTo>
                  <a:pt x="327" y="267"/>
                  <a:pt x="308" y="266"/>
                  <a:pt x="277" y="266"/>
                </a:cubicBezTo>
                <a:cubicBezTo>
                  <a:pt x="243" y="266"/>
                  <a:pt x="225" y="267"/>
                  <a:pt x="223" y="267"/>
                </a:cubicBezTo>
                <a:lnTo>
                  <a:pt x="218" y="267"/>
                </a:lnTo>
                <a:lnTo>
                  <a:pt x="218" y="249"/>
                </a:lnTo>
                <a:lnTo>
                  <a:pt x="231" y="249"/>
                </a:lnTo>
                <a:cubicBezTo>
                  <a:pt x="242" y="249"/>
                  <a:pt x="249" y="249"/>
                  <a:pt x="251" y="248"/>
                </a:cubicBezTo>
                <a:cubicBezTo>
                  <a:pt x="254" y="248"/>
                  <a:pt x="256" y="246"/>
                  <a:pt x="259" y="244"/>
                </a:cubicBezTo>
                <a:lnTo>
                  <a:pt x="259" y="131"/>
                </a:lnTo>
                <a:cubicBezTo>
                  <a:pt x="259" y="111"/>
                  <a:pt x="259" y="96"/>
                  <a:pt x="259" y="86"/>
                </a:cubicBezTo>
                <a:cubicBezTo>
                  <a:pt x="259" y="77"/>
                  <a:pt x="259" y="66"/>
                  <a:pt x="259" y="53"/>
                </a:cubicBezTo>
                <a:cubicBezTo>
                  <a:pt x="259" y="41"/>
                  <a:pt x="259" y="32"/>
                  <a:pt x="259" y="27"/>
                </a:cubicBezTo>
                <a:lnTo>
                  <a:pt x="258" y="20"/>
                </a:lnTo>
                <a:cubicBezTo>
                  <a:pt x="198" y="181"/>
                  <a:pt x="167" y="263"/>
                  <a:pt x="166" y="265"/>
                </a:cubicBezTo>
                <a:cubicBezTo>
                  <a:pt x="165" y="266"/>
                  <a:pt x="162" y="267"/>
                  <a:pt x="158" y="267"/>
                </a:cubicBezTo>
                <a:cubicBezTo>
                  <a:pt x="154" y="267"/>
                  <a:pt x="151" y="266"/>
                  <a:pt x="150" y="265"/>
                </a:cubicBezTo>
                <a:cubicBezTo>
                  <a:pt x="150" y="264"/>
                  <a:pt x="134" y="224"/>
                  <a:pt x="104" y="143"/>
                </a:cubicBezTo>
                <a:lnTo>
                  <a:pt x="58" y="23"/>
                </a:lnTo>
                <a:lnTo>
                  <a:pt x="58" y="30"/>
                </a:lnTo>
                <a:cubicBezTo>
                  <a:pt x="58" y="35"/>
                  <a:pt x="57" y="43"/>
                  <a:pt x="57" y="54"/>
                </a:cubicBezTo>
                <a:cubicBezTo>
                  <a:pt x="57" y="66"/>
                  <a:pt x="57" y="77"/>
                  <a:pt x="57" y="86"/>
                </a:cubicBezTo>
                <a:cubicBezTo>
                  <a:pt x="57" y="95"/>
                  <a:pt x="57" y="109"/>
                  <a:pt x="57" y="127"/>
                </a:cubicBezTo>
                <a:lnTo>
                  <a:pt x="58" y="234"/>
                </a:lnTo>
                <a:cubicBezTo>
                  <a:pt x="61" y="243"/>
                  <a:pt x="72" y="248"/>
                  <a:pt x="92" y="249"/>
                </a:cubicBezTo>
                <a:lnTo>
                  <a:pt x="99" y="249"/>
                </a:lnTo>
                <a:lnTo>
                  <a:pt x="99" y="267"/>
                </a:lnTo>
                <a:lnTo>
                  <a:pt x="95" y="267"/>
                </a:lnTo>
                <a:cubicBezTo>
                  <a:pt x="91" y="267"/>
                  <a:pt x="75" y="266"/>
                  <a:pt x="49" y="266"/>
                </a:cubicBezTo>
                <a:cubicBezTo>
                  <a:pt x="23" y="266"/>
                  <a:pt x="7" y="267"/>
                  <a:pt x="4" y="267"/>
                </a:cubicBezTo>
                <a:lnTo>
                  <a:pt x="0" y="267"/>
                </a:lnTo>
                <a:lnTo>
                  <a:pt x="0" y="249"/>
                </a:lnTo>
                <a:lnTo>
                  <a:pt x="7" y="249"/>
                </a:lnTo>
                <a:cubicBezTo>
                  <a:pt x="15" y="249"/>
                  <a:pt x="22" y="248"/>
                  <a:pt x="27" y="246"/>
                </a:cubicBezTo>
                <a:cubicBezTo>
                  <a:pt x="33" y="243"/>
                  <a:pt x="36" y="242"/>
                  <a:pt x="37" y="240"/>
                </a:cubicBezTo>
                <a:cubicBezTo>
                  <a:pt x="38" y="239"/>
                  <a:pt x="39" y="237"/>
                  <a:pt x="41" y="234"/>
                </a:cubicBezTo>
                <a:lnTo>
                  <a:pt x="41" y="24"/>
                </a:ln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"/>
          <p:cNvSpPr/>
          <p:nvPr/>
        </p:nvSpPr>
        <p:spPr>
          <a:xfrm>
            <a:off x="5571000" y="5941080"/>
            <a:ext cx="54000" cy="64800"/>
          </a:xfrm>
          <a:custGeom>
            <a:avLst/>
            <a:gdLst/>
            <a:ahLst/>
            <a:rect l="0" t="0" r="r" b="b"/>
            <a:pathLst>
              <a:path w="150" h="180">
                <a:moveTo>
                  <a:pt x="131" y="56"/>
                </a:moveTo>
                <a:cubicBezTo>
                  <a:pt x="131" y="56"/>
                  <a:pt x="129" y="56"/>
                  <a:pt x="123" y="56"/>
                </a:cubicBezTo>
                <a:cubicBezTo>
                  <a:pt x="118" y="56"/>
                  <a:pt x="113" y="53"/>
                  <a:pt x="109" y="50"/>
                </a:cubicBezTo>
                <a:cubicBezTo>
                  <a:pt x="105" y="46"/>
                  <a:pt x="103" y="41"/>
                  <a:pt x="103" y="35"/>
                </a:cubicBezTo>
                <a:cubicBezTo>
                  <a:pt x="103" y="29"/>
                  <a:pt x="105" y="24"/>
                  <a:pt x="109" y="20"/>
                </a:cubicBezTo>
                <a:cubicBezTo>
                  <a:pt x="110" y="19"/>
                  <a:pt x="111" y="18"/>
                  <a:pt x="111" y="18"/>
                </a:cubicBezTo>
                <a:cubicBezTo>
                  <a:pt x="111" y="17"/>
                  <a:pt x="109" y="17"/>
                  <a:pt x="107" y="17"/>
                </a:cubicBezTo>
                <a:cubicBezTo>
                  <a:pt x="100" y="16"/>
                  <a:pt x="94" y="15"/>
                  <a:pt x="88" y="15"/>
                </a:cubicBezTo>
                <a:cubicBezTo>
                  <a:pt x="75" y="15"/>
                  <a:pt x="65" y="19"/>
                  <a:pt x="56" y="28"/>
                </a:cubicBezTo>
                <a:cubicBezTo>
                  <a:pt x="44" y="40"/>
                  <a:pt x="38" y="61"/>
                  <a:pt x="38" y="90"/>
                </a:cubicBezTo>
                <a:cubicBezTo>
                  <a:pt x="38" y="111"/>
                  <a:pt x="42" y="128"/>
                  <a:pt x="50" y="140"/>
                </a:cubicBezTo>
                <a:cubicBezTo>
                  <a:pt x="61" y="156"/>
                  <a:pt x="75" y="164"/>
                  <a:pt x="93" y="164"/>
                </a:cubicBezTo>
                <a:cubicBezTo>
                  <a:pt x="104" y="164"/>
                  <a:pt x="112" y="161"/>
                  <a:pt x="119" y="154"/>
                </a:cubicBezTo>
                <a:cubicBezTo>
                  <a:pt x="125" y="147"/>
                  <a:pt x="130" y="139"/>
                  <a:pt x="133" y="130"/>
                </a:cubicBezTo>
                <a:cubicBezTo>
                  <a:pt x="133" y="128"/>
                  <a:pt x="134" y="126"/>
                  <a:pt x="135" y="126"/>
                </a:cubicBezTo>
                <a:cubicBezTo>
                  <a:pt x="136" y="125"/>
                  <a:pt x="138" y="125"/>
                  <a:pt x="142" y="125"/>
                </a:cubicBezTo>
                <a:lnTo>
                  <a:pt x="148" y="125"/>
                </a:lnTo>
                <a:cubicBezTo>
                  <a:pt x="149" y="127"/>
                  <a:pt x="150" y="128"/>
                  <a:pt x="150" y="129"/>
                </a:cubicBezTo>
                <a:cubicBezTo>
                  <a:pt x="150" y="130"/>
                  <a:pt x="149" y="132"/>
                  <a:pt x="148" y="135"/>
                </a:cubicBezTo>
                <a:cubicBezTo>
                  <a:pt x="147" y="138"/>
                  <a:pt x="145" y="142"/>
                  <a:pt x="142" y="148"/>
                </a:cubicBezTo>
                <a:cubicBezTo>
                  <a:pt x="138" y="153"/>
                  <a:pt x="134" y="158"/>
                  <a:pt x="130" y="163"/>
                </a:cubicBezTo>
                <a:cubicBezTo>
                  <a:pt x="125" y="167"/>
                  <a:pt x="119" y="171"/>
                  <a:pt x="111" y="175"/>
                </a:cubicBezTo>
                <a:cubicBezTo>
                  <a:pt x="103" y="178"/>
                  <a:pt x="94" y="180"/>
                  <a:pt x="84" y="180"/>
                </a:cubicBezTo>
                <a:cubicBezTo>
                  <a:pt x="62" y="180"/>
                  <a:pt x="42" y="171"/>
                  <a:pt x="26" y="155"/>
                </a:cubicBezTo>
                <a:cubicBezTo>
                  <a:pt x="9" y="138"/>
                  <a:pt x="1" y="117"/>
                  <a:pt x="0" y="92"/>
                </a:cubicBezTo>
                <a:cubicBezTo>
                  <a:pt x="0" y="65"/>
                  <a:pt x="9" y="42"/>
                  <a:pt x="26" y="25"/>
                </a:cubicBezTo>
                <a:cubicBezTo>
                  <a:pt x="43" y="8"/>
                  <a:pt x="62" y="0"/>
                  <a:pt x="85" y="0"/>
                </a:cubicBezTo>
                <a:cubicBezTo>
                  <a:pt x="107" y="0"/>
                  <a:pt x="123" y="3"/>
                  <a:pt x="131" y="10"/>
                </a:cubicBezTo>
                <a:cubicBezTo>
                  <a:pt x="141" y="17"/>
                  <a:pt x="146" y="25"/>
                  <a:pt x="146" y="35"/>
                </a:cubicBezTo>
                <a:cubicBezTo>
                  <a:pt x="146" y="41"/>
                  <a:pt x="143" y="46"/>
                  <a:pt x="138" y="50"/>
                </a:cubicBezTo>
                <a:lnTo>
                  <a:pt x="131" y="56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"/>
          <p:cNvSpPr/>
          <p:nvPr/>
        </p:nvSpPr>
        <p:spPr>
          <a:xfrm>
            <a:off x="5571000" y="5941080"/>
            <a:ext cx="54000" cy="64800"/>
          </a:xfrm>
          <a:custGeom>
            <a:avLst/>
            <a:gdLst/>
            <a:ahLst/>
            <a:rect l="0" t="0" r="r" b="b"/>
            <a:pathLst>
              <a:path fill="none" w="150" h="180">
                <a:moveTo>
                  <a:pt x="131" y="56"/>
                </a:moveTo>
                <a:cubicBezTo>
                  <a:pt x="131" y="56"/>
                  <a:pt x="129" y="56"/>
                  <a:pt x="123" y="56"/>
                </a:cubicBezTo>
                <a:cubicBezTo>
                  <a:pt x="118" y="56"/>
                  <a:pt x="113" y="53"/>
                  <a:pt x="109" y="50"/>
                </a:cubicBezTo>
                <a:cubicBezTo>
                  <a:pt x="105" y="46"/>
                  <a:pt x="103" y="41"/>
                  <a:pt x="103" y="35"/>
                </a:cubicBezTo>
                <a:cubicBezTo>
                  <a:pt x="103" y="29"/>
                  <a:pt x="105" y="24"/>
                  <a:pt x="109" y="20"/>
                </a:cubicBezTo>
                <a:cubicBezTo>
                  <a:pt x="110" y="19"/>
                  <a:pt x="111" y="18"/>
                  <a:pt x="111" y="18"/>
                </a:cubicBezTo>
                <a:cubicBezTo>
                  <a:pt x="111" y="17"/>
                  <a:pt x="109" y="17"/>
                  <a:pt x="107" y="17"/>
                </a:cubicBezTo>
                <a:cubicBezTo>
                  <a:pt x="100" y="16"/>
                  <a:pt x="94" y="15"/>
                  <a:pt x="88" y="15"/>
                </a:cubicBezTo>
                <a:cubicBezTo>
                  <a:pt x="75" y="15"/>
                  <a:pt x="65" y="19"/>
                  <a:pt x="56" y="28"/>
                </a:cubicBezTo>
                <a:cubicBezTo>
                  <a:pt x="44" y="40"/>
                  <a:pt x="38" y="61"/>
                  <a:pt x="38" y="90"/>
                </a:cubicBezTo>
                <a:cubicBezTo>
                  <a:pt x="38" y="111"/>
                  <a:pt x="42" y="128"/>
                  <a:pt x="50" y="140"/>
                </a:cubicBezTo>
                <a:cubicBezTo>
                  <a:pt x="61" y="156"/>
                  <a:pt x="75" y="164"/>
                  <a:pt x="93" y="164"/>
                </a:cubicBezTo>
                <a:cubicBezTo>
                  <a:pt x="104" y="164"/>
                  <a:pt x="112" y="161"/>
                  <a:pt x="119" y="154"/>
                </a:cubicBezTo>
                <a:cubicBezTo>
                  <a:pt x="125" y="147"/>
                  <a:pt x="130" y="139"/>
                  <a:pt x="133" y="130"/>
                </a:cubicBezTo>
                <a:cubicBezTo>
                  <a:pt x="133" y="128"/>
                  <a:pt x="134" y="126"/>
                  <a:pt x="135" y="126"/>
                </a:cubicBezTo>
                <a:cubicBezTo>
                  <a:pt x="136" y="125"/>
                  <a:pt x="138" y="125"/>
                  <a:pt x="142" y="125"/>
                </a:cubicBezTo>
                <a:lnTo>
                  <a:pt x="148" y="125"/>
                </a:lnTo>
                <a:cubicBezTo>
                  <a:pt x="149" y="127"/>
                  <a:pt x="150" y="128"/>
                  <a:pt x="150" y="129"/>
                </a:cubicBezTo>
                <a:cubicBezTo>
                  <a:pt x="150" y="130"/>
                  <a:pt x="149" y="132"/>
                  <a:pt x="148" y="135"/>
                </a:cubicBezTo>
                <a:cubicBezTo>
                  <a:pt x="147" y="138"/>
                  <a:pt x="145" y="142"/>
                  <a:pt x="142" y="148"/>
                </a:cubicBezTo>
                <a:cubicBezTo>
                  <a:pt x="138" y="153"/>
                  <a:pt x="134" y="158"/>
                  <a:pt x="130" y="163"/>
                </a:cubicBezTo>
                <a:cubicBezTo>
                  <a:pt x="125" y="167"/>
                  <a:pt x="119" y="171"/>
                  <a:pt x="111" y="175"/>
                </a:cubicBezTo>
                <a:cubicBezTo>
                  <a:pt x="103" y="178"/>
                  <a:pt x="94" y="180"/>
                  <a:pt x="84" y="180"/>
                </a:cubicBezTo>
                <a:cubicBezTo>
                  <a:pt x="62" y="180"/>
                  <a:pt x="42" y="171"/>
                  <a:pt x="26" y="155"/>
                </a:cubicBezTo>
                <a:cubicBezTo>
                  <a:pt x="9" y="138"/>
                  <a:pt x="1" y="117"/>
                  <a:pt x="0" y="92"/>
                </a:cubicBezTo>
                <a:cubicBezTo>
                  <a:pt x="0" y="65"/>
                  <a:pt x="9" y="42"/>
                  <a:pt x="26" y="25"/>
                </a:cubicBezTo>
                <a:cubicBezTo>
                  <a:pt x="43" y="8"/>
                  <a:pt x="62" y="0"/>
                  <a:pt x="85" y="0"/>
                </a:cubicBezTo>
                <a:cubicBezTo>
                  <a:pt x="107" y="0"/>
                  <a:pt x="123" y="3"/>
                  <a:pt x="131" y="10"/>
                </a:cubicBezTo>
                <a:cubicBezTo>
                  <a:pt x="141" y="17"/>
                  <a:pt x="146" y="25"/>
                  <a:pt x="146" y="35"/>
                </a:cubicBezTo>
                <a:cubicBezTo>
                  <a:pt x="146" y="41"/>
                  <a:pt x="143" y="46"/>
                  <a:pt x="138" y="50"/>
                </a:cubicBezTo>
                <a:lnTo>
                  <a:pt x="131" y="56"/>
                </a:ln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"/>
          <p:cNvSpPr/>
          <p:nvPr/>
        </p:nvSpPr>
        <p:spPr>
          <a:xfrm>
            <a:off x="5632200" y="5907960"/>
            <a:ext cx="98640" cy="96120"/>
          </a:xfrm>
          <a:custGeom>
            <a:avLst/>
            <a:gdLst/>
            <a:ahLst/>
            <a:rect l="0" t="0" r="r" b="b"/>
            <a:pathLst>
              <a:path w="274" h="267">
                <a:moveTo>
                  <a:pt x="7" y="249"/>
                </a:moveTo>
                <a:cubicBezTo>
                  <a:pt x="15" y="249"/>
                  <a:pt x="22" y="248"/>
                  <a:pt x="27" y="246"/>
                </a:cubicBezTo>
                <a:cubicBezTo>
                  <a:pt x="32" y="243"/>
                  <a:pt x="35" y="242"/>
                  <a:pt x="36" y="240"/>
                </a:cubicBezTo>
                <a:cubicBezTo>
                  <a:pt x="37" y="239"/>
                  <a:pt x="39" y="237"/>
                  <a:pt x="40" y="234"/>
                </a:cubicBezTo>
                <a:lnTo>
                  <a:pt x="40" y="19"/>
                </a:lnTo>
                <a:lnTo>
                  <a:pt x="39" y="19"/>
                </a:lnTo>
                <a:cubicBezTo>
                  <a:pt x="36" y="18"/>
                  <a:pt x="27" y="18"/>
                  <a:pt x="11" y="18"/>
                </a:cubicBezTo>
                <a:lnTo>
                  <a:pt x="0" y="18"/>
                </a:lnTo>
                <a:lnTo>
                  <a:pt x="0" y="0"/>
                </a:lnTo>
                <a:lnTo>
                  <a:pt x="81" y="0"/>
                </a:lnTo>
                <a:lnTo>
                  <a:pt x="82" y="1"/>
                </a:lnTo>
                <a:cubicBezTo>
                  <a:pt x="83" y="1"/>
                  <a:pt x="94" y="18"/>
                  <a:pt x="116" y="50"/>
                </a:cubicBezTo>
                <a:cubicBezTo>
                  <a:pt x="138" y="83"/>
                  <a:pt x="160" y="115"/>
                  <a:pt x="183" y="148"/>
                </a:cubicBezTo>
                <a:lnTo>
                  <a:pt x="216" y="197"/>
                </a:lnTo>
                <a:lnTo>
                  <a:pt x="216" y="33"/>
                </a:lnTo>
                <a:cubicBezTo>
                  <a:pt x="214" y="30"/>
                  <a:pt x="213" y="28"/>
                  <a:pt x="212" y="27"/>
                </a:cubicBezTo>
                <a:cubicBezTo>
                  <a:pt x="211" y="26"/>
                  <a:pt x="208" y="24"/>
                  <a:pt x="203" y="22"/>
                </a:cubicBezTo>
                <a:cubicBezTo>
                  <a:pt x="197" y="19"/>
                  <a:pt x="191" y="18"/>
                  <a:pt x="182" y="18"/>
                </a:cubicBezTo>
                <a:lnTo>
                  <a:pt x="176" y="18"/>
                </a:lnTo>
                <a:lnTo>
                  <a:pt x="176" y="0"/>
                </a:lnTo>
                <a:lnTo>
                  <a:pt x="179" y="0"/>
                </a:lnTo>
                <a:cubicBezTo>
                  <a:pt x="183" y="1"/>
                  <a:pt x="198" y="1"/>
                  <a:pt x="224" y="1"/>
                </a:cubicBezTo>
                <a:cubicBezTo>
                  <a:pt x="252" y="1"/>
                  <a:pt x="268" y="1"/>
                  <a:pt x="270" y="0"/>
                </a:cubicBezTo>
                <a:lnTo>
                  <a:pt x="274" y="0"/>
                </a:lnTo>
                <a:lnTo>
                  <a:pt x="274" y="18"/>
                </a:lnTo>
                <a:lnTo>
                  <a:pt x="266" y="18"/>
                </a:lnTo>
                <a:cubicBezTo>
                  <a:pt x="247" y="19"/>
                  <a:pt x="236" y="24"/>
                  <a:pt x="233" y="33"/>
                </a:cubicBezTo>
                <a:lnTo>
                  <a:pt x="233" y="149"/>
                </a:lnTo>
                <a:lnTo>
                  <a:pt x="233" y="265"/>
                </a:lnTo>
                <a:lnTo>
                  <a:pt x="230" y="267"/>
                </a:lnTo>
                <a:lnTo>
                  <a:pt x="224" y="267"/>
                </a:lnTo>
                <a:cubicBezTo>
                  <a:pt x="221" y="267"/>
                  <a:pt x="218" y="267"/>
                  <a:pt x="217" y="266"/>
                </a:cubicBezTo>
                <a:cubicBezTo>
                  <a:pt x="217" y="265"/>
                  <a:pt x="204" y="246"/>
                  <a:pt x="178" y="208"/>
                </a:cubicBezTo>
                <a:cubicBezTo>
                  <a:pt x="153" y="170"/>
                  <a:pt x="127" y="132"/>
                  <a:pt x="100" y="94"/>
                </a:cubicBezTo>
                <a:cubicBezTo>
                  <a:pt x="74" y="55"/>
                  <a:pt x="60" y="34"/>
                  <a:pt x="57" y="30"/>
                </a:cubicBezTo>
                <a:lnTo>
                  <a:pt x="57" y="132"/>
                </a:lnTo>
                <a:lnTo>
                  <a:pt x="57" y="234"/>
                </a:lnTo>
                <a:cubicBezTo>
                  <a:pt x="60" y="243"/>
                  <a:pt x="71" y="248"/>
                  <a:pt x="91" y="249"/>
                </a:cubicBezTo>
                <a:lnTo>
                  <a:pt x="97" y="249"/>
                </a:lnTo>
                <a:lnTo>
                  <a:pt x="97" y="267"/>
                </a:lnTo>
                <a:lnTo>
                  <a:pt x="94" y="267"/>
                </a:lnTo>
                <a:cubicBezTo>
                  <a:pt x="90" y="267"/>
                  <a:pt x="75" y="266"/>
                  <a:pt x="49" y="266"/>
                </a:cubicBezTo>
                <a:cubicBezTo>
                  <a:pt x="22" y="266"/>
                  <a:pt x="7" y="267"/>
                  <a:pt x="3" y="267"/>
                </a:cubicBezTo>
                <a:lnTo>
                  <a:pt x="0" y="267"/>
                </a:lnTo>
                <a:lnTo>
                  <a:pt x="0" y="249"/>
                </a:lnTo>
                <a:lnTo>
                  <a:pt x="7" y="249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"/>
          <p:cNvSpPr/>
          <p:nvPr/>
        </p:nvSpPr>
        <p:spPr>
          <a:xfrm>
            <a:off x="5632200" y="5907960"/>
            <a:ext cx="98640" cy="96120"/>
          </a:xfrm>
          <a:custGeom>
            <a:avLst/>
            <a:gdLst/>
            <a:ahLst/>
            <a:rect l="0" t="0" r="r" b="b"/>
            <a:pathLst>
              <a:path fill="none" w="274" h="267">
                <a:moveTo>
                  <a:pt x="7" y="249"/>
                </a:moveTo>
                <a:cubicBezTo>
                  <a:pt x="15" y="249"/>
                  <a:pt x="22" y="248"/>
                  <a:pt x="27" y="246"/>
                </a:cubicBezTo>
                <a:cubicBezTo>
                  <a:pt x="32" y="243"/>
                  <a:pt x="35" y="242"/>
                  <a:pt x="36" y="240"/>
                </a:cubicBezTo>
                <a:cubicBezTo>
                  <a:pt x="37" y="239"/>
                  <a:pt x="39" y="237"/>
                  <a:pt x="40" y="234"/>
                </a:cubicBezTo>
                <a:lnTo>
                  <a:pt x="40" y="19"/>
                </a:lnTo>
                <a:lnTo>
                  <a:pt x="39" y="19"/>
                </a:lnTo>
                <a:cubicBezTo>
                  <a:pt x="36" y="18"/>
                  <a:pt x="27" y="18"/>
                  <a:pt x="11" y="18"/>
                </a:cubicBezTo>
                <a:lnTo>
                  <a:pt x="0" y="18"/>
                </a:lnTo>
                <a:lnTo>
                  <a:pt x="0" y="0"/>
                </a:lnTo>
                <a:lnTo>
                  <a:pt x="81" y="0"/>
                </a:lnTo>
                <a:lnTo>
                  <a:pt x="82" y="1"/>
                </a:lnTo>
                <a:cubicBezTo>
                  <a:pt x="83" y="1"/>
                  <a:pt x="94" y="18"/>
                  <a:pt x="116" y="50"/>
                </a:cubicBezTo>
                <a:cubicBezTo>
                  <a:pt x="138" y="83"/>
                  <a:pt x="160" y="115"/>
                  <a:pt x="183" y="148"/>
                </a:cubicBezTo>
                <a:lnTo>
                  <a:pt x="216" y="197"/>
                </a:lnTo>
                <a:lnTo>
                  <a:pt x="216" y="33"/>
                </a:lnTo>
                <a:cubicBezTo>
                  <a:pt x="214" y="30"/>
                  <a:pt x="213" y="28"/>
                  <a:pt x="212" y="27"/>
                </a:cubicBezTo>
                <a:cubicBezTo>
                  <a:pt x="211" y="26"/>
                  <a:pt x="208" y="24"/>
                  <a:pt x="203" y="22"/>
                </a:cubicBezTo>
                <a:cubicBezTo>
                  <a:pt x="197" y="19"/>
                  <a:pt x="191" y="18"/>
                  <a:pt x="182" y="18"/>
                </a:cubicBezTo>
                <a:lnTo>
                  <a:pt x="176" y="18"/>
                </a:lnTo>
                <a:lnTo>
                  <a:pt x="176" y="0"/>
                </a:lnTo>
                <a:lnTo>
                  <a:pt x="179" y="0"/>
                </a:lnTo>
                <a:cubicBezTo>
                  <a:pt x="183" y="1"/>
                  <a:pt x="198" y="1"/>
                  <a:pt x="224" y="1"/>
                </a:cubicBezTo>
                <a:cubicBezTo>
                  <a:pt x="252" y="1"/>
                  <a:pt x="268" y="1"/>
                  <a:pt x="270" y="0"/>
                </a:cubicBezTo>
                <a:lnTo>
                  <a:pt x="274" y="0"/>
                </a:lnTo>
                <a:lnTo>
                  <a:pt x="274" y="18"/>
                </a:lnTo>
                <a:lnTo>
                  <a:pt x="266" y="18"/>
                </a:lnTo>
                <a:cubicBezTo>
                  <a:pt x="247" y="19"/>
                  <a:pt x="236" y="24"/>
                  <a:pt x="233" y="33"/>
                </a:cubicBezTo>
                <a:lnTo>
                  <a:pt x="233" y="149"/>
                </a:lnTo>
                <a:lnTo>
                  <a:pt x="233" y="265"/>
                </a:lnTo>
                <a:lnTo>
                  <a:pt x="230" y="267"/>
                </a:lnTo>
                <a:lnTo>
                  <a:pt x="224" y="267"/>
                </a:lnTo>
                <a:cubicBezTo>
                  <a:pt x="221" y="267"/>
                  <a:pt x="218" y="267"/>
                  <a:pt x="217" y="266"/>
                </a:cubicBezTo>
                <a:cubicBezTo>
                  <a:pt x="217" y="265"/>
                  <a:pt x="204" y="246"/>
                  <a:pt x="178" y="208"/>
                </a:cubicBezTo>
                <a:cubicBezTo>
                  <a:pt x="153" y="170"/>
                  <a:pt x="127" y="132"/>
                  <a:pt x="100" y="94"/>
                </a:cubicBezTo>
                <a:cubicBezTo>
                  <a:pt x="74" y="55"/>
                  <a:pt x="60" y="34"/>
                  <a:pt x="57" y="30"/>
                </a:cubicBezTo>
                <a:lnTo>
                  <a:pt x="57" y="132"/>
                </a:lnTo>
                <a:lnTo>
                  <a:pt x="57" y="234"/>
                </a:lnTo>
                <a:cubicBezTo>
                  <a:pt x="60" y="243"/>
                  <a:pt x="71" y="248"/>
                  <a:pt x="91" y="249"/>
                </a:cubicBezTo>
                <a:lnTo>
                  <a:pt x="97" y="249"/>
                </a:lnTo>
                <a:lnTo>
                  <a:pt x="97" y="267"/>
                </a:lnTo>
                <a:lnTo>
                  <a:pt x="94" y="267"/>
                </a:lnTo>
                <a:cubicBezTo>
                  <a:pt x="90" y="267"/>
                  <a:pt x="75" y="266"/>
                  <a:pt x="49" y="266"/>
                </a:cubicBezTo>
                <a:cubicBezTo>
                  <a:pt x="22" y="266"/>
                  <a:pt x="7" y="267"/>
                  <a:pt x="3" y="267"/>
                </a:cubicBezTo>
                <a:lnTo>
                  <a:pt x="0" y="267"/>
                </a:lnTo>
                <a:lnTo>
                  <a:pt x="0" y="249"/>
                </a:lnTo>
                <a:lnTo>
                  <a:pt x="7" y="249"/>
                </a:ln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"/>
          <p:cNvSpPr/>
          <p:nvPr/>
        </p:nvSpPr>
        <p:spPr>
          <a:xfrm>
            <a:off x="5738040" y="5941080"/>
            <a:ext cx="54720" cy="64800"/>
          </a:xfrm>
          <a:custGeom>
            <a:avLst/>
            <a:gdLst/>
            <a:ahLst/>
            <a:rect l="0" t="0" r="r" b="b"/>
            <a:pathLst>
              <a:path w="152" h="180">
                <a:moveTo>
                  <a:pt x="0" y="90"/>
                </a:moveTo>
                <a:cubicBezTo>
                  <a:pt x="0" y="76"/>
                  <a:pt x="3" y="63"/>
                  <a:pt x="8" y="50"/>
                </a:cubicBezTo>
                <a:cubicBezTo>
                  <a:pt x="13" y="39"/>
                  <a:pt x="19" y="29"/>
                  <a:pt x="27" y="22"/>
                </a:cubicBezTo>
                <a:cubicBezTo>
                  <a:pt x="35" y="15"/>
                  <a:pt x="44" y="9"/>
                  <a:pt x="53" y="5"/>
                </a:cubicBezTo>
                <a:cubicBezTo>
                  <a:pt x="62" y="2"/>
                  <a:pt x="70" y="0"/>
                  <a:pt x="78" y="0"/>
                </a:cubicBezTo>
                <a:cubicBezTo>
                  <a:pt x="92" y="0"/>
                  <a:pt x="104" y="2"/>
                  <a:pt x="114" y="7"/>
                </a:cubicBezTo>
                <a:cubicBezTo>
                  <a:pt x="124" y="11"/>
                  <a:pt x="131" y="18"/>
                  <a:pt x="137" y="26"/>
                </a:cubicBezTo>
                <a:cubicBezTo>
                  <a:pt x="142" y="34"/>
                  <a:pt x="146" y="43"/>
                  <a:pt x="148" y="51"/>
                </a:cubicBezTo>
                <a:cubicBezTo>
                  <a:pt x="151" y="60"/>
                  <a:pt x="152" y="70"/>
                  <a:pt x="152" y="80"/>
                </a:cubicBezTo>
                <a:cubicBezTo>
                  <a:pt x="152" y="82"/>
                  <a:pt x="151" y="83"/>
                  <a:pt x="149" y="85"/>
                </a:cubicBezTo>
                <a:lnTo>
                  <a:pt x="38" y="85"/>
                </a:lnTo>
                <a:lnTo>
                  <a:pt x="38" y="91"/>
                </a:lnTo>
                <a:cubicBezTo>
                  <a:pt x="38" y="130"/>
                  <a:pt x="51" y="153"/>
                  <a:pt x="77" y="161"/>
                </a:cubicBezTo>
                <a:cubicBezTo>
                  <a:pt x="82" y="163"/>
                  <a:pt x="88" y="164"/>
                  <a:pt x="94" y="164"/>
                </a:cubicBezTo>
                <a:cubicBezTo>
                  <a:pt x="105" y="164"/>
                  <a:pt x="115" y="160"/>
                  <a:pt x="122" y="151"/>
                </a:cubicBezTo>
                <a:cubicBezTo>
                  <a:pt x="127" y="147"/>
                  <a:pt x="130" y="141"/>
                  <a:pt x="133" y="135"/>
                </a:cubicBezTo>
                <a:lnTo>
                  <a:pt x="137" y="125"/>
                </a:lnTo>
                <a:cubicBezTo>
                  <a:pt x="138" y="125"/>
                  <a:pt x="140" y="124"/>
                  <a:pt x="144" y="124"/>
                </a:cubicBezTo>
                <a:lnTo>
                  <a:pt x="145" y="124"/>
                </a:lnTo>
                <a:cubicBezTo>
                  <a:pt x="150" y="124"/>
                  <a:pt x="152" y="126"/>
                  <a:pt x="152" y="128"/>
                </a:cubicBezTo>
                <a:cubicBezTo>
                  <a:pt x="152" y="129"/>
                  <a:pt x="152" y="131"/>
                  <a:pt x="151" y="133"/>
                </a:cubicBezTo>
                <a:cubicBezTo>
                  <a:pt x="146" y="148"/>
                  <a:pt x="137" y="159"/>
                  <a:pt x="125" y="167"/>
                </a:cubicBezTo>
                <a:cubicBezTo>
                  <a:pt x="114" y="176"/>
                  <a:pt x="101" y="180"/>
                  <a:pt x="87" y="180"/>
                </a:cubicBezTo>
                <a:cubicBezTo>
                  <a:pt x="62" y="180"/>
                  <a:pt x="41" y="171"/>
                  <a:pt x="25" y="153"/>
                </a:cubicBezTo>
                <a:cubicBezTo>
                  <a:pt x="9" y="135"/>
                  <a:pt x="0" y="114"/>
                  <a:pt x="0" y="90"/>
                </a:cubicBezTo>
                <a:moveTo>
                  <a:pt x="119" y="68"/>
                </a:moveTo>
                <a:cubicBezTo>
                  <a:pt x="116" y="34"/>
                  <a:pt x="104" y="16"/>
                  <a:pt x="82" y="14"/>
                </a:cubicBezTo>
                <a:lnTo>
                  <a:pt x="81" y="14"/>
                </a:lnTo>
                <a:cubicBezTo>
                  <a:pt x="79" y="14"/>
                  <a:pt x="77" y="14"/>
                  <a:pt x="75" y="14"/>
                </a:cubicBezTo>
                <a:cubicBezTo>
                  <a:pt x="73" y="15"/>
                  <a:pt x="70" y="16"/>
                  <a:pt x="65" y="18"/>
                </a:cubicBezTo>
                <a:cubicBezTo>
                  <a:pt x="61" y="19"/>
                  <a:pt x="57" y="22"/>
                  <a:pt x="54" y="26"/>
                </a:cubicBezTo>
                <a:cubicBezTo>
                  <a:pt x="51" y="29"/>
                  <a:pt x="48" y="35"/>
                  <a:pt x="45" y="42"/>
                </a:cubicBezTo>
                <a:cubicBezTo>
                  <a:pt x="42" y="49"/>
                  <a:pt x="40" y="58"/>
                  <a:pt x="39" y="68"/>
                </a:cubicBezTo>
                <a:lnTo>
                  <a:pt x="39" y="71"/>
                </a:lnTo>
                <a:lnTo>
                  <a:pt x="119" y="71"/>
                </a:lnTo>
                <a:lnTo>
                  <a:pt x="119" y="68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"/>
          <p:cNvSpPr/>
          <p:nvPr/>
        </p:nvSpPr>
        <p:spPr>
          <a:xfrm>
            <a:off x="5738040" y="5941080"/>
            <a:ext cx="54720" cy="64800"/>
          </a:xfrm>
          <a:custGeom>
            <a:avLst/>
            <a:gdLst/>
            <a:ahLst/>
            <a:rect l="0" t="0" r="r" b="b"/>
            <a:pathLst>
              <a:path fill="none" w="152" h="180">
                <a:moveTo>
                  <a:pt x="0" y="90"/>
                </a:moveTo>
                <a:cubicBezTo>
                  <a:pt x="0" y="76"/>
                  <a:pt x="3" y="63"/>
                  <a:pt x="8" y="50"/>
                </a:cubicBezTo>
                <a:cubicBezTo>
                  <a:pt x="13" y="39"/>
                  <a:pt x="19" y="29"/>
                  <a:pt x="27" y="22"/>
                </a:cubicBezTo>
                <a:cubicBezTo>
                  <a:pt x="35" y="15"/>
                  <a:pt x="44" y="9"/>
                  <a:pt x="53" y="5"/>
                </a:cubicBezTo>
                <a:cubicBezTo>
                  <a:pt x="62" y="2"/>
                  <a:pt x="70" y="0"/>
                  <a:pt x="78" y="0"/>
                </a:cubicBezTo>
                <a:cubicBezTo>
                  <a:pt x="92" y="0"/>
                  <a:pt x="104" y="2"/>
                  <a:pt x="114" y="7"/>
                </a:cubicBezTo>
                <a:cubicBezTo>
                  <a:pt x="124" y="11"/>
                  <a:pt x="131" y="18"/>
                  <a:pt x="137" y="26"/>
                </a:cubicBezTo>
                <a:cubicBezTo>
                  <a:pt x="142" y="34"/>
                  <a:pt x="146" y="43"/>
                  <a:pt x="148" y="51"/>
                </a:cubicBezTo>
                <a:cubicBezTo>
                  <a:pt x="151" y="60"/>
                  <a:pt x="152" y="70"/>
                  <a:pt x="152" y="80"/>
                </a:cubicBezTo>
                <a:cubicBezTo>
                  <a:pt x="152" y="82"/>
                  <a:pt x="151" y="83"/>
                  <a:pt x="149" y="85"/>
                </a:cubicBezTo>
                <a:lnTo>
                  <a:pt x="38" y="85"/>
                </a:lnTo>
                <a:lnTo>
                  <a:pt x="38" y="91"/>
                </a:lnTo>
                <a:cubicBezTo>
                  <a:pt x="38" y="130"/>
                  <a:pt x="51" y="153"/>
                  <a:pt x="77" y="161"/>
                </a:cubicBezTo>
                <a:cubicBezTo>
                  <a:pt x="82" y="163"/>
                  <a:pt x="88" y="164"/>
                  <a:pt x="94" y="164"/>
                </a:cubicBezTo>
                <a:cubicBezTo>
                  <a:pt x="105" y="164"/>
                  <a:pt x="115" y="160"/>
                  <a:pt x="122" y="151"/>
                </a:cubicBezTo>
                <a:cubicBezTo>
                  <a:pt x="127" y="147"/>
                  <a:pt x="130" y="141"/>
                  <a:pt x="133" y="135"/>
                </a:cubicBezTo>
                <a:lnTo>
                  <a:pt x="137" y="125"/>
                </a:lnTo>
                <a:cubicBezTo>
                  <a:pt x="138" y="125"/>
                  <a:pt x="140" y="124"/>
                  <a:pt x="144" y="124"/>
                </a:cubicBezTo>
                <a:lnTo>
                  <a:pt x="145" y="124"/>
                </a:lnTo>
                <a:cubicBezTo>
                  <a:pt x="150" y="124"/>
                  <a:pt x="152" y="126"/>
                  <a:pt x="152" y="128"/>
                </a:cubicBezTo>
                <a:cubicBezTo>
                  <a:pt x="152" y="129"/>
                  <a:pt x="152" y="131"/>
                  <a:pt x="151" y="133"/>
                </a:cubicBezTo>
                <a:cubicBezTo>
                  <a:pt x="146" y="148"/>
                  <a:pt x="137" y="159"/>
                  <a:pt x="125" y="167"/>
                </a:cubicBezTo>
                <a:cubicBezTo>
                  <a:pt x="114" y="176"/>
                  <a:pt x="101" y="180"/>
                  <a:pt x="87" y="180"/>
                </a:cubicBezTo>
                <a:cubicBezTo>
                  <a:pt x="62" y="180"/>
                  <a:pt x="41" y="171"/>
                  <a:pt x="25" y="153"/>
                </a:cubicBezTo>
                <a:cubicBezTo>
                  <a:pt x="9" y="135"/>
                  <a:pt x="0" y="114"/>
                  <a:pt x="0" y="90"/>
                </a:cubicBezTo>
                <a:moveTo>
                  <a:pt x="119" y="68"/>
                </a:moveTo>
                <a:cubicBezTo>
                  <a:pt x="116" y="34"/>
                  <a:pt x="104" y="16"/>
                  <a:pt x="82" y="14"/>
                </a:cubicBezTo>
                <a:lnTo>
                  <a:pt x="81" y="14"/>
                </a:lnTo>
                <a:cubicBezTo>
                  <a:pt x="79" y="14"/>
                  <a:pt x="77" y="14"/>
                  <a:pt x="75" y="14"/>
                </a:cubicBezTo>
                <a:cubicBezTo>
                  <a:pt x="73" y="15"/>
                  <a:pt x="70" y="16"/>
                  <a:pt x="65" y="18"/>
                </a:cubicBezTo>
                <a:cubicBezTo>
                  <a:pt x="61" y="19"/>
                  <a:pt x="57" y="22"/>
                  <a:pt x="54" y="26"/>
                </a:cubicBezTo>
                <a:cubicBezTo>
                  <a:pt x="51" y="29"/>
                  <a:pt x="48" y="35"/>
                  <a:pt x="45" y="42"/>
                </a:cubicBezTo>
                <a:cubicBezTo>
                  <a:pt x="42" y="49"/>
                  <a:pt x="40" y="58"/>
                  <a:pt x="39" y="68"/>
                </a:cubicBezTo>
                <a:lnTo>
                  <a:pt x="39" y="71"/>
                </a:lnTo>
                <a:lnTo>
                  <a:pt x="119" y="71"/>
                </a:lnTo>
                <a:lnTo>
                  <a:pt x="119" y="68"/>
                </a:ln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"/>
          <p:cNvSpPr/>
          <p:nvPr/>
        </p:nvSpPr>
        <p:spPr>
          <a:xfrm>
            <a:off x="5799960" y="5941800"/>
            <a:ext cx="111960" cy="62280"/>
          </a:xfrm>
          <a:custGeom>
            <a:avLst/>
            <a:gdLst/>
            <a:ahLst/>
            <a:rect l="0" t="0" r="r" b="b"/>
            <a:pathLst>
              <a:path w="311" h="173">
                <a:moveTo>
                  <a:pt x="6" y="155"/>
                </a:moveTo>
                <a:lnTo>
                  <a:pt x="12" y="155"/>
                </a:lnTo>
                <a:cubicBezTo>
                  <a:pt x="22" y="155"/>
                  <a:pt x="28" y="154"/>
                  <a:pt x="30" y="150"/>
                </a:cubicBezTo>
                <a:lnTo>
                  <a:pt x="30" y="147"/>
                </a:lnTo>
                <a:cubicBezTo>
                  <a:pt x="30" y="145"/>
                  <a:pt x="30" y="142"/>
                  <a:pt x="30" y="138"/>
                </a:cubicBezTo>
                <a:cubicBezTo>
                  <a:pt x="30" y="134"/>
                  <a:pt x="30" y="130"/>
                  <a:pt x="30" y="126"/>
                </a:cubicBezTo>
                <a:cubicBezTo>
                  <a:pt x="30" y="121"/>
                  <a:pt x="30" y="116"/>
                  <a:pt x="30" y="111"/>
                </a:cubicBezTo>
                <a:cubicBezTo>
                  <a:pt x="31" y="105"/>
                  <a:pt x="31" y="99"/>
                  <a:pt x="30" y="94"/>
                </a:cubicBezTo>
                <a:cubicBezTo>
                  <a:pt x="30" y="85"/>
                  <a:pt x="30" y="77"/>
                  <a:pt x="30" y="67"/>
                </a:cubicBezTo>
                <a:cubicBezTo>
                  <a:pt x="30" y="58"/>
                  <a:pt x="30" y="51"/>
                  <a:pt x="30" y="44"/>
                </a:cubicBezTo>
                <a:lnTo>
                  <a:pt x="30" y="35"/>
                </a:lnTo>
                <a:cubicBezTo>
                  <a:pt x="29" y="30"/>
                  <a:pt x="27" y="27"/>
                  <a:pt x="25" y="26"/>
                </a:cubicBezTo>
                <a:cubicBezTo>
                  <a:pt x="22" y="24"/>
                  <a:pt x="16" y="23"/>
                  <a:pt x="7" y="22"/>
                </a:cubicBezTo>
                <a:lnTo>
                  <a:pt x="0" y="22"/>
                </a:lnTo>
                <a:lnTo>
                  <a:pt x="0" y="13"/>
                </a:lnTo>
                <a:cubicBezTo>
                  <a:pt x="0" y="7"/>
                  <a:pt x="0" y="4"/>
                  <a:pt x="1" y="4"/>
                </a:cubicBezTo>
                <a:lnTo>
                  <a:pt x="5" y="4"/>
                </a:lnTo>
                <a:cubicBezTo>
                  <a:pt x="7" y="4"/>
                  <a:pt x="11" y="3"/>
                  <a:pt x="16" y="3"/>
                </a:cubicBezTo>
                <a:cubicBezTo>
                  <a:pt x="20" y="3"/>
                  <a:pt x="25" y="3"/>
                  <a:pt x="30" y="2"/>
                </a:cubicBezTo>
                <a:cubicBezTo>
                  <a:pt x="35" y="2"/>
                  <a:pt x="39" y="2"/>
                  <a:pt x="44" y="1"/>
                </a:cubicBezTo>
                <a:cubicBezTo>
                  <a:pt x="49" y="1"/>
                  <a:pt x="53" y="1"/>
                  <a:pt x="55" y="0"/>
                </a:cubicBezTo>
                <a:cubicBezTo>
                  <a:pt x="58" y="0"/>
                  <a:pt x="59" y="0"/>
                  <a:pt x="60" y="0"/>
                </a:cubicBezTo>
                <a:lnTo>
                  <a:pt x="61" y="0"/>
                </a:lnTo>
                <a:lnTo>
                  <a:pt x="61" y="16"/>
                </a:lnTo>
                <a:cubicBezTo>
                  <a:pt x="61" y="25"/>
                  <a:pt x="61" y="30"/>
                  <a:pt x="61" y="30"/>
                </a:cubicBezTo>
                <a:cubicBezTo>
                  <a:pt x="62" y="30"/>
                  <a:pt x="62" y="30"/>
                  <a:pt x="63" y="28"/>
                </a:cubicBezTo>
                <a:cubicBezTo>
                  <a:pt x="64" y="27"/>
                  <a:pt x="66" y="25"/>
                  <a:pt x="68" y="23"/>
                </a:cubicBezTo>
                <a:cubicBezTo>
                  <a:pt x="70" y="20"/>
                  <a:pt x="73" y="18"/>
                  <a:pt x="75" y="16"/>
                </a:cubicBezTo>
                <a:cubicBezTo>
                  <a:pt x="78" y="13"/>
                  <a:pt x="82" y="11"/>
                  <a:pt x="87" y="8"/>
                </a:cubicBezTo>
                <a:cubicBezTo>
                  <a:pt x="91" y="5"/>
                  <a:pt x="96" y="3"/>
                  <a:pt x="102" y="2"/>
                </a:cubicBezTo>
                <a:cubicBezTo>
                  <a:pt x="107" y="1"/>
                  <a:pt x="114" y="0"/>
                  <a:pt x="122" y="0"/>
                </a:cubicBezTo>
                <a:cubicBezTo>
                  <a:pt x="126" y="0"/>
                  <a:pt x="130" y="0"/>
                  <a:pt x="133" y="1"/>
                </a:cubicBezTo>
                <a:cubicBezTo>
                  <a:pt x="137" y="1"/>
                  <a:pt x="140" y="2"/>
                  <a:pt x="142" y="3"/>
                </a:cubicBezTo>
                <a:cubicBezTo>
                  <a:pt x="145" y="4"/>
                  <a:pt x="147" y="5"/>
                  <a:pt x="150" y="6"/>
                </a:cubicBezTo>
                <a:cubicBezTo>
                  <a:pt x="152" y="7"/>
                  <a:pt x="154" y="8"/>
                  <a:pt x="156" y="10"/>
                </a:cubicBezTo>
                <a:cubicBezTo>
                  <a:pt x="157" y="11"/>
                  <a:pt x="159" y="12"/>
                  <a:pt x="160" y="14"/>
                </a:cubicBezTo>
                <a:cubicBezTo>
                  <a:pt x="161" y="16"/>
                  <a:pt x="162" y="17"/>
                  <a:pt x="163" y="18"/>
                </a:cubicBezTo>
                <a:cubicBezTo>
                  <a:pt x="164" y="20"/>
                  <a:pt x="165" y="21"/>
                  <a:pt x="166" y="23"/>
                </a:cubicBezTo>
                <a:cubicBezTo>
                  <a:pt x="167" y="24"/>
                  <a:pt x="167" y="25"/>
                  <a:pt x="168" y="26"/>
                </a:cubicBezTo>
                <a:cubicBezTo>
                  <a:pt x="168" y="27"/>
                  <a:pt x="168" y="29"/>
                  <a:pt x="169" y="30"/>
                </a:cubicBezTo>
                <a:lnTo>
                  <a:pt x="170" y="32"/>
                </a:lnTo>
                <a:lnTo>
                  <a:pt x="171" y="30"/>
                </a:lnTo>
                <a:cubicBezTo>
                  <a:pt x="172" y="29"/>
                  <a:pt x="172" y="28"/>
                  <a:pt x="173" y="27"/>
                </a:cubicBezTo>
                <a:cubicBezTo>
                  <a:pt x="174" y="26"/>
                  <a:pt x="175" y="24"/>
                  <a:pt x="177" y="23"/>
                </a:cubicBezTo>
                <a:cubicBezTo>
                  <a:pt x="178" y="21"/>
                  <a:pt x="180" y="19"/>
                  <a:pt x="182" y="17"/>
                </a:cubicBezTo>
                <a:cubicBezTo>
                  <a:pt x="184" y="16"/>
                  <a:pt x="186" y="14"/>
                  <a:pt x="188" y="12"/>
                </a:cubicBezTo>
                <a:cubicBezTo>
                  <a:pt x="190" y="11"/>
                  <a:pt x="192" y="9"/>
                  <a:pt x="195" y="8"/>
                </a:cubicBezTo>
                <a:cubicBezTo>
                  <a:pt x="199" y="6"/>
                  <a:pt x="202" y="5"/>
                  <a:pt x="204" y="4"/>
                </a:cubicBezTo>
                <a:cubicBezTo>
                  <a:pt x="207" y="3"/>
                  <a:pt x="211" y="2"/>
                  <a:pt x="215" y="1"/>
                </a:cubicBezTo>
                <a:cubicBezTo>
                  <a:pt x="218" y="1"/>
                  <a:pt x="222" y="0"/>
                  <a:pt x="227" y="0"/>
                </a:cubicBezTo>
                <a:cubicBezTo>
                  <a:pt x="259" y="0"/>
                  <a:pt x="277" y="15"/>
                  <a:pt x="280" y="44"/>
                </a:cubicBezTo>
                <a:cubicBezTo>
                  <a:pt x="280" y="46"/>
                  <a:pt x="280" y="64"/>
                  <a:pt x="280" y="99"/>
                </a:cubicBezTo>
                <a:lnTo>
                  <a:pt x="280" y="133"/>
                </a:lnTo>
                <a:cubicBezTo>
                  <a:pt x="280" y="143"/>
                  <a:pt x="281" y="149"/>
                  <a:pt x="281" y="150"/>
                </a:cubicBezTo>
                <a:cubicBezTo>
                  <a:pt x="282" y="152"/>
                  <a:pt x="283" y="154"/>
                  <a:pt x="286" y="154"/>
                </a:cubicBezTo>
                <a:cubicBezTo>
                  <a:pt x="291" y="155"/>
                  <a:pt x="297" y="155"/>
                  <a:pt x="305" y="155"/>
                </a:cubicBezTo>
                <a:lnTo>
                  <a:pt x="311" y="155"/>
                </a:lnTo>
                <a:lnTo>
                  <a:pt x="311" y="173"/>
                </a:lnTo>
                <a:lnTo>
                  <a:pt x="308" y="173"/>
                </a:lnTo>
                <a:lnTo>
                  <a:pt x="299" y="173"/>
                </a:lnTo>
                <a:cubicBezTo>
                  <a:pt x="293" y="173"/>
                  <a:pt x="286" y="173"/>
                  <a:pt x="279" y="173"/>
                </a:cubicBezTo>
                <a:cubicBezTo>
                  <a:pt x="272" y="173"/>
                  <a:pt x="267" y="173"/>
                  <a:pt x="264" y="172"/>
                </a:cubicBezTo>
                <a:cubicBezTo>
                  <a:pt x="237" y="172"/>
                  <a:pt x="223" y="173"/>
                  <a:pt x="220" y="173"/>
                </a:cubicBezTo>
                <a:lnTo>
                  <a:pt x="217" y="173"/>
                </a:lnTo>
                <a:lnTo>
                  <a:pt x="217" y="155"/>
                </a:lnTo>
                <a:lnTo>
                  <a:pt x="224" y="155"/>
                </a:lnTo>
                <a:cubicBezTo>
                  <a:pt x="239" y="155"/>
                  <a:pt x="247" y="153"/>
                  <a:pt x="247" y="149"/>
                </a:cubicBezTo>
                <a:cubicBezTo>
                  <a:pt x="248" y="149"/>
                  <a:pt x="248" y="131"/>
                  <a:pt x="248" y="95"/>
                </a:cubicBezTo>
                <a:cubicBezTo>
                  <a:pt x="247" y="59"/>
                  <a:pt x="247" y="41"/>
                  <a:pt x="247" y="39"/>
                </a:cubicBezTo>
                <a:cubicBezTo>
                  <a:pt x="245" y="31"/>
                  <a:pt x="243" y="26"/>
                  <a:pt x="239" y="22"/>
                </a:cubicBezTo>
                <a:cubicBezTo>
                  <a:pt x="235" y="19"/>
                  <a:pt x="232" y="16"/>
                  <a:pt x="230" y="16"/>
                </a:cubicBezTo>
                <a:cubicBezTo>
                  <a:pt x="227" y="15"/>
                  <a:pt x="224" y="14"/>
                  <a:pt x="220" y="15"/>
                </a:cubicBezTo>
                <a:cubicBezTo>
                  <a:pt x="208" y="15"/>
                  <a:pt x="198" y="19"/>
                  <a:pt x="189" y="28"/>
                </a:cubicBezTo>
                <a:cubicBezTo>
                  <a:pt x="182" y="35"/>
                  <a:pt x="177" y="42"/>
                  <a:pt x="176" y="49"/>
                </a:cubicBezTo>
                <a:cubicBezTo>
                  <a:pt x="174" y="57"/>
                  <a:pt x="173" y="68"/>
                  <a:pt x="172" y="82"/>
                </a:cubicBezTo>
                <a:lnTo>
                  <a:pt x="172" y="108"/>
                </a:lnTo>
                <a:lnTo>
                  <a:pt x="172" y="131"/>
                </a:lnTo>
                <a:cubicBezTo>
                  <a:pt x="172" y="139"/>
                  <a:pt x="173" y="144"/>
                  <a:pt x="173" y="147"/>
                </a:cubicBezTo>
                <a:cubicBezTo>
                  <a:pt x="173" y="149"/>
                  <a:pt x="173" y="151"/>
                  <a:pt x="174" y="152"/>
                </a:cubicBezTo>
                <a:cubicBezTo>
                  <a:pt x="174" y="153"/>
                  <a:pt x="176" y="154"/>
                  <a:pt x="177" y="154"/>
                </a:cubicBezTo>
                <a:cubicBezTo>
                  <a:pt x="183" y="155"/>
                  <a:pt x="189" y="155"/>
                  <a:pt x="197" y="155"/>
                </a:cubicBezTo>
                <a:lnTo>
                  <a:pt x="203" y="155"/>
                </a:lnTo>
                <a:lnTo>
                  <a:pt x="203" y="173"/>
                </a:lnTo>
                <a:lnTo>
                  <a:pt x="200" y="173"/>
                </a:lnTo>
                <a:lnTo>
                  <a:pt x="190" y="173"/>
                </a:lnTo>
                <a:cubicBezTo>
                  <a:pt x="184" y="173"/>
                  <a:pt x="178" y="173"/>
                  <a:pt x="171" y="173"/>
                </a:cubicBezTo>
                <a:cubicBezTo>
                  <a:pt x="164" y="173"/>
                  <a:pt x="159" y="173"/>
                  <a:pt x="156" y="172"/>
                </a:cubicBezTo>
                <a:cubicBezTo>
                  <a:pt x="129" y="172"/>
                  <a:pt x="115" y="173"/>
                  <a:pt x="111" y="173"/>
                </a:cubicBezTo>
                <a:lnTo>
                  <a:pt x="108" y="173"/>
                </a:lnTo>
                <a:lnTo>
                  <a:pt x="108" y="155"/>
                </a:lnTo>
                <a:lnTo>
                  <a:pt x="115" y="155"/>
                </a:lnTo>
                <a:cubicBezTo>
                  <a:pt x="131" y="155"/>
                  <a:pt x="139" y="153"/>
                  <a:pt x="139" y="149"/>
                </a:cubicBezTo>
                <a:cubicBezTo>
                  <a:pt x="139" y="149"/>
                  <a:pt x="140" y="131"/>
                  <a:pt x="140" y="95"/>
                </a:cubicBezTo>
                <a:cubicBezTo>
                  <a:pt x="139" y="59"/>
                  <a:pt x="139" y="41"/>
                  <a:pt x="139" y="39"/>
                </a:cubicBezTo>
                <a:cubicBezTo>
                  <a:pt x="137" y="31"/>
                  <a:pt x="135" y="26"/>
                  <a:pt x="131" y="22"/>
                </a:cubicBezTo>
                <a:cubicBezTo>
                  <a:pt x="127" y="19"/>
                  <a:pt x="124" y="16"/>
                  <a:pt x="122" y="16"/>
                </a:cubicBezTo>
                <a:cubicBezTo>
                  <a:pt x="119" y="15"/>
                  <a:pt x="116" y="14"/>
                  <a:pt x="110" y="15"/>
                </a:cubicBezTo>
                <a:cubicBezTo>
                  <a:pt x="99" y="15"/>
                  <a:pt x="89" y="19"/>
                  <a:pt x="80" y="28"/>
                </a:cubicBezTo>
                <a:cubicBezTo>
                  <a:pt x="73" y="35"/>
                  <a:pt x="68" y="42"/>
                  <a:pt x="66" y="49"/>
                </a:cubicBezTo>
                <a:cubicBezTo>
                  <a:pt x="65" y="57"/>
                  <a:pt x="64" y="68"/>
                  <a:pt x="63" y="82"/>
                </a:cubicBezTo>
                <a:lnTo>
                  <a:pt x="63" y="108"/>
                </a:lnTo>
                <a:lnTo>
                  <a:pt x="63" y="131"/>
                </a:lnTo>
                <a:cubicBezTo>
                  <a:pt x="63" y="139"/>
                  <a:pt x="63" y="144"/>
                  <a:pt x="64" y="147"/>
                </a:cubicBezTo>
                <a:cubicBezTo>
                  <a:pt x="64" y="149"/>
                  <a:pt x="64" y="151"/>
                  <a:pt x="65" y="152"/>
                </a:cubicBezTo>
                <a:cubicBezTo>
                  <a:pt x="65" y="153"/>
                  <a:pt x="67" y="154"/>
                  <a:pt x="68" y="154"/>
                </a:cubicBezTo>
                <a:cubicBezTo>
                  <a:pt x="74" y="155"/>
                  <a:pt x="80" y="155"/>
                  <a:pt x="87" y="155"/>
                </a:cubicBezTo>
                <a:lnTo>
                  <a:pt x="94" y="155"/>
                </a:lnTo>
                <a:lnTo>
                  <a:pt x="94" y="173"/>
                </a:lnTo>
                <a:lnTo>
                  <a:pt x="91" y="173"/>
                </a:lnTo>
                <a:lnTo>
                  <a:pt x="82" y="173"/>
                </a:lnTo>
                <a:cubicBezTo>
                  <a:pt x="75" y="173"/>
                  <a:pt x="69" y="173"/>
                  <a:pt x="62" y="173"/>
                </a:cubicBezTo>
                <a:cubicBezTo>
                  <a:pt x="55" y="173"/>
                  <a:pt x="50" y="173"/>
                  <a:pt x="47" y="172"/>
                </a:cubicBezTo>
                <a:cubicBezTo>
                  <a:pt x="20" y="172"/>
                  <a:pt x="6" y="173"/>
                  <a:pt x="3" y="173"/>
                </a:cubicBezTo>
                <a:lnTo>
                  <a:pt x="0" y="173"/>
                </a:lnTo>
                <a:lnTo>
                  <a:pt x="0" y="155"/>
                </a:lnTo>
                <a:lnTo>
                  <a:pt x="6" y="155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"/>
          <p:cNvSpPr/>
          <p:nvPr/>
        </p:nvSpPr>
        <p:spPr>
          <a:xfrm>
            <a:off x="5799960" y="5941800"/>
            <a:ext cx="111960" cy="62280"/>
          </a:xfrm>
          <a:custGeom>
            <a:avLst/>
            <a:gdLst/>
            <a:ahLst/>
            <a:rect l="0" t="0" r="r" b="b"/>
            <a:pathLst>
              <a:path fill="none" w="311" h="173">
                <a:moveTo>
                  <a:pt x="6" y="155"/>
                </a:moveTo>
                <a:lnTo>
                  <a:pt x="12" y="155"/>
                </a:lnTo>
                <a:cubicBezTo>
                  <a:pt x="22" y="155"/>
                  <a:pt x="28" y="154"/>
                  <a:pt x="30" y="150"/>
                </a:cubicBezTo>
                <a:lnTo>
                  <a:pt x="30" y="147"/>
                </a:lnTo>
                <a:cubicBezTo>
                  <a:pt x="30" y="145"/>
                  <a:pt x="30" y="142"/>
                  <a:pt x="30" y="138"/>
                </a:cubicBezTo>
                <a:cubicBezTo>
                  <a:pt x="30" y="134"/>
                  <a:pt x="30" y="130"/>
                  <a:pt x="30" y="126"/>
                </a:cubicBezTo>
                <a:cubicBezTo>
                  <a:pt x="30" y="121"/>
                  <a:pt x="30" y="116"/>
                  <a:pt x="30" y="111"/>
                </a:cubicBezTo>
                <a:cubicBezTo>
                  <a:pt x="31" y="105"/>
                  <a:pt x="31" y="99"/>
                  <a:pt x="30" y="94"/>
                </a:cubicBezTo>
                <a:cubicBezTo>
                  <a:pt x="30" y="85"/>
                  <a:pt x="30" y="77"/>
                  <a:pt x="30" y="67"/>
                </a:cubicBezTo>
                <a:cubicBezTo>
                  <a:pt x="30" y="58"/>
                  <a:pt x="30" y="51"/>
                  <a:pt x="30" y="44"/>
                </a:cubicBezTo>
                <a:lnTo>
                  <a:pt x="30" y="35"/>
                </a:lnTo>
                <a:cubicBezTo>
                  <a:pt x="29" y="30"/>
                  <a:pt x="27" y="27"/>
                  <a:pt x="25" y="26"/>
                </a:cubicBezTo>
                <a:cubicBezTo>
                  <a:pt x="22" y="24"/>
                  <a:pt x="16" y="23"/>
                  <a:pt x="7" y="22"/>
                </a:cubicBezTo>
                <a:lnTo>
                  <a:pt x="0" y="22"/>
                </a:lnTo>
                <a:lnTo>
                  <a:pt x="0" y="13"/>
                </a:lnTo>
                <a:cubicBezTo>
                  <a:pt x="0" y="7"/>
                  <a:pt x="0" y="4"/>
                  <a:pt x="1" y="4"/>
                </a:cubicBezTo>
                <a:lnTo>
                  <a:pt x="5" y="4"/>
                </a:lnTo>
                <a:cubicBezTo>
                  <a:pt x="7" y="4"/>
                  <a:pt x="11" y="3"/>
                  <a:pt x="16" y="3"/>
                </a:cubicBezTo>
                <a:cubicBezTo>
                  <a:pt x="20" y="3"/>
                  <a:pt x="25" y="3"/>
                  <a:pt x="30" y="2"/>
                </a:cubicBezTo>
                <a:cubicBezTo>
                  <a:pt x="35" y="2"/>
                  <a:pt x="39" y="2"/>
                  <a:pt x="44" y="1"/>
                </a:cubicBezTo>
                <a:cubicBezTo>
                  <a:pt x="49" y="1"/>
                  <a:pt x="53" y="1"/>
                  <a:pt x="55" y="0"/>
                </a:cubicBezTo>
                <a:cubicBezTo>
                  <a:pt x="58" y="0"/>
                  <a:pt x="59" y="0"/>
                  <a:pt x="60" y="0"/>
                </a:cubicBezTo>
                <a:lnTo>
                  <a:pt x="61" y="0"/>
                </a:lnTo>
                <a:lnTo>
                  <a:pt x="61" y="16"/>
                </a:lnTo>
                <a:cubicBezTo>
                  <a:pt x="61" y="25"/>
                  <a:pt x="61" y="30"/>
                  <a:pt x="61" y="30"/>
                </a:cubicBezTo>
                <a:cubicBezTo>
                  <a:pt x="62" y="30"/>
                  <a:pt x="62" y="30"/>
                  <a:pt x="63" y="28"/>
                </a:cubicBezTo>
                <a:cubicBezTo>
                  <a:pt x="64" y="27"/>
                  <a:pt x="66" y="25"/>
                  <a:pt x="68" y="23"/>
                </a:cubicBezTo>
                <a:cubicBezTo>
                  <a:pt x="70" y="20"/>
                  <a:pt x="73" y="18"/>
                  <a:pt x="75" y="16"/>
                </a:cubicBezTo>
                <a:cubicBezTo>
                  <a:pt x="78" y="13"/>
                  <a:pt x="82" y="11"/>
                  <a:pt x="87" y="8"/>
                </a:cubicBezTo>
                <a:cubicBezTo>
                  <a:pt x="91" y="5"/>
                  <a:pt x="96" y="3"/>
                  <a:pt x="102" y="2"/>
                </a:cubicBezTo>
                <a:cubicBezTo>
                  <a:pt x="107" y="1"/>
                  <a:pt x="114" y="0"/>
                  <a:pt x="122" y="0"/>
                </a:cubicBezTo>
                <a:cubicBezTo>
                  <a:pt x="126" y="0"/>
                  <a:pt x="130" y="0"/>
                  <a:pt x="133" y="1"/>
                </a:cubicBezTo>
                <a:cubicBezTo>
                  <a:pt x="137" y="1"/>
                  <a:pt x="140" y="2"/>
                  <a:pt x="142" y="3"/>
                </a:cubicBezTo>
                <a:cubicBezTo>
                  <a:pt x="145" y="4"/>
                  <a:pt x="147" y="5"/>
                  <a:pt x="150" y="6"/>
                </a:cubicBezTo>
                <a:cubicBezTo>
                  <a:pt x="152" y="7"/>
                  <a:pt x="154" y="8"/>
                  <a:pt x="156" y="10"/>
                </a:cubicBezTo>
                <a:cubicBezTo>
                  <a:pt x="157" y="11"/>
                  <a:pt x="159" y="12"/>
                  <a:pt x="160" y="14"/>
                </a:cubicBezTo>
                <a:cubicBezTo>
                  <a:pt x="161" y="16"/>
                  <a:pt x="162" y="17"/>
                  <a:pt x="163" y="18"/>
                </a:cubicBezTo>
                <a:cubicBezTo>
                  <a:pt x="164" y="20"/>
                  <a:pt x="165" y="21"/>
                  <a:pt x="166" y="23"/>
                </a:cubicBezTo>
                <a:cubicBezTo>
                  <a:pt x="167" y="24"/>
                  <a:pt x="167" y="25"/>
                  <a:pt x="168" y="26"/>
                </a:cubicBezTo>
                <a:cubicBezTo>
                  <a:pt x="168" y="27"/>
                  <a:pt x="168" y="29"/>
                  <a:pt x="169" y="30"/>
                </a:cubicBezTo>
                <a:lnTo>
                  <a:pt x="170" y="32"/>
                </a:lnTo>
                <a:lnTo>
                  <a:pt x="171" y="30"/>
                </a:lnTo>
                <a:cubicBezTo>
                  <a:pt x="172" y="29"/>
                  <a:pt x="172" y="28"/>
                  <a:pt x="173" y="27"/>
                </a:cubicBezTo>
                <a:cubicBezTo>
                  <a:pt x="174" y="26"/>
                  <a:pt x="175" y="24"/>
                  <a:pt x="177" y="23"/>
                </a:cubicBezTo>
                <a:cubicBezTo>
                  <a:pt x="178" y="21"/>
                  <a:pt x="180" y="19"/>
                  <a:pt x="182" y="17"/>
                </a:cubicBezTo>
                <a:cubicBezTo>
                  <a:pt x="184" y="16"/>
                  <a:pt x="186" y="14"/>
                  <a:pt x="188" y="12"/>
                </a:cubicBezTo>
                <a:cubicBezTo>
                  <a:pt x="190" y="11"/>
                  <a:pt x="192" y="9"/>
                  <a:pt x="195" y="8"/>
                </a:cubicBezTo>
                <a:cubicBezTo>
                  <a:pt x="199" y="6"/>
                  <a:pt x="202" y="5"/>
                  <a:pt x="204" y="4"/>
                </a:cubicBezTo>
                <a:cubicBezTo>
                  <a:pt x="207" y="3"/>
                  <a:pt x="211" y="2"/>
                  <a:pt x="215" y="1"/>
                </a:cubicBezTo>
                <a:cubicBezTo>
                  <a:pt x="218" y="1"/>
                  <a:pt x="222" y="0"/>
                  <a:pt x="227" y="0"/>
                </a:cubicBezTo>
                <a:cubicBezTo>
                  <a:pt x="259" y="0"/>
                  <a:pt x="277" y="15"/>
                  <a:pt x="280" y="44"/>
                </a:cubicBezTo>
                <a:cubicBezTo>
                  <a:pt x="280" y="46"/>
                  <a:pt x="280" y="64"/>
                  <a:pt x="280" y="99"/>
                </a:cubicBezTo>
                <a:lnTo>
                  <a:pt x="280" y="133"/>
                </a:lnTo>
                <a:cubicBezTo>
                  <a:pt x="280" y="143"/>
                  <a:pt x="281" y="149"/>
                  <a:pt x="281" y="150"/>
                </a:cubicBezTo>
                <a:cubicBezTo>
                  <a:pt x="282" y="152"/>
                  <a:pt x="283" y="154"/>
                  <a:pt x="286" y="154"/>
                </a:cubicBezTo>
                <a:cubicBezTo>
                  <a:pt x="291" y="155"/>
                  <a:pt x="297" y="155"/>
                  <a:pt x="305" y="155"/>
                </a:cubicBezTo>
                <a:lnTo>
                  <a:pt x="311" y="155"/>
                </a:lnTo>
                <a:lnTo>
                  <a:pt x="311" y="173"/>
                </a:lnTo>
                <a:lnTo>
                  <a:pt x="308" y="173"/>
                </a:lnTo>
                <a:lnTo>
                  <a:pt x="299" y="173"/>
                </a:lnTo>
                <a:cubicBezTo>
                  <a:pt x="293" y="173"/>
                  <a:pt x="286" y="173"/>
                  <a:pt x="279" y="173"/>
                </a:cubicBezTo>
                <a:cubicBezTo>
                  <a:pt x="272" y="173"/>
                  <a:pt x="267" y="173"/>
                  <a:pt x="264" y="172"/>
                </a:cubicBezTo>
                <a:cubicBezTo>
                  <a:pt x="237" y="172"/>
                  <a:pt x="223" y="173"/>
                  <a:pt x="220" y="173"/>
                </a:cubicBezTo>
                <a:lnTo>
                  <a:pt x="217" y="173"/>
                </a:lnTo>
                <a:lnTo>
                  <a:pt x="217" y="155"/>
                </a:lnTo>
                <a:lnTo>
                  <a:pt x="224" y="155"/>
                </a:lnTo>
                <a:cubicBezTo>
                  <a:pt x="239" y="155"/>
                  <a:pt x="247" y="153"/>
                  <a:pt x="247" y="149"/>
                </a:cubicBezTo>
                <a:cubicBezTo>
                  <a:pt x="248" y="149"/>
                  <a:pt x="248" y="131"/>
                  <a:pt x="248" y="95"/>
                </a:cubicBezTo>
                <a:cubicBezTo>
                  <a:pt x="247" y="59"/>
                  <a:pt x="247" y="41"/>
                  <a:pt x="247" y="39"/>
                </a:cubicBezTo>
                <a:cubicBezTo>
                  <a:pt x="245" y="31"/>
                  <a:pt x="243" y="26"/>
                  <a:pt x="239" y="22"/>
                </a:cubicBezTo>
                <a:cubicBezTo>
                  <a:pt x="235" y="19"/>
                  <a:pt x="232" y="16"/>
                  <a:pt x="230" y="16"/>
                </a:cubicBezTo>
                <a:cubicBezTo>
                  <a:pt x="227" y="15"/>
                  <a:pt x="224" y="14"/>
                  <a:pt x="220" y="15"/>
                </a:cubicBezTo>
                <a:cubicBezTo>
                  <a:pt x="208" y="15"/>
                  <a:pt x="198" y="19"/>
                  <a:pt x="189" y="28"/>
                </a:cubicBezTo>
                <a:cubicBezTo>
                  <a:pt x="182" y="35"/>
                  <a:pt x="177" y="42"/>
                  <a:pt x="176" y="49"/>
                </a:cubicBezTo>
                <a:cubicBezTo>
                  <a:pt x="174" y="57"/>
                  <a:pt x="173" y="68"/>
                  <a:pt x="172" y="82"/>
                </a:cubicBezTo>
                <a:lnTo>
                  <a:pt x="172" y="108"/>
                </a:lnTo>
                <a:lnTo>
                  <a:pt x="172" y="131"/>
                </a:lnTo>
                <a:cubicBezTo>
                  <a:pt x="172" y="139"/>
                  <a:pt x="173" y="144"/>
                  <a:pt x="173" y="147"/>
                </a:cubicBezTo>
                <a:cubicBezTo>
                  <a:pt x="173" y="149"/>
                  <a:pt x="173" y="151"/>
                  <a:pt x="174" y="152"/>
                </a:cubicBezTo>
                <a:cubicBezTo>
                  <a:pt x="174" y="153"/>
                  <a:pt x="176" y="154"/>
                  <a:pt x="177" y="154"/>
                </a:cubicBezTo>
                <a:cubicBezTo>
                  <a:pt x="183" y="155"/>
                  <a:pt x="189" y="155"/>
                  <a:pt x="197" y="155"/>
                </a:cubicBezTo>
                <a:lnTo>
                  <a:pt x="203" y="155"/>
                </a:lnTo>
                <a:lnTo>
                  <a:pt x="203" y="173"/>
                </a:lnTo>
                <a:lnTo>
                  <a:pt x="200" y="173"/>
                </a:lnTo>
                <a:lnTo>
                  <a:pt x="190" y="173"/>
                </a:lnTo>
                <a:cubicBezTo>
                  <a:pt x="184" y="173"/>
                  <a:pt x="178" y="173"/>
                  <a:pt x="171" y="173"/>
                </a:cubicBezTo>
                <a:cubicBezTo>
                  <a:pt x="164" y="173"/>
                  <a:pt x="159" y="173"/>
                  <a:pt x="156" y="172"/>
                </a:cubicBezTo>
                <a:cubicBezTo>
                  <a:pt x="129" y="172"/>
                  <a:pt x="115" y="173"/>
                  <a:pt x="111" y="173"/>
                </a:cubicBezTo>
                <a:lnTo>
                  <a:pt x="108" y="173"/>
                </a:lnTo>
                <a:lnTo>
                  <a:pt x="108" y="155"/>
                </a:lnTo>
                <a:lnTo>
                  <a:pt x="115" y="155"/>
                </a:lnTo>
                <a:cubicBezTo>
                  <a:pt x="131" y="155"/>
                  <a:pt x="139" y="153"/>
                  <a:pt x="139" y="149"/>
                </a:cubicBezTo>
                <a:cubicBezTo>
                  <a:pt x="139" y="149"/>
                  <a:pt x="140" y="131"/>
                  <a:pt x="140" y="95"/>
                </a:cubicBezTo>
                <a:cubicBezTo>
                  <a:pt x="139" y="59"/>
                  <a:pt x="139" y="41"/>
                  <a:pt x="139" y="39"/>
                </a:cubicBezTo>
                <a:cubicBezTo>
                  <a:pt x="137" y="31"/>
                  <a:pt x="135" y="26"/>
                  <a:pt x="131" y="22"/>
                </a:cubicBezTo>
                <a:cubicBezTo>
                  <a:pt x="127" y="19"/>
                  <a:pt x="124" y="16"/>
                  <a:pt x="122" y="16"/>
                </a:cubicBezTo>
                <a:cubicBezTo>
                  <a:pt x="119" y="15"/>
                  <a:pt x="116" y="14"/>
                  <a:pt x="110" y="15"/>
                </a:cubicBezTo>
                <a:cubicBezTo>
                  <a:pt x="99" y="15"/>
                  <a:pt x="89" y="19"/>
                  <a:pt x="80" y="28"/>
                </a:cubicBezTo>
                <a:cubicBezTo>
                  <a:pt x="73" y="35"/>
                  <a:pt x="68" y="42"/>
                  <a:pt x="66" y="49"/>
                </a:cubicBezTo>
                <a:cubicBezTo>
                  <a:pt x="65" y="57"/>
                  <a:pt x="64" y="68"/>
                  <a:pt x="63" y="82"/>
                </a:cubicBezTo>
                <a:lnTo>
                  <a:pt x="63" y="108"/>
                </a:lnTo>
                <a:lnTo>
                  <a:pt x="63" y="131"/>
                </a:lnTo>
                <a:cubicBezTo>
                  <a:pt x="63" y="139"/>
                  <a:pt x="63" y="144"/>
                  <a:pt x="64" y="147"/>
                </a:cubicBezTo>
                <a:cubicBezTo>
                  <a:pt x="64" y="149"/>
                  <a:pt x="64" y="151"/>
                  <a:pt x="65" y="152"/>
                </a:cubicBezTo>
                <a:cubicBezTo>
                  <a:pt x="65" y="153"/>
                  <a:pt x="67" y="154"/>
                  <a:pt x="68" y="154"/>
                </a:cubicBezTo>
                <a:cubicBezTo>
                  <a:pt x="74" y="155"/>
                  <a:pt x="80" y="155"/>
                  <a:pt x="87" y="155"/>
                </a:cubicBezTo>
                <a:lnTo>
                  <a:pt x="94" y="155"/>
                </a:lnTo>
                <a:lnTo>
                  <a:pt x="94" y="173"/>
                </a:lnTo>
                <a:lnTo>
                  <a:pt x="91" y="173"/>
                </a:lnTo>
                <a:lnTo>
                  <a:pt x="82" y="173"/>
                </a:lnTo>
                <a:cubicBezTo>
                  <a:pt x="75" y="173"/>
                  <a:pt x="69" y="173"/>
                  <a:pt x="62" y="173"/>
                </a:cubicBezTo>
                <a:cubicBezTo>
                  <a:pt x="55" y="173"/>
                  <a:pt x="50" y="173"/>
                  <a:pt x="47" y="172"/>
                </a:cubicBezTo>
                <a:cubicBezTo>
                  <a:pt x="20" y="172"/>
                  <a:pt x="6" y="173"/>
                  <a:pt x="3" y="173"/>
                </a:cubicBezTo>
                <a:lnTo>
                  <a:pt x="0" y="173"/>
                </a:lnTo>
                <a:lnTo>
                  <a:pt x="0" y="155"/>
                </a:lnTo>
                <a:lnTo>
                  <a:pt x="6" y="155"/>
                </a:ln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"/>
          <p:cNvSpPr/>
          <p:nvPr/>
        </p:nvSpPr>
        <p:spPr>
          <a:xfrm>
            <a:off x="5918400" y="5941080"/>
            <a:ext cx="64800" cy="64800"/>
          </a:xfrm>
          <a:custGeom>
            <a:avLst/>
            <a:gdLst/>
            <a:ahLst/>
            <a:rect l="0" t="0" r="r" b="b"/>
            <a:pathLst>
              <a:path w="180" h="180">
                <a:moveTo>
                  <a:pt x="40" y="56"/>
                </a:moveTo>
                <a:cubicBezTo>
                  <a:pt x="40" y="56"/>
                  <a:pt x="37" y="56"/>
                  <a:pt x="31" y="56"/>
                </a:cubicBezTo>
                <a:cubicBezTo>
                  <a:pt x="26" y="56"/>
                  <a:pt x="21" y="53"/>
                  <a:pt x="17" y="50"/>
                </a:cubicBezTo>
                <a:cubicBezTo>
                  <a:pt x="13" y="46"/>
                  <a:pt x="11" y="41"/>
                  <a:pt x="11" y="34"/>
                </a:cubicBezTo>
                <a:cubicBezTo>
                  <a:pt x="11" y="25"/>
                  <a:pt x="15" y="17"/>
                  <a:pt x="24" y="10"/>
                </a:cubicBezTo>
                <a:cubicBezTo>
                  <a:pt x="33" y="3"/>
                  <a:pt x="49" y="0"/>
                  <a:pt x="71" y="0"/>
                </a:cubicBezTo>
                <a:cubicBezTo>
                  <a:pt x="90" y="0"/>
                  <a:pt x="106" y="4"/>
                  <a:pt x="119" y="12"/>
                </a:cubicBezTo>
                <a:cubicBezTo>
                  <a:pt x="130" y="20"/>
                  <a:pt x="138" y="30"/>
                  <a:pt x="142" y="42"/>
                </a:cubicBezTo>
                <a:cubicBezTo>
                  <a:pt x="143" y="45"/>
                  <a:pt x="144" y="49"/>
                  <a:pt x="144" y="54"/>
                </a:cubicBezTo>
                <a:cubicBezTo>
                  <a:pt x="144" y="59"/>
                  <a:pt x="144" y="74"/>
                  <a:pt x="144" y="100"/>
                </a:cubicBezTo>
                <a:lnTo>
                  <a:pt x="144" y="127"/>
                </a:lnTo>
                <a:cubicBezTo>
                  <a:pt x="144" y="140"/>
                  <a:pt x="145" y="148"/>
                  <a:pt x="146" y="153"/>
                </a:cubicBezTo>
                <a:cubicBezTo>
                  <a:pt x="148" y="157"/>
                  <a:pt x="150" y="160"/>
                  <a:pt x="154" y="160"/>
                </a:cubicBezTo>
                <a:cubicBezTo>
                  <a:pt x="158" y="160"/>
                  <a:pt x="161" y="158"/>
                  <a:pt x="162" y="154"/>
                </a:cubicBezTo>
                <a:cubicBezTo>
                  <a:pt x="164" y="149"/>
                  <a:pt x="164" y="143"/>
                  <a:pt x="164" y="133"/>
                </a:cubicBezTo>
                <a:lnTo>
                  <a:pt x="164" y="119"/>
                </a:lnTo>
                <a:lnTo>
                  <a:pt x="180" y="119"/>
                </a:lnTo>
                <a:lnTo>
                  <a:pt x="180" y="134"/>
                </a:lnTo>
                <a:cubicBezTo>
                  <a:pt x="180" y="144"/>
                  <a:pt x="179" y="151"/>
                  <a:pt x="179" y="152"/>
                </a:cubicBezTo>
                <a:cubicBezTo>
                  <a:pt x="176" y="160"/>
                  <a:pt x="172" y="166"/>
                  <a:pt x="165" y="171"/>
                </a:cubicBezTo>
                <a:cubicBezTo>
                  <a:pt x="158" y="175"/>
                  <a:pt x="151" y="177"/>
                  <a:pt x="144" y="178"/>
                </a:cubicBezTo>
                <a:cubicBezTo>
                  <a:pt x="136" y="178"/>
                  <a:pt x="130" y="176"/>
                  <a:pt x="125" y="171"/>
                </a:cubicBezTo>
                <a:cubicBezTo>
                  <a:pt x="120" y="166"/>
                  <a:pt x="116" y="160"/>
                  <a:pt x="115" y="154"/>
                </a:cubicBezTo>
                <a:lnTo>
                  <a:pt x="115" y="153"/>
                </a:lnTo>
                <a:lnTo>
                  <a:pt x="114" y="154"/>
                </a:lnTo>
                <a:cubicBezTo>
                  <a:pt x="114" y="155"/>
                  <a:pt x="113" y="156"/>
                  <a:pt x="112" y="156"/>
                </a:cubicBezTo>
                <a:cubicBezTo>
                  <a:pt x="111" y="157"/>
                  <a:pt x="110" y="158"/>
                  <a:pt x="109" y="160"/>
                </a:cubicBezTo>
                <a:cubicBezTo>
                  <a:pt x="108" y="161"/>
                  <a:pt x="106" y="163"/>
                  <a:pt x="104" y="164"/>
                </a:cubicBezTo>
                <a:cubicBezTo>
                  <a:pt x="102" y="165"/>
                  <a:pt x="100" y="167"/>
                  <a:pt x="98" y="169"/>
                </a:cubicBezTo>
                <a:cubicBezTo>
                  <a:pt x="96" y="171"/>
                  <a:pt x="94" y="172"/>
                  <a:pt x="91" y="173"/>
                </a:cubicBezTo>
                <a:cubicBezTo>
                  <a:pt x="89" y="174"/>
                  <a:pt x="86" y="175"/>
                  <a:pt x="83" y="176"/>
                </a:cubicBezTo>
                <a:cubicBezTo>
                  <a:pt x="80" y="177"/>
                  <a:pt x="76" y="178"/>
                  <a:pt x="73" y="179"/>
                </a:cubicBezTo>
                <a:cubicBezTo>
                  <a:pt x="69" y="179"/>
                  <a:pt x="65" y="179"/>
                  <a:pt x="61" y="180"/>
                </a:cubicBezTo>
                <a:cubicBezTo>
                  <a:pt x="45" y="180"/>
                  <a:pt x="31" y="176"/>
                  <a:pt x="18" y="168"/>
                </a:cubicBezTo>
                <a:cubicBezTo>
                  <a:pt x="6" y="160"/>
                  <a:pt x="0" y="148"/>
                  <a:pt x="0" y="134"/>
                </a:cubicBezTo>
                <a:cubicBezTo>
                  <a:pt x="0" y="128"/>
                  <a:pt x="1" y="123"/>
                  <a:pt x="2" y="118"/>
                </a:cubicBezTo>
                <a:cubicBezTo>
                  <a:pt x="4" y="113"/>
                  <a:pt x="8" y="108"/>
                  <a:pt x="13" y="102"/>
                </a:cubicBezTo>
                <a:cubicBezTo>
                  <a:pt x="18" y="96"/>
                  <a:pt x="24" y="92"/>
                  <a:pt x="32" y="88"/>
                </a:cubicBezTo>
                <a:cubicBezTo>
                  <a:pt x="39" y="84"/>
                  <a:pt x="49" y="80"/>
                  <a:pt x="62" y="77"/>
                </a:cubicBezTo>
                <a:cubicBezTo>
                  <a:pt x="75" y="73"/>
                  <a:pt x="89" y="71"/>
                  <a:pt x="105" y="71"/>
                </a:cubicBezTo>
                <a:lnTo>
                  <a:pt x="111" y="71"/>
                </a:lnTo>
                <a:lnTo>
                  <a:pt x="111" y="62"/>
                </a:lnTo>
                <a:cubicBezTo>
                  <a:pt x="111" y="52"/>
                  <a:pt x="110" y="46"/>
                  <a:pt x="108" y="42"/>
                </a:cubicBezTo>
                <a:cubicBezTo>
                  <a:pt x="102" y="23"/>
                  <a:pt x="90" y="14"/>
                  <a:pt x="70" y="14"/>
                </a:cubicBezTo>
                <a:cubicBezTo>
                  <a:pt x="66" y="14"/>
                  <a:pt x="61" y="14"/>
                  <a:pt x="57" y="14"/>
                </a:cubicBezTo>
                <a:cubicBezTo>
                  <a:pt x="53" y="15"/>
                  <a:pt x="50" y="15"/>
                  <a:pt x="47" y="16"/>
                </a:cubicBezTo>
                <a:cubicBezTo>
                  <a:pt x="45" y="17"/>
                  <a:pt x="44" y="17"/>
                  <a:pt x="44" y="17"/>
                </a:cubicBezTo>
                <a:cubicBezTo>
                  <a:pt x="50" y="21"/>
                  <a:pt x="53" y="27"/>
                  <a:pt x="53" y="34"/>
                </a:cubicBezTo>
                <a:cubicBezTo>
                  <a:pt x="53" y="41"/>
                  <a:pt x="51" y="46"/>
                  <a:pt x="47" y="50"/>
                </a:cubicBezTo>
                <a:lnTo>
                  <a:pt x="40" y="56"/>
                </a:lnTo>
                <a:moveTo>
                  <a:pt x="36" y="134"/>
                </a:moveTo>
                <a:cubicBezTo>
                  <a:pt x="36" y="142"/>
                  <a:pt x="39" y="149"/>
                  <a:pt x="45" y="156"/>
                </a:cubicBezTo>
                <a:cubicBezTo>
                  <a:pt x="51" y="162"/>
                  <a:pt x="59" y="165"/>
                  <a:pt x="68" y="165"/>
                </a:cubicBezTo>
                <a:cubicBezTo>
                  <a:pt x="78" y="165"/>
                  <a:pt x="87" y="162"/>
                  <a:pt x="94" y="156"/>
                </a:cubicBezTo>
                <a:cubicBezTo>
                  <a:pt x="102" y="150"/>
                  <a:pt x="107" y="143"/>
                  <a:pt x="109" y="133"/>
                </a:cubicBezTo>
                <a:cubicBezTo>
                  <a:pt x="110" y="131"/>
                  <a:pt x="110" y="122"/>
                  <a:pt x="111" y="107"/>
                </a:cubicBezTo>
                <a:cubicBezTo>
                  <a:pt x="111" y="92"/>
                  <a:pt x="110" y="84"/>
                  <a:pt x="110" y="84"/>
                </a:cubicBezTo>
                <a:cubicBezTo>
                  <a:pt x="108" y="84"/>
                  <a:pt x="105" y="85"/>
                  <a:pt x="102" y="85"/>
                </a:cubicBezTo>
                <a:cubicBezTo>
                  <a:pt x="99" y="85"/>
                  <a:pt x="93" y="86"/>
                  <a:pt x="84" y="88"/>
                </a:cubicBezTo>
                <a:cubicBezTo>
                  <a:pt x="76" y="90"/>
                  <a:pt x="68" y="93"/>
                  <a:pt x="62" y="96"/>
                </a:cubicBezTo>
                <a:cubicBezTo>
                  <a:pt x="55" y="99"/>
                  <a:pt x="49" y="104"/>
                  <a:pt x="44" y="111"/>
                </a:cubicBezTo>
                <a:cubicBezTo>
                  <a:pt x="39" y="117"/>
                  <a:pt x="36" y="125"/>
                  <a:pt x="36" y="134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"/>
          <p:cNvSpPr/>
          <p:nvPr/>
        </p:nvSpPr>
        <p:spPr>
          <a:xfrm>
            <a:off x="5918400" y="5941080"/>
            <a:ext cx="64800" cy="64800"/>
          </a:xfrm>
          <a:custGeom>
            <a:avLst/>
            <a:gdLst/>
            <a:ahLst/>
            <a:rect l="0" t="0" r="r" b="b"/>
            <a:pathLst>
              <a:path fill="none" w="180" h="180">
                <a:moveTo>
                  <a:pt x="40" y="56"/>
                </a:moveTo>
                <a:cubicBezTo>
                  <a:pt x="40" y="56"/>
                  <a:pt x="37" y="56"/>
                  <a:pt x="31" y="56"/>
                </a:cubicBezTo>
                <a:cubicBezTo>
                  <a:pt x="26" y="56"/>
                  <a:pt x="21" y="53"/>
                  <a:pt x="17" y="50"/>
                </a:cubicBezTo>
                <a:cubicBezTo>
                  <a:pt x="13" y="46"/>
                  <a:pt x="11" y="41"/>
                  <a:pt x="11" y="34"/>
                </a:cubicBezTo>
                <a:cubicBezTo>
                  <a:pt x="11" y="25"/>
                  <a:pt x="15" y="17"/>
                  <a:pt x="24" y="10"/>
                </a:cubicBezTo>
                <a:cubicBezTo>
                  <a:pt x="33" y="3"/>
                  <a:pt x="49" y="0"/>
                  <a:pt x="71" y="0"/>
                </a:cubicBezTo>
                <a:cubicBezTo>
                  <a:pt x="90" y="0"/>
                  <a:pt x="106" y="4"/>
                  <a:pt x="119" y="12"/>
                </a:cubicBezTo>
                <a:cubicBezTo>
                  <a:pt x="130" y="20"/>
                  <a:pt x="138" y="30"/>
                  <a:pt x="142" y="42"/>
                </a:cubicBezTo>
                <a:cubicBezTo>
                  <a:pt x="143" y="45"/>
                  <a:pt x="144" y="49"/>
                  <a:pt x="144" y="54"/>
                </a:cubicBezTo>
                <a:cubicBezTo>
                  <a:pt x="144" y="59"/>
                  <a:pt x="144" y="74"/>
                  <a:pt x="144" y="100"/>
                </a:cubicBezTo>
                <a:lnTo>
                  <a:pt x="144" y="127"/>
                </a:lnTo>
                <a:cubicBezTo>
                  <a:pt x="144" y="140"/>
                  <a:pt x="145" y="148"/>
                  <a:pt x="146" y="153"/>
                </a:cubicBezTo>
                <a:cubicBezTo>
                  <a:pt x="148" y="157"/>
                  <a:pt x="150" y="160"/>
                  <a:pt x="154" y="160"/>
                </a:cubicBezTo>
                <a:cubicBezTo>
                  <a:pt x="158" y="160"/>
                  <a:pt x="161" y="158"/>
                  <a:pt x="162" y="154"/>
                </a:cubicBezTo>
                <a:cubicBezTo>
                  <a:pt x="164" y="149"/>
                  <a:pt x="164" y="143"/>
                  <a:pt x="164" y="133"/>
                </a:cubicBezTo>
                <a:lnTo>
                  <a:pt x="164" y="119"/>
                </a:lnTo>
                <a:lnTo>
                  <a:pt x="180" y="119"/>
                </a:lnTo>
                <a:lnTo>
                  <a:pt x="180" y="134"/>
                </a:lnTo>
                <a:cubicBezTo>
                  <a:pt x="180" y="144"/>
                  <a:pt x="179" y="151"/>
                  <a:pt x="179" y="152"/>
                </a:cubicBezTo>
                <a:cubicBezTo>
                  <a:pt x="176" y="160"/>
                  <a:pt x="172" y="166"/>
                  <a:pt x="165" y="171"/>
                </a:cubicBezTo>
                <a:cubicBezTo>
                  <a:pt x="158" y="175"/>
                  <a:pt x="151" y="177"/>
                  <a:pt x="144" y="178"/>
                </a:cubicBezTo>
                <a:cubicBezTo>
                  <a:pt x="136" y="178"/>
                  <a:pt x="130" y="176"/>
                  <a:pt x="125" y="171"/>
                </a:cubicBezTo>
                <a:cubicBezTo>
                  <a:pt x="120" y="166"/>
                  <a:pt x="116" y="160"/>
                  <a:pt x="115" y="154"/>
                </a:cubicBezTo>
                <a:lnTo>
                  <a:pt x="115" y="153"/>
                </a:lnTo>
                <a:lnTo>
                  <a:pt x="114" y="154"/>
                </a:lnTo>
                <a:cubicBezTo>
                  <a:pt x="114" y="155"/>
                  <a:pt x="113" y="156"/>
                  <a:pt x="112" y="156"/>
                </a:cubicBezTo>
                <a:cubicBezTo>
                  <a:pt x="111" y="157"/>
                  <a:pt x="110" y="158"/>
                  <a:pt x="109" y="160"/>
                </a:cubicBezTo>
                <a:cubicBezTo>
                  <a:pt x="108" y="161"/>
                  <a:pt x="106" y="163"/>
                  <a:pt x="104" y="164"/>
                </a:cubicBezTo>
                <a:cubicBezTo>
                  <a:pt x="102" y="165"/>
                  <a:pt x="100" y="167"/>
                  <a:pt x="98" y="169"/>
                </a:cubicBezTo>
                <a:cubicBezTo>
                  <a:pt x="96" y="171"/>
                  <a:pt x="94" y="172"/>
                  <a:pt x="91" y="173"/>
                </a:cubicBezTo>
                <a:cubicBezTo>
                  <a:pt x="89" y="174"/>
                  <a:pt x="86" y="175"/>
                  <a:pt x="83" y="176"/>
                </a:cubicBezTo>
                <a:cubicBezTo>
                  <a:pt x="80" y="177"/>
                  <a:pt x="76" y="178"/>
                  <a:pt x="73" y="179"/>
                </a:cubicBezTo>
                <a:cubicBezTo>
                  <a:pt x="69" y="179"/>
                  <a:pt x="65" y="179"/>
                  <a:pt x="61" y="180"/>
                </a:cubicBezTo>
                <a:cubicBezTo>
                  <a:pt x="45" y="180"/>
                  <a:pt x="31" y="176"/>
                  <a:pt x="18" y="168"/>
                </a:cubicBezTo>
                <a:cubicBezTo>
                  <a:pt x="6" y="160"/>
                  <a:pt x="0" y="148"/>
                  <a:pt x="0" y="134"/>
                </a:cubicBezTo>
                <a:cubicBezTo>
                  <a:pt x="0" y="128"/>
                  <a:pt x="1" y="123"/>
                  <a:pt x="2" y="118"/>
                </a:cubicBezTo>
                <a:cubicBezTo>
                  <a:pt x="4" y="113"/>
                  <a:pt x="8" y="108"/>
                  <a:pt x="13" y="102"/>
                </a:cubicBezTo>
                <a:cubicBezTo>
                  <a:pt x="18" y="96"/>
                  <a:pt x="24" y="92"/>
                  <a:pt x="32" y="88"/>
                </a:cubicBezTo>
                <a:cubicBezTo>
                  <a:pt x="39" y="84"/>
                  <a:pt x="49" y="80"/>
                  <a:pt x="62" y="77"/>
                </a:cubicBezTo>
                <a:cubicBezTo>
                  <a:pt x="75" y="73"/>
                  <a:pt x="89" y="71"/>
                  <a:pt x="105" y="71"/>
                </a:cubicBezTo>
                <a:lnTo>
                  <a:pt x="111" y="71"/>
                </a:lnTo>
                <a:lnTo>
                  <a:pt x="111" y="62"/>
                </a:lnTo>
                <a:cubicBezTo>
                  <a:pt x="111" y="52"/>
                  <a:pt x="110" y="46"/>
                  <a:pt x="108" y="42"/>
                </a:cubicBezTo>
                <a:cubicBezTo>
                  <a:pt x="102" y="23"/>
                  <a:pt x="90" y="14"/>
                  <a:pt x="70" y="14"/>
                </a:cubicBezTo>
                <a:cubicBezTo>
                  <a:pt x="66" y="14"/>
                  <a:pt x="61" y="14"/>
                  <a:pt x="57" y="14"/>
                </a:cubicBezTo>
                <a:cubicBezTo>
                  <a:pt x="53" y="15"/>
                  <a:pt x="50" y="15"/>
                  <a:pt x="47" y="16"/>
                </a:cubicBezTo>
                <a:cubicBezTo>
                  <a:pt x="45" y="17"/>
                  <a:pt x="44" y="17"/>
                  <a:pt x="44" y="17"/>
                </a:cubicBezTo>
                <a:cubicBezTo>
                  <a:pt x="50" y="21"/>
                  <a:pt x="53" y="27"/>
                  <a:pt x="53" y="34"/>
                </a:cubicBezTo>
                <a:cubicBezTo>
                  <a:pt x="53" y="41"/>
                  <a:pt x="51" y="46"/>
                  <a:pt x="47" y="50"/>
                </a:cubicBezTo>
                <a:lnTo>
                  <a:pt x="40" y="56"/>
                </a:lnTo>
                <a:moveTo>
                  <a:pt x="36" y="134"/>
                </a:moveTo>
                <a:cubicBezTo>
                  <a:pt x="36" y="142"/>
                  <a:pt x="39" y="149"/>
                  <a:pt x="45" y="156"/>
                </a:cubicBezTo>
                <a:cubicBezTo>
                  <a:pt x="51" y="162"/>
                  <a:pt x="59" y="165"/>
                  <a:pt x="68" y="165"/>
                </a:cubicBezTo>
                <a:cubicBezTo>
                  <a:pt x="78" y="165"/>
                  <a:pt x="87" y="162"/>
                  <a:pt x="94" y="156"/>
                </a:cubicBezTo>
                <a:cubicBezTo>
                  <a:pt x="102" y="150"/>
                  <a:pt x="107" y="143"/>
                  <a:pt x="109" y="133"/>
                </a:cubicBezTo>
                <a:cubicBezTo>
                  <a:pt x="110" y="131"/>
                  <a:pt x="110" y="122"/>
                  <a:pt x="111" y="107"/>
                </a:cubicBezTo>
                <a:cubicBezTo>
                  <a:pt x="111" y="92"/>
                  <a:pt x="110" y="84"/>
                  <a:pt x="110" y="84"/>
                </a:cubicBezTo>
                <a:cubicBezTo>
                  <a:pt x="108" y="84"/>
                  <a:pt x="105" y="85"/>
                  <a:pt x="102" y="85"/>
                </a:cubicBezTo>
                <a:cubicBezTo>
                  <a:pt x="99" y="85"/>
                  <a:pt x="93" y="86"/>
                  <a:pt x="84" y="88"/>
                </a:cubicBezTo>
                <a:cubicBezTo>
                  <a:pt x="76" y="90"/>
                  <a:pt x="68" y="93"/>
                  <a:pt x="62" y="96"/>
                </a:cubicBezTo>
                <a:cubicBezTo>
                  <a:pt x="55" y="99"/>
                  <a:pt x="49" y="104"/>
                  <a:pt x="44" y="111"/>
                </a:cubicBezTo>
                <a:cubicBezTo>
                  <a:pt x="39" y="117"/>
                  <a:pt x="36" y="125"/>
                  <a:pt x="36" y="134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5" name=""/>
          <p:cNvSpPr/>
          <p:nvPr/>
        </p:nvSpPr>
        <p:spPr>
          <a:xfrm>
            <a:off x="5986440" y="5941800"/>
            <a:ext cx="48960" cy="62280"/>
          </a:xfrm>
          <a:custGeom>
            <a:avLst/>
            <a:gdLst/>
            <a:ahLst/>
            <a:rect l="0" t="0" r="r" b="b"/>
            <a:pathLst>
              <a:path w="136" h="173">
                <a:moveTo>
                  <a:pt x="7" y="155"/>
                </a:moveTo>
                <a:lnTo>
                  <a:pt x="12" y="155"/>
                </a:lnTo>
                <a:cubicBezTo>
                  <a:pt x="22" y="155"/>
                  <a:pt x="28" y="154"/>
                  <a:pt x="30" y="150"/>
                </a:cubicBezTo>
                <a:lnTo>
                  <a:pt x="30" y="147"/>
                </a:lnTo>
                <a:cubicBezTo>
                  <a:pt x="30" y="145"/>
                  <a:pt x="30" y="142"/>
                  <a:pt x="30" y="138"/>
                </a:cubicBezTo>
                <a:cubicBezTo>
                  <a:pt x="30" y="134"/>
                  <a:pt x="31" y="130"/>
                  <a:pt x="31" y="126"/>
                </a:cubicBezTo>
                <a:cubicBezTo>
                  <a:pt x="31" y="121"/>
                  <a:pt x="31" y="116"/>
                  <a:pt x="31" y="111"/>
                </a:cubicBezTo>
                <a:cubicBezTo>
                  <a:pt x="31" y="105"/>
                  <a:pt x="31" y="99"/>
                  <a:pt x="31" y="94"/>
                </a:cubicBezTo>
                <a:cubicBezTo>
                  <a:pt x="31" y="85"/>
                  <a:pt x="31" y="77"/>
                  <a:pt x="31" y="67"/>
                </a:cubicBezTo>
                <a:cubicBezTo>
                  <a:pt x="31" y="58"/>
                  <a:pt x="31" y="51"/>
                  <a:pt x="31" y="44"/>
                </a:cubicBezTo>
                <a:lnTo>
                  <a:pt x="30" y="35"/>
                </a:lnTo>
                <a:cubicBezTo>
                  <a:pt x="30" y="30"/>
                  <a:pt x="28" y="27"/>
                  <a:pt x="25" y="26"/>
                </a:cubicBezTo>
                <a:cubicBezTo>
                  <a:pt x="22" y="24"/>
                  <a:pt x="16" y="23"/>
                  <a:pt x="7" y="22"/>
                </a:cubicBezTo>
                <a:lnTo>
                  <a:pt x="0" y="22"/>
                </a:lnTo>
                <a:lnTo>
                  <a:pt x="0" y="13"/>
                </a:lnTo>
                <a:cubicBezTo>
                  <a:pt x="0" y="7"/>
                  <a:pt x="1" y="4"/>
                  <a:pt x="1" y="4"/>
                </a:cubicBezTo>
                <a:lnTo>
                  <a:pt x="5" y="4"/>
                </a:lnTo>
                <a:cubicBezTo>
                  <a:pt x="8" y="4"/>
                  <a:pt x="11" y="3"/>
                  <a:pt x="16" y="3"/>
                </a:cubicBezTo>
                <a:cubicBezTo>
                  <a:pt x="21" y="3"/>
                  <a:pt x="25" y="3"/>
                  <a:pt x="30" y="2"/>
                </a:cubicBezTo>
                <a:cubicBezTo>
                  <a:pt x="34" y="2"/>
                  <a:pt x="39" y="2"/>
                  <a:pt x="44" y="1"/>
                </a:cubicBezTo>
                <a:cubicBezTo>
                  <a:pt x="49" y="1"/>
                  <a:pt x="52" y="1"/>
                  <a:pt x="56" y="0"/>
                </a:cubicBezTo>
                <a:cubicBezTo>
                  <a:pt x="59" y="0"/>
                  <a:pt x="60" y="0"/>
                  <a:pt x="60" y="0"/>
                </a:cubicBezTo>
                <a:lnTo>
                  <a:pt x="61" y="0"/>
                </a:lnTo>
                <a:lnTo>
                  <a:pt x="61" y="27"/>
                </a:lnTo>
                <a:cubicBezTo>
                  <a:pt x="72" y="9"/>
                  <a:pt x="84" y="0"/>
                  <a:pt x="99" y="0"/>
                </a:cubicBezTo>
                <a:lnTo>
                  <a:pt x="102" y="0"/>
                </a:lnTo>
                <a:cubicBezTo>
                  <a:pt x="113" y="0"/>
                  <a:pt x="122" y="3"/>
                  <a:pt x="127" y="9"/>
                </a:cubicBezTo>
                <a:cubicBezTo>
                  <a:pt x="133" y="15"/>
                  <a:pt x="136" y="21"/>
                  <a:pt x="136" y="27"/>
                </a:cubicBezTo>
                <a:cubicBezTo>
                  <a:pt x="136" y="32"/>
                  <a:pt x="134" y="37"/>
                  <a:pt x="131" y="41"/>
                </a:cubicBezTo>
                <a:cubicBezTo>
                  <a:pt x="127" y="45"/>
                  <a:pt x="122" y="47"/>
                  <a:pt x="116" y="47"/>
                </a:cubicBezTo>
                <a:cubicBezTo>
                  <a:pt x="109" y="47"/>
                  <a:pt x="104" y="45"/>
                  <a:pt x="101" y="40"/>
                </a:cubicBezTo>
                <a:cubicBezTo>
                  <a:pt x="98" y="36"/>
                  <a:pt x="96" y="32"/>
                  <a:pt x="96" y="27"/>
                </a:cubicBezTo>
                <a:cubicBezTo>
                  <a:pt x="96" y="25"/>
                  <a:pt x="96" y="23"/>
                  <a:pt x="97" y="21"/>
                </a:cubicBezTo>
                <a:cubicBezTo>
                  <a:pt x="97" y="19"/>
                  <a:pt x="98" y="18"/>
                  <a:pt x="99" y="16"/>
                </a:cubicBezTo>
                <a:cubicBezTo>
                  <a:pt x="100" y="15"/>
                  <a:pt x="100" y="14"/>
                  <a:pt x="100" y="14"/>
                </a:cubicBezTo>
                <a:cubicBezTo>
                  <a:pt x="100" y="14"/>
                  <a:pt x="97" y="14"/>
                  <a:pt x="91" y="16"/>
                </a:cubicBezTo>
                <a:cubicBezTo>
                  <a:pt x="87" y="18"/>
                  <a:pt x="84" y="20"/>
                  <a:pt x="82" y="22"/>
                </a:cubicBezTo>
                <a:cubicBezTo>
                  <a:pt x="70" y="33"/>
                  <a:pt x="63" y="57"/>
                  <a:pt x="63" y="92"/>
                </a:cubicBezTo>
                <a:lnTo>
                  <a:pt x="63" y="113"/>
                </a:lnTo>
                <a:cubicBezTo>
                  <a:pt x="63" y="117"/>
                  <a:pt x="63" y="120"/>
                  <a:pt x="63" y="124"/>
                </a:cubicBezTo>
                <a:cubicBezTo>
                  <a:pt x="63" y="127"/>
                  <a:pt x="63" y="131"/>
                  <a:pt x="63" y="134"/>
                </a:cubicBezTo>
                <a:cubicBezTo>
                  <a:pt x="63" y="137"/>
                  <a:pt x="64" y="140"/>
                  <a:pt x="64" y="142"/>
                </a:cubicBezTo>
                <a:cubicBezTo>
                  <a:pt x="64" y="144"/>
                  <a:pt x="64" y="146"/>
                  <a:pt x="64" y="148"/>
                </a:cubicBezTo>
                <a:lnTo>
                  <a:pt x="64" y="150"/>
                </a:lnTo>
                <a:cubicBezTo>
                  <a:pt x="64" y="150"/>
                  <a:pt x="64" y="151"/>
                  <a:pt x="65" y="151"/>
                </a:cubicBezTo>
                <a:cubicBezTo>
                  <a:pt x="65" y="152"/>
                  <a:pt x="66" y="152"/>
                  <a:pt x="67" y="152"/>
                </a:cubicBezTo>
                <a:cubicBezTo>
                  <a:pt x="68" y="153"/>
                  <a:pt x="68" y="153"/>
                  <a:pt x="69" y="154"/>
                </a:cubicBezTo>
                <a:cubicBezTo>
                  <a:pt x="69" y="154"/>
                  <a:pt x="70" y="154"/>
                  <a:pt x="72" y="154"/>
                </a:cubicBezTo>
                <a:cubicBezTo>
                  <a:pt x="73" y="154"/>
                  <a:pt x="74" y="154"/>
                  <a:pt x="74" y="155"/>
                </a:cubicBezTo>
                <a:cubicBezTo>
                  <a:pt x="75" y="155"/>
                  <a:pt x="76" y="155"/>
                  <a:pt x="78" y="155"/>
                </a:cubicBezTo>
                <a:cubicBezTo>
                  <a:pt x="80" y="155"/>
                  <a:pt x="81" y="155"/>
                  <a:pt x="81" y="155"/>
                </a:cubicBezTo>
                <a:cubicBezTo>
                  <a:pt x="82" y="155"/>
                  <a:pt x="83" y="155"/>
                  <a:pt x="85" y="155"/>
                </a:cubicBezTo>
                <a:cubicBezTo>
                  <a:pt x="87" y="156"/>
                  <a:pt x="89" y="156"/>
                  <a:pt x="89" y="155"/>
                </a:cubicBezTo>
                <a:lnTo>
                  <a:pt x="101" y="155"/>
                </a:lnTo>
                <a:lnTo>
                  <a:pt x="101" y="173"/>
                </a:lnTo>
                <a:lnTo>
                  <a:pt x="98" y="173"/>
                </a:lnTo>
                <a:cubicBezTo>
                  <a:pt x="93" y="173"/>
                  <a:pt x="77" y="172"/>
                  <a:pt x="47" y="172"/>
                </a:cubicBezTo>
                <a:cubicBezTo>
                  <a:pt x="20" y="172"/>
                  <a:pt x="6" y="173"/>
                  <a:pt x="3" y="173"/>
                </a:cubicBezTo>
                <a:lnTo>
                  <a:pt x="0" y="173"/>
                </a:lnTo>
                <a:lnTo>
                  <a:pt x="0" y="155"/>
                </a:lnTo>
                <a:lnTo>
                  <a:pt x="7" y="155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"/>
          <p:cNvSpPr/>
          <p:nvPr/>
        </p:nvSpPr>
        <p:spPr>
          <a:xfrm>
            <a:off x="5986440" y="5941800"/>
            <a:ext cx="48960" cy="62280"/>
          </a:xfrm>
          <a:custGeom>
            <a:avLst/>
            <a:gdLst/>
            <a:ahLst/>
            <a:rect l="0" t="0" r="r" b="b"/>
            <a:pathLst>
              <a:path fill="none" w="136" h="173">
                <a:moveTo>
                  <a:pt x="7" y="155"/>
                </a:moveTo>
                <a:lnTo>
                  <a:pt x="12" y="155"/>
                </a:lnTo>
                <a:cubicBezTo>
                  <a:pt x="22" y="155"/>
                  <a:pt x="28" y="154"/>
                  <a:pt x="30" y="150"/>
                </a:cubicBezTo>
                <a:lnTo>
                  <a:pt x="30" y="147"/>
                </a:lnTo>
                <a:cubicBezTo>
                  <a:pt x="30" y="145"/>
                  <a:pt x="30" y="142"/>
                  <a:pt x="30" y="138"/>
                </a:cubicBezTo>
                <a:cubicBezTo>
                  <a:pt x="30" y="134"/>
                  <a:pt x="31" y="130"/>
                  <a:pt x="31" y="126"/>
                </a:cubicBezTo>
                <a:cubicBezTo>
                  <a:pt x="31" y="121"/>
                  <a:pt x="31" y="116"/>
                  <a:pt x="31" y="111"/>
                </a:cubicBezTo>
                <a:cubicBezTo>
                  <a:pt x="31" y="105"/>
                  <a:pt x="31" y="99"/>
                  <a:pt x="31" y="94"/>
                </a:cubicBezTo>
                <a:cubicBezTo>
                  <a:pt x="31" y="85"/>
                  <a:pt x="31" y="77"/>
                  <a:pt x="31" y="67"/>
                </a:cubicBezTo>
                <a:cubicBezTo>
                  <a:pt x="31" y="58"/>
                  <a:pt x="31" y="51"/>
                  <a:pt x="31" y="44"/>
                </a:cubicBezTo>
                <a:lnTo>
                  <a:pt x="30" y="35"/>
                </a:lnTo>
                <a:cubicBezTo>
                  <a:pt x="30" y="30"/>
                  <a:pt x="28" y="27"/>
                  <a:pt x="25" y="26"/>
                </a:cubicBezTo>
                <a:cubicBezTo>
                  <a:pt x="22" y="24"/>
                  <a:pt x="16" y="23"/>
                  <a:pt x="7" y="22"/>
                </a:cubicBezTo>
                <a:lnTo>
                  <a:pt x="0" y="22"/>
                </a:lnTo>
                <a:lnTo>
                  <a:pt x="0" y="13"/>
                </a:lnTo>
                <a:cubicBezTo>
                  <a:pt x="0" y="7"/>
                  <a:pt x="1" y="4"/>
                  <a:pt x="1" y="4"/>
                </a:cubicBezTo>
                <a:lnTo>
                  <a:pt x="5" y="4"/>
                </a:lnTo>
                <a:cubicBezTo>
                  <a:pt x="8" y="4"/>
                  <a:pt x="11" y="3"/>
                  <a:pt x="16" y="3"/>
                </a:cubicBezTo>
                <a:cubicBezTo>
                  <a:pt x="21" y="3"/>
                  <a:pt x="25" y="3"/>
                  <a:pt x="30" y="2"/>
                </a:cubicBezTo>
                <a:cubicBezTo>
                  <a:pt x="34" y="2"/>
                  <a:pt x="39" y="2"/>
                  <a:pt x="44" y="1"/>
                </a:cubicBezTo>
                <a:cubicBezTo>
                  <a:pt x="49" y="1"/>
                  <a:pt x="52" y="1"/>
                  <a:pt x="56" y="0"/>
                </a:cubicBezTo>
                <a:cubicBezTo>
                  <a:pt x="59" y="0"/>
                  <a:pt x="60" y="0"/>
                  <a:pt x="60" y="0"/>
                </a:cubicBezTo>
                <a:lnTo>
                  <a:pt x="61" y="0"/>
                </a:lnTo>
                <a:lnTo>
                  <a:pt x="61" y="27"/>
                </a:lnTo>
                <a:cubicBezTo>
                  <a:pt x="72" y="9"/>
                  <a:pt x="84" y="0"/>
                  <a:pt x="99" y="0"/>
                </a:cubicBezTo>
                <a:lnTo>
                  <a:pt x="102" y="0"/>
                </a:lnTo>
                <a:cubicBezTo>
                  <a:pt x="113" y="0"/>
                  <a:pt x="122" y="3"/>
                  <a:pt x="127" y="9"/>
                </a:cubicBezTo>
                <a:cubicBezTo>
                  <a:pt x="133" y="15"/>
                  <a:pt x="136" y="21"/>
                  <a:pt x="136" y="27"/>
                </a:cubicBezTo>
                <a:cubicBezTo>
                  <a:pt x="136" y="32"/>
                  <a:pt x="134" y="37"/>
                  <a:pt x="131" y="41"/>
                </a:cubicBezTo>
                <a:cubicBezTo>
                  <a:pt x="127" y="45"/>
                  <a:pt x="122" y="47"/>
                  <a:pt x="116" y="47"/>
                </a:cubicBezTo>
                <a:cubicBezTo>
                  <a:pt x="109" y="47"/>
                  <a:pt x="104" y="45"/>
                  <a:pt x="101" y="40"/>
                </a:cubicBezTo>
                <a:cubicBezTo>
                  <a:pt x="98" y="36"/>
                  <a:pt x="96" y="32"/>
                  <a:pt x="96" y="27"/>
                </a:cubicBezTo>
                <a:cubicBezTo>
                  <a:pt x="96" y="25"/>
                  <a:pt x="96" y="23"/>
                  <a:pt x="97" y="21"/>
                </a:cubicBezTo>
                <a:cubicBezTo>
                  <a:pt x="97" y="19"/>
                  <a:pt x="98" y="18"/>
                  <a:pt x="99" y="16"/>
                </a:cubicBezTo>
                <a:cubicBezTo>
                  <a:pt x="100" y="15"/>
                  <a:pt x="100" y="14"/>
                  <a:pt x="100" y="14"/>
                </a:cubicBezTo>
                <a:cubicBezTo>
                  <a:pt x="100" y="14"/>
                  <a:pt x="97" y="14"/>
                  <a:pt x="91" y="16"/>
                </a:cubicBezTo>
                <a:cubicBezTo>
                  <a:pt x="87" y="18"/>
                  <a:pt x="84" y="20"/>
                  <a:pt x="82" y="22"/>
                </a:cubicBezTo>
                <a:cubicBezTo>
                  <a:pt x="70" y="33"/>
                  <a:pt x="63" y="57"/>
                  <a:pt x="63" y="92"/>
                </a:cubicBezTo>
                <a:lnTo>
                  <a:pt x="63" y="113"/>
                </a:lnTo>
                <a:cubicBezTo>
                  <a:pt x="63" y="117"/>
                  <a:pt x="63" y="120"/>
                  <a:pt x="63" y="124"/>
                </a:cubicBezTo>
                <a:cubicBezTo>
                  <a:pt x="63" y="127"/>
                  <a:pt x="63" y="131"/>
                  <a:pt x="63" y="134"/>
                </a:cubicBezTo>
                <a:cubicBezTo>
                  <a:pt x="63" y="137"/>
                  <a:pt x="64" y="140"/>
                  <a:pt x="64" y="142"/>
                </a:cubicBezTo>
                <a:cubicBezTo>
                  <a:pt x="64" y="144"/>
                  <a:pt x="64" y="146"/>
                  <a:pt x="64" y="148"/>
                </a:cubicBezTo>
                <a:lnTo>
                  <a:pt x="64" y="150"/>
                </a:lnTo>
                <a:cubicBezTo>
                  <a:pt x="64" y="150"/>
                  <a:pt x="64" y="151"/>
                  <a:pt x="65" y="151"/>
                </a:cubicBezTo>
                <a:cubicBezTo>
                  <a:pt x="65" y="152"/>
                  <a:pt x="66" y="152"/>
                  <a:pt x="67" y="152"/>
                </a:cubicBezTo>
                <a:cubicBezTo>
                  <a:pt x="68" y="153"/>
                  <a:pt x="68" y="153"/>
                  <a:pt x="69" y="154"/>
                </a:cubicBezTo>
                <a:cubicBezTo>
                  <a:pt x="69" y="154"/>
                  <a:pt x="70" y="154"/>
                  <a:pt x="72" y="154"/>
                </a:cubicBezTo>
                <a:cubicBezTo>
                  <a:pt x="73" y="154"/>
                  <a:pt x="74" y="154"/>
                  <a:pt x="74" y="155"/>
                </a:cubicBezTo>
                <a:cubicBezTo>
                  <a:pt x="75" y="155"/>
                  <a:pt x="76" y="155"/>
                  <a:pt x="78" y="155"/>
                </a:cubicBezTo>
                <a:cubicBezTo>
                  <a:pt x="80" y="155"/>
                  <a:pt x="81" y="155"/>
                  <a:pt x="81" y="155"/>
                </a:cubicBezTo>
                <a:cubicBezTo>
                  <a:pt x="82" y="155"/>
                  <a:pt x="83" y="155"/>
                  <a:pt x="85" y="155"/>
                </a:cubicBezTo>
                <a:cubicBezTo>
                  <a:pt x="87" y="156"/>
                  <a:pt x="89" y="156"/>
                  <a:pt x="89" y="155"/>
                </a:cubicBezTo>
                <a:lnTo>
                  <a:pt x="101" y="155"/>
                </a:lnTo>
                <a:lnTo>
                  <a:pt x="101" y="173"/>
                </a:lnTo>
                <a:lnTo>
                  <a:pt x="98" y="173"/>
                </a:lnTo>
                <a:cubicBezTo>
                  <a:pt x="93" y="173"/>
                  <a:pt x="77" y="172"/>
                  <a:pt x="47" y="172"/>
                </a:cubicBezTo>
                <a:cubicBezTo>
                  <a:pt x="20" y="172"/>
                  <a:pt x="6" y="173"/>
                  <a:pt x="3" y="173"/>
                </a:cubicBezTo>
                <a:lnTo>
                  <a:pt x="0" y="173"/>
                </a:lnTo>
                <a:lnTo>
                  <a:pt x="0" y="155"/>
                </a:lnTo>
                <a:lnTo>
                  <a:pt x="7" y="155"/>
                </a:ln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7" name=""/>
          <p:cNvSpPr/>
          <p:nvPr/>
        </p:nvSpPr>
        <p:spPr>
          <a:xfrm>
            <a:off x="6170400" y="5901120"/>
            <a:ext cx="132840" cy="46800"/>
          </a:xfrm>
          <a:custGeom>
            <a:avLst/>
            <a:gdLst/>
            <a:ahLst/>
            <a:rect l="0" t="0" r="r" b="b"/>
            <a:pathLst>
              <a:path w="369" h="130">
                <a:moveTo>
                  <a:pt x="0" y="11"/>
                </a:moveTo>
                <a:cubicBezTo>
                  <a:pt x="0" y="6"/>
                  <a:pt x="3" y="3"/>
                  <a:pt x="8" y="0"/>
                </a:cubicBezTo>
                <a:lnTo>
                  <a:pt x="360" y="0"/>
                </a:lnTo>
                <a:cubicBezTo>
                  <a:pt x="366" y="3"/>
                  <a:pt x="369" y="7"/>
                  <a:pt x="369" y="11"/>
                </a:cubicBezTo>
                <a:cubicBezTo>
                  <a:pt x="369" y="15"/>
                  <a:pt x="366" y="19"/>
                  <a:pt x="361" y="22"/>
                </a:cubicBezTo>
                <a:lnTo>
                  <a:pt x="184" y="22"/>
                </a:lnTo>
                <a:lnTo>
                  <a:pt x="9" y="22"/>
                </a:lnTo>
                <a:cubicBezTo>
                  <a:pt x="3" y="20"/>
                  <a:pt x="0" y="17"/>
                  <a:pt x="0" y="11"/>
                </a:cubicBezTo>
                <a:moveTo>
                  <a:pt x="0" y="119"/>
                </a:moveTo>
                <a:cubicBezTo>
                  <a:pt x="0" y="114"/>
                  <a:pt x="3" y="110"/>
                  <a:pt x="9" y="108"/>
                </a:cubicBezTo>
                <a:lnTo>
                  <a:pt x="361" y="108"/>
                </a:lnTo>
                <a:cubicBezTo>
                  <a:pt x="366" y="112"/>
                  <a:pt x="369" y="115"/>
                  <a:pt x="369" y="119"/>
                </a:cubicBezTo>
                <a:cubicBezTo>
                  <a:pt x="369" y="124"/>
                  <a:pt x="366" y="128"/>
                  <a:pt x="360" y="130"/>
                </a:cubicBezTo>
                <a:lnTo>
                  <a:pt x="8" y="130"/>
                </a:lnTo>
                <a:cubicBezTo>
                  <a:pt x="3" y="128"/>
                  <a:pt x="0" y="124"/>
                  <a:pt x="0" y="119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"/>
          <p:cNvSpPr/>
          <p:nvPr/>
        </p:nvSpPr>
        <p:spPr>
          <a:xfrm>
            <a:off x="6170400" y="5901120"/>
            <a:ext cx="132840" cy="46800"/>
          </a:xfrm>
          <a:custGeom>
            <a:avLst/>
            <a:gdLst/>
            <a:ahLst/>
            <a:rect l="0" t="0" r="r" b="b"/>
            <a:pathLst>
              <a:path fill="none" w="369" h="130">
                <a:moveTo>
                  <a:pt x="0" y="11"/>
                </a:moveTo>
                <a:cubicBezTo>
                  <a:pt x="0" y="6"/>
                  <a:pt x="3" y="3"/>
                  <a:pt x="8" y="0"/>
                </a:cubicBezTo>
                <a:lnTo>
                  <a:pt x="360" y="0"/>
                </a:lnTo>
                <a:cubicBezTo>
                  <a:pt x="366" y="3"/>
                  <a:pt x="369" y="7"/>
                  <a:pt x="369" y="11"/>
                </a:cubicBezTo>
                <a:cubicBezTo>
                  <a:pt x="369" y="15"/>
                  <a:pt x="366" y="19"/>
                  <a:pt x="361" y="22"/>
                </a:cubicBezTo>
                <a:lnTo>
                  <a:pt x="184" y="22"/>
                </a:lnTo>
                <a:lnTo>
                  <a:pt x="9" y="22"/>
                </a:lnTo>
                <a:cubicBezTo>
                  <a:pt x="3" y="20"/>
                  <a:pt x="0" y="17"/>
                  <a:pt x="0" y="11"/>
                </a:cubicBezTo>
                <a:moveTo>
                  <a:pt x="0" y="119"/>
                </a:moveTo>
                <a:cubicBezTo>
                  <a:pt x="0" y="114"/>
                  <a:pt x="3" y="110"/>
                  <a:pt x="9" y="108"/>
                </a:cubicBezTo>
                <a:lnTo>
                  <a:pt x="361" y="108"/>
                </a:lnTo>
                <a:cubicBezTo>
                  <a:pt x="366" y="112"/>
                  <a:pt x="369" y="115"/>
                  <a:pt x="369" y="119"/>
                </a:cubicBezTo>
                <a:cubicBezTo>
                  <a:pt x="369" y="124"/>
                  <a:pt x="366" y="128"/>
                  <a:pt x="360" y="130"/>
                </a:cubicBezTo>
                <a:lnTo>
                  <a:pt x="8" y="130"/>
                </a:lnTo>
                <a:cubicBezTo>
                  <a:pt x="3" y="128"/>
                  <a:pt x="0" y="124"/>
                  <a:pt x="0" y="119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"/>
          <p:cNvSpPr/>
          <p:nvPr/>
        </p:nvSpPr>
        <p:spPr>
          <a:xfrm>
            <a:off x="6434280" y="5841720"/>
            <a:ext cx="79560" cy="132840"/>
          </a:xfrm>
          <a:custGeom>
            <a:avLst/>
            <a:gdLst/>
            <a:ahLst/>
            <a:rect l="0" t="0" r="r" b="b"/>
            <a:pathLst>
              <a:path w="221" h="369">
                <a:moveTo>
                  <a:pt x="33" y="132"/>
                </a:moveTo>
                <a:cubicBezTo>
                  <a:pt x="23" y="132"/>
                  <a:pt x="15" y="128"/>
                  <a:pt x="9" y="122"/>
                </a:cubicBezTo>
                <a:cubicBezTo>
                  <a:pt x="3" y="115"/>
                  <a:pt x="0" y="107"/>
                  <a:pt x="0" y="97"/>
                </a:cubicBezTo>
                <a:cubicBezTo>
                  <a:pt x="0" y="70"/>
                  <a:pt x="10" y="48"/>
                  <a:pt x="29" y="29"/>
                </a:cubicBezTo>
                <a:cubicBezTo>
                  <a:pt x="49" y="10"/>
                  <a:pt x="74" y="0"/>
                  <a:pt x="103" y="0"/>
                </a:cubicBezTo>
                <a:cubicBezTo>
                  <a:pt x="137" y="0"/>
                  <a:pt x="165" y="10"/>
                  <a:pt x="187" y="31"/>
                </a:cubicBezTo>
                <a:cubicBezTo>
                  <a:pt x="210" y="51"/>
                  <a:pt x="221" y="78"/>
                  <a:pt x="221" y="112"/>
                </a:cubicBezTo>
                <a:cubicBezTo>
                  <a:pt x="221" y="128"/>
                  <a:pt x="218" y="143"/>
                  <a:pt x="210" y="157"/>
                </a:cubicBezTo>
                <a:cubicBezTo>
                  <a:pt x="203" y="172"/>
                  <a:pt x="194" y="184"/>
                  <a:pt x="184" y="195"/>
                </a:cubicBezTo>
                <a:cubicBezTo>
                  <a:pt x="174" y="205"/>
                  <a:pt x="159" y="219"/>
                  <a:pt x="140" y="236"/>
                </a:cubicBezTo>
                <a:cubicBezTo>
                  <a:pt x="126" y="247"/>
                  <a:pt x="108" y="264"/>
                  <a:pt x="84" y="286"/>
                </a:cubicBezTo>
                <a:lnTo>
                  <a:pt x="51" y="317"/>
                </a:lnTo>
                <a:lnTo>
                  <a:pt x="94" y="318"/>
                </a:lnTo>
                <a:cubicBezTo>
                  <a:pt x="152" y="318"/>
                  <a:pt x="182" y="317"/>
                  <a:pt x="186" y="315"/>
                </a:cubicBezTo>
                <a:cubicBezTo>
                  <a:pt x="189" y="314"/>
                  <a:pt x="193" y="298"/>
                  <a:pt x="199" y="266"/>
                </a:cubicBezTo>
                <a:lnTo>
                  <a:pt x="199" y="264"/>
                </a:lnTo>
                <a:lnTo>
                  <a:pt x="221" y="264"/>
                </a:lnTo>
                <a:lnTo>
                  <a:pt x="221" y="266"/>
                </a:lnTo>
                <a:cubicBezTo>
                  <a:pt x="221" y="267"/>
                  <a:pt x="219" y="284"/>
                  <a:pt x="214" y="316"/>
                </a:cubicBezTo>
                <a:cubicBezTo>
                  <a:pt x="210" y="349"/>
                  <a:pt x="207" y="365"/>
                  <a:pt x="206" y="367"/>
                </a:cubicBezTo>
                <a:lnTo>
                  <a:pt x="206" y="369"/>
                </a:lnTo>
                <a:lnTo>
                  <a:pt x="0" y="369"/>
                </a:lnTo>
                <a:lnTo>
                  <a:pt x="0" y="358"/>
                </a:lnTo>
                <a:lnTo>
                  <a:pt x="0" y="351"/>
                </a:lnTo>
                <a:cubicBezTo>
                  <a:pt x="0" y="349"/>
                  <a:pt x="1" y="346"/>
                  <a:pt x="3" y="343"/>
                </a:cubicBezTo>
                <a:cubicBezTo>
                  <a:pt x="6" y="340"/>
                  <a:pt x="11" y="334"/>
                  <a:pt x="20" y="324"/>
                </a:cubicBezTo>
                <a:cubicBezTo>
                  <a:pt x="31" y="312"/>
                  <a:pt x="40" y="302"/>
                  <a:pt x="48" y="293"/>
                </a:cubicBezTo>
                <a:cubicBezTo>
                  <a:pt x="51" y="289"/>
                  <a:pt x="58" y="282"/>
                  <a:pt x="67" y="273"/>
                </a:cubicBezTo>
                <a:cubicBezTo>
                  <a:pt x="77" y="263"/>
                  <a:pt x="83" y="256"/>
                  <a:pt x="86" y="252"/>
                </a:cubicBezTo>
                <a:cubicBezTo>
                  <a:pt x="89" y="248"/>
                  <a:pt x="95" y="242"/>
                  <a:pt x="102" y="234"/>
                </a:cubicBezTo>
                <a:cubicBezTo>
                  <a:pt x="110" y="225"/>
                  <a:pt x="115" y="219"/>
                  <a:pt x="118" y="215"/>
                </a:cubicBezTo>
                <a:cubicBezTo>
                  <a:pt x="121" y="211"/>
                  <a:pt x="125" y="206"/>
                  <a:pt x="130" y="199"/>
                </a:cubicBezTo>
                <a:cubicBezTo>
                  <a:pt x="136" y="192"/>
                  <a:pt x="140" y="186"/>
                  <a:pt x="142" y="181"/>
                </a:cubicBezTo>
                <a:cubicBezTo>
                  <a:pt x="144" y="176"/>
                  <a:pt x="147" y="171"/>
                  <a:pt x="150" y="165"/>
                </a:cubicBezTo>
                <a:cubicBezTo>
                  <a:pt x="153" y="159"/>
                  <a:pt x="156" y="153"/>
                  <a:pt x="157" y="147"/>
                </a:cubicBezTo>
                <a:cubicBezTo>
                  <a:pt x="159" y="141"/>
                  <a:pt x="160" y="136"/>
                  <a:pt x="161" y="131"/>
                </a:cubicBezTo>
                <a:cubicBezTo>
                  <a:pt x="162" y="126"/>
                  <a:pt x="163" y="119"/>
                  <a:pt x="163" y="112"/>
                </a:cubicBezTo>
                <a:cubicBezTo>
                  <a:pt x="163" y="88"/>
                  <a:pt x="157" y="68"/>
                  <a:pt x="144" y="51"/>
                </a:cubicBezTo>
                <a:cubicBezTo>
                  <a:pt x="132" y="34"/>
                  <a:pt x="114" y="26"/>
                  <a:pt x="91" y="26"/>
                </a:cubicBezTo>
                <a:cubicBezTo>
                  <a:pt x="78" y="26"/>
                  <a:pt x="68" y="29"/>
                  <a:pt x="59" y="35"/>
                </a:cubicBezTo>
                <a:cubicBezTo>
                  <a:pt x="48" y="42"/>
                  <a:pt x="42" y="48"/>
                  <a:pt x="38" y="54"/>
                </a:cubicBezTo>
                <a:cubicBezTo>
                  <a:pt x="35" y="59"/>
                  <a:pt x="33" y="63"/>
                  <a:pt x="33" y="64"/>
                </a:cubicBezTo>
                <a:cubicBezTo>
                  <a:pt x="33" y="64"/>
                  <a:pt x="34" y="65"/>
                  <a:pt x="35" y="65"/>
                </a:cubicBezTo>
                <a:cubicBezTo>
                  <a:pt x="42" y="65"/>
                  <a:pt x="49" y="67"/>
                  <a:pt x="56" y="72"/>
                </a:cubicBezTo>
                <a:cubicBezTo>
                  <a:pt x="64" y="77"/>
                  <a:pt x="67" y="86"/>
                  <a:pt x="67" y="98"/>
                </a:cubicBezTo>
                <a:cubicBezTo>
                  <a:pt x="67" y="108"/>
                  <a:pt x="64" y="116"/>
                  <a:pt x="59" y="122"/>
                </a:cubicBezTo>
                <a:cubicBezTo>
                  <a:pt x="52" y="128"/>
                  <a:pt x="43" y="131"/>
                  <a:pt x="33" y="132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0" name=""/>
          <p:cNvSpPr/>
          <p:nvPr/>
        </p:nvSpPr>
        <p:spPr>
          <a:xfrm>
            <a:off x="6434280" y="5841720"/>
            <a:ext cx="79560" cy="132840"/>
          </a:xfrm>
          <a:custGeom>
            <a:avLst/>
            <a:gdLst/>
            <a:ahLst/>
            <a:rect l="0" t="0" r="r" b="b"/>
            <a:pathLst>
              <a:path fill="none" w="221" h="369">
                <a:moveTo>
                  <a:pt x="33" y="132"/>
                </a:moveTo>
                <a:cubicBezTo>
                  <a:pt x="23" y="132"/>
                  <a:pt x="15" y="128"/>
                  <a:pt x="9" y="122"/>
                </a:cubicBezTo>
                <a:cubicBezTo>
                  <a:pt x="3" y="115"/>
                  <a:pt x="0" y="107"/>
                  <a:pt x="0" y="97"/>
                </a:cubicBezTo>
                <a:cubicBezTo>
                  <a:pt x="0" y="70"/>
                  <a:pt x="10" y="48"/>
                  <a:pt x="29" y="29"/>
                </a:cubicBezTo>
                <a:cubicBezTo>
                  <a:pt x="49" y="10"/>
                  <a:pt x="74" y="0"/>
                  <a:pt x="103" y="0"/>
                </a:cubicBezTo>
                <a:cubicBezTo>
                  <a:pt x="137" y="0"/>
                  <a:pt x="165" y="10"/>
                  <a:pt x="187" y="31"/>
                </a:cubicBezTo>
                <a:cubicBezTo>
                  <a:pt x="210" y="51"/>
                  <a:pt x="221" y="78"/>
                  <a:pt x="221" y="112"/>
                </a:cubicBezTo>
                <a:cubicBezTo>
                  <a:pt x="221" y="128"/>
                  <a:pt x="218" y="143"/>
                  <a:pt x="210" y="157"/>
                </a:cubicBezTo>
                <a:cubicBezTo>
                  <a:pt x="203" y="172"/>
                  <a:pt x="194" y="184"/>
                  <a:pt x="184" y="195"/>
                </a:cubicBezTo>
                <a:cubicBezTo>
                  <a:pt x="174" y="205"/>
                  <a:pt x="159" y="219"/>
                  <a:pt x="140" y="236"/>
                </a:cubicBezTo>
                <a:cubicBezTo>
                  <a:pt x="126" y="247"/>
                  <a:pt x="108" y="264"/>
                  <a:pt x="84" y="286"/>
                </a:cubicBezTo>
                <a:lnTo>
                  <a:pt x="51" y="317"/>
                </a:lnTo>
                <a:lnTo>
                  <a:pt x="94" y="318"/>
                </a:lnTo>
                <a:cubicBezTo>
                  <a:pt x="152" y="318"/>
                  <a:pt x="182" y="317"/>
                  <a:pt x="186" y="315"/>
                </a:cubicBezTo>
                <a:cubicBezTo>
                  <a:pt x="189" y="314"/>
                  <a:pt x="193" y="298"/>
                  <a:pt x="199" y="266"/>
                </a:cubicBezTo>
                <a:lnTo>
                  <a:pt x="199" y="264"/>
                </a:lnTo>
                <a:lnTo>
                  <a:pt x="221" y="264"/>
                </a:lnTo>
                <a:lnTo>
                  <a:pt x="221" y="266"/>
                </a:lnTo>
                <a:cubicBezTo>
                  <a:pt x="221" y="267"/>
                  <a:pt x="219" y="284"/>
                  <a:pt x="214" y="316"/>
                </a:cubicBezTo>
                <a:cubicBezTo>
                  <a:pt x="210" y="349"/>
                  <a:pt x="207" y="365"/>
                  <a:pt x="206" y="367"/>
                </a:cubicBezTo>
                <a:lnTo>
                  <a:pt x="206" y="369"/>
                </a:lnTo>
                <a:lnTo>
                  <a:pt x="0" y="369"/>
                </a:lnTo>
                <a:lnTo>
                  <a:pt x="0" y="358"/>
                </a:lnTo>
                <a:lnTo>
                  <a:pt x="0" y="351"/>
                </a:lnTo>
                <a:cubicBezTo>
                  <a:pt x="0" y="349"/>
                  <a:pt x="1" y="346"/>
                  <a:pt x="3" y="343"/>
                </a:cubicBezTo>
                <a:cubicBezTo>
                  <a:pt x="6" y="340"/>
                  <a:pt x="11" y="334"/>
                  <a:pt x="20" y="324"/>
                </a:cubicBezTo>
                <a:cubicBezTo>
                  <a:pt x="31" y="312"/>
                  <a:pt x="40" y="302"/>
                  <a:pt x="48" y="293"/>
                </a:cubicBezTo>
                <a:cubicBezTo>
                  <a:pt x="51" y="289"/>
                  <a:pt x="58" y="282"/>
                  <a:pt x="67" y="273"/>
                </a:cubicBezTo>
                <a:cubicBezTo>
                  <a:pt x="77" y="263"/>
                  <a:pt x="83" y="256"/>
                  <a:pt x="86" y="252"/>
                </a:cubicBezTo>
                <a:cubicBezTo>
                  <a:pt x="89" y="248"/>
                  <a:pt x="95" y="242"/>
                  <a:pt x="102" y="234"/>
                </a:cubicBezTo>
                <a:cubicBezTo>
                  <a:pt x="110" y="225"/>
                  <a:pt x="115" y="219"/>
                  <a:pt x="118" y="215"/>
                </a:cubicBezTo>
                <a:cubicBezTo>
                  <a:pt x="121" y="211"/>
                  <a:pt x="125" y="206"/>
                  <a:pt x="130" y="199"/>
                </a:cubicBezTo>
                <a:cubicBezTo>
                  <a:pt x="136" y="192"/>
                  <a:pt x="140" y="186"/>
                  <a:pt x="142" y="181"/>
                </a:cubicBezTo>
                <a:cubicBezTo>
                  <a:pt x="144" y="176"/>
                  <a:pt x="147" y="171"/>
                  <a:pt x="150" y="165"/>
                </a:cubicBezTo>
                <a:cubicBezTo>
                  <a:pt x="153" y="159"/>
                  <a:pt x="156" y="153"/>
                  <a:pt x="157" y="147"/>
                </a:cubicBezTo>
                <a:cubicBezTo>
                  <a:pt x="159" y="141"/>
                  <a:pt x="160" y="136"/>
                  <a:pt x="161" y="131"/>
                </a:cubicBezTo>
                <a:cubicBezTo>
                  <a:pt x="162" y="126"/>
                  <a:pt x="163" y="119"/>
                  <a:pt x="163" y="112"/>
                </a:cubicBezTo>
                <a:cubicBezTo>
                  <a:pt x="163" y="88"/>
                  <a:pt x="157" y="68"/>
                  <a:pt x="144" y="51"/>
                </a:cubicBezTo>
                <a:cubicBezTo>
                  <a:pt x="132" y="34"/>
                  <a:pt x="114" y="26"/>
                  <a:pt x="91" y="26"/>
                </a:cubicBezTo>
                <a:cubicBezTo>
                  <a:pt x="78" y="26"/>
                  <a:pt x="68" y="29"/>
                  <a:pt x="59" y="35"/>
                </a:cubicBezTo>
                <a:cubicBezTo>
                  <a:pt x="48" y="42"/>
                  <a:pt x="42" y="48"/>
                  <a:pt x="38" y="54"/>
                </a:cubicBezTo>
                <a:cubicBezTo>
                  <a:pt x="35" y="59"/>
                  <a:pt x="33" y="63"/>
                  <a:pt x="33" y="64"/>
                </a:cubicBezTo>
                <a:cubicBezTo>
                  <a:pt x="33" y="64"/>
                  <a:pt x="34" y="65"/>
                  <a:pt x="35" y="65"/>
                </a:cubicBezTo>
                <a:cubicBezTo>
                  <a:pt x="42" y="65"/>
                  <a:pt x="49" y="67"/>
                  <a:pt x="56" y="72"/>
                </a:cubicBezTo>
                <a:cubicBezTo>
                  <a:pt x="64" y="77"/>
                  <a:pt x="67" y="86"/>
                  <a:pt x="67" y="98"/>
                </a:cubicBezTo>
                <a:cubicBezTo>
                  <a:pt x="67" y="108"/>
                  <a:pt x="64" y="116"/>
                  <a:pt x="59" y="122"/>
                </a:cubicBezTo>
                <a:cubicBezTo>
                  <a:pt x="52" y="128"/>
                  <a:pt x="43" y="131"/>
                  <a:pt x="33" y="132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1" name=""/>
          <p:cNvSpPr/>
          <p:nvPr/>
        </p:nvSpPr>
        <p:spPr>
          <a:xfrm>
            <a:off x="6676200" y="5785200"/>
            <a:ext cx="265320" cy="278640"/>
          </a:xfrm>
          <a:custGeom>
            <a:avLst/>
            <a:gdLst/>
            <a:ahLst/>
            <a:rect l="0" t="0" r="r" b="b"/>
            <a:pathLst>
              <a:path w="737" h="774">
                <a:moveTo>
                  <a:pt x="3" y="1"/>
                </a:moveTo>
                <a:cubicBezTo>
                  <a:pt x="4" y="1"/>
                  <a:pt x="115" y="0"/>
                  <a:pt x="338" y="0"/>
                </a:cubicBezTo>
                <a:lnTo>
                  <a:pt x="670" y="0"/>
                </a:lnTo>
                <a:lnTo>
                  <a:pt x="702" y="75"/>
                </a:lnTo>
                <a:cubicBezTo>
                  <a:pt x="724" y="125"/>
                  <a:pt x="735" y="152"/>
                  <a:pt x="737" y="155"/>
                </a:cubicBezTo>
                <a:lnTo>
                  <a:pt x="715" y="155"/>
                </a:lnTo>
                <a:lnTo>
                  <a:pt x="711" y="148"/>
                </a:lnTo>
                <a:cubicBezTo>
                  <a:pt x="703" y="132"/>
                  <a:pt x="693" y="118"/>
                  <a:pt x="680" y="105"/>
                </a:cubicBezTo>
                <a:cubicBezTo>
                  <a:pt x="662" y="87"/>
                  <a:pt x="641" y="73"/>
                  <a:pt x="619" y="62"/>
                </a:cubicBezTo>
                <a:cubicBezTo>
                  <a:pt x="596" y="51"/>
                  <a:pt x="570" y="43"/>
                  <a:pt x="541" y="38"/>
                </a:cubicBezTo>
                <a:cubicBezTo>
                  <a:pt x="511" y="33"/>
                  <a:pt x="484" y="30"/>
                  <a:pt x="458" y="29"/>
                </a:cubicBezTo>
                <a:cubicBezTo>
                  <a:pt x="431" y="28"/>
                  <a:pt x="398" y="27"/>
                  <a:pt x="357" y="27"/>
                </a:cubicBezTo>
                <a:lnTo>
                  <a:pt x="288" y="27"/>
                </a:lnTo>
                <a:lnTo>
                  <a:pt x="270" y="27"/>
                </a:lnTo>
                <a:lnTo>
                  <a:pt x="108" y="27"/>
                </a:lnTo>
                <a:lnTo>
                  <a:pt x="113" y="33"/>
                </a:lnTo>
                <a:cubicBezTo>
                  <a:pt x="284" y="266"/>
                  <a:pt x="370" y="383"/>
                  <a:pt x="370" y="385"/>
                </a:cubicBezTo>
                <a:cubicBezTo>
                  <a:pt x="371" y="386"/>
                  <a:pt x="371" y="387"/>
                  <a:pt x="370" y="389"/>
                </a:cubicBezTo>
                <a:cubicBezTo>
                  <a:pt x="369" y="390"/>
                  <a:pt x="321" y="445"/>
                  <a:pt x="225" y="557"/>
                </a:cubicBezTo>
                <a:lnTo>
                  <a:pt x="78" y="722"/>
                </a:lnTo>
                <a:cubicBezTo>
                  <a:pt x="78" y="723"/>
                  <a:pt x="117" y="723"/>
                  <a:pt x="194" y="723"/>
                </a:cubicBezTo>
                <a:cubicBezTo>
                  <a:pt x="214" y="723"/>
                  <a:pt x="240" y="723"/>
                  <a:pt x="273" y="723"/>
                </a:cubicBezTo>
                <a:cubicBezTo>
                  <a:pt x="306" y="723"/>
                  <a:pt x="329" y="723"/>
                  <a:pt x="344" y="723"/>
                </a:cubicBezTo>
                <a:cubicBezTo>
                  <a:pt x="394" y="723"/>
                  <a:pt x="434" y="722"/>
                  <a:pt x="465" y="720"/>
                </a:cubicBezTo>
                <a:cubicBezTo>
                  <a:pt x="496" y="719"/>
                  <a:pt x="527" y="715"/>
                  <a:pt x="557" y="709"/>
                </a:cubicBezTo>
                <a:cubicBezTo>
                  <a:pt x="588" y="703"/>
                  <a:pt x="614" y="694"/>
                  <a:pt x="635" y="682"/>
                </a:cubicBezTo>
                <a:cubicBezTo>
                  <a:pt x="657" y="670"/>
                  <a:pt x="676" y="654"/>
                  <a:pt x="692" y="634"/>
                </a:cubicBezTo>
                <a:cubicBezTo>
                  <a:pt x="700" y="624"/>
                  <a:pt x="707" y="611"/>
                  <a:pt x="715" y="594"/>
                </a:cubicBezTo>
                <a:lnTo>
                  <a:pt x="737" y="594"/>
                </a:lnTo>
                <a:cubicBezTo>
                  <a:pt x="737" y="594"/>
                  <a:pt x="736" y="598"/>
                  <a:pt x="733" y="606"/>
                </a:cubicBezTo>
                <a:cubicBezTo>
                  <a:pt x="730" y="613"/>
                  <a:pt x="726" y="625"/>
                  <a:pt x="719" y="642"/>
                </a:cubicBezTo>
                <a:cubicBezTo>
                  <a:pt x="713" y="658"/>
                  <a:pt x="707" y="674"/>
                  <a:pt x="702" y="688"/>
                </a:cubicBezTo>
                <a:lnTo>
                  <a:pt x="670" y="773"/>
                </a:lnTo>
                <a:lnTo>
                  <a:pt x="338" y="774"/>
                </a:lnTo>
                <a:cubicBezTo>
                  <a:pt x="116" y="774"/>
                  <a:pt x="4" y="774"/>
                  <a:pt x="3" y="773"/>
                </a:cubicBezTo>
                <a:cubicBezTo>
                  <a:pt x="1" y="772"/>
                  <a:pt x="0" y="771"/>
                  <a:pt x="0" y="768"/>
                </a:cubicBezTo>
                <a:cubicBezTo>
                  <a:pt x="0" y="767"/>
                  <a:pt x="0" y="766"/>
                  <a:pt x="1" y="765"/>
                </a:cubicBezTo>
                <a:lnTo>
                  <a:pt x="296" y="427"/>
                </a:lnTo>
                <a:cubicBezTo>
                  <a:pt x="296" y="427"/>
                  <a:pt x="290" y="418"/>
                  <a:pt x="278" y="402"/>
                </a:cubicBezTo>
                <a:cubicBezTo>
                  <a:pt x="266" y="386"/>
                  <a:pt x="247" y="359"/>
                  <a:pt x="220" y="323"/>
                </a:cubicBezTo>
                <a:cubicBezTo>
                  <a:pt x="193" y="286"/>
                  <a:pt x="169" y="253"/>
                  <a:pt x="147" y="224"/>
                </a:cubicBezTo>
                <a:lnTo>
                  <a:pt x="1" y="23"/>
                </a:lnTo>
                <a:lnTo>
                  <a:pt x="0" y="15"/>
                </a:lnTo>
                <a:cubicBezTo>
                  <a:pt x="0" y="7"/>
                  <a:pt x="1" y="2"/>
                  <a:pt x="3" y="1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"/>
          <p:cNvSpPr/>
          <p:nvPr/>
        </p:nvSpPr>
        <p:spPr>
          <a:xfrm>
            <a:off x="6676200" y="5785200"/>
            <a:ext cx="265320" cy="278640"/>
          </a:xfrm>
          <a:custGeom>
            <a:avLst/>
            <a:gdLst/>
            <a:ahLst/>
            <a:rect l="0" t="0" r="r" b="b"/>
            <a:pathLst>
              <a:path fill="none" w="737" h="774">
                <a:moveTo>
                  <a:pt x="3" y="1"/>
                </a:moveTo>
                <a:cubicBezTo>
                  <a:pt x="4" y="1"/>
                  <a:pt x="115" y="0"/>
                  <a:pt x="338" y="0"/>
                </a:cubicBezTo>
                <a:lnTo>
                  <a:pt x="670" y="0"/>
                </a:lnTo>
                <a:lnTo>
                  <a:pt x="702" y="75"/>
                </a:lnTo>
                <a:cubicBezTo>
                  <a:pt x="724" y="125"/>
                  <a:pt x="735" y="152"/>
                  <a:pt x="737" y="155"/>
                </a:cubicBezTo>
                <a:lnTo>
                  <a:pt x="715" y="155"/>
                </a:lnTo>
                <a:lnTo>
                  <a:pt x="711" y="148"/>
                </a:lnTo>
                <a:cubicBezTo>
                  <a:pt x="703" y="132"/>
                  <a:pt x="693" y="118"/>
                  <a:pt x="680" y="105"/>
                </a:cubicBezTo>
                <a:cubicBezTo>
                  <a:pt x="662" y="87"/>
                  <a:pt x="641" y="73"/>
                  <a:pt x="619" y="62"/>
                </a:cubicBezTo>
                <a:cubicBezTo>
                  <a:pt x="596" y="51"/>
                  <a:pt x="570" y="43"/>
                  <a:pt x="541" y="38"/>
                </a:cubicBezTo>
                <a:cubicBezTo>
                  <a:pt x="511" y="33"/>
                  <a:pt x="484" y="30"/>
                  <a:pt x="458" y="29"/>
                </a:cubicBezTo>
                <a:cubicBezTo>
                  <a:pt x="431" y="28"/>
                  <a:pt x="398" y="27"/>
                  <a:pt x="357" y="27"/>
                </a:cubicBezTo>
                <a:lnTo>
                  <a:pt x="288" y="27"/>
                </a:lnTo>
                <a:lnTo>
                  <a:pt x="270" y="27"/>
                </a:lnTo>
                <a:lnTo>
                  <a:pt x="108" y="27"/>
                </a:lnTo>
                <a:lnTo>
                  <a:pt x="113" y="33"/>
                </a:lnTo>
                <a:cubicBezTo>
                  <a:pt x="284" y="266"/>
                  <a:pt x="370" y="383"/>
                  <a:pt x="370" y="385"/>
                </a:cubicBezTo>
                <a:cubicBezTo>
                  <a:pt x="371" y="386"/>
                  <a:pt x="371" y="387"/>
                  <a:pt x="370" y="389"/>
                </a:cubicBezTo>
                <a:cubicBezTo>
                  <a:pt x="369" y="390"/>
                  <a:pt x="321" y="445"/>
                  <a:pt x="225" y="557"/>
                </a:cubicBezTo>
                <a:lnTo>
                  <a:pt x="78" y="722"/>
                </a:lnTo>
                <a:cubicBezTo>
                  <a:pt x="78" y="723"/>
                  <a:pt x="117" y="723"/>
                  <a:pt x="194" y="723"/>
                </a:cubicBezTo>
                <a:cubicBezTo>
                  <a:pt x="214" y="723"/>
                  <a:pt x="240" y="723"/>
                  <a:pt x="273" y="723"/>
                </a:cubicBezTo>
                <a:cubicBezTo>
                  <a:pt x="306" y="723"/>
                  <a:pt x="329" y="723"/>
                  <a:pt x="344" y="723"/>
                </a:cubicBezTo>
                <a:cubicBezTo>
                  <a:pt x="394" y="723"/>
                  <a:pt x="434" y="722"/>
                  <a:pt x="465" y="720"/>
                </a:cubicBezTo>
                <a:cubicBezTo>
                  <a:pt x="496" y="719"/>
                  <a:pt x="527" y="715"/>
                  <a:pt x="557" y="709"/>
                </a:cubicBezTo>
                <a:cubicBezTo>
                  <a:pt x="588" y="703"/>
                  <a:pt x="614" y="694"/>
                  <a:pt x="635" y="682"/>
                </a:cubicBezTo>
                <a:cubicBezTo>
                  <a:pt x="657" y="670"/>
                  <a:pt x="676" y="654"/>
                  <a:pt x="692" y="634"/>
                </a:cubicBezTo>
                <a:cubicBezTo>
                  <a:pt x="700" y="624"/>
                  <a:pt x="707" y="611"/>
                  <a:pt x="715" y="594"/>
                </a:cubicBezTo>
                <a:lnTo>
                  <a:pt x="737" y="594"/>
                </a:lnTo>
                <a:cubicBezTo>
                  <a:pt x="737" y="594"/>
                  <a:pt x="736" y="598"/>
                  <a:pt x="733" y="606"/>
                </a:cubicBezTo>
                <a:cubicBezTo>
                  <a:pt x="730" y="613"/>
                  <a:pt x="726" y="625"/>
                  <a:pt x="719" y="642"/>
                </a:cubicBezTo>
                <a:cubicBezTo>
                  <a:pt x="713" y="658"/>
                  <a:pt x="707" y="674"/>
                  <a:pt x="702" y="688"/>
                </a:cubicBezTo>
                <a:lnTo>
                  <a:pt x="670" y="773"/>
                </a:lnTo>
                <a:lnTo>
                  <a:pt x="338" y="774"/>
                </a:lnTo>
                <a:cubicBezTo>
                  <a:pt x="116" y="774"/>
                  <a:pt x="4" y="774"/>
                  <a:pt x="3" y="773"/>
                </a:cubicBezTo>
                <a:cubicBezTo>
                  <a:pt x="1" y="772"/>
                  <a:pt x="0" y="771"/>
                  <a:pt x="0" y="768"/>
                </a:cubicBezTo>
                <a:cubicBezTo>
                  <a:pt x="0" y="767"/>
                  <a:pt x="0" y="766"/>
                  <a:pt x="1" y="765"/>
                </a:cubicBezTo>
                <a:lnTo>
                  <a:pt x="296" y="427"/>
                </a:lnTo>
                <a:cubicBezTo>
                  <a:pt x="296" y="427"/>
                  <a:pt x="290" y="418"/>
                  <a:pt x="278" y="402"/>
                </a:cubicBezTo>
                <a:cubicBezTo>
                  <a:pt x="266" y="386"/>
                  <a:pt x="247" y="359"/>
                  <a:pt x="220" y="323"/>
                </a:cubicBezTo>
                <a:cubicBezTo>
                  <a:pt x="193" y="286"/>
                  <a:pt x="169" y="253"/>
                  <a:pt x="147" y="224"/>
                </a:cubicBezTo>
                <a:lnTo>
                  <a:pt x="1" y="23"/>
                </a:lnTo>
                <a:lnTo>
                  <a:pt x="0" y="15"/>
                </a:lnTo>
                <a:cubicBezTo>
                  <a:pt x="0" y="7"/>
                  <a:pt x="1" y="2"/>
                  <a:pt x="3" y="1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"/>
          <p:cNvSpPr/>
          <p:nvPr/>
        </p:nvSpPr>
        <p:spPr>
          <a:xfrm>
            <a:off x="6689160" y="6096600"/>
            <a:ext cx="64080" cy="99360"/>
          </a:xfrm>
          <a:custGeom>
            <a:avLst/>
            <a:gdLst/>
            <a:ahLst/>
            <a:rect l="0" t="0" r="r" b="b"/>
            <a:pathLst>
              <a:path w="178" h="276">
                <a:moveTo>
                  <a:pt x="28" y="19"/>
                </a:moveTo>
                <a:cubicBezTo>
                  <a:pt x="28" y="16"/>
                  <a:pt x="29" y="13"/>
                  <a:pt x="30" y="10"/>
                </a:cubicBezTo>
                <a:cubicBezTo>
                  <a:pt x="31" y="6"/>
                  <a:pt x="32" y="5"/>
                  <a:pt x="35" y="5"/>
                </a:cubicBezTo>
                <a:cubicBezTo>
                  <a:pt x="35" y="5"/>
                  <a:pt x="44" y="4"/>
                  <a:pt x="63" y="3"/>
                </a:cubicBezTo>
                <a:cubicBezTo>
                  <a:pt x="81" y="1"/>
                  <a:pt x="91" y="1"/>
                  <a:pt x="91" y="0"/>
                </a:cubicBezTo>
                <a:cubicBezTo>
                  <a:pt x="95" y="0"/>
                  <a:pt x="97" y="1"/>
                  <a:pt x="97" y="3"/>
                </a:cubicBezTo>
                <a:cubicBezTo>
                  <a:pt x="97" y="5"/>
                  <a:pt x="89" y="32"/>
                  <a:pt x="76" y="85"/>
                </a:cubicBezTo>
                <a:cubicBezTo>
                  <a:pt x="63" y="136"/>
                  <a:pt x="57" y="163"/>
                  <a:pt x="57" y="165"/>
                </a:cubicBezTo>
                <a:cubicBezTo>
                  <a:pt x="62" y="162"/>
                  <a:pt x="65" y="160"/>
                  <a:pt x="68" y="158"/>
                </a:cubicBezTo>
                <a:cubicBezTo>
                  <a:pt x="74" y="153"/>
                  <a:pt x="83" y="145"/>
                  <a:pt x="96" y="133"/>
                </a:cubicBezTo>
                <a:cubicBezTo>
                  <a:pt x="108" y="121"/>
                  <a:pt x="117" y="113"/>
                  <a:pt x="123" y="109"/>
                </a:cubicBezTo>
                <a:cubicBezTo>
                  <a:pt x="134" y="102"/>
                  <a:pt x="144" y="99"/>
                  <a:pt x="153" y="99"/>
                </a:cubicBezTo>
                <a:cubicBezTo>
                  <a:pt x="161" y="99"/>
                  <a:pt x="167" y="101"/>
                  <a:pt x="171" y="106"/>
                </a:cubicBezTo>
                <a:cubicBezTo>
                  <a:pt x="176" y="111"/>
                  <a:pt x="178" y="118"/>
                  <a:pt x="178" y="127"/>
                </a:cubicBezTo>
                <a:cubicBezTo>
                  <a:pt x="178" y="134"/>
                  <a:pt x="177" y="139"/>
                  <a:pt x="176" y="143"/>
                </a:cubicBezTo>
                <a:cubicBezTo>
                  <a:pt x="174" y="148"/>
                  <a:pt x="171" y="151"/>
                  <a:pt x="168" y="153"/>
                </a:cubicBezTo>
                <a:cubicBezTo>
                  <a:pt x="165" y="155"/>
                  <a:pt x="162" y="157"/>
                  <a:pt x="160" y="158"/>
                </a:cubicBezTo>
                <a:cubicBezTo>
                  <a:pt x="158" y="158"/>
                  <a:pt x="155" y="159"/>
                  <a:pt x="153" y="159"/>
                </a:cubicBezTo>
                <a:cubicBezTo>
                  <a:pt x="148" y="159"/>
                  <a:pt x="144" y="157"/>
                  <a:pt x="141" y="154"/>
                </a:cubicBezTo>
                <a:cubicBezTo>
                  <a:pt x="137" y="152"/>
                  <a:pt x="136" y="148"/>
                  <a:pt x="136" y="143"/>
                </a:cubicBezTo>
                <a:cubicBezTo>
                  <a:pt x="136" y="137"/>
                  <a:pt x="138" y="131"/>
                  <a:pt x="142" y="127"/>
                </a:cubicBezTo>
                <a:cubicBezTo>
                  <a:pt x="146" y="123"/>
                  <a:pt x="150" y="120"/>
                  <a:pt x="155" y="119"/>
                </a:cubicBezTo>
                <a:lnTo>
                  <a:pt x="161" y="118"/>
                </a:lnTo>
                <a:cubicBezTo>
                  <a:pt x="158" y="115"/>
                  <a:pt x="155" y="113"/>
                  <a:pt x="151" y="113"/>
                </a:cubicBezTo>
                <a:lnTo>
                  <a:pt x="150" y="113"/>
                </a:lnTo>
                <a:cubicBezTo>
                  <a:pt x="142" y="114"/>
                  <a:pt x="133" y="117"/>
                  <a:pt x="125" y="123"/>
                </a:cubicBezTo>
                <a:cubicBezTo>
                  <a:pt x="117" y="129"/>
                  <a:pt x="108" y="137"/>
                  <a:pt x="97" y="148"/>
                </a:cubicBezTo>
                <a:cubicBezTo>
                  <a:pt x="85" y="159"/>
                  <a:pt x="76" y="167"/>
                  <a:pt x="70" y="172"/>
                </a:cubicBezTo>
                <a:cubicBezTo>
                  <a:pt x="71" y="172"/>
                  <a:pt x="73" y="172"/>
                  <a:pt x="76" y="173"/>
                </a:cubicBezTo>
                <a:cubicBezTo>
                  <a:pt x="79" y="173"/>
                  <a:pt x="82" y="174"/>
                  <a:pt x="85" y="175"/>
                </a:cubicBezTo>
                <a:cubicBezTo>
                  <a:pt x="88" y="176"/>
                  <a:pt x="92" y="177"/>
                  <a:pt x="96" y="178"/>
                </a:cubicBezTo>
                <a:cubicBezTo>
                  <a:pt x="100" y="179"/>
                  <a:pt x="104" y="181"/>
                  <a:pt x="107" y="184"/>
                </a:cubicBezTo>
                <a:cubicBezTo>
                  <a:pt x="110" y="186"/>
                  <a:pt x="113" y="189"/>
                  <a:pt x="116" y="191"/>
                </a:cubicBezTo>
                <a:cubicBezTo>
                  <a:pt x="118" y="193"/>
                  <a:pt x="120" y="196"/>
                  <a:pt x="122" y="201"/>
                </a:cubicBezTo>
                <a:cubicBezTo>
                  <a:pt x="124" y="206"/>
                  <a:pt x="125" y="210"/>
                  <a:pt x="125" y="214"/>
                </a:cubicBezTo>
                <a:cubicBezTo>
                  <a:pt x="125" y="218"/>
                  <a:pt x="124" y="223"/>
                  <a:pt x="123" y="230"/>
                </a:cubicBezTo>
                <a:cubicBezTo>
                  <a:pt x="121" y="236"/>
                  <a:pt x="120" y="241"/>
                  <a:pt x="120" y="245"/>
                </a:cubicBezTo>
                <a:cubicBezTo>
                  <a:pt x="120" y="257"/>
                  <a:pt x="124" y="262"/>
                  <a:pt x="131" y="262"/>
                </a:cubicBezTo>
                <a:cubicBezTo>
                  <a:pt x="143" y="262"/>
                  <a:pt x="153" y="245"/>
                  <a:pt x="161" y="215"/>
                </a:cubicBezTo>
                <a:cubicBezTo>
                  <a:pt x="162" y="212"/>
                  <a:pt x="164" y="211"/>
                  <a:pt x="169" y="211"/>
                </a:cubicBezTo>
                <a:lnTo>
                  <a:pt x="171" y="211"/>
                </a:lnTo>
                <a:cubicBezTo>
                  <a:pt x="175" y="211"/>
                  <a:pt x="177" y="213"/>
                  <a:pt x="177" y="215"/>
                </a:cubicBezTo>
                <a:cubicBezTo>
                  <a:pt x="177" y="216"/>
                  <a:pt x="176" y="218"/>
                  <a:pt x="176" y="220"/>
                </a:cubicBezTo>
                <a:cubicBezTo>
                  <a:pt x="165" y="258"/>
                  <a:pt x="150" y="276"/>
                  <a:pt x="130" y="276"/>
                </a:cubicBezTo>
                <a:cubicBezTo>
                  <a:pt x="118" y="276"/>
                  <a:pt x="108" y="273"/>
                  <a:pt x="101" y="266"/>
                </a:cubicBezTo>
                <a:cubicBezTo>
                  <a:pt x="94" y="259"/>
                  <a:pt x="89" y="249"/>
                  <a:pt x="89" y="236"/>
                </a:cubicBezTo>
                <a:cubicBezTo>
                  <a:pt x="89" y="231"/>
                  <a:pt x="90" y="227"/>
                  <a:pt x="90" y="224"/>
                </a:cubicBezTo>
                <a:cubicBezTo>
                  <a:pt x="91" y="220"/>
                  <a:pt x="92" y="217"/>
                  <a:pt x="92" y="215"/>
                </a:cubicBezTo>
                <a:cubicBezTo>
                  <a:pt x="92" y="209"/>
                  <a:pt x="90" y="204"/>
                  <a:pt x="86" y="200"/>
                </a:cubicBezTo>
                <a:cubicBezTo>
                  <a:pt x="82" y="196"/>
                  <a:pt x="78" y="193"/>
                  <a:pt x="72" y="191"/>
                </a:cubicBezTo>
                <a:cubicBezTo>
                  <a:pt x="67" y="189"/>
                  <a:pt x="63" y="187"/>
                  <a:pt x="59" y="186"/>
                </a:cubicBezTo>
                <a:cubicBezTo>
                  <a:pt x="56" y="185"/>
                  <a:pt x="53" y="185"/>
                  <a:pt x="52" y="185"/>
                </a:cubicBezTo>
                <a:lnTo>
                  <a:pt x="51" y="185"/>
                </a:lnTo>
                <a:cubicBezTo>
                  <a:pt x="48" y="196"/>
                  <a:pt x="45" y="207"/>
                  <a:pt x="43" y="217"/>
                </a:cubicBezTo>
                <a:cubicBezTo>
                  <a:pt x="41" y="227"/>
                  <a:pt x="39" y="235"/>
                  <a:pt x="38" y="239"/>
                </a:cubicBezTo>
                <a:cubicBezTo>
                  <a:pt x="36" y="244"/>
                  <a:pt x="35" y="249"/>
                  <a:pt x="34" y="255"/>
                </a:cubicBezTo>
                <a:cubicBezTo>
                  <a:pt x="33" y="260"/>
                  <a:pt x="32" y="263"/>
                  <a:pt x="31" y="264"/>
                </a:cubicBezTo>
                <a:cubicBezTo>
                  <a:pt x="31" y="266"/>
                  <a:pt x="30" y="268"/>
                  <a:pt x="29" y="269"/>
                </a:cubicBezTo>
                <a:cubicBezTo>
                  <a:pt x="28" y="271"/>
                  <a:pt x="26" y="272"/>
                  <a:pt x="24" y="273"/>
                </a:cubicBezTo>
                <a:cubicBezTo>
                  <a:pt x="21" y="275"/>
                  <a:pt x="17" y="276"/>
                  <a:pt x="13" y="276"/>
                </a:cubicBezTo>
                <a:cubicBezTo>
                  <a:pt x="9" y="276"/>
                  <a:pt x="6" y="275"/>
                  <a:pt x="3" y="272"/>
                </a:cubicBezTo>
                <a:cubicBezTo>
                  <a:pt x="1" y="270"/>
                  <a:pt x="0" y="268"/>
                  <a:pt x="0" y="266"/>
                </a:cubicBezTo>
                <a:cubicBezTo>
                  <a:pt x="0" y="263"/>
                  <a:pt x="5" y="241"/>
                  <a:pt x="14" y="202"/>
                </a:cubicBezTo>
                <a:cubicBezTo>
                  <a:pt x="24" y="163"/>
                  <a:pt x="33" y="125"/>
                  <a:pt x="43" y="87"/>
                </a:cubicBezTo>
                <a:lnTo>
                  <a:pt x="57" y="31"/>
                </a:lnTo>
                <a:cubicBezTo>
                  <a:pt x="57" y="27"/>
                  <a:pt x="57" y="25"/>
                  <a:pt x="54" y="24"/>
                </a:cubicBezTo>
                <a:cubicBezTo>
                  <a:pt x="52" y="24"/>
                  <a:pt x="47" y="23"/>
                  <a:pt x="39" y="22"/>
                </a:cubicBezTo>
                <a:lnTo>
                  <a:pt x="37" y="22"/>
                </a:lnTo>
                <a:cubicBezTo>
                  <a:pt x="35" y="22"/>
                  <a:pt x="33" y="22"/>
                  <a:pt x="32" y="22"/>
                </a:cubicBezTo>
                <a:cubicBezTo>
                  <a:pt x="31" y="22"/>
                  <a:pt x="30" y="22"/>
                  <a:pt x="29" y="21"/>
                </a:cubicBezTo>
                <a:cubicBezTo>
                  <a:pt x="28" y="21"/>
                  <a:pt x="28" y="20"/>
                  <a:pt x="28" y="19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4" name=""/>
          <p:cNvSpPr/>
          <p:nvPr/>
        </p:nvSpPr>
        <p:spPr>
          <a:xfrm>
            <a:off x="6689160" y="6096600"/>
            <a:ext cx="64080" cy="99360"/>
          </a:xfrm>
          <a:custGeom>
            <a:avLst/>
            <a:gdLst/>
            <a:ahLst/>
            <a:rect l="0" t="0" r="r" b="b"/>
            <a:pathLst>
              <a:path fill="none" w="178" h="276">
                <a:moveTo>
                  <a:pt x="28" y="19"/>
                </a:moveTo>
                <a:cubicBezTo>
                  <a:pt x="28" y="16"/>
                  <a:pt x="29" y="13"/>
                  <a:pt x="30" y="10"/>
                </a:cubicBezTo>
                <a:cubicBezTo>
                  <a:pt x="31" y="6"/>
                  <a:pt x="32" y="5"/>
                  <a:pt x="35" y="5"/>
                </a:cubicBezTo>
                <a:cubicBezTo>
                  <a:pt x="35" y="5"/>
                  <a:pt x="44" y="4"/>
                  <a:pt x="63" y="3"/>
                </a:cubicBezTo>
                <a:cubicBezTo>
                  <a:pt x="81" y="1"/>
                  <a:pt x="91" y="1"/>
                  <a:pt x="91" y="0"/>
                </a:cubicBezTo>
                <a:cubicBezTo>
                  <a:pt x="95" y="0"/>
                  <a:pt x="97" y="1"/>
                  <a:pt x="97" y="3"/>
                </a:cubicBezTo>
                <a:cubicBezTo>
                  <a:pt x="97" y="5"/>
                  <a:pt x="89" y="32"/>
                  <a:pt x="76" y="85"/>
                </a:cubicBezTo>
                <a:cubicBezTo>
                  <a:pt x="63" y="136"/>
                  <a:pt x="57" y="163"/>
                  <a:pt x="57" y="165"/>
                </a:cubicBezTo>
                <a:cubicBezTo>
                  <a:pt x="62" y="162"/>
                  <a:pt x="65" y="160"/>
                  <a:pt x="68" y="158"/>
                </a:cubicBezTo>
                <a:cubicBezTo>
                  <a:pt x="74" y="153"/>
                  <a:pt x="83" y="145"/>
                  <a:pt x="96" y="133"/>
                </a:cubicBezTo>
                <a:cubicBezTo>
                  <a:pt x="108" y="121"/>
                  <a:pt x="117" y="113"/>
                  <a:pt x="123" y="109"/>
                </a:cubicBezTo>
                <a:cubicBezTo>
                  <a:pt x="134" y="102"/>
                  <a:pt x="144" y="99"/>
                  <a:pt x="153" y="99"/>
                </a:cubicBezTo>
                <a:cubicBezTo>
                  <a:pt x="161" y="99"/>
                  <a:pt x="167" y="101"/>
                  <a:pt x="171" y="106"/>
                </a:cubicBezTo>
                <a:cubicBezTo>
                  <a:pt x="176" y="111"/>
                  <a:pt x="178" y="118"/>
                  <a:pt x="178" y="127"/>
                </a:cubicBezTo>
                <a:cubicBezTo>
                  <a:pt x="178" y="134"/>
                  <a:pt x="177" y="139"/>
                  <a:pt x="176" y="143"/>
                </a:cubicBezTo>
                <a:cubicBezTo>
                  <a:pt x="174" y="148"/>
                  <a:pt x="171" y="151"/>
                  <a:pt x="168" y="153"/>
                </a:cubicBezTo>
                <a:cubicBezTo>
                  <a:pt x="165" y="155"/>
                  <a:pt x="162" y="157"/>
                  <a:pt x="160" y="158"/>
                </a:cubicBezTo>
                <a:cubicBezTo>
                  <a:pt x="158" y="158"/>
                  <a:pt x="155" y="159"/>
                  <a:pt x="153" y="159"/>
                </a:cubicBezTo>
                <a:cubicBezTo>
                  <a:pt x="148" y="159"/>
                  <a:pt x="144" y="157"/>
                  <a:pt x="141" y="154"/>
                </a:cubicBezTo>
                <a:cubicBezTo>
                  <a:pt x="137" y="152"/>
                  <a:pt x="136" y="148"/>
                  <a:pt x="136" y="143"/>
                </a:cubicBezTo>
                <a:cubicBezTo>
                  <a:pt x="136" y="137"/>
                  <a:pt x="138" y="131"/>
                  <a:pt x="142" y="127"/>
                </a:cubicBezTo>
                <a:cubicBezTo>
                  <a:pt x="146" y="123"/>
                  <a:pt x="150" y="120"/>
                  <a:pt x="155" y="119"/>
                </a:cubicBezTo>
                <a:lnTo>
                  <a:pt x="161" y="118"/>
                </a:lnTo>
                <a:cubicBezTo>
                  <a:pt x="158" y="115"/>
                  <a:pt x="155" y="113"/>
                  <a:pt x="151" y="113"/>
                </a:cubicBezTo>
                <a:lnTo>
                  <a:pt x="150" y="113"/>
                </a:lnTo>
                <a:cubicBezTo>
                  <a:pt x="142" y="114"/>
                  <a:pt x="133" y="117"/>
                  <a:pt x="125" y="123"/>
                </a:cubicBezTo>
                <a:cubicBezTo>
                  <a:pt x="117" y="129"/>
                  <a:pt x="108" y="137"/>
                  <a:pt x="97" y="148"/>
                </a:cubicBezTo>
                <a:cubicBezTo>
                  <a:pt x="85" y="159"/>
                  <a:pt x="76" y="167"/>
                  <a:pt x="70" y="172"/>
                </a:cubicBezTo>
                <a:cubicBezTo>
                  <a:pt x="71" y="172"/>
                  <a:pt x="73" y="172"/>
                  <a:pt x="76" y="173"/>
                </a:cubicBezTo>
                <a:cubicBezTo>
                  <a:pt x="79" y="173"/>
                  <a:pt x="82" y="174"/>
                  <a:pt x="85" y="175"/>
                </a:cubicBezTo>
                <a:cubicBezTo>
                  <a:pt x="88" y="176"/>
                  <a:pt x="92" y="177"/>
                  <a:pt x="96" y="178"/>
                </a:cubicBezTo>
                <a:cubicBezTo>
                  <a:pt x="100" y="179"/>
                  <a:pt x="104" y="181"/>
                  <a:pt x="107" y="184"/>
                </a:cubicBezTo>
                <a:cubicBezTo>
                  <a:pt x="110" y="186"/>
                  <a:pt x="113" y="189"/>
                  <a:pt x="116" y="191"/>
                </a:cubicBezTo>
                <a:cubicBezTo>
                  <a:pt x="118" y="193"/>
                  <a:pt x="120" y="196"/>
                  <a:pt x="122" y="201"/>
                </a:cubicBezTo>
                <a:cubicBezTo>
                  <a:pt x="124" y="206"/>
                  <a:pt x="125" y="210"/>
                  <a:pt x="125" y="214"/>
                </a:cubicBezTo>
                <a:cubicBezTo>
                  <a:pt x="125" y="218"/>
                  <a:pt x="124" y="223"/>
                  <a:pt x="123" y="230"/>
                </a:cubicBezTo>
                <a:cubicBezTo>
                  <a:pt x="121" y="236"/>
                  <a:pt x="120" y="241"/>
                  <a:pt x="120" y="245"/>
                </a:cubicBezTo>
                <a:cubicBezTo>
                  <a:pt x="120" y="257"/>
                  <a:pt x="124" y="262"/>
                  <a:pt x="131" y="262"/>
                </a:cubicBezTo>
                <a:cubicBezTo>
                  <a:pt x="143" y="262"/>
                  <a:pt x="153" y="245"/>
                  <a:pt x="161" y="215"/>
                </a:cubicBezTo>
                <a:cubicBezTo>
                  <a:pt x="162" y="212"/>
                  <a:pt x="164" y="211"/>
                  <a:pt x="169" y="211"/>
                </a:cubicBezTo>
                <a:lnTo>
                  <a:pt x="171" y="211"/>
                </a:lnTo>
                <a:cubicBezTo>
                  <a:pt x="175" y="211"/>
                  <a:pt x="177" y="213"/>
                  <a:pt x="177" y="215"/>
                </a:cubicBezTo>
                <a:cubicBezTo>
                  <a:pt x="177" y="216"/>
                  <a:pt x="176" y="218"/>
                  <a:pt x="176" y="220"/>
                </a:cubicBezTo>
                <a:cubicBezTo>
                  <a:pt x="165" y="258"/>
                  <a:pt x="150" y="276"/>
                  <a:pt x="130" y="276"/>
                </a:cubicBezTo>
                <a:cubicBezTo>
                  <a:pt x="118" y="276"/>
                  <a:pt x="108" y="273"/>
                  <a:pt x="101" y="266"/>
                </a:cubicBezTo>
                <a:cubicBezTo>
                  <a:pt x="94" y="259"/>
                  <a:pt x="89" y="249"/>
                  <a:pt x="89" y="236"/>
                </a:cubicBezTo>
                <a:cubicBezTo>
                  <a:pt x="89" y="231"/>
                  <a:pt x="90" y="227"/>
                  <a:pt x="90" y="224"/>
                </a:cubicBezTo>
                <a:cubicBezTo>
                  <a:pt x="91" y="220"/>
                  <a:pt x="92" y="217"/>
                  <a:pt x="92" y="215"/>
                </a:cubicBezTo>
                <a:cubicBezTo>
                  <a:pt x="92" y="209"/>
                  <a:pt x="90" y="204"/>
                  <a:pt x="86" y="200"/>
                </a:cubicBezTo>
                <a:cubicBezTo>
                  <a:pt x="82" y="196"/>
                  <a:pt x="78" y="193"/>
                  <a:pt x="72" y="191"/>
                </a:cubicBezTo>
                <a:cubicBezTo>
                  <a:pt x="67" y="189"/>
                  <a:pt x="63" y="187"/>
                  <a:pt x="59" y="186"/>
                </a:cubicBezTo>
                <a:cubicBezTo>
                  <a:pt x="56" y="185"/>
                  <a:pt x="53" y="185"/>
                  <a:pt x="52" y="185"/>
                </a:cubicBezTo>
                <a:lnTo>
                  <a:pt x="51" y="185"/>
                </a:lnTo>
                <a:cubicBezTo>
                  <a:pt x="48" y="196"/>
                  <a:pt x="45" y="207"/>
                  <a:pt x="43" y="217"/>
                </a:cubicBezTo>
                <a:cubicBezTo>
                  <a:pt x="41" y="227"/>
                  <a:pt x="39" y="235"/>
                  <a:pt x="38" y="239"/>
                </a:cubicBezTo>
                <a:cubicBezTo>
                  <a:pt x="36" y="244"/>
                  <a:pt x="35" y="249"/>
                  <a:pt x="34" y="255"/>
                </a:cubicBezTo>
                <a:cubicBezTo>
                  <a:pt x="33" y="260"/>
                  <a:pt x="32" y="263"/>
                  <a:pt x="31" y="264"/>
                </a:cubicBezTo>
                <a:cubicBezTo>
                  <a:pt x="31" y="266"/>
                  <a:pt x="30" y="268"/>
                  <a:pt x="29" y="269"/>
                </a:cubicBezTo>
                <a:cubicBezTo>
                  <a:pt x="28" y="271"/>
                  <a:pt x="26" y="272"/>
                  <a:pt x="24" y="273"/>
                </a:cubicBezTo>
                <a:cubicBezTo>
                  <a:pt x="21" y="275"/>
                  <a:pt x="17" y="276"/>
                  <a:pt x="13" y="276"/>
                </a:cubicBezTo>
                <a:cubicBezTo>
                  <a:pt x="9" y="276"/>
                  <a:pt x="6" y="275"/>
                  <a:pt x="3" y="272"/>
                </a:cubicBezTo>
                <a:cubicBezTo>
                  <a:pt x="1" y="270"/>
                  <a:pt x="0" y="268"/>
                  <a:pt x="0" y="266"/>
                </a:cubicBezTo>
                <a:cubicBezTo>
                  <a:pt x="0" y="263"/>
                  <a:pt x="5" y="241"/>
                  <a:pt x="14" y="202"/>
                </a:cubicBezTo>
                <a:cubicBezTo>
                  <a:pt x="24" y="163"/>
                  <a:pt x="33" y="125"/>
                  <a:pt x="43" y="87"/>
                </a:cubicBezTo>
                <a:lnTo>
                  <a:pt x="57" y="31"/>
                </a:lnTo>
                <a:cubicBezTo>
                  <a:pt x="57" y="27"/>
                  <a:pt x="57" y="25"/>
                  <a:pt x="54" y="24"/>
                </a:cubicBezTo>
                <a:cubicBezTo>
                  <a:pt x="52" y="24"/>
                  <a:pt x="47" y="23"/>
                  <a:pt x="39" y="22"/>
                </a:cubicBezTo>
                <a:lnTo>
                  <a:pt x="37" y="22"/>
                </a:lnTo>
                <a:cubicBezTo>
                  <a:pt x="35" y="22"/>
                  <a:pt x="33" y="22"/>
                  <a:pt x="32" y="22"/>
                </a:cubicBezTo>
                <a:cubicBezTo>
                  <a:pt x="31" y="22"/>
                  <a:pt x="30" y="22"/>
                  <a:pt x="29" y="21"/>
                </a:cubicBezTo>
                <a:cubicBezTo>
                  <a:pt x="28" y="21"/>
                  <a:pt x="28" y="20"/>
                  <a:pt x="28" y="19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"/>
          <p:cNvSpPr/>
          <p:nvPr/>
        </p:nvSpPr>
        <p:spPr>
          <a:xfrm>
            <a:off x="6763320" y="6142680"/>
            <a:ext cx="93960" cy="33120"/>
          </a:xfrm>
          <a:custGeom>
            <a:avLst/>
            <a:gdLst/>
            <a:ahLst/>
            <a:rect l="0" t="0" r="r" b="b"/>
            <a:pathLst>
              <a:path w="261" h="92">
                <a:moveTo>
                  <a:pt x="0" y="8"/>
                </a:moveTo>
                <a:cubicBezTo>
                  <a:pt x="0" y="4"/>
                  <a:pt x="2" y="2"/>
                  <a:pt x="6" y="0"/>
                </a:cubicBezTo>
                <a:lnTo>
                  <a:pt x="255" y="0"/>
                </a:lnTo>
                <a:cubicBezTo>
                  <a:pt x="259" y="2"/>
                  <a:pt x="261" y="5"/>
                  <a:pt x="261" y="8"/>
                </a:cubicBezTo>
                <a:cubicBezTo>
                  <a:pt x="261" y="11"/>
                  <a:pt x="259" y="13"/>
                  <a:pt x="256" y="15"/>
                </a:cubicBezTo>
                <a:lnTo>
                  <a:pt x="131" y="15"/>
                </a:lnTo>
                <a:lnTo>
                  <a:pt x="7" y="15"/>
                </a:lnTo>
                <a:cubicBezTo>
                  <a:pt x="2" y="14"/>
                  <a:pt x="0" y="12"/>
                  <a:pt x="0" y="8"/>
                </a:cubicBezTo>
                <a:moveTo>
                  <a:pt x="0" y="83"/>
                </a:moveTo>
                <a:cubicBezTo>
                  <a:pt x="0" y="79"/>
                  <a:pt x="2" y="77"/>
                  <a:pt x="7" y="76"/>
                </a:cubicBezTo>
                <a:lnTo>
                  <a:pt x="256" y="76"/>
                </a:lnTo>
                <a:cubicBezTo>
                  <a:pt x="259" y="78"/>
                  <a:pt x="261" y="81"/>
                  <a:pt x="261" y="83"/>
                </a:cubicBezTo>
                <a:cubicBezTo>
                  <a:pt x="261" y="87"/>
                  <a:pt x="259" y="89"/>
                  <a:pt x="255" y="92"/>
                </a:cubicBezTo>
                <a:lnTo>
                  <a:pt x="6" y="92"/>
                </a:lnTo>
                <a:cubicBezTo>
                  <a:pt x="2" y="89"/>
                  <a:pt x="0" y="87"/>
                  <a:pt x="0" y="83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"/>
          <p:cNvSpPr/>
          <p:nvPr/>
        </p:nvSpPr>
        <p:spPr>
          <a:xfrm>
            <a:off x="6763320" y="6142680"/>
            <a:ext cx="93960" cy="33120"/>
          </a:xfrm>
          <a:custGeom>
            <a:avLst/>
            <a:gdLst/>
            <a:ahLst/>
            <a:rect l="0" t="0" r="r" b="b"/>
            <a:pathLst>
              <a:path fill="none" w="261" h="92">
                <a:moveTo>
                  <a:pt x="0" y="8"/>
                </a:moveTo>
                <a:cubicBezTo>
                  <a:pt x="0" y="4"/>
                  <a:pt x="2" y="2"/>
                  <a:pt x="6" y="0"/>
                </a:cubicBezTo>
                <a:lnTo>
                  <a:pt x="255" y="0"/>
                </a:lnTo>
                <a:cubicBezTo>
                  <a:pt x="259" y="2"/>
                  <a:pt x="261" y="5"/>
                  <a:pt x="261" y="8"/>
                </a:cubicBezTo>
                <a:cubicBezTo>
                  <a:pt x="261" y="11"/>
                  <a:pt x="259" y="13"/>
                  <a:pt x="256" y="15"/>
                </a:cubicBezTo>
                <a:lnTo>
                  <a:pt x="131" y="15"/>
                </a:lnTo>
                <a:lnTo>
                  <a:pt x="7" y="15"/>
                </a:lnTo>
                <a:cubicBezTo>
                  <a:pt x="2" y="14"/>
                  <a:pt x="0" y="12"/>
                  <a:pt x="0" y="8"/>
                </a:cubicBezTo>
                <a:moveTo>
                  <a:pt x="0" y="83"/>
                </a:moveTo>
                <a:cubicBezTo>
                  <a:pt x="0" y="79"/>
                  <a:pt x="2" y="77"/>
                  <a:pt x="7" y="76"/>
                </a:cubicBezTo>
                <a:lnTo>
                  <a:pt x="256" y="76"/>
                </a:lnTo>
                <a:cubicBezTo>
                  <a:pt x="259" y="78"/>
                  <a:pt x="261" y="81"/>
                  <a:pt x="261" y="83"/>
                </a:cubicBezTo>
                <a:cubicBezTo>
                  <a:pt x="261" y="87"/>
                  <a:pt x="259" y="89"/>
                  <a:pt x="255" y="92"/>
                </a:cubicBezTo>
                <a:lnTo>
                  <a:pt x="6" y="92"/>
                </a:lnTo>
                <a:cubicBezTo>
                  <a:pt x="2" y="89"/>
                  <a:pt x="0" y="87"/>
                  <a:pt x="0" y="83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"/>
          <p:cNvSpPr/>
          <p:nvPr/>
        </p:nvSpPr>
        <p:spPr>
          <a:xfrm>
            <a:off x="6870240" y="6100560"/>
            <a:ext cx="59760" cy="97200"/>
          </a:xfrm>
          <a:custGeom>
            <a:avLst/>
            <a:gdLst/>
            <a:ahLst/>
            <a:rect l="0" t="0" r="r" b="b"/>
            <a:pathLst>
              <a:path w="166" h="270">
                <a:moveTo>
                  <a:pt x="24" y="32"/>
                </a:moveTo>
                <a:cubicBezTo>
                  <a:pt x="38" y="11"/>
                  <a:pt x="58" y="0"/>
                  <a:pt x="83" y="0"/>
                </a:cubicBezTo>
                <a:cubicBezTo>
                  <a:pt x="96" y="0"/>
                  <a:pt x="108" y="4"/>
                  <a:pt x="121" y="10"/>
                </a:cubicBezTo>
                <a:cubicBezTo>
                  <a:pt x="133" y="17"/>
                  <a:pt x="143" y="29"/>
                  <a:pt x="151" y="46"/>
                </a:cubicBezTo>
                <a:cubicBezTo>
                  <a:pt x="161" y="68"/>
                  <a:pt x="166" y="98"/>
                  <a:pt x="166" y="136"/>
                </a:cubicBezTo>
                <a:cubicBezTo>
                  <a:pt x="166" y="177"/>
                  <a:pt x="160" y="207"/>
                  <a:pt x="149" y="229"/>
                </a:cubicBezTo>
                <a:cubicBezTo>
                  <a:pt x="144" y="240"/>
                  <a:pt x="136" y="248"/>
                  <a:pt x="127" y="255"/>
                </a:cubicBezTo>
                <a:cubicBezTo>
                  <a:pt x="118" y="261"/>
                  <a:pt x="110" y="265"/>
                  <a:pt x="104" y="267"/>
                </a:cubicBezTo>
                <a:cubicBezTo>
                  <a:pt x="97" y="269"/>
                  <a:pt x="90" y="269"/>
                  <a:pt x="84" y="270"/>
                </a:cubicBezTo>
                <a:cubicBezTo>
                  <a:pt x="77" y="270"/>
                  <a:pt x="70" y="269"/>
                  <a:pt x="63" y="267"/>
                </a:cubicBezTo>
                <a:cubicBezTo>
                  <a:pt x="57" y="266"/>
                  <a:pt x="49" y="262"/>
                  <a:pt x="40" y="255"/>
                </a:cubicBezTo>
                <a:cubicBezTo>
                  <a:pt x="30" y="248"/>
                  <a:pt x="23" y="239"/>
                  <a:pt x="17" y="229"/>
                </a:cubicBezTo>
                <a:cubicBezTo>
                  <a:pt x="6" y="207"/>
                  <a:pt x="0" y="177"/>
                  <a:pt x="0" y="136"/>
                </a:cubicBezTo>
                <a:cubicBezTo>
                  <a:pt x="0" y="91"/>
                  <a:pt x="8" y="55"/>
                  <a:pt x="24" y="32"/>
                </a:cubicBezTo>
                <a:moveTo>
                  <a:pt x="111" y="27"/>
                </a:moveTo>
                <a:cubicBezTo>
                  <a:pt x="104" y="19"/>
                  <a:pt x="94" y="15"/>
                  <a:pt x="84" y="15"/>
                </a:cubicBezTo>
                <a:cubicBezTo>
                  <a:pt x="73" y="15"/>
                  <a:pt x="63" y="19"/>
                  <a:pt x="56" y="27"/>
                </a:cubicBezTo>
                <a:cubicBezTo>
                  <a:pt x="49" y="34"/>
                  <a:pt x="45" y="43"/>
                  <a:pt x="43" y="55"/>
                </a:cubicBezTo>
                <a:cubicBezTo>
                  <a:pt x="41" y="67"/>
                  <a:pt x="40" y="93"/>
                  <a:pt x="40" y="131"/>
                </a:cubicBezTo>
                <a:cubicBezTo>
                  <a:pt x="40" y="172"/>
                  <a:pt x="41" y="199"/>
                  <a:pt x="43" y="212"/>
                </a:cubicBezTo>
                <a:cubicBezTo>
                  <a:pt x="45" y="225"/>
                  <a:pt x="49" y="236"/>
                  <a:pt x="57" y="243"/>
                </a:cubicBezTo>
                <a:cubicBezTo>
                  <a:pt x="64" y="251"/>
                  <a:pt x="73" y="255"/>
                  <a:pt x="84" y="255"/>
                </a:cubicBezTo>
                <a:cubicBezTo>
                  <a:pt x="94" y="255"/>
                  <a:pt x="103" y="251"/>
                  <a:pt x="110" y="243"/>
                </a:cubicBezTo>
                <a:cubicBezTo>
                  <a:pt x="118" y="235"/>
                  <a:pt x="122" y="224"/>
                  <a:pt x="124" y="210"/>
                </a:cubicBezTo>
                <a:cubicBezTo>
                  <a:pt x="126" y="196"/>
                  <a:pt x="127" y="170"/>
                  <a:pt x="127" y="131"/>
                </a:cubicBezTo>
                <a:cubicBezTo>
                  <a:pt x="127" y="93"/>
                  <a:pt x="126" y="68"/>
                  <a:pt x="124" y="56"/>
                </a:cubicBezTo>
                <a:cubicBezTo>
                  <a:pt x="122" y="44"/>
                  <a:pt x="118" y="34"/>
                  <a:pt x="111" y="27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"/>
          <p:cNvSpPr/>
          <p:nvPr/>
        </p:nvSpPr>
        <p:spPr>
          <a:xfrm>
            <a:off x="6870240" y="6100560"/>
            <a:ext cx="59760" cy="97200"/>
          </a:xfrm>
          <a:custGeom>
            <a:avLst/>
            <a:gdLst/>
            <a:ahLst/>
            <a:rect l="0" t="0" r="r" b="b"/>
            <a:pathLst>
              <a:path fill="none" w="166" h="270">
                <a:moveTo>
                  <a:pt x="24" y="32"/>
                </a:moveTo>
                <a:cubicBezTo>
                  <a:pt x="38" y="11"/>
                  <a:pt x="58" y="0"/>
                  <a:pt x="83" y="0"/>
                </a:cubicBezTo>
                <a:cubicBezTo>
                  <a:pt x="96" y="0"/>
                  <a:pt x="108" y="4"/>
                  <a:pt x="121" y="10"/>
                </a:cubicBezTo>
                <a:cubicBezTo>
                  <a:pt x="133" y="17"/>
                  <a:pt x="143" y="29"/>
                  <a:pt x="151" y="46"/>
                </a:cubicBezTo>
                <a:cubicBezTo>
                  <a:pt x="161" y="68"/>
                  <a:pt x="166" y="98"/>
                  <a:pt x="166" y="136"/>
                </a:cubicBezTo>
                <a:cubicBezTo>
                  <a:pt x="166" y="177"/>
                  <a:pt x="160" y="207"/>
                  <a:pt x="149" y="229"/>
                </a:cubicBezTo>
                <a:cubicBezTo>
                  <a:pt x="144" y="240"/>
                  <a:pt x="136" y="248"/>
                  <a:pt x="127" y="255"/>
                </a:cubicBezTo>
                <a:cubicBezTo>
                  <a:pt x="118" y="261"/>
                  <a:pt x="110" y="265"/>
                  <a:pt x="104" y="267"/>
                </a:cubicBezTo>
                <a:cubicBezTo>
                  <a:pt x="97" y="269"/>
                  <a:pt x="90" y="269"/>
                  <a:pt x="84" y="270"/>
                </a:cubicBezTo>
                <a:cubicBezTo>
                  <a:pt x="77" y="270"/>
                  <a:pt x="70" y="269"/>
                  <a:pt x="63" y="267"/>
                </a:cubicBezTo>
                <a:cubicBezTo>
                  <a:pt x="57" y="266"/>
                  <a:pt x="49" y="262"/>
                  <a:pt x="40" y="255"/>
                </a:cubicBezTo>
                <a:cubicBezTo>
                  <a:pt x="30" y="248"/>
                  <a:pt x="23" y="239"/>
                  <a:pt x="17" y="229"/>
                </a:cubicBezTo>
                <a:cubicBezTo>
                  <a:pt x="6" y="207"/>
                  <a:pt x="0" y="177"/>
                  <a:pt x="0" y="136"/>
                </a:cubicBezTo>
                <a:cubicBezTo>
                  <a:pt x="0" y="91"/>
                  <a:pt x="8" y="55"/>
                  <a:pt x="24" y="32"/>
                </a:cubicBezTo>
                <a:moveTo>
                  <a:pt x="111" y="27"/>
                </a:moveTo>
                <a:cubicBezTo>
                  <a:pt x="104" y="19"/>
                  <a:pt x="94" y="15"/>
                  <a:pt x="84" y="15"/>
                </a:cubicBezTo>
                <a:cubicBezTo>
                  <a:pt x="73" y="15"/>
                  <a:pt x="63" y="19"/>
                  <a:pt x="56" y="27"/>
                </a:cubicBezTo>
                <a:cubicBezTo>
                  <a:pt x="49" y="34"/>
                  <a:pt x="45" y="43"/>
                  <a:pt x="43" y="55"/>
                </a:cubicBezTo>
                <a:cubicBezTo>
                  <a:pt x="41" y="67"/>
                  <a:pt x="40" y="93"/>
                  <a:pt x="40" y="131"/>
                </a:cubicBezTo>
                <a:cubicBezTo>
                  <a:pt x="40" y="172"/>
                  <a:pt x="41" y="199"/>
                  <a:pt x="43" y="212"/>
                </a:cubicBezTo>
                <a:cubicBezTo>
                  <a:pt x="45" y="225"/>
                  <a:pt x="49" y="236"/>
                  <a:pt x="57" y="243"/>
                </a:cubicBezTo>
                <a:cubicBezTo>
                  <a:pt x="64" y="251"/>
                  <a:pt x="73" y="255"/>
                  <a:pt x="84" y="255"/>
                </a:cubicBezTo>
                <a:cubicBezTo>
                  <a:pt x="94" y="255"/>
                  <a:pt x="103" y="251"/>
                  <a:pt x="110" y="243"/>
                </a:cubicBezTo>
                <a:cubicBezTo>
                  <a:pt x="118" y="235"/>
                  <a:pt x="122" y="224"/>
                  <a:pt x="124" y="210"/>
                </a:cubicBezTo>
                <a:cubicBezTo>
                  <a:pt x="126" y="196"/>
                  <a:pt x="127" y="170"/>
                  <a:pt x="127" y="131"/>
                </a:cubicBezTo>
                <a:cubicBezTo>
                  <a:pt x="127" y="93"/>
                  <a:pt x="126" y="68"/>
                  <a:pt x="124" y="56"/>
                </a:cubicBezTo>
                <a:cubicBezTo>
                  <a:pt x="122" y="44"/>
                  <a:pt x="118" y="34"/>
                  <a:pt x="111" y="27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"/>
          <p:cNvSpPr/>
          <p:nvPr/>
        </p:nvSpPr>
        <p:spPr>
          <a:xfrm>
            <a:off x="6560280" y="5666040"/>
            <a:ext cx="111960" cy="62280"/>
          </a:xfrm>
          <a:custGeom>
            <a:avLst/>
            <a:gdLst/>
            <a:ahLst/>
            <a:rect l="0" t="0" r="r" b="b"/>
            <a:pathLst>
              <a:path w="311" h="173">
                <a:moveTo>
                  <a:pt x="7" y="154"/>
                </a:moveTo>
                <a:lnTo>
                  <a:pt x="12" y="154"/>
                </a:lnTo>
                <a:cubicBezTo>
                  <a:pt x="22" y="154"/>
                  <a:pt x="28" y="153"/>
                  <a:pt x="30" y="149"/>
                </a:cubicBezTo>
                <a:lnTo>
                  <a:pt x="30" y="146"/>
                </a:lnTo>
                <a:cubicBezTo>
                  <a:pt x="30" y="143"/>
                  <a:pt x="30" y="140"/>
                  <a:pt x="30" y="137"/>
                </a:cubicBezTo>
                <a:cubicBezTo>
                  <a:pt x="30" y="133"/>
                  <a:pt x="30" y="129"/>
                  <a:pt x="30" y="125"/>
                </a:cubicBezTo>
                <a:cubicBezTo>
                  <a:pt x="30" y="120"/>
                  <a:pt x="30" y="115"/>
                  <a:pt x="31" y="109"/>
                </a:cubicBezTo>
                <a:cubicBezTo>
                  <a:pt x="31" y="104"/>
                  <a:pt x="31" y="98"/>
                  <a:pt x="31" y="93"/>
                </a:cubicBezTo>
                <a:cubicBezTo>
                  <a:pt x="31" y="85"/>
                  <a:pt x="31" y="76"/>
                  <a:pt x="31" y="67"/>
                </a:cubicBezTo>
                <a:cubicBezTo>
                  <a:pt x="31" y="58"/>
                  <a:pt x="31" y="51"/>
                  <a:pt x="30" y="44"/>
                </a:cubicBezTo>
                <a:lnTo>
                  <a:pt x="30" y="35"/>
                </a:lnTo>
                <a:cubicBezTo>
                  <a:pt x="30" y="30"/>
                  <a:pt x="28" y="27"/>
                  <a:pt x="25" y="26"/>
                </a:cubicBezTo>
                <a:cubicBezTo>
                  <a:pt x="22" y="24"/>
                  <a:pt x="16" y="23"/>
                  <a:pt x="7" y="22"/>
                </a:cubicBezTo>
                <a:lnTo>
                  <a:pt x="0" y="22"/>
                </a:lnTo>
                <a:lnTo>
                  <a:pt x="0" y="13"/>
                </a:lnTo>
                <a:cubicBezTo>
                  <a:pt x="0" y="7"/>
                  <a:pt x="1" y="4"/>
                  <a:pt x="1" y="4"/>
                </a:cubicBezTo>
                <a:lnTo>
                  <a:pt x="5" y="4"/>
                </a:lnTo>
                <a:cubicBezTo>
                  <a:pt x="8" y="3"/>
                  <a:pt x="11" y="3"/>
                  <a:pt x="16" y="3"/>
                </a:cubicBezTo>
                <a:cubicBezTo>
                  <a:pt x="21" y="3"/>
                  <a:pt x="25" y="2"/>
                  <a:pt x="30" y="2"/>
                </a:cubicBezTo>
                <a:cubicBezTo>
                  <a:pt x="35" y="2"/>
                  <a:pt x="39" y="2"/>
                  <a:pt x="44" y="1"/>
                </a:cubicBezTo>
                <a:cubicBezTo>
                  <a:pt x="49" y="1"/>
                  <a:pt x="53" y="1"/>
                  <a:pt x="56" y="0"/>
                </a:cubicBezTo>
                <a:cubicBezTo>
                  <a:pt x="58" y="0"/>
                  <a:pt x="60" y="0"/>
                  <a:pt x="60" y="0"/>
                </a:cubicBezTo>
                <a:lnTo>
                  <a:pt x="61" y="0"/>
                </a:lnTo>
                <a:lnTo>
                  <a:pt x="61" y="15"/>
                </a:lnTo>
                <a:cubicBezTo>
                  <a:pt x="61" y="25"/>
                  <a:pt x="61" y="30"/>
                  <a:pt x="62" y="30"/>
                </a:cubicBezTo>
                <a:lnTo>
                  <a:pt x="63" y="28"/>
                </a:lnTo>
                <a:cubicBezTo>
                  <a:pt x="65" y="27"/>
                  <a:pt x="66" y="25"/>
                  <a:pt x="68" y="22"/>
                </a:cubicBezTo>
                <a:cubicBezTo>
                  <a:pt x="70" y="20"/>
                  <a:pt x="73" y="17"/>
                  <a:pt x="76" y="15"/>
                </a:cubicBezTo>
                <a:cubicBezTo>
                  <a:pt x="78" y="13"/>
                  <a:pt x="82" y="11"/>
                  <a:pt x="87" y="8"/>
                </a:cubicBezTo>
                <a:cubicBezTo>
                  <a:pt x="92" y="5"/>
                  <a:pt x="97" y="3"/>
                  <a:pt x="102" y="2"/>
                </a:cubicBezTo>
                <a:cubicBezTo>
                  <a:pt x="107" y="0"/>
                  <a:pt x="114" y="0"/>
                  <a:pt x="122" y="0"/>
                </a:cubicBezTo>
                <a:cubicBezTo>
                  <a:pt x="126" y="0"/>
                  <a:pt x="129" y="0"/>
                  <a:pt x="133" y="1"/>
                </a:cubicBezTo>
                <a:cubicBezTo>
                  <a:pt x="136" y="1"/>
                  <a:pt x="139" y="2"/>
                  <a:pt x="142" y="3"/>
                </a:cubicBezTo>
                <a:cubicBezTo>
                  <a:pt x="144" y="4"/>
                  <a:pt x="147" y="5"/>
                  <a:pt x="149" y="6"/>
                </a:cubicBezTo>
                <a:cubicBezTo>
                  <a:pt x="151" y="7"/>
                  <a:pt x="153" y="8"/>
                  <a:pt x="155" y="10"/>
                </a:cubicBezTo>
                <a:cubicBezTo>
                  <a:pt x="156" y="11"/>
                  <a:pt x="158" y="12"/>
                  <a:pt x="159" y="14"/>
                </a:cubicBezTo>
                <a:cubicBezTo>
                  <a:pt x="160" y="15"/>
                  <a:pt x="162" y="17"/>
                  <a:pt x="164" y="18"/>
                </a:cubicBezTo>
                <a:cubicBezTo>
                  <a:pt x="165" y="19"/>
                  <a:pt x="166" y="21"/>
                  <a:pt x="166" y="22"/>
                </a:cubicBezTo>
                <a:cubicBezTo>
                  <a:pt x="167" y="24"/>
                  <a:pt x="168" y="25"/>
                  <a:pt x="168" y="26"/>
                </a:cubicBezTo>
                <a:cubicBezTo>
                  <a:pt x="168" y="27"/>
                  <a:pt x="169" y="28"/>
                  <a:pt x="169" y="29"/>
                </a:cubicBezTo>
                <a:lnTo>
                  <a:pt x="170" y="31"/>
                </a:lnTo>
                <a:lnTo>
                  <a:pt x="171" y="30"/>
                </a:lnTo>
                <a:cubicBezTo>
                  <a:pt x="172" y="29"/>
                  <a:pt x="173" y="28"/>
                  <a:pt x="173" y="27"/>
                </a:cubicBezTo>
                <a:cubicBezTo>
                  <a:pt x="174" y="26"/>
                  <a:pt x="175" y="24"/>
                  <a:pt x="177" y="22"/>
                </a:cubicBezTo>
                <a:cubicBezTo>
                  <a:pt x="178" y="21"/>
                  <a:pt x="180" y="19"/>
                  <a:pt x="182" y="17"/>
                </a:cubicBezTo>
                <a:cubicBezTo>
                  <a:pt x="184" y="16"/>
                  <a:pt x="186" y="14"/>
                  <a:pt x="188" y="12"/>
                </a:cubicBezTo>
                <a:cubicBezTo>
                  <a:pt x="190" y="10"/>
                  <a:pt x="193" y="9"/>
                  <a:pt x="196" y="8"/>
                </a:cubicBezTo>
                <a:cubicBezTo>
                  <a:pt x="199" y="6"/>
                  <a:pt x="202" y="5"/>
                  <a:pt x="205" y="4"/>
                </a:cubicBezTo>
                <a:cubicBezTo>
                  <a:pt x="207" y="2"/>
                  <a:pt x="211" y="1"/>
                  <a:pt x="215" y="1"/>
                </a:cubicBezTo>
                <a:cubicBezTo>
                  <a:pt x="219" y="0"/>
                  <a:pt x="223" y="0"/>
                  <a:pt x="227" y="0"/>
                </a:cubicBezTo>
                <a:cubicBezTo>
                  <a:pt x="260" y="0"/>
                  <a:pt x="277" y="14"/>
                  <a:pt x="280" y="44"/>
                </a:cubicBezTo>
                <a:cubicBezTo>
                  <a:pt x="281" y="46"/>
                  <a:pt x="281" y="64"/>
                  <a:pt x="281" y="98"/>
                </a:cubicBezTo>
                <a:lnTo>
                  <a:pt x="281" y="132"/>
                </a:lnTo>
                <a:cubicBezTo>
                  <a:pt x="281" y="142"/>
                  <a:pt x="281" y="147"/>
                  <a:pt x="281" y="149"/>
                </a:cubicBezTo>
                <a:cubicBezTo>
                  <a:pt x="282" y="151"/>
                  <a:pt x="283" y="152"/>
                  <a:pt x="286" y="153"/>
                </a:cubicBezTo>
                <a:cubicBezTo>
                  <a:pt x="291" y="154"/>
                  <a:pt x="298" y="154"/>
                  <a:pt x="305" y="154"/>
                </a:cubicBezTo>
                <a:lnTo>
                  <a:pt x="311" y="154"/>
                </a:lnTo>
                <a:lnTo>
                  <a:pt x="311" y="173"/>
                </a:lnTo>
                <a:lnTo>
                  <a:pt x="308" y="173"/>
                </a:lnTo>
                <a:lnTo>
                  <a:pt x="299" y="173"/>
                </a:lnTo>
                <a:cubicBezTo>
                  <a:pt x="293" y="173"/>
                  <a:pt x="286" y="173"/>
                  <a:pt x="279" y="173"/>
                </a:cubicBezTo>
                <a:cubicBezTo>
                  <a:pt x="272" y="173"/>
                  <a:pt x="267" y="172"/>
                  <a:pt x="264" y="172"/>
                </a:cubicBezTo>
                <a:cubicBezTo>
                  <a:pt x="238" y="172"/>
                  <a:pt x="223" y="173"/>
                  <a:pt x="221" y="173"/>
                </a:cubicBezTo>
                <a:lnTo>
                  <a:pt x="217" y="173"/>
                </a:lnTo>
                <a:lnTo>
                  <a:pt x="217" y="154"/>
                </a:lnTo>
                <a:lnTo>
                  <a:pt x="224" y="154"/>
                </a:lnTo>
                <a:cubicBezTo>
                  <a:pt x="240" y="154"/>
                  <a:pt x="248" y="152"/>
                  <a:pt x="248" y="148"/>
                </a:cubicBezTo>
                <a:cubicBezTo>
                  <a:pt x="248" y="148"/>
                  <a:pt x="248" y="130"/>
                  <a:pt x="248" y="94"/>
                </a:cubicBezTo>
                <a:cubicBezTo>
                  <a:pt x="248" y="59"/>
                  <a:pt x="247" y="41"/>
                  <a:pt x="247" y="38"/>
                </a:cubicBezTo>
                <a:cubicBezTo>
                  <a:pt x="246" y="31"/>
                  <a:pt x="243" y="26"/>
                  <a:pt x="239" y="22"/>
                </a:cubicBezTo>
                <a:cubicBezTo>
                  <a:pt x="236" y="18"/>
                  <a:pt x="233" y="16"/>
                  <a:pt x="230" y="15"/>
                </a:cubicBezTo>
                <a:cubicBezTo>
                  <a:pt x="227" y="15"/>
                  <a:pt x="224" y="14"/>
                  <a:pt x="220" y="15"/>
                </a:cubicBezTo>
                <a:cubicBezTo>
                  <a:pt x="208" y="15"/>
                  <a:pt x="198" y="19"/>
                  <a:pt x="189" y="28"/>
                </a:cubicBezTo>
                <a:cubicBezTo>
                  <a:pt x="182" y="35"/>
                  <a:pt x="178" y="42"/>
                  <a:pt x="176" y="49"/>
                </a:cubicBezTo>
                <a:cubicBezTo>
                  <a:pt x="174" y="57"/>
                  <a:pt x="173" y="67"/>
                  <a:pt x="173" y="82"/>
                </a:cubicBezTo>
                <a:lnTo>
                  <a:pt x="173" y="107"/>
                </a:lnTo>
                <a:lnTo>
                  <a:pt x="173" y="130"/>
                </a:lnTo>
                <a:cubicBezTo>
                  <a:pt x="173" y="138"/>
                  <a:pt x="173" y="143"/>
                  <a:pt x="173" y="146"/>
                </a:cubicBezTo>
                <a:cubicBezTo>
                  <a:pt x="173" y="148"/>
                  <a:pt x="174" y="150"/>
                  <a:pt x="174" y="151"/>
                </a:cubicBezTo>
                <a:cubicBezTo>
                  <a:pt x="175" y="152"/>
                  <a:pt x="176" y="152"/>
                  <a:pt x="178" y="153"/>
                </a:cubicBezTo>
                <a:cubicBezTo>
                  <a:pt x="183" y="154"/>
                  <a:pt x="190" y="154"/>
                  <a:pt x="197" y="154"/>
                </a:cubicBezTo>
                <a:lnTo>
                  <a:pt x="203" y="154"/>
                </a:lnTo>
                <a:lnTo>
                  <a:pt x="203" y="173"/>
                </a:lnTo>
                <a:lnTo>
                  <a:pt x="200" y="173"/>
                </a:lnTo>
                <a:lnTo>
                  <a:pt x="191" y="173"/>
                </a:lnTo>
                <a:cubicBezTo>
                  <a:pt x="185" y="173"/>
                  <a:pt x="178" y="173"/>
                  <a:pt x="171" y="173"/>
                </a:cubicBezTo>
                <a:cubicBezTo>
                  <a:pt x="164" y="173"/>
                  <a:pt x="158" y="172"/>
                  <a:pt x="155" y="172"/>
                </a:cubicBezTo>
                <a:cubicBezTo>
                  <a:pt x="128" y="172"/>
                  <a:pt x="114" y="173"/>
                  <a:pt x="111" y="173"/>
                </a:cubicBezTo>
                <a:lnTo>
                  <a:pt x="108" y="173"/>
                </a:lnTo>
                <a:lnTo>
                  <a:pt x="108" y="154"/>
                </a:lnTo>
                <a:lnTo>
                  <a:pt x="115" y="154"/>
                </a:lnTo>
                <a:cubicBezTo>
                  <a:pt x="130" y="154"/>
                  <a:pt x="138" y="152"/>
                  <a:pt x="138" y="148"/>
                </a:cubicBezTo>
                <a:cubicBezTo>
                  <a:pt x="139" y="148"/>
                  <a:pt x="139" y="130"/>
                  <a:pt x="139" y="94"/>
                </a:cubicBezTo>
                <a:cubicBezTo>
                  <a:pt x="139" y="59"/>
                  <a:pt x="138" y="41"/>
                  <a:pt x="138" y="38"/>
                </a:cubicBezTo>
                <a:cubicBezTo>
                  <a:pt x="136" y="31"/>
                  <a:pt x="134" y="26"/>
                  <a:pt x="130" y="22"/>
                </a:cubicBezTo>
                <a:cubicBezTo>
                  <a:pt x="127" y="18"/>
                  <a:pt x="123" y="16"/>
                  <a:pt x="121" y="15"/>
                </a:cubicBezTo>
                <a:cubicBezTo>
                  <a:pt x="118" y="15"/>
                  <a:pt x="115" y="14"/>
                  <a:pt x="111" y="15"/>
                </a:cubicBezTo>
                <a:cubicBezTo>
                  <a:pt x="99" y="15"/>
                  <a:pt x="89" y="19"/>
                  <a:pt x="80" y="28"/>
                </a:cubicBezTo>
                <a:cubicBezTo>
                  <a:pt x="73" y="35"/>
                  <a:pt x="68" y="42"/>
                  <a:pt x="67" y="49"/>
                </a:cubicBezTo>
                <a:cubicBezTo>
                  <a:pt x="65" y="57"/>
                  <a:pt x="64" y="67"/>
                  <a:pt x="63" y="82"/>
                </a:cubicBezTo>
                <a:lnTo>
                  <a:pt x="63" y="107"/>
                </a:lnTo>
                <a:lnTo>
                  <a:pt x="63" y="130"/>
                </a:lnTo>
                <a:cubicBezTo>
                  <a:pt x="63" y="138"/>
                  <a:pt x="64" y="143"/>
                  <a:pt x="64" y="146"/>
                </a:cubicBezTo>
                <a:cubicBezTo>
                  <a:pt x="64" y="148"/>
                  <a:pt x="65" y="150"/>
                  <a:pt x="65" y="151"/>
                </a:cubicBezTo>
                <a:cubicBezTo>
                  <a:pt x="66" y="152"/>
                  <a:pt x="67" y="152"/>
                  <a:pt x="69" y="153"/>
                </a:cubicBezTo>
                <a:cubicBezTo>
                  <a:pt x="74" y="154"/>
                  <a:pt x="80" y="154"/>
                  <a:pt x="88" y="154"/>
                </a:cubicBezTo>
                <a:lnTo>
                  <a:pt x="94" y="154"/>
                </a:lnTo>
                <a:lnTo>
                  <a:pt x="94" y="173"/>
                </a:lnTo>
                <a:lnTo>
                  <a:pt x="91" y="173"/>
                </a:lnTo>
                <a:lnTo>
                  <a:pt x="82" y="173"/>
                </a:lnTo>
                <a:cubicBezTo>
                  <a:pt x="76" y="173"/>
                  <a:pt x="69" y="173"/>
                  <a:pt x="62" y="173"/>
                </a:cubicBezTo>
                <a:cubicBezTo>
                  <a:pt x="55" y="173"/>
                  <a:pt x="50" y="172"/>
                  <a:pt x="47" y="172"/>
                </a:cubicBezTo>
                <a:cubicBezTo>
                  <a:pt x="20" y="172"/>
                  <a:pt x="6" y="173"/>
                  <a:pt x="3" y="173"/>
                </a:cubicBezTo>
                <a:lnTo>
                  <a:pt x="0" y="173"/>
                </a:lnTo>
                <a:lnTo>
                  <a:pt x="0" y="154"/>
                </a:lnTo>
                <a:lnTo>
                  <a:pt x="7" y="154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"/>
          <p:cNvSpPr/>
          <p:nvPr/>
        </p:nvSpPr>
        <p:spPr>
          <a:xfrm>
            <a:off x="6560280" y="5666040"/>
            <a:ext cx="111960" cy="62280"/>
          </a:xfrm>
          <a:custGeom>
            <a:avLst/>
            <a:gdLst/>
            <a:ahLst/>
            <a:rect l="0" t="0" r="r" b="b"/>
            <a:pathLst>
              <a:path fill="none" w="311" h="173">
                <a:moveTo>
                  <a:pt x="7" y="154"/>
                </a:moveTo>
                <a:lnTo>
                  <a:pt x="12" y="154"/>
                </a:lnTo>
                <a:cubicBezTo>
                  <a:pt x="22" y="154"/>
                  <a:pt x="28" y="153"/>
                  <a:pt x="30" y="149"/>
                </a:cubicBezTo>
                <a:lnTo>
                  <a:pt x="30" y="146"/>
                </a:lnTo>
                <a:cubicBezTo>
                  <a:pt x="30" y="143"/>
                  <a:pt x="30" y="140"/>
                  <a:pt x="30" y="137"/>
                </a:cubicBezTo>
                <a:cubicBezTo>
                  <a:pt x="30" y="133"/>
                  <a:pt x="30" y="129"/>
                  <a:pt x="30" y="125"/>
                </a:cubicBezTo>
                <a:cubicBezTo>
                  <a:pt x="30" y="120"/>
                  <a:pt x="30" y="115"/>
                  <a:pt x="31" y="109"/>
                </a:cubicBezTo>
                <a:cubicBezTo>
                  <a:pt x="31" y="104"/>
                  <a:pt x="31" y="98"/>
                  <a:pt x="31" y="93"/>
                </a:cubicBezTo>
                <a:cubicBezTo>
                  <a:pt x="31" y="85"/>
                  <a:pt x="31" y="76"/>
                  <a:pt x="31" y="67"/>
                </a:cubicBezTo>
                <a:cubicBezTo>
                  <a:pt x="31" y="58"/>
                  <a:pt x="31" y="51"/>
                  <a:pt x="30" y="44"/>
                </a:cubicBezTo>
                <a:lnTo>
                  <a:pt x="30" y="35"/>
                </a:lnTo>
                <a:cubicBezTo>
                  <a:pt x="30" y="30"/>
                  <a:pt x="28" y="27"/>
                  <a:pt x="25" y="26"/>
                </a:cubicBezTo>
                <a:cubicBezTo>
                  <a:pt x="22" y="24"/>
                  <a:pt x="16" y="23"/>
                  <a:pt x="7" y="22"/>
                </a:cubicBezTo>
                <a:lnTo>
                  <a:pt x="0" y="22"/>
                </a:lnTo>
                <a:lnTo>
                  <a:pt x="0" y="13"/>
                </a:lnTo>
                <a:cubicBezTo>
                  <a:pt x="0" y="7"/>
                  <a:pt x="1" y="4"/>
                  <a:pt x="1" y="4"/>
                </a:cubicBezTo>
                <a:lnTo>
                  <a:pt x="5" y="4"/>
                </a:lnTo>
                <a:cubicBezTo>
                  <a:pt x="8" y="3"/>
                  <a:pt x="11" y="3"/>
                  <a:pt x="16" y="3"/>
                </a:cubicBezTo>
                <a:cubicBezTo>
                  <a:pt x="21" y="3"/>
                  <a:pt x="25" y="2"/>
                  <a:pt x="30" y="2"/>
                </a:cubicBezTo>
                <a:cubicBezTo>
                  <a:pt x="35" y="2"/>
                  <a:pt x="39" y="2"/>
                  <a:pt x="44" y="1"/>
                </a:cubicBezTo>
                <a:cubicBezTo>
                  <a:pt x="49" y="1"/>
                  <a:pt x="53" y="1"/>
                  <a:pt x="56" y="0"/>
                </a:cubicBezTo>
                <a:cubicBezTo>
                  <a:pt x="58" y="0"/>
                  <a:pt x="60" y="0"/>
                  <a:pt x="60" y="0"/>
                </a:cubicBezTo>
                <a:lnTo>
                  <a:pt x="61" y="0"/>
                </a:lnTo>
                <a:lnTo>
                  <a:pt x="61" y="15"/>
                </a:lnTo>
                <a:cubicBezTo>
                  <a:pt x="61" y="25"/>
                  <a:pt x="61" y="30"/>
                  <a:pt x="62" y="30"/>
                </a:cubicBezTo>
                <a:lnTo>
                  <a:pt x="63" y="28"/>
                </a:lnTo>
                <a:cubicBezTo>
                  <a:pt x="65" y="27"/>
                  <a:pt x="66" y="25"/>
                  <a:pt x="68" y="22"/>
                </a:cubicBezTo>
                <a:cubicBezTo>
                  <a:pt x="70" y="20"/>
                  <a:pt x="73" y="17"/>
                  <a:pt x="76" y="15"/>
                </a:cubicBezTo>
                <a:cubicBezTo>
                  <a:pt x="78" y="13"/>
                  <a:pt x="82" y="11"/>
                  <a:pt x="87" y="8"/>
                </a:cubicBezTo>
                <a:cubicBezTo>
                  <a:pt x="92" y="5"/>
                  <a:pt x="97" y="3"/>
                  <a:pt x="102" y="2"/>
                </a:cubicBezTo>
                <a:cubicBezTo>
                  <a:pt x="107" y="0"/>
                  <a:pt x="114" y="0"/>
                  <a:pt x="122" y="0"/>
                </a:cubicBezTo>
                <a:cubicBezTo>
                  <a:pt x="126" y="0"/>
                  <a:pt x="129" y="0"/>
                  <a:pt x="133" y="1"/>
                </a:cubicBezTo>
                <a:cubicBezTo>
                  <a:pt x="136" y="1"/>
                  <a:pt x="139" y="2"/>
                  <a:pt x="142" y="3"/>
                </a:cubicBezTo>
                <a:cubicBezTo>
                  <a:pt x="144" y="4"/>
                  <a:pt x="147" y="5"/>
                  <a:pt x="149" y="6"/>
                </a:cubicBezTo>
                <a:cubicBezTo>
                  <a:pt x="151" y="7"/>
                  <a:pt x="153" y="8"/>
                  <a:pt x="155" y="10"/>
                </a:cubicBezTo>
                <a:cubicBezTo>
                  <a:pt x="156" y="11"/>
                  <a:pt x="158" y="12"/>
                  <a:pt x="159" y="14"/>
                </a:cubicBezTo>
                <a:cubicBezTo>
                  <a:pt x="160" y="15"/>
                  <a:pt x="162" y="17"/>
                  <a:pt x="164" y="18"/>
                </a:cubicBezTo>
                <a:cubicBezTo>
                  <a:pt x="165" y="19"/>
                  <a:pt x="166" y="21"/>
                  <a:pt x="166" y="22"/>
                </a:cubicBezTo>
                <a:cubicBezTo>
                  <a:pt x="167" y="24"/>
                  <a:pt x="168" y="25"/>
                  <a:pt x="168" y="26"/>
                </a:cubicBezTo>
                <a:cubicBezTo>
                  <a:pt x="168" y="27"/>
                  <a:pt x="169" y="28"/>
                  <a:pt x="169" y="29"/>
                </a:cubicBezTo>
                <a:lnTo>
                  <a:pt x="170" y="31"/>
                </a:lnTo>
                <a:lnTo>
                  <a:pt x="171" y="30"/>
                </a:lnTo>
                <a:cubicBezTo>
                  <a:pt x="172" y="29"/>
                  <a:pt x="173" y="28"/>
                  <a:pt x="173" y="27"/>
                </a:cubicBezTo>
                <a:cubicBezTo>
                  <a:pt x="174" y="26"/>
                  <a:pt x="175" y="24"/>
                  <a:pt x="177" y="22"/>
                </a:cubicBezTo>
                <a:cubicBezTo>
                  <a:pt x="178" y="21"/>
                  <a:pt x="180" y="19"/>
                  <a:pt x="182" y="17"/>
                </a:cubicBezTo>
                <a:cubicBezTo>
                  <a:pt x="184" y="16"/>
                  <a:pt x="186" y="14"/>
                  <a:pt x="188" y="12"/>
                </a:cubicBezTo>
                <a:cubicBezTo>
                  <a:pt x="190" y="10"/>
                  <a:pt x="193" y="9"/>
                  <a:pt x="196" y="8"/>
                </a:cubicBezTo>
                <a:cubicBezTo>
                  <a:pt x="199" y="6"/>
                  <a:pt x="202" y="5"/>
                  <a:pt x="205" y="4"/>
                </a:cubicBezTo>
                <a:cubicBezTo>
                  <a:pt x="207" y="2"/>
                  <a:pt x="211" y="1"/>
                  <a:pt x="215" y="1"/>
                </a:cubicBezTo>
                <a:cubicBezTo>
                  <a:pt x="219" y="0"/>
                  <a:pt x="223" y="0"/>
                  <a:pt x="227" y="0"/>
                </a:cubicBezTo>
                <a:cubicBezTo>
                  <a:pt x="260" y="0"/>
                  <a:pt x="277" y="14"/>
                  <a:pt x="280" y="44"/>
                </a:cubicBezTo>
                <a:cubicBezTo>
                  <a:pt x="281" y="46"/>
                  <a:pt x="281" y="64"/>
                  <a:pt x="281" y="98"/>
                </a:cubicBezTo>
                <a:lnTo>
                  <a:pt x="281" y="132"/>
                </a:lnTo>
                <a:cubicBezTo>
                  <a:pt x="281" y="142"/>
                  <a:pt x="281" y="147"/>
                  <a:pt x="281" y="149"/>
                </a:cubicBezTo>
                <a:cubicBezTo>
                  <a:pt x="282" y="151"/>
                  <a:pt x="283" y="152"/>
                  <a:pt x="286" y="153"/>
                </a:cubicBezTo>
                <a:cubicBezTo>
                  <a:pt x="291" y="154"/>
                  <a:pt x="298" y="154"/>
                  <a:pt x="305" y="154"/>
                </a:cubicBezTo>
                <a:lnTo>
                  <a:pt x="311" y="154"/>
                </a:lnTo>
                <a:lnTo>
                  <a:pt x="311" y="173"/>
                </a:lnTo>
                <a:lnTo>
                  <a:pt x="308" y="173"/>
                </a:lnTo>
                <a:lnTo>
                  <a:pt x="299" y="173"/>
                </a:lnTo>
                <a:cubicBezTo>
                  <a:pt x="293" y="173"/>
                  <a:pt x="286" y="173"/>
                  <a:pt x="279" y="173"/>
                </a:cubicBezTo>
                <a:cubicBezTo>
                  <a:pt x="272" y="173"/>
                  <a:pt x="267" y="172"/>
                  <a:pt x="264" y="172"/>
                </a:cubicBezTo>
                <a:cubicBezTo>
                  <a:pt x="238" y="172"/>
                  <a:pt x="223" y="173"/>
                  <a:pt x="221" y="173"/>
                </a:cubicBezTo>
                <a:lnTo>
                  <a:pt x="217" y="173"/>
                </a:lnTo>
                <a:lnTo>
                  <a:pt x="217" y="154"/>
                </a:lnTo>
                <a:lnTo>
                  <a:pt x="224" y="154"/>
                </a:lnTo>
                <a:cubicBezTo>
                  <a:pt x="240" y="154"/>
                  <a:pt x="248" y="152"/>
                  <a:pt x="248" y="148"/>
                </a:cubicBezTo>
                <a:cubicBezTo>
                  <a:pt x="248" y="148"/>
                  <a:pt x="248" y="130"/>
                  <a:pt x="248" y="94"/>
                </a:cubicBezTo>
                <a:cubicBezTo>
                  <a:pt x="248" y="59"/>
                  <a:pt x="247" y="41"/>
                  <a:pt x="247" y="38"/>
                </a:cubicBezTo>
                <a:cubicBezTo>
                  <a:pt x="246" y="31"/>
                  <a:pt x="243" y="26"/>
                  <a:pt x="239" y="22"/>
                </a:cubicBezTo>
                <a:cubicBezTo>
                  <a:pt x="236" y="18"/>
                  <a:pt x="233" y="16"/>
                  <a:pt x="230" y="15"/>
                </a:cubicBezTo>
                <a:cubicBezTo>
                  <a:pt x="227" y="15"/>
                  <a:pt x="224" y="14"/>
                  <a:pt x="220" y="15"/>
                </a:cubicBezTo>
                <a:cubicBezTo>
                  <a:pt x="208" y="15"/>
                  <a:pt x="198" y="19"/>
                  <a:pt x="189" y="28"/>
                </a:cubicBezTo>
                <a:cubicBezTo>
                  <a:pt x="182" y="35"/>
                  <a:pt x="178" y="42"/>
                  <a:pt x="176" y="49"/>
                </a:cubicBezTo>
                <a:cubicBezTo>
                  <a:pt x="174" y="57"/>
                  <a:pt x="173" y="67"/>
                  <a:pt x="173" y="82"/>
                </a:cubicBezTo>
                <a:lnTo>
                  <a:pt x="173" y="107"/>
                </a:lnTo>
                <a:lnTo>
                  <a:pt x="173" y="130"/>
                </a:lnTo>
                <a:cubicBezTo>
                  <a:pt x="173" y="138"/>
                  <a:pt x="173" y="143"/>
                  <a:pt x="173" y="146"/>
                </a:cubicBezTo>
                <a:cubicBezTo>
                  <a:pt x="173" y="148"/>
                  <a:pt x="174" y="150"/>
                  <a:pt x="174" y="151"/>
                </a:cubicBezTo>
                <a:cubicBezTo>
                  <a:pt x="175" y="152"/>
                  <a:pt x="176" y="152"/>
                  <a:pt x="178" y="153"/>
                </a:cubicBezTo>
                <a:cubicBezTo>
                  <a:pt x="183" y="154"/>
                  <a:pt x="190" y="154"/>
                  <a:pt x="197" y="154"/>
                </a:cubicBezTo>
                <a:lnTo>
                  <a:pt x="203" y="154"/>
                </a:lnTo>
                <a:lnTo>
                  <a:pt x="203" y="173"/>
                </a:lnTo>
                <a:lnTo>
                  <a:pt x="200" y="173"/>
                </a:lnTo>
                <a:lnTo>
                  <a:pt x="191" y="173"/>
                </a:lnTo>
                <a:cubicBezTo>
                  <a:pt x="185" y="173"/>
                  <a:pt x="178" y="173"/>
                  <a:pt x="171" y="173"/>
                </a:cubicBezTo>
                <a:cubicBezTo>
                  <a:pt x="164" y="173"/>
                  <a:pt x="158" y="172"/>
                  <a:pt x="155" y="172"/>
                </a:cubicBezTo>
                <a:cubicBezTo>
                  <a:pt x="128" y="172"/>
                  <a:pt x="114" y="173"/>
                  <a:pt x="111" y="173"/>
                </a:cubicBezTo>
                <a:lnTo>
                  <a:pt x="108" y="173"/>
                </a:lnTo>
                <a:lnTo>
                  <a:pt x="108" y="154"/>
                </a:lnTo>
                <a:lnTo>
                  <a:pt x="115" y="154"/>
                </a:lnTo>
                <a:cubicBezTo>
                  <a:pt x="130" y="154"/>
                  <a:pt x="138" y="152"/>
                  <a:pt x="138" y="148"/>
                </a:cubicBezTo>
                <a:cubicBezTo>
                  <a:pt x="139" y="148"/>
                  <a:pt x="139" y="130"/>
                  <a:pt x="139" y="94"/>
                </a:cubicBezTo>
                <a:cubicBezTo>
                  <a:pt x="139" y="59"/>
                  <a:pt x="138" y="41"/>
                  <a:pt x="138" y="38"/>
                </a:cubicBezTo>
                <a:cubicBezTo>
                  <a:pt x="136" y="31"/>
                  <a:pt x="134" y="26"/>
                  <a:pt x="130" y="22"/>
                </a:cubicBezTo>
                <a:cubicBezTo>
                  <a:pt x="127" y="18"/>
                  <a:pt x="123" y="16"/>
                  <a:pt x="121" y="15"/>
                </a:cubicBezTo>
                <a:cubicBezTo>
                  <a:pt x="118" y="15"/>
                  <a:pt x="115" y="14"/>
                  <a:pt x="111" y="15"/>
                </a:cubicBezTo>
                <a:cubicBezTo>
                  <a:pt x="99" y="15"/>
                  <a:pt x="89" y="19"/>
                  <a:pt x="80" y="28"/>
                </a:cubicBezTo>
                <a:cubicBezTo>
                  <a:pt x="73" y="35"/>
                  <a:pt x="68" y="42"/>
                  <a:pt x="67" y="49"/>
                </a:cubicBezTo>
                <a:cubicBezTo>
                  <a:pt x="65" y="57"/>
                  <a:pt x="64" y="67"/>
                  <a:pt x="63" y="82"/>
                </a:cubicBezTo>
                <a:lnTo>
                  <a:pt x="63" y="107"/>
                </a:lnTo>
                <a:lnTo>
                  <a:pt x="63" y="130"/>
                </a:lnTo>
                <a:cubicBezTo>
                  <a:pt x="63" y="138"/>
                  <a:pt x="64" y="143"/>
                  <a:pt x="64" y="146"/>
                </a:cubicBezTo>
                <a:cubicBezTo>
                  <a:pt x="64" y="148"/>
                  <a:pt x="65" y="150"/>
                  <a:pt x="65" y="151"/>
                </a:cubicBezTo>
                <a:cubicBezTo>
                  <a:pt x="66" y="152"/>
                  <a:pt x="67" y="152"/>
                  <a:pt x="69" y="153"/>
                </a:cubicBezTo>
                <a:cubicBezTo>
                  <a:pt x="74" y="154"/>
                  <a:pt x="80" y="154"/>
                  <a:pt x="88" y="154"/>
                </a:cubicBezTo>
                <a:lnTo>
                  <a:pt x="94" y="154"/>
                </a:lnTo>
                <a:lnTo>
                  <a:pt x="94" y="173"/>
                </a:lnTo>
                <a:lnTo>
                  <a:pt x="91" y="173"/>
                </a:lnTo>
                <a:lnTo>
                  <a:pt x="82" y="173"/>
                </a:lnTo>
                <a:cubicBezTo>
                  <a:pt x="76" y="173"/>
                  <a:pt x="69" y="173"/>
                  <a:pt x="62" y="173"/>
                </a:cubicBezTo>
                <a:cubicBezTo>
                  <a:pt x="55" y="173"/>
                  <a:pt x="50" y="172"/>
                  <a:pt x="47" y="172"/>
                </a:cubicBezTo>
                <a:cubicBezTo>
                  <a:pt x="20" y="172"/>
                  <a:pt x="6" y="173"/>
                  <a:pt x="3" y="173"/>
                </a:cubicBezTo>
                <a:lnTo>
                  <a:pt x="0" y="173"/>
                </a:lnTo>
                <a:lnTo>
                  <a:pt x="0" y="154"/>
                </a:lnTo>
                <a:lnTo>
                  <a:pt x="7" y="154"/>
                </a:ln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"/>
          <p:cNvSpPr/>
          <p:nvPr/>
        </p:nvSpPr>
        <p:spPr>
          <a:xfrm>
            <a:off x="6677640" y="5634000"/>
            <a:ext cx="32400" cy="94320"/>
          </a:xfrm>
          <a:custGeom>
            <a:avLst/>
            <a:gdLst/>
            <a:ahLst/>
            <a:rect l="0" t="0" r="r" b="b"/>
            <a:pathLst>
              <a:path w="90" h="262">
                <a:moveTo>
                  <a:pt x="18" y="24"/>
                </a:moveTo>
                <a:cubicBezTo>
                  <a:pt x="18" y="16"/>
                  <a:pt x="20" y="11"/>
                  <a:pt x="25" y="6"/>
                </a:cubicBezTo>
                <a:cubicBezTo>
                  <a:pt x="29" y="2"/>
                  <a:pt x="35" y="0"/>
                  <a:pt x="42" y="0"/>
                </a:cubicBezTo>
                <a:cubicBezTo>
                  <a:pt x="48" y="1"/>
                  <a:pt x="53" y="3"/>
                  <a:pt x="57" y="7"/>
                </a:cubicBezTo>
                <a:cubicBezTo>
                  <a:pt x="62" y="11"/>
                  <a:pt x="64" y="16"/>
                  <a:pt x="64" y="24"/>
                </a:cubicBezTo>
                <a:cubicBezTo>
                  <a:pt x="64" y="31"/>
                  <a:pt x="62" y="37"/>
                  <a:pt x="57" y="41"/>
                </a:cubicBezTo>
                <a:cubicBezTo>
                  <a:pt x="53" y="45"/>
                  <a:pt x="47" y="47"/>
                  <a:pt x="41" y="47"/>
                </a:cubicBezTo>
                <a:cubicBezTo>
                  <a:pt x="34" y="47"/>
                  <a:pt x="29" y="45"/>
                  <a:pt x="25" y="41"/>
                </a:cubicBezTo>
                <a:cubicBezTo>
                  <a:pt x="20" y="37"/>
                  <a:pt x="18" y="31"/>
                  <a:pt x="18" y="24"/>
                </a:cubicBezTo>
                <a:moveTo>
                  <a:pt x="87" y="262"/>
                </a:moveTo>
                <a:cubicBezTo>
                  <a:pt x="83" y="262"/>
                  <a:pt x="70" y="261"/>
                  <a:pt x="46" y="261"/>
                </a:cubicBezTo>
                <a:cubicBezTo>
                  <a:pt x="44" y="261"/>
                  <a:pt x="39" y="261"/>
                  <a:pt x="32" y="261"/>
                </a:cubicBezTo>
                <a:cubicBezTo>
                  <a:pt x="25" y="261"/>
                  <a:pt x="19" y="261"/>
                  <a:pt x="12" y="262"/>
                </a:cubicBezTo>
                <a:lnTo>
                  <a:pt x="3" y="262"/>
                </a:lnTo>
                <a:lnTo>
                  <a:pt x="0" y="262"/>
                </a:lnTo>
                <a:lnTo>
                  <a:pt x="0" y="244"/>
                </a:lnTo>
                <a:lnTo>
                  <a:pt x="6" y="244"/>
                </a:lnTo>
                <a:cubicBezTo>
                  <a:pt x="14" y="244"/>
                  <a:pt x="21" y="244"/>
                  <a:pt x="26" y="243"/>
                </a:cubicBezTo>
                <a:cubicBezTo>
                  <a:pt x="28" y="242"/>
                  <a:pt x="30" y="241"/>
                  <a:pt x="30" y="239"/>
                </a:cubicBezTo>
                <a:cubicBezTo>
                  <a:pt x="31" y="237"/>
                  <a:pt x="31" y="232"/>
                  <a:pt x="31" y="222"/>
                </a:cubicBezTo>
                <a:lnTo>
                  <a:pt x="31" y="182"/>
                </a:lnTo>
                <a:lnTo>
                  <a:pt x="31" y="148"/>
                </a:lnTo>
                <a:cubicBezTo>
                  <a:pt x="31" y="133"/>
                  <a:pt x="31" y="125"/>
                  <a:pt x="30" y="121"/>
                </a:cubicBezTo>
                <a:cubicBezTo>
                  <a:pt x="30" y="118"/>
                  <a:pt x="28" y="115"/>
                  <a:pt x="25" y="114"/>
                </a:cubicBezTo>
                <a:cubicBezTo>
                  <a:pt x="21" y="112"/>
                  <a:pt x="15" y="111"/>
                  <a:pt x="6" y="111"/>
                </a:cubicBezTo>
                <a:lnTo>
                  <a:pt x="1" y="111"/>
                </a:lnTo>
                <a:lnTo>
                  <a:pt x="1" y="102"/>
                </a:lnTo>
                <a:cubicBezTo>
                  <a:pt x="1" y="96"/>
                  <a:pt x="2" y="93"/>
                  <a:pt x="2" y="93"/>
                </a:cubicBezTo>
                <a:lnTo>
                  <a:pt x="6" y="93"/>
                </a:lnTo>
                <a:cubicBezTo>
                  <a:pt x="10" y="92"/>
                  <a:pt x="13" y="92"/>
                  <a:pt x="18" y="92"/>
                </a:cubicBezTo>
                <a:cubicBezTo>
                  <a:pt x="23" y="92"/>
                  <a:pt x="27" y="91"/>
                  <a:pt x="32" y="91"/>
                </a:cubicBezTo>
                <a:cubicBezTo>
                  <a:pt x="36" y="91"/>
                  <a:pt x="41" y="91"/>
                  <a:pt x="46" y="90"/>
                </a:cubicBezTo>
                <a:cubicBezTo>
                  <a:pt x="51" y="90"/>
                  <a:pt x="55" y="90"/>
                  <a:pt x="57" y="89"/>
                </a:cubicBezTo>
                <a:cubicBezTo>
                  <a:pt x="60" y="89"/>
                  <a:pt x="61" y="89"/>
                  <a:pt x="62" y="89"/>
                </a:cubicBezTo>
                <a:lnTo>
                  <a:pt x="63" y="89"/>
                </a:lnTo>
                <a:lnTo>
                  <a:pt x="63" y="238"/>
                </a:lnTo>
                <a:cubicBezTo>
                  <a:pt x="64" y="241"/>
                  <a:pt x="66" y="242"/>
                  <a:pt x="68" y="243"/>
                </a:cubicBezTo>
                <a:cubicBezTo>
                  <a:pt x="69" y="243"/>
                  <a:pt x="74" y="244"/>
                  <a:pt x="81" y="244"/>
                </a:cubicBezTo>
                <a:lnTo>
                  <a:pt x="90" y="244"/>
                </a:lnTo>
                <a:lnTo>
                  <a:pt x="90" y="262"/>
                </a:lnTo>
                <a:lnTo>
                  <a:pt x="87" y="262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"/>
          <p:cNvSpPr/>
          <p:nvPr/>
        </p:nvSpPr>
        <p:spPr>
          <a:xfrm>
            <a:off x="6677640" y="5634000"/>
            <a:ext cx="32400" cy="94320"/>
          </a:xfrm>
          <a:custGeom>
            <a:avLst/>
            <a:gdLst/>
            <a:ahLst/>
            <a:rect l="0" t="0" r="r" b="b"/>
            <a:pathLst>
              <a:path fill="none" w="90" h="262">
                <a:moveTo>
                  <a:pt x="18" y="24"/>
                </a:moveTo>
                <a:cubicBezTo>
                  <a:pt x="18" y="16"/>
                  <a:pt x="20" y="11"/>
                  <a:pt x="25" y="6"/>
                </a:cubicBezTo>
                <a:cubicBezTo>
                  <a:pt x="29" y="2"/>
                  <a:pt x="35" y="0"/>
                  <a:pt x="42" y="0"/>
                </a:cubicBezTo>
                <a:cubicBezTo>
                  <a:pt x="48" y="1"/>
                  <a:pt x="53" y="3"/>
                  <a:pt x="57" y="7"/>
                </a:cubicBezTo>
                <a:cubicBezTo>
                  <a:pt x="62" y="11"/>
                  <a:pt x="64" y="16"/>
                  <a:pt x="64" y="24"/>
                </a:cubicBezTo>
                <a:cubicBezTo>
                  <a:pt x="64" y="31"/>
                  <a:pt x="62" y="37"/>
                  <a:pt x="57" y="41"/>
                </a:cubicBezTo>
                <a:cubicBezTo>
                  <a:pt x="53" y="45"/>
                  <a:pt x="47" y="47"/>
                  <a:pt x="41" y="47"/>
                </a:cubicBezTo>
                <a:cubicBezTo>
                  <a:pt x="34" y="47"/>
                  <a:pt x="29" y="45"/>
                  <a:pt x="25" y="41"/>
                </a:cubicBezTo>
                <a:cubicBezTo>
                  <a:pt x="20" y="37"/>
                  <a:pt x="18" y="31"/>
                  <a:pt x="18" y="24"/>
                </a:cubicBezTo>
                <a:moveTo>
                  <a:pt x="87" y="262"/>
                </a:moveTo>
                <a:cubicBezTo>
                  <a:pt x="83" y="262"/>
                  <a:pt x="70" y="261"/>
                  <a:pt x="46" y="261"/>
                </a:cubicBezTo>
                <a:cubicBezTo>
                  <a:pt x="44" y="261"/>
                  <a:pt x="39" y="261"/>
                  <a:pt x="32" y="261"/>
                </a:cubicBezTo>
                <a:cubicBezTo>
                  <a:pt x="25" y="261"/>
                  <a:pt x="19" y="261"/>
                  <a:pt x="12" y="262"/>
                </a:cubicBezTo>
                <a:lnTo>
                  <a:pt x="3" y="262"/>
                </a:lnTo>
                <a:lnTo>
                  <a:pt x="0" y="262"/>
                </a:lnTo>
                <a:lnTo>
                  <a:pt x="0" y="244"/>
                </a:lnTo>
                <a:lnTo>
                  <a:pt x="6" y="244"/>
                </a:lnTo>
                <a:cubicBezTo>
                  <a:pt x="14" y="244"/>
                  <a:pt x="21" y="244"/>
                  <a:pt x="26" y="243"/>
                </a:cubicBezTo>
                <a:cubicBezTo>
                  <a:pt x="28" y="242"/>
                  <a:pt x="30" y="241"/>
                  <a:pt x="30" y="239"/>
                </a:cubicBezTo>
                <a:cubicBezTo>
                  <a:pt x="31" y="237"/>
                  <a:pt x="31" y="232"/>
                  <a:pt x="31" y="222"/>
                </a:cubicBezTo>
                <a:lnTo>
                  <a:pt x="31" y="182"/>
                </a:lnTo>
                <a:lnTo>
                  <a:pt x="31" y="148"/>
                </a:lnTo>
                <a:cubicBezTo>
                  <a:pt x="31" y="133"/>
                  <a:pt x="31" y="125"/>
                  <a:pt x="30" y="121"/>
                </a:cubicBezTo>
                <a:cubicBezTo>
                  <a:pt x="30" y="118"/>
                  <a:pt x="28" y="115"/>
                  <a:pt x="25" y="114"/>
                </a:cubicBezTo>
                <a:cubicBezTo>
                  <a:pt x="21" y="112"/>
                  <a:pt x="15" y="111"/>
                  <a:pt x="6" y="111"/>
                </a:cubicBezTo>
                <a:lnTo>
                  <a:pt x="1" y="111"/>
                </a:lnTo>
                <a:lnTo>
                  <a:pt x="1" y="102"/>
                </a:lnTo>
                <a:cubicBezTo>
                  <a:pt x="1" y="96"/>
                  <a:pt x="2" y="93"/>
                  <a:pt x="2" y="93"/>
                </a:cubicBezTo>
                <a:lnTo>
                  <a:pt x="6" y="93"/>
                </a:lnTo>
                <a:cubicBezTo>
                  <a:pt x="10" y="92"/>
                  <a:pt x="13" y="92"/>
                  <a:pt x="18" y="92"/>
                </a:cubicBezTo>
                <a:cubicBezTo>
                  <a:pt x="23" y="92"/>
                  <a:pt x="27" y="91"/>
                  <a:pt x="32" y="91"/>
                </a:cubicBezTo>
                <a:cubicBezTo>
                  <a:pt x="36" y="91"/>
                  <a:pt x="41" y="91"/>
                  <a:pt x="46" y="90"/>
                </a:cubicBezTo>
                <a:cubicBezTo>
                  <a:pt x="51" y="90"/>
                  <a:pt x="55" y="90"/>
                  <a:pt x="57" y="89"/>
                </a:cubicBezTo>
                <a:cubicBezTo>
                  <a:pt x="60" y="89"/>
                  <a:pt x="61" y="89"/>
                  <a:pt x="62" y="89"/>
                </a:cubicBezTo>
                <a:lnTo>
                  <a:pt x="63" y="89"/>
                </a:lnTo>
                <a:lnTo>
                  <a:pt x="63" y="238"/>
                </a:lnTo>
                <a:cubicBezTo>
                  <a:pt x="64" y="241"/>
                  <a:pt x="66" y="242"/>
                  <a:pt x="68" y="243"/>
                </a:cubicBezTo>
                <a:cubicBezTo>
                  <a:pt x="69" y="243"/>
                  <a:pt x="74" y="244"/>
                  <a:pt x="81" y="244"/>
                </a:cubicBezTo>
                <a:lnTo>
                  <a:pt x="90" y="244"/>
                </a:lnTo>
                <a:lnTo>
                  <a:pt x="90" y="262"/>
                </a:lnTo>
                <a:lnTo>
                  <a:pt x="87" y="262"/>
                </a:ln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"/>
          <p:cNvSpPr/>
          <p:nvPr/>
        </p:nvSpPr>
        <p:spPr>
          <a:xfrm>
            <a:off x="6716520" y="5666040"/>
            <a:ext cx="73080" cy="62280"/>
          </a:xfrm>
          <a:custGeom>
            <a:avLst/>
            <a:gdLst/>
            <a:ahLst/>
            <a:rect l="0" t="0" r="r" b="b"/>
            <a:pathLst>
              <a:path w="203" h="173">
                <a:moveTo>
                  <a:pt x="6" y="154"/>
                </a:moveTo>
                <a:lnTo>
                  <a:pt x="12" y="154"/>
                </a:lnTo>
                <a:cubicBezTo>
                  <a:pt x="22" y="154"/>
                  <a:pt x="28" y="153"/>
                  <a:pt x="30" y="149"/>
                </a:cubicBezTo>
                <a:lnTo>
                  <a:pt x="30" y="146"/>
                </a:lnTo>
                <a:cubicBezTo>
                  <a:pt x="30" y="143"/>
                  <a:pt x="30" y="140"/>
                  <a:pt x="30" y="137"/>
                </a:cubicBezTo>
                <a:cubicBezTo>
                  <a:pt x="30" y="133"/>
                  <a:pt x="30" y="129"/>
                  <a:pt x="30" y="125"/>
                </a:cubicBezTo>
                <a:cubicBezTo>
                  <a:pt x="30" y="120"/>
                  <a:pt x="30" y="115"/>
                  <a:pt x="30" y="109"/>
                </a:cubicBezTo>
                <a:cubicBezTo>
                  <a:pt x="31" y="104"/>
                  <a:pt x="31" y="98"/>
                  <a:pt x="30" y="93"/>
                </a:cubicBezTo>
                <a:cubicBezTo>
                  <a:pt x="30" y="85"/>
                  <a:pt x="30" y="76"/>
                  <a:pt x="30" y="67"/>
                </a:cubicBezTo>
                <a:cubicBezTo>
                  <a:pt x="30" y="58"/>
                  <a:pt x="30" y="51"/>
                  <a:pt x="30" y="44"/>
                </a:cubicBezTo>
                <a:lnTo>
                  <a:pt x="30" y="35"/>
                </a:lnTo>
                <a:cubicBezTo>
                  <a:pt x="29" y="30"/>
                  <a:pt x="27" y="27"/>
                  <a:pt x="24" y="26"/>
                </a:cubicBezTo>
                <a:cubicBezTo>
                  <a:pt x="22" y="24"/>
                  <a:pt x="16" y="23"/>
                  <a:pt x="7" y="22"/>
                </a:cubicBezTo>
                <a:lnTo>
                  <a:pt x="0" y="22"/>
                </a:lnTo>
                <a:lnTo>
                  <a:pt x="0" y="13"/>
                </a:lnTo>
                <a:cubicBezTo>
                  <a:pt x="0" y="7"/>
                  <a:pt x="0" y="4"/>
                  <a:pt x="1" y="4"/>
                </a:cubicBezTo>
                <a:lnTo>
                  <a:pt x="5" y="4"/>
                </a:lnTo>
                <a:cubicBezTo>
                  <a:pt x="7" y="3"/>
                  <a:pt x="11" y="3"/>
                  <a:pt x="15" y="3"/>
                </a:cubicBezTo>
                <a:cubicBezTo>
                  <a:pt x="20" y="3"/>
                  <a:pt x="25" y="2"/>
                  <a:pt x="30" y="2"/>
                </a:cubicBezTo>
                <a:cubicBezTo>
                  <a:pt x="34" y="2"/>
                  <a:pt x="39" y="2"/>
                  <a:pt x="44" y="1"/>
                </a:cubicBezTo>
                <a:cubicBezTo>
                  <a:pt x="49" y="1"/>
                  <a:pt x="53" y="1"/>
                  <a:pt x="55" y="0"/>
                </a:cubicBezTo>
                <a:cubicBezTo>
                  <a:pt x="58" y="0"/>
                  <a:pt x="59" y="0"/>
                  <a:pt x="60" y="0"/>
                </a:cubicBezTo>
                <a:lnTo>
                  <a:pt x="61" y="0"/>
                </a:lnTo>
                <a:lnTo>
                  <a:pt x="61" y="15"/>
                </a:lnTo>
                <a:cubicBezTo>
                  <a:pt x="61" y="25"/>
                  <a:pt x="61" y="30"/>
                  <a:pt x="61" y="30"/>
                </a:cubicBezTo>
                <a:cubicBezTo>
                  <a:pt x="61" y="30"/>
                  <a:pt x="62" y="30"/>
                  <a:pt x="63" y="28"/>
                </a:cubicBezTo>
                <a:cubicBezTo>
                  <a:pt x="64" y="27"/>
                  <a:pt x="66" y="25"/>
                  <a:pt x="68" y="22"/>
                </a:cubicBezTo>
                <a:cubicBezTo>
                  <a:pt x="70" y="20"/>
                  <a:pt x="72" y="17"/>
                  <a:pt x="75" y="15"/>
                </a:cubicBezTo>
                <a:cubicBezTo>
                  <a:pt x="78" y="13"/>
                  <a:pt x="82" y="11"/>
                  <a:pt x="87" y="8"/>
                </a:cubicBezTo>
                <a:cubicBezTo>
                  <a:pt x="91" y="5"/>
                  <a:pt x="96" y="3"/>
                  <a:pt x="101" y="2"/>
                </a:cubicBezTo>
                <a:cubicBezTo>
                  <a:pt x="107" y="0"/>
                  <a:pt x="113" y="0"/>
                  <a:pt x="121" y="0"/>
                </a:cubicBezTo>
                <a:cubicBezTo>
                  <a:pt x="152" y="1"/>
                  <a:pt x="168" y="16"/>
                  <a:pt x="172" y="44"/>
                </a:cubicBezTo>
                <a:cubicBezTo>
                  <a:pt x="172" y="46"/>
                  <a:pt x="172" y="64"/>
                  <a:pt x="172" y="98"/>
                </a:cubicBezTo>
                <a:lnTo>
                  <a:pt x="172" y="132"/>
                </a:lnTo>
                <a:cubicBezTo>
                  <a:pt x="172" y="142"/>
                  <a:pt x="172" y="147"/>
                  <a:pt x="173" y="149"/>
                </a:cubicBezTo>
                <a:cubicBezTo>
                  <a:pt x="174" y="151"/>
                  <a:pt x="175" y="152"/>
                  <a:pt x="177" y="153"/>
                </a:cubicBezTo>
                <a:cubicBezTo>
                  <a:pt x="183" y="154"/>
                  <a:pt x="189" y="154"/>
                  <a:pt x="196" y="154"/>
                </a:cubicBezTo>
                <a:lnTo>
                  <a:pt x="203" y="154"/>
                </a:lnTo>
                <a:lnTo>
                  <a:pt x="203" y="173"/>
                </a:lnTo>
                <a:lnTo>
                  <a:pt x="200" y="173"/>
                </a:lnTo>
                <a:lnTo>
                  <a:pt x="190" y="173"/>
                </a:lnTo>
                <a:cubicBezTo>
                  <a:pt x="184" y="173"/>
                  <a:pt x="178" y="173"/>
                  <a:pt x="171" y="173"/>
                </a:cubicBezTo>
                <a:cubicBezTo>
                  <a:pt x="164" y="173"/>
                  <a:pt x="159" y="172"/>
                  <a:pt x="156" y="172"/>
                </a:cubicBezTo>
                <a:cubicBezTo>
                  <a:pt x="128" y="172"/>
                  <a:pt x="113" y="173"/>
                  <a:pt x="111" y="173"/>
                </a:cubicBezTo>
                <a:lnTo>
                  <a:pt x="108" y="173"/>
                </a:lnTo>
                <a:lnTo>
                  <a:pt x="108" y="154"/>
                </a:lnTo>
                <a:lnTo>
                  <a:pt x="114" y="154"/>
                </a:lnTo>
                <a:cubicBezTo>
                  <a:pt x="130" y="154"/>
                  <a:pt x="139" y="152"/>
                  <a:pt x="139" y="148"/>
                </a:cubicBezTo>
                <a:cubicBezTo>
                  <a:pt x="139" y="148"/>
                  <a:pt x="139" y="130"/>
                  <a:pt x="139" y="94"/>
                </a:cubicBezTo>
                <a:cubicBezTo>
                  <a:pt x="139" y="59"/>
                  <a:pt x="139" y="41"/>
                  <a:pt x="139" y="38"/>
                </a:cubicBezTo>
                <a:cubicBezTo>
                  <a:pt x="136" y="31"/>
                  <a:pt x="133" y="26"/>
                  <a:pt x="130" y="22"/>
                </a:cubicBezTo>
                <a:cubicBezTo>
                  <a:pt x="126" y="18"/>
                  <a:pt x="123" y="16"/>
                  <a:pt x="120" y="15"/>
                </a:cubicBezTo>
                <a:cubicBezTo>
                  <a:pt x="118" y="15"/>
                  <a:pt x="114" y="14"/>
                  <a:pt x="110" y="15"/>
                </a:cubicBezTo>
                <a:cubicBezTo>
                  <a:pt x="99" y="15"/>
                  <a:pt x="88" y="19"/>
                  <a:pt x="79" y="28"/>
                </a:cubicBezTo>
                <a:cubicBezTo>
                  <a:pt x="72" y="35"/>
                  <a:pt x="68" y="42"/>
                  <a:pt x="66" y="49"/>
                </a:cubicBezTo>
                <a:cubicBezTo>
                  <a:pt x="64" y="57"/>
                  <a:pt x="63" y="67"/>
                  <a:pt x="63" y="82"/>
                </a:cubicBezTo>
                <a:lnTo>
                  <a:pt x="63" y="107"/>
                </a:lnTo>
                <a:lnTo>
                  <a:pt x="63" y="130"/>
                </a:lnTo>
                <a:cubicBezTo>
                  <a:pt x="63" y="138"/>
                  <a:pt x="63" y="143"/>
                  <a:pt x="63" y="146"/>
                </a:cubicBezTo>
                <a:cubicBezTo>
                  <a:pt x="64" y="148"/>
                  <a:pt x="64" y="150"/>
                  <a:pt x="65" y="151"/>
                </a:cubicBezTo>
                <a:cubicBezTo>
                  <a:pt x="65" y="152"/>
                  <a:pt x="66" y="152"/>
                  <a:pt x="68" y="153"/>
                </a:cubicBezTo>
                <a:cubicBezTo>
                  <a:pt x="74" y="154"/>
                  <a:pt x="80" y="154"/>
                  <a:pt x="87" y="154"/>
                </a:cubicBezTo>
                <a:lnTo>
                  <a:pt x="94" y="154"/>
                </a:lnTo>
                <a:lnTo>
                  <a:pt x="94" y="173"/>
                </a:lnTo>
                <a:lnTo>
                  <a:pt x="90" y="173"/>
                </a:lnTo>
                <a:lnTo>
                  <a:pt x="81" y="173"/>
                </a:lnTo>
                <a:cubicBezTo>
                  <a:pt x="75" y="173"/>
                  <a:pt x="69" y="173"/>
                  <a:pt x="62" y="173"/>
                </a:cubicBezTo>
                <a:cubicBezTo>
                  <a:pt x="55" y="173"/>
                  <a:pt x="50" y="172"/>
                  <a:pt x="47" y="172"/>
                </a:cubicBezTo>
                <a:cubicBezTo>
                  <a:pt x="20" y="172"/>
                  <a:pt x="5" y="173"/>
                  <a:pt x="3" y="173"/>
                </a:cubicBezTo>
                <a:lnTo>
                  <a:pt x="0" y="173"/>
                </a:lnTo>
                <a:lnTo>
                  <a:pt x="0" y="154"/>
                </a:lnTo>
                <a:lnTo>
                  <a:pt x="6" y="154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4" name=""/>
          <p:cNvSpPr/>
          <p:nvPr/>
        </p:nvSpPr>
        <p:spPr>
          <a:xfrm>
            <a:off x="6716520" y="5666040"/>
            <a:ext cx="73080" cy="62280"/>
          </a:xfrm>
          <a:custGeom>
            <a:avLst/>
            <a:gdLst/>
            <a:ahLst/>
            <a:rect l="0" t="0" r="r" b="b"/>
            <a:pathLst>
              <a:path fill="none" w="203" h="173">
                <a:moveTo>
                  <a:pt x="6" y="154"/>
                </a:moveTo>
                <a:lnTo>
                  <a:pt x="12" y="154"/>
                </a:lnTo>
                <a:cubicBezTo>
                  <a:pt x="22" y="154"/>
                  <a:pt x="28" y="153"/>
                  <a:pt x="30" y="149"/>
                </a:cubicBezTo>
                <a:lnTo>
                  <a:pt x="30" y="146"/>
                </a:lnTo>
                <a:cubicBezTo>
                  <a:pt x="30" y="143"/>
                  <a:pt x="30" y="140"/>
                  <a:pt x="30" y="137"/>
                </a:cubicBezTo>
                <a:cubicBezTo>
                  <a:pt x="30" y="133"/>
                  <a:pt x="30" y="129"/>
                  <a:pt x="30" y="125"/>
                </a:cubicBezTo>
                <a:cubicBezTo>
                  <a:pt x="30" y="120"/>
                  <a:pt x="30" y="115"/>
                  <a:pt x="30" y="109"/>
                </a:cubicBezTo>
                <a:cubicBezTo>
                  <a:pt x="31" y="104"/>
                  <a:pt x="31" y="98"/>
                  <a:pt x="30" y="93"/>
                </a:cubicBezTo>
                <a:cubicBezTo>
                  <a:pt x="30" y="85"/>
                  <a:pt x="30" y="76"/>
                  <a:pt x="30" y="67"/>
                </a:cubicBezTo>
                <a:cubicBezTo>
                  <a:pt x="30" y="58"/>
                  <a:pt x="30" y="51"/>
                  <a:pt x="30" y="44"/>
                </a:cubicBezTo>
                <a:lnTo>
                  <a:pt x="30" y="35"/>
                </a:lnTo>
                <a:cubicBezTo>
                  <a:pt x="29" y="30"/>
                  <a:pt x="27" y="27"/>
                  <a:pt x="24" y="26"/>
                </a:cubicBezTo>
                <a:cubicBezTo>
                  <a:pt x="22" y="24"/>
                  <a:pt x="16" y="23"/>
                  <a:pt x="7" y="22"/>
                </a:cubicBezTo>
                <a:lnTo>
                  <a:pt x="0" y="22"/>
                </a:lnTo>
                <a:lnTo>
                  <a:pt x="0" y="13"/>
                </a:lnTo>
                <a:cubicBezTo>
                  <a:pt x="0" y="7"/>
                  <a:pt x="0" y="4"/>
                  <a:pt x="1" y="4"/>
                </a:cubicBezTo>
                <a:lnTo>
                  <a:pt x="5" y="4"/>
                </a:lnTo>
                <a:cubicBezTo>
                  <a:pt x="7" y="3"/>
                  <a:pt x="11" y="3"/>
                  <a:pt x="15" y="3"/>
                </a:cubicBezTo>
                <a:cubicBezTo>
                  <a:pt x="20" y="3"/>
                  <a:pt x="25" y="2"/>
                  <a:pt x="30" y="2"/>
                </a:cubicBezTo>
                <a:cubicBezTo>
                  <a:pt x="34" y="2"/>
                  <a:pt x="39" y="2"/>
                  <a:pt x="44" y="1"/>
                </a:cubicBezTo>
                <a:cubicBezTo>
                  <a:pt x="49" y="1"/>
                  <a:pt x="53" y="1"/>
                  <a:pt x="55" y="0"/>
                </a:cubicBezTo>
                <a:cubicBezTo>
                  <a:pt x="58" y="0"/>
                  <a:pt x="59" y="0"/>
                  <a:pt x="60" y="0"/>
                </a:cubicBezTo>
                <a:lnTo>
                  <a:pt x="61" y="0"/>
                </a:lnTo>
                <a:lnTo>
                  <a:pt x="61" y="15"/>
                </a:lnTo>
                <a:cubicBezTo>
                  <a:pt x="61" y="25"/>
                  <a:pt x="61" y="30"/>
                  <a:pt x="61" y="30"/>
                </a:cubicBezTo>
                <a:cubicBezTo>
                  <a:pt x="61" y="30"/>
                  <a:pt x="62" y="30"/>
                  <a:pt x="63" y="28"/>
                </a:cubicBezTo>
                <a:cubicBezTo>
                  <a:pt x="64" y="27"/>
                  <a:pt x="66" y="25"/>
                  <a:pt x="68" y="22"/>
                </a:cubicBezTo>
                <a:cubicBezTo>
                  <a:pt x="70" y="20"/>
                  <a:pt x="72" y="17"/>
                  <a:pt x="75" y="15"/>
                </a:cubicBezTo>
                <a:cubicBezTo>
                  <a:pt x="78" y="13"/>
                  <a:pt x="82" y="11"/>
                  <a:pt x="87" y="8"/>
                </a:cubicBezTo>
                <a:cubicBezTo>
                  <a:pt x="91" y="5"/>
                  <a:pt x="96" y="3"/>
                  <a:pt x="101" y="2"/>
                </a:cubicBezTo>
                <a:cubicBezTo>
                  <a:pt x="107" y="0"/>
                  <a:pt x="113" y="0"/>
                  <a:pt x="121" y="0"/>
                </a:cubicBezTo>
                <a:cubicBezTo>
                  <a:pt x="152" y="1"/>
                  <a:pt x="168" y="16"/>
                  <a:pt x="172" y="44"/>
                </a:cubicBezTo>
                <a:cubicBezTo>
                  <a:pt x="172" y="46"/>
                  <a:pt x="172" y="64"/>
                  <a:pt x="172" y="98"/>
                </a:cubicBezTo>
                <a:lnTo>
                  <a:pt x="172" y="132"/>
                </a:lnTo>
                <a:cubicBezTo>
                  <a:pt x="172" y="142"/>
                  <a:pt x="172" y="147"/>
                  <a:pt x="173" y="149"/>
                </a:cubicBezTo>
                <a:cubicBezTo>
                  <a:pt x="174" y="151"/>
                  <a:pt x="175" y="152"/>
                  <a:pt x="177" y="153"/>
                </a:cubicBezTo>
                <a:cubicBezTo>
                  <a:pt x="183" y="154"/>
                  <a:pt x="189" y="154"/>
                  <a:pt x="196" y="154"/>
                </a:cubicBezTo>
                <a:lnTo>
                  <a:pt x="203" y="154"/>
                </a:lnTo>
                <a:lnTo>
                  <a:pt x="203" y="173"/>
                </a:lnTo>
                <a:lnTo>
                  <a:pt x="200" y="173"/>
                </a:lnTo>
                <a:lnTo>
                  <a:pt x="190" y="173"/>
                </a:lnTo>
                <a:cubicBezTo>
                  <a:pt x="184" y="173"/>
                  <a:pt x="178" y="173"/>
                  <a:pt x="171" y="173"/>
                </a:cubicBezTo>
                <a:cubicBezTo>
                  <a:pt x="164" y="173"/>
                  <a:pt x="159" y="172"/>
                  <a:pt x="156" y="172"/>
                </a:cubicBezTo>
                <a:cubicBezTo>
                  <a:pt x="128" y="172"/>
                  <a:pt x="113" y="173"/>
                  <a:pt x="111" y="173"/>
                </a:cubicBezTo>
                <a:lnTo>
                  <a:pt x="108" y="173"/>
                </a:lnTo>
                <a:lnTo>
                  <a:pt x="108" y="154"/>
                </a:lnTo>
                <a:lnTo>
                  <a:pt x="114" y="154"/>
                </a:lnTo>
                <a:cubicBezTo>
                  <a:pt x="130" y="154"/>
                  <a:pt x="139" y="152"/>
                  <a:pt x="139" y="148"/>
                </a:cubicBezTo>
                <a:cubicBezTo>
                  <a:pt x="139" y="148"/>
                  <a:pt x="139" y="130"/>
                  <a:pt x="139" y="94"/>
                </a:cubicBezTo>
                <a:cubicBezTo>
                  <a:pt x="139" y="59"/>
                  <a:pt x="139" y="41"/>
                  <a:pt x="139" y="38"/>
                </a:cubicBezTo>
                <a:cubicBezTo>
                  <a:pt x="136" y="31"/>
                  <a:pt x="133" y="26"/>
                  <a:pt x="130" y="22"/>
                </a:cubicBezTo>
                <a:cubicBezTo>
                  <a:pt x="126" y="18"/>
                  <a:pt x="123" y="16"/>
                  <a:pt x="120" y="15"/>
                </a:cubicBezTo>
                <a:cubicBezTo>
                  <a:pt x="118" y="15"/>
                  <a:pt x="114" y="14"/>
                  <a:pt x="110" y="15"/>
                </a:cubicBezTo>
                <a:cubicBezTo>
                  <a:pt x="99" y="15"/>
                  <a:pt x="88" y="19"/>
                  <a:pt x="79" y="28"/>
                </a:cubicBezTo>
                <a:cubicBezTo>
                  <a:pt x="72" y="35"/>
                  <a:pt x="68" y="42"/>
                  <a:pt x="66" y="49"/>
                </a:cubicBezTo>
                <a:cubicBezTo>
                  <a:pt x="64" y="57"/>
                  <a:pt x="63" y="67"/>
                  <a:pt x="63" y="82"/>
                </a:cubicBezTo>
                <a:lnTo>
                  <a:pt x="63" y="107"/>
                </a:lnTo>
                <a:lnTo>
                  <a:pt x="63" y="130"/>
                </a:lnTo>
                <a:cubicBezTo>
                  <a:pt x="63" y="138"/>
                  <a:pt x="63" y="143"/>
                  <a:pt x="63" y="146"/>
                </a:cubicBezTo>
                <a:cubicBezTo>
                  <a:pt x="64" y="148"/>
                  <a:pt x="64" y="150"/>
                  <a:pt x="65" y="151"/>
                </a:cubicBezTo>
                <a:cubicBezTo>
                  <a:pt x="65" y="152"/>
                  <a:pt x="66" y="152"/>
                  <a:pt x="68" y="153"/>
                </a:cubicBezTo>
                <a:cubicBezTo>
                  <a:pt x="74" y="154"/>
                  <a:pt x="80" y="154"/>
                  <a:pt x="87" y="154"/>
                </a:cubicBezTo>
                <a:lnTo>
                  <a:pt x="94" y="154"/>
                </a:lnTo>
                <a:lnTo>
                  <a:pt x="94" y="173"/>
                </a:lnTo>
                <a:lnTo>
                  <a:pt x="90" y="173"/>
                </a:lnTo>
                <a:lnTo>
                  <a:pt x="81" y="173"/>
                </a:lnTo>
                <a:cubicBezTo>
                  <a:pt x="75" y="173"/>
                  <a:pt x="69" y="173"/>
                  <a:pt x="62" y="173"/>
                </a:cubicBezTo>
                <a:cubicBezTo>
                  <a:pt x="55" y="173"/>
                  <a:pt x="50" y="172"/>
                  <a:pt x="47" y="172"/>
                </a:cubicBezTo>
                <a:cubicBezTo>
                  <a:pt x="20" y="172"/>
                  <a:pt x="5" y="173"/>
                  <a:pt x="3" y="173"/>
                </a:cubicBezTo>
                <a:lnTo>
                  <a:pt x="0" y="173"/>
                </a:lnTo>
                <a:lnTo>
                  <a:pt x="0" y="154"/>
                </a:lnTo>
                <a:lnTo>
                  <a:pt x="6" y="154"/>
                </a:ln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"/>
          <p:cNvSpPr/>
          <p:nvPr/>
        </p:nvSpPr>
        <p:spPr>
          <a:xfrm>
            <a:off x="6804360" y="5622840"/>
            <a:ext cx="33840" cy="140760"/>
          </a:xfrm>
          <a:custGeom>
            <a:avLst/>
            <a:gdLst/>
            <a:ahLst/>
            <a:rect l="0" t="0" r="r" b="b"/>
            <a:pathLst>
              <a:path w="94" h="391">
                <a:moveTo>
                  <a:pt x="0" y="196"/>
                </a:moveTo>
                <a:cubicBezTo>
                  <a:pt x="0" y="178"/>
                  <a:pt x="1" y="160"/>
                  <a:pt x="4" y="144"/>
                </a:cubicBezTo>
                <a:cubicBezTo>
                  <a:pt x="6" y="127"/>
                  <a:pt x="9" y="114"/>
                  <a:pt x="13" y="102"/>
                </a:cubicBezTo>
                <a:cubicBezTo>
                  <a:pt x="16" y="90"/>
                  <a:pt x="21" y="79"/>
                  <a:pt x="28" y="67"/>
                </a:cubicBezTo>
                <a:cubicBezTo>
                  <a:pt x="34" y="56"/>
                  <a:pt x="39" y="48"/>
                  <a:pt x="43" y="41"/>
                </a:cubicBezTo>
                <a:cubicBezTo>
                  <a:pt x="47" y="35"/>
                  <a:pt x="52" y="28"/>
                  <a:pt x="59" y="21"/>
                </a:cubicBezTo>
                <a:cubicBezTo>
                  <a:pt x="67" y="14"/>
                  <a:pt x="71" y="9"/>
                  <a:pt x="72" y="8"/>
                </a:cubicBezTo>
                <a:cubicBezTo>
                  <a:pt x="74" y="6"/>
                  <a:pt x="77" y="3"/>
                  <a:pt x="82" y="0"/>
                </a:cubicBezTo>
                <a:lnTo>
                  <a:pt x="87" y="0"/>
                </a:lnTo>
                <a:lnTo>
                  <a:pt x="89" y="0"/>
                </a:lnTo>
                <a:cubicBezTo>
                  <a:pt x="92" y="0"/>
                  <a:pt x="94" y="1"/>
                  <a:pt x="94" y="3"/>
                </a:cubicBezTo>
                <a:cubicBezTo>
                  <a:pt x="94" y="4"/>
                  <a:pt x="92" y="7"/>
                  <a:pt x="87" y="11"/>
                </a:cubicBezTo>
                <a:cubicBezTo>
                  <a:pt x="83" y="16"/>
                  <a:pt x="78" y="23"/>
                  <a:pt x="71" y="32"/>
                </a:cubicBezTo>
                <a:cubicBezTo>
                  <a:pt x="65" y="41"/>
                  <a:pt x="59" y="52"/>
                  <a:pt x="52" y="66"/>
                </a:cubicBezTo>
                <a:cubicBezTo>
                  <a:pt x="46" y="79"/>
                  <a:pt x="40" y="97"/>
                  <a:pt x="36" y="119"/>
                </a:cubicBezTo>
                <a:cubicBezTo>
                  <a:pt x="32" y="142"/>
                  <a:pt x="29" y="167"/>
                  <a:pt x="29" y="196"/>
                </a:cubicBezTo>
                <a:cubicBezTo>
                  <a:pt x="29" y="223"/>
                  <a:pt x="32" y="248"/>
                  <a:pt x="36" y="271"/>
                </a:cubicBezTo>
                <a:cubicBezTo>
                  <a:pt x="40" y="293"/>
                  <a:pt x="46" y="311"/>
                  <a:pt x="52" y="325"/>
                </a:cubicBezTo>
                <a:cubicBezTo>
                  <a:pt x="58" y="339"/>
                  <a:pt x="65" y="350"/>
                  <a:pt x="71" y="358"/>
                </a:cubicBezTo>
                <a:cubicBezTo>
                  <a:pt x="78" y="367"/>
                  <a:pt x="83" y="374"/>
                  <a:pt x="87" y="379"/>
                </a:cubicBezTo>
                <a:cubicBezTo>
                  <a:pt x="92" y="384"/>
                  <a:pt x="94" y="387"/>
                  <a:pt x="94" y="387"/>
                </a:cubicBezTo>
                <a:cubicBezTo>
                  <a:pt x="94" y="390"/>
                  <a:pt x="92" y="391"/>
                  <a:pt x="88" y="391"/>
                </a:cubicBezTo>
                <a:lnTo>
                  <a:pt x="87" y="391"/>
                </a:lnTo>
                <a:lnTo>
                  <a:pt x="82" y="391"/>
                </a:lnTo>
                <a:lnTo>
                  <a:pt x="71" y="382"/>
                </a:lnTo>
                <a:cubicBezTo>
                  <a:pt x="47" y="359"/>
                  <a:pt x="29" y="332"/>
                  <a:pt x="17" y="299"/>
                </a:cubicBezTo>
                <a:cubicBezTo>
                  <a:pt x="5" y="266"/>
                  <a:pt x="0" y="231"/>
                  <a:pt x="0" y="196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"/>
          <p:cNvSpPr/>
          <p:nvPr/>
        </p:nvSpPr>
        <p:spPr>
          <a:xfrm>
            <a:off x="6804360" y="5622840"/>
            <a:ext cx="33840" cy="140760"/>
          </a:xfrm>
          <a:custGeom>
            <a:avLst/>
            <a:gdLst/>
            <a:ahLst/>
            <a:rect l="0" t="0" r="r" b="b"/>
            <a:pathLst>
              <a:path fill="none" w="94" h="391">
                <a:moveTo>
                  <a:pt x="0" y="196"/>
                </a:moveTo>
                <a:cubicBezTo>
                  <a:pt x="0" y="178"/>
                  <a:pt x="1" y="160"/>
                  <a:pt x="4" y="144"/>
                </a:cubicBezTo>
                <a:cubicBezTo>
                  <a:pt x="6" y="127"/>
                  <a:pt x="9" y="114"/>
                  <a:pt x="13" y="102"/>
                </a:cubicBezTo>
                <a:cubicBezTo>
                  <a:pt x="16" y="90"/>
                  <a:pt x="21" y="79"/>
                  <a:pt x="28" y="67"/>
                </a:cubicBezTo>
                <a:cubicBezTo>
                  <a:pt x="34" y="56"/>
                  <a:pt x="39" y="48"/>
                  <a:pt x="43" y="41"/>
                </a:cubicBezTo>
                <a:cubicBezTo>
                  <a:pt x="47" y="35"/>
                  <a:pt x="52" y="28"/>
                  <a:pt x="59" y="21"/>
                </a:cubicBezTo>
                <a:cubicBezTo>
                  <a:pt x="67" y="14"/>
                  <a:pt x="71" y="9"/>
                  <a:pt x="72" y="8"/>
                </a:cubicBezTo>
                <a:cubicBezTo>
                  <a:pt x="74" y="6"/>
                  <a:pt x="77" y="3"/>
                  <a:pt x="82" y="0"/>
                </a:cubicBezTo>
                <a:lnTo>
                  <a:pt x="87" y="0"/>
                </a:lnTo>
                <a:lnTo>
                  <a:pt x="89" y="0"/>
                </a:lnTo>
                <a:cubicBezTo>
                  <a:pt x="92" y="0"/>
                  <a:pt x="94" y="1"/>
                  <a:pt x="94" y="3"/>
                </a:cubicBezTo>
                <a:cubicBezTo>
                  <a:pt x="94" y="4"/>
                  <a:pt x="92" y="7"/>
                  <a:pt x="87" y="11"/>
                </a:cubicBezTo>
                <a:cubicBezTo>
                  <a:pt x="83" y="16"/>
                  <a:pt x="78" y="23"/>
                  <a:pt x="71" y="32"/>
                </a:cubicBezTo>
                <a:cubicBezTo>
                  <a:pt x="65" y="41"/>
                  <a:pt x="59" y="52"/>
                  <a:pt x="52" y="66"/>
                </a:cubicBezTo>
                <a:cubicBezTo>
                  <a:pt x="46" y="79"/>
                  <a:pt x="40" y="97"/>
                  <a:pt x="36" y="119"/>
                </a:cubicBezTo>
                <a:cubicBezTo>
                  <a:pt x="32" y="142"/>
                  <a:pt x="29" y="167"/>
                  <a:pt x="29" y="196"/>
                </a:cubicBezTo>
                <a:cubicBezTo>
                  <a:pt x="29" y="223"/>
                  <a:pt x="32" y="248"/>
                  <a:pt x="36" y="271"/>
                </a:cubicBezTo>
                <a:cubicBezTo>
                  <a:pt x="40" y="293"/>
                  <a:pt x="46" y="311"/>
                  <a:pt x="52" y="325"/>
                </a:cubicBezTo>
                <a:cubicBezTo>
                  <a:pt x="58" y="339"/>
                  <a:pt x="65" y="350"/>
                  <a:pt x="71" y="358"/>
                </a:cubicBezTo>
                <a:cubicBezTo>
                  <a:pt x="78" y="367"/>
                  <a:pt x="83" y="374"/>
                  <a:pt x="87" y="379"/>
                </a:cubicBezTo>
                <a:cubicBezTo>
                  <a:pt x="92" y="384"/>
                  <a:pt x="94" y="387"/>
                  <a:pt x="94" y="387"/>
                </a:cubicBezTo>
                <a:cubicBezTo>
                  <a:pt x="94" y="390"/>
                  <a:pt x="92" y="391"/>
                  <a:pt x="88" y="391"/>
                </a:cubicBezTo>
                <a:lnTo>
                  <a:pt x="87" y="391"/>
                </a:lnTo>
                <a:lnTo>
                  <a:pt x="82" y="391"/>
                </a:lnTo>
                <a:lnTo>
                  <a:pt x="71" y="382"/>
                </a:lnTo>
                <a:cubicBezTo>
                  <a:pt x="47" y="359"/>
                  <a:pt x="29" y="332"/>
                  <a:pt x="17" y="299"/>
                </a:cubicBezTo>
                <a:cubicBezTo>
                  <a:pt x="5" y="266"/>
                  <a:pt x="0" y="231"/>
                  <a:pt x="0" y="196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"/>
          <p:cNvSpPr/>
          <p:nvPr/>
        </p:nvSpPr>
        <p:spPr>
          <a:xfrm>
            <a:off x="6851520" y="5630400"/>
            <a:ext cx="54000" cy="99720"/>
          </a:xfrm>
          <a:custGeom>
            <a:avLst/>
            <a:gdLst/>
            <a:ahLst/>
            <a:rect l="0" t="0" r="r" b="b"/>
            <a:pathLst>
              <a:path w="150" h="277">
                <a:moveTo>
                  <a:pt x="12" y="19"/>
                </a:moveTo>
                <a:cubicBezTo>
                  <a:pt x="12" y="16"/>
                  <a:pt x="13" y="13"/>
                  <a:pt x="14" y="10"/>
                </a:cubicBezTo>
                <a:cubicBezTo>
                  <a:pt x="15" y="6"/>
                  <a:pt x="17" y="5"/>
                  <a:pt x="19" y="5"/>
                </a:cubicBezTo>
                <a:cubicBezTo>
                  <a:pt x="19" y="5"/>
                  <a:pt x="28" y="4"/>
                  <a:pt x="47" y="3"/>
                </a:cubicBezTo>
                <a:cubicBezTo>
                  <a:pt x="65" y="1"/>
                  <a:pt x="75" y="1"/>
                  <a:pt x="75" y="0"/>
                </a:cubicBezTo>
                <a:cubicBezTo>
                  <a:pt x="78" y="0"/>
                  <a:pt x="80" y="2"/>
                  <a:pt x="80" y="4"/>
                </a:cubicBezTo>
                <a:cubicBezTo>
                  <a:pt x="80" y="6"/>
                  <a:pt x="76" y="25"/>
                  <a:pt x="67" y="60"/>
                </a:cubicBezTo>
                <a:cubicBezTo>
                  <a:pt x="65" y="69"/>
                  <a:pt x="62" y="78"/>
                  <a:pt x="60" y="87"/>
                </a:cubicBezTo>
                <a:cubicBezTo>
                  <a:pt x="58" y="96"/>
                  <a:pt x="56" y="103"/>
                  <a:pt x="54" y="108"/>
                </a:cubicBezTo>
                <a:lnTo>
                  <a:pt x="53" y="116"/>
                </a:lnTo>
                <a:lnTo>
                  <a:pt x="55" y="114"/>
                </a:lnTo>
                <a:cubicBezTo>
                  <a:pt x="68" y="104"/>
                  <a:pt x="81" y="99"/>
                  <a:pt x="94" y="99"/>
                </a:cubicBezTo>
                <a:cubicBezTo>
                  <a:pt x="111" y="99"/>
                  <a:pt x="125" y="105"/>
                  <a:pt x="134" y="117"/>
                </a:cubicBezTo>
                <a:cubicBezTo>
                  <a:pt x="144" y="129"/>
                  <a:pt x="149" y="144"/>
                  <a:pt x="150" y="162"/>
                </a:cubicBezTo>
                <a:cubicBezTo>
                  <a:pt x="150" y="192"/>
                  <a:pt x="139" y="218"/>
                  <a:pt x="119" y="241"/>
                </a:cubicBezTo>
                <a:cubicBezTo>
                  <a:pt x="97" y="265"/>
                  <a:pt x="75" y="277"/>
                  <a:pt x="51" y="277"/>
                </a:cubicBezTo>
                <a:cubicBezTo>
                  <a:pt x="38" y="277"/>
                  <a:pt x="27" y="272"/>
                  <a:pt x="16" y="262"/>
                </a:cubicBezTo>
                <a:cubicBezTo>
                  <a:pt x="5" y="252"/>
                  <a:pt x="0" y="236"/>
                  <a:pt x="0" y="214"/>
                </a:cubicBezTo>
                <a:lnTo>
                  <a:pt x="0" y="210"/>
                </a:lnTo>
                <a:cubicBezTo>
                  <a:pt x="0" y="205"/>
                  <a:pt x="1" y="197"/>
                  <a:pt x="3" y="188"/>
                </a:cubicBezTo>
                <a:cubicBezTo>
                  <a:pt x="5" y="178"/>
                  <a:pt x="11" y="151"/>
                  <a:pt x="22" y="110"/>
                </a:cubicBezTo>
                <a:cubicBezTo>
                  <a:pt x="35" y="58"/>
                  <a:pt x="41" y="31"/>
                  <a:pt x="41" y="28"/>
                </a:cubicBezTo>
                <a:cubicBezTo>
                  <a:pt x="41" y="25"/>
                  <a:pt x="36" y="23"/>
                  <a:pt x="26" y="23"/>
                </a:cubicBezTo>
                <a:cubicBezTo>
                  <a:pt x="25" y="23"/>
                  <a:pt x="24" y="23"/>
                  <a:pt x="23" y="23"/>
                </a:cubicBezTo>
                <a:lnTo>
                  <a:pt x="21" y="23"/>
                </a:lnTo>
                <a:cubicBezTo>
                  <a:pt x="19" y="23"/>
                  <a:pt x="17" y="23"/>
                  <a:pt x="16" y="23"/>
                </a:cubicBezTo>
                <a:cubicBezTo>
                  <a:pt x="16" y="23"/>
                  <a:pt x="15" y="22"/>
                  <a:pt x="14" y="22"/>
                </a:cubicBezTo>
                <a:cubicBezTo>
                  <a:pt x="13" y="21"/>
                  <a:pt x="12" y="20"/>
                  <a:pt x="12" y="19"/>
                </a:cubicBezTo>
                <a:moveTo>
                  <a:pt x="116" y="144"/>
                </a:moveTo>
                <a:lnTo>
                  <a:pt x="116" y="142"/>
                </a:lnTo>
                <a:cubicBezTo>
                  <a:pt x="116" y="123"/>
                  <a:pt x="107" y="113"/>
                  <a:pt x="91" y="113"/>
                </a:cubicBezTo>
                <a:cubicBezTo>
                  <a:pt x="87" y="113"/>
                  <a:pt x="82" y="114"/>
                  <a:pt x="78" y="116"/>
                </a:cubicBezTo>
                <a:cubicBezTo>
                  <a:pt x="73" y="118"/>
                  <a:pt x="69" y="121"/>
                  <a:pt x="65" y="125"/>
                </a:cubicBezTo>
                <a:cubicBezTo>
                  <a:pt x="61" y="128"/>
                  <a:pt x="57" y="131"/>
                  <a:pt x="55" y="134"/>
                </a:cubicBezTo>
                <a:cubicBezTo>
                  <a:pt x="52" y="137"/>
                  <a:pt x="49" y="140"/>
                  <a:pt x="48" y="143"/>
                </a:cubicBezTo>
                <a:lnTo>
                  <a:pt x="45" y="146"/>
                </a:lnTo>
                <a:lnTo>
                  <a:pt x="37" y="180"/>
                </a:lnTo>
                <a:cubicBezTo>
                  <a:pt x="31" y="203"/>
                  <a:pt x="28" y="218"/>
                  <a:pt x="28" y="228"/>
                </a:cubicBezTo>
                <a:cubicBezTo>
                  <a:pt x="28" y="240"/>
                  <a:pt x="32" y="250"/>
                  <a:pt x="38" y="256"/>
                </a:cubicBezTo>
                <a:cubicBezTo>
                  <a:pt x="42" y="260"/>
                  <a:pt x="47" y="262"/>
                  <a:pt x="53" y="262"/>
                </a:cubicBezTo>
                <a:cubicBezTo>
                  <a:pt x="62" y="262"/>
                  <a:pt x="71" y="258"/>
                  <a:pt x="80" y="250"/>
                </a:cubicBezTo>
                <a:cubicBezTo>
                  <a:pt x="86" y="244"/>
                  <a:pt x="91" y="236"/>
                  <a:pt x="95" y="228"/>
                </a:cubicBezTo>
                <a:cubicBezTo>
                  <a:pt x="99" y="219"/>
                  <a:pt x="103" y="206"/>
                  <a:pt x="108" y="187"/>
                </a:cubicBezTo>
                <a:cubicBezTo>
                  <a:pt x="113" y="167"/>
                  <a:pt x="116" y="153"/>
                  <a:pt x="116" y="144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8" name=""/>
          <p:cNvSpPr/>
          <p:nvPr/>
        </p:nvSpPr>
        <p:spPr>
          <a:xfrm>
            <a:off x="6851520" y="5630400"/>
            <a:ext cx="54000" cy="99720"/>
          </a:xfrm>
          <a:custGeom>
            <a:avLst/>
            <a:gdLst/>
            <a:ahLst/>
            <a:rect l="0" t="0" r="r" b="b"/>
            <a:pathLst>
              <a:path fill="none" w="150" h="277">
                <a:moveTo>
                  <a:pt x="12" y="19"/>
                </a:moveTo>
                <a:cubicBezTo>
                  <a:pt x="12" y="16"/>
                  <a:pt x="13" y="13"/>
                  <a:pt x="14" y="10"/>
                </a:cubicBezTo>
                <a:cubicBezTo>
                  <a:pt x="15" y="6"/>
                  <a:pt x="17" y="5"/>
                  <a:pt x="19" y="5"/>
                </a:cubicBezTo>
                <a:cubicBezTo>
                  <a:pt x="19" y="5"/>
                  <a:pt x="28" y="4"/>
                  <a:pt x="47" y="3"/>
                </a:cubicBezTo>
                <a:cubicBezTo>
                  <a:pt x="65" y="1"/>
                  <a:pt x="75" y="1"/>
                  <a:pt x="75" y="0"/>
                </a:cubicBezTo>
                <a:cubicBezTo>
                  <a:pt x="78" y="0"/>
                  <a:pt x="80" y="2"/>
                  <a:pt x="80" y="4"/>
                </a:cubicBezTo>
                <a:cubicBezTo>
                  <a:pt x="80" y="6"/>
                  <a:pt x="76" y="25"/>
                  <a:pt x="67" y="60"/>
                </a:cubicBezTo>
                <a:cubicBezTo>
                  <a:pt x="65" y="69"/>
                  <a:pt x="62" y="78"/>
                  <a:pt x="60" y="87"/>
                </a:cubicBezTo>
                <a:cubicBezTo>
                  <a:pt x="58" y="96"/>
                  <a:pt x="56" y="103"/>
                  <a:pt x="54" y="108"/>
                </a:cubicBezTo>
                <a:lnTo>
                  <a:pt x="53" y="116"/>
                </a:lnTo>
                <a:lnTo>
                  <a:pt x="55" y="114"/>
                </a:lnTo>
                <a:cubicBezTo>
                  <a:pt x="68" y="104"/>
                  <a:pt x="81" y="99"/>
                  <a:pt x="94" y="99"/>
                </a:cubicBezTo>
                <a:cubicBezTo>
                  <a:pt x="111" y="99"/>
                  <a:pt x="125" y="105"/>
                  <a:pt x="134" y="117"/>
                </a:cubicBezTo>
                <a:cubicBezTo>
                  <a:pt x="144" y="129"/>
                  <a:pt x="149" y="144"/>
                  <a:pt x="150" y="162"/>
                </a:cubicBezTo>
                <a:cubicBezTo>
                  <a:pt x="150" y="192"/>
                  <a:pt x="139" y="218"/>
                  <a:pt x="119" y="241"/>
                </a:cubicBezTo>
                <a:cubicBezTo>
                  <a:pt x="97" y="265"/>
                  <a:pt x="75" y="277"/>
                  <a:pt x="51" y="277"/>
                </a:cubicBezTo>
                <a:cubicBezTo>
                  <a:pt x="38" y="277"/>
                  <a:pt x="27" y="272"/>
                  <a:pt x="16" y="262"/>
                </a:cubicBezTo>
                <a:cubicBezTo>
                  <a:pt x="5" y="252"/>
                  <a:pt x="0" y="236"/>
                  <a:pt x="0" y="214"/>
                </a:cubicBezTo>
                <a:lnTo>
                  <a:pt x="0" y="210"/>
                </a:lnTo>
                <a:cubicBezTo>
                  <a:pt x="0" y="205"/>
                  <a:pt x="1" y="197"/>
                  <a:pt x="3" y="188"/>
                </a:cubicBezTo>
                <a:cubicBezTo>
                  <a:pt x="5" y="178"/>
                  <a:pt x="11" y="151"/>
                  <a:pt x="22" y="110"/>
                </a:cubicBezTo>
                <a:cubicBezTo>
                  <a:pt x="35" y="58"/>
                  <a:pt x="41" y="31"/>
                  <a:pt x="41" y="28"/>
                </a:cubicBezTo>
                <a:cubicBezTo>
                  <a:pt x="41" y="25"/>
                  <a:pt x="36" y="23"/>
                  <a:pt x="26" y="23"/>
                </a:cubicBezTo>
                <a:cubicBezTo>
                  <a:pt x="25" y="23"/>
                  <a:pt x="24" y="23"/>
                  <a:pt x="23" y="23"/>
                </a:cubicBezTo>
                <a:lnTo>
                  <a:pt x="21" y="23"/>
                </a:lnTo>
                <a:cubicBezTo>
                  <a:pt x="19" y="23"/>
                  <a:pt x="17" y="23"/>
                  <a:pt x="16" y="23"/>
                </a:cubicBezTo>
                <a:cubicBezTo>
                  <a:pt x="16" y="23"/>
                  <a:pt x="15" y="22"/>
                  <a:pt x="14" y="22"/>
                </a:cubicBezTo>
                <a:cubicBezTo>
                  <a:pt x="13" y="21"/>
                  <a:pt x="12" y="20"/>
                  <a:pt x="12" y="19"/>
                </a:cubicBezTo>
                <a:moveTo>
                  <a:pt x="116" y="144"/>
                </a:moveTo>
                <a:lnTo>
                  <a:pt x="116" y="142"/>
                </a:lnTo>
                <a:cubicBezTo>
                  <a:pt x="116" y="123"/>
                  <a:pt x="107" y="113"/>
                  <a:pt x="91" y="113"/>
                </a:cubicBezTo>
                <a:cubicBezTo>
                  <a:pt x="87" y="113"/>
                  <a:pt x="82" y="114"/>
                  <a:pt x="78" y="116"/>
                </a:cubicBezTo>
                <a:cubicBezTo>
                  <a:pt x="73" y="118"/>
                  <a:pt x="69" y="121"/>
                  <a:pt x="65" y="125"/>
                </a:cubicBezTo>
                <a:cubicBezTo>
                  <a:pt x="61" y="128"/>
                  <a:pt x="57" y="131"/>
                  <a:pt x="55" y="134"/>
                </a:cubicBezTo>
                <a:cubicBezTo>
                  <a:pt x="52" y="137"/>
                  <a:pt x="49" y="140"/>
                  <a:pt x="48" y="143"/>
                </a:cubicBezTo>
                <a:lnTo>
                  <a:pt x="45" y="146"/>
                </a:lnTo>
                <a:lnTo>
                  <a:pt x="37" y="180"/>
                </a:lnTo>
                <a:cubicBezTo>
                  <a:pt x="31" y="203"/>
                  <a:pt x="28" y="218"/>
                  <a:pt x="28" y="228"/>
                </a:cubicBezTo>
                <a:cubicBezTo>
                  <a:pt x="28" y="240"/>
                  <a:pt x="32" y="250"/>
                  <a:pt x="38" y="256"/>
                </a:cubicBezTo>
                <a:cubicBezTo>
                  <a:pt x="42" y="260"/>
                  <a:pt x="47" y="262"/>
                  <a:pt x="53" y="262"/>
                </a:cubicBezTo>
                <a:cubicBezTo>
                  <a:pt x="62" y="262"/>
                  <a:pt x="71" y="258"/>
                  <a:pt x="80" y="250"/>
                </a:cubicBezTo>
                <a:cubicBezTo>
                  <a:pt x="86" y="244"/>
                  <a:pt x="91" y="236"/>
                  <a:pt x="95" y="228"/>
                </a:cubicBezTo>
                <a:cubicBezTo>
                  <a:pt x="99" y="219"/>
                  <a:pt x="103" y="206"/>
                  <a:pt x="108" y="187"/>
                </a:cubicBezTo>
                <a:cubicBezTo>
                  <a:pt x="113" y="167"/>
                  <a:pt x="116" y="153"/>
                  <a:pt x="116" y="144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"/>
          <p:cNvSpPr/>
          <p:nvPr/>
        </p:nvSpPr>
        <p:spPr>
          <a:xfrm>
            <a:off x="6917040" y="5711040"/>
            <a:ext cx="18720" cy="44640"/>
          </a:xfrm>
          <a:custGeom>
            <a:avLst/>
            <a:gdLst/>
            <a:ahLst/>
            <a:rect l="0" t="0" r="r" b="b"/>
            <a:pathLst>
              <a:path w="52" h="124">
                <a:moveTo>
                  <a:pt x="0" y="34"/>
                </a:moveTo>
                <a:cubicBezTo>
                  <a:pt x="0" y="34"/>
                  <a:pt x="0" y="30"/>
                  <a:pt x="0" y="24"/>
                </a:cubicBezTo>
                <a:cubicBezTo>
                  <a:pt x="0" y="17"/>
                  <a:pt x="2" y="12"/>
                  <a:pt x="6" y="7"/>
                </a:cubicBezTo>
                <a:cubicBezTo>
                  <a:pt x="10" y="2"/>
                  <a:pt x="16" y="0"/>
                  <a:pt x="23" y="0"/>
                </a:cubicBezTo>
                <a:cubicBezTo>
                  <a:pt x="30" y="0"/>
                  <a:pt x="37" y="3"/>
                  <a:pt x="43" y="10"/>
                </a:cubicBezTo>
                <a:cubicBezTo>
                  <a:pt x="49" y="16"/>
                  <a:pt x="52" y="28"/>
                  <a:pt x="52" y="44"/>
                </a:cubicBezTo>
                <a:cubicBezTo>
                  <a:pt x="52" y="53"/>
                  <a:pt x="51" y="63"/>
                  <a:pt x="49" y="72"/>
                </a:cubicBezTo>
                <a:cubicBezTo>
                  <a:pt x="46" y="80"/>
                  <a:pt x="44" y="88"/>
                  <a:pt x="41" y="94"/>
                </a:cubicBezTo>
                <a:cubicBezTo>
                  <a:pt x="37" y="100"/>
                  <a:pt x="33" y="106"/>
                  <a:pt x="29" y="110"/>
                </a:cubicBezTo>
                <a:cubicBezTo>
                  <a:pt x="26" y="114"/>
                  <a:pt x="23" y="118"/>
                  <a:pt x="20" y="121"/>
                </a:cubicBezTo>
                <a:cubicBezTo>
                  <a:pt x="18" y="123"/>
                  <a:pt x="16" y="124"/>
                  <a:pt x="15" y="124"/>
                </a:cubicBezTo>
                <a:cubicBezTo>
                  <a:pt x="14" y="124"/>
                  <a:pt x="12" y="123"/>
                  <a:pt x="10" y="121"/>
                </a:cubicBezTo>
                <a:cubicBezTo>
                  <a:pt x="8" y="118"/>
                  <a:pt x="6" y="116"/>
                  <a:pt x="6" y="115"/>
                </a:cubicBezTo>
                <a:cubicBezTo>
                  <a:pt x="6" y="114"/>
                  <a:pt x="8" y="112"/>
                  <a:pt x="11" y="109"/>
                </a:cubicBezTo>
                <a:cubicBezTo>
                  <a:pt x="14" y="106"/>
                  <a:pt x="17" y="102"/>
                  <a:pt x="21" y="97"/>
                </a:cubicBezTo>
                <a:cubicBezTo>
                  <a:pt x="24" y="93"/>
                  <a:pt x="28" y="86"/>
                  <a:pt x="31" y="78"/>
                </a:cubicBezTo>
                <a:cubicBezTo>
                  <a:pt x="34" y="70"/>
                  <a:pt x="36" y="60"/>
                  <a:pt x="37" y="48"/>
                </a:cubicBezTo>
                <a:lnTo>
                  <a:pt x="37" y="44"/>
                </a:lnTo>
                <a:cubicBezTo>
                  <a:pt x="36" y="44"/>
                  <a:pt x="35" y="45"/>
                  <a:pt x="35" y="45"/>
                </a:cubicBezTo>
                <a:cubicBezTo>
                  <a:pt x="34" y="45"/>
                  <a:pt x="33" y="46"/>
                  <a:pt x="32" y="46"/>
                </a:cubicBezTo>
                <a:cubicBezTo>
                  <a:pt x="31" y="47"/>
                  <a:pt x="30" y="47"/>
                  <a:pt x="29" y="47"/>
                </a:cubicBezTo>
                <a:cubicBezTo>
                  <a:pt x="27" y="47"/>
                  <a:pt x="26" y="47"/>
                  <a:pt x="24" y="47"/>
                </a:cubicBezTo>
                <a:cubicBezTo>
                  <a:pt x="17" y="47"/>
                  <a:pt x="11" y="45"/>
                  <a:pt x="7" y="41"/>
                </a:cubicBezTo>
                <a:lnTo>
                  <a:pt x="0" y="34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"/>
          <p:cNvSpPr/>
          <p:nvPr/>
        </p:nvSpPr>
        <p:spPr>
          <a:xfrm>
            <a:off x="6917040" y="5711040"/>
            <a:ext cx="18720" cy="44640"/>
          </a:xfrm>
          <a:custGeom>
            <a:avLst/>
            <a:gdLst/>
            <a:ahLst/>
            <a:rect l="0" t="0" r="r" b="b"/>
            <a:pathLst>
              <a:path fill="none" w="52" h="124">
                <a:moveTo>
                  <a:pt x="0" y="34"/>
                </a:moveTo>
                <a:cubicBezTo>
                  <a:pt x="0" y="34"/>
                  <a:pt x="0" y="30"/>
                  <a:pt x="0" y="24"/>
                </a:cubicBezTo>
                <a:cubicBezTo>
                  <a:pt x="0" y="17"/>
                  <a:pt x="2" y="12"/>
                  <a:pt x="6" y="7"/>
                </a:cubicBezTo>
                <a:cubicBezTo>
                  <a:pt x="10" y="2"/>
                  <a:pt x="16" y="0"/>
                  <a:pt x="23" y="0"/>
                </a:cubicBezTo>
                <a:cubicBezTo>
                  <a:pt x="30" y="0"/>
                  <a:pt x="37" y="3"/>
                  <a:pt x="43" y="10"/>
                </a:cubicBezTo>
                <a:cubicBezTo>
                  <a:pt x="49" y="16"/>
                  <a:pt x="52" y="28"/>
                  <a:pt x="52" y="44"/>
                </a:cubicBezTo>
                <a:cubicBezTo>
                  <a:pt x="52" y="53"/>
                  <a:pt x="51" y="63"/>
                  <a:pt x="49" y="72"/>
                </a:cubicBezTo>
                <a:cubicBezTo>
                  <a:pt x="46" y="80"/>
                  <a:pt x="44" y="88"/>
                  <a:pt x="41" y="94"/>
                </a:cubicBezTo>
                <a:cubicBezTo>
                  <a:pt x="37" y="100"/>
                  <a:pt x="33" y="106"/>
                  <a:pt x="29" y="110"/>
                </a:cubicBezTo>
                <a:cubicBezTo>
                  <a:pt x="26" y="114"/>
                  <a:pt x="23" y="118"/>
                  <a:pt x="20" y="121"/>
                </a:cubicBezTo>
                <a:cubicBezTo>
                  <a:pt x="18" y="123"/>
                  <a:pt x="16" y="124"/>
                  <a:pt x="15" y="124"/>
                </a:cubicBezTo>
                <a:cubicBezTo>
                  <a:pt x="14" y="124"/>
                  <a:pt x="12" y="123"/>
                  <a:pt x="10" y="121"/>
                </a:cubicBezTo>
                <a:cubicBezTo>
                  <a:pt x="8" y="118"/>
                  <a:pt x="6" y="116"/>
                  <a:pt x="6" y="115"/>
                </a:cubicBezTo>
                <a:cubicBezTo>
                  <a:pt x="6" y="114"/>
                  <a:pt x="8" y="112"/>
                  <a:pt x="11" y="109"/>
                </a:cubicBezTo>
                <a:cubicBezTo>
                  <a:pt x="14" y="106"/>
                  <a:pt x="17" y="102"/>
                  <a:pt x="21" y="97"/>
                </a:cubicBezTo>
                <a:cubicBezTo>
                  <a:pt x="24" y="93"/>
                  <a:pt x="28" y="86"/>
                  <a:pt x="31" y="78"/>
                </a:cubicBezTo>
                <a:cubicBezTo>
                  <a:pt x="34" y="70"/>
                  <a:pt x="36" y="60"/>
                  <a:pt x="37" y="48"/>
                </a:cubicBezTo>
                <a:lnTo>
                  <a:pt x="37" y="44"/>
                </a:lnTo>
                <a:cubicBezTo>
                  <a:pt x="36" y="44"/>
                  <a:pt x="35" y="45"/>
                  <a:pt x="35" y="45"/>
                </a:cubicBezTo>
                <a:cubicBezTo>
                  <a:pt x="34" y="45"/>
                  <a:pt x="33" y="46"/>
                  <a:pt x="32" y="46"/>
                </a:cubicBezTo>
                <a:cubicBezTo>
                  <a:pt x="31" y="47"/>
                  <a:pt x="30" y="47"/>
                  <a:pt x="29" y="47"/>
                </a:cubicBezTo>
                <a:cubicBezTo>
                  <a:pt x="27" y="47"/>
                  <a:pt x="26" y="47"/>
                  <a:pt x="24" y="47"/>
                </a:cubicBezTo>
                <a:cubicBezTo>
                  <a:pt x="17" y="47"/>
                  <a:pt x="11" y="45"/>
                  <a:pt x="7" y="41"/>
                </a:cubicBezTo>
                <a:lnTo>
                  <a:pt x="0" y="34"/>
                </a:ln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1" name=""/>
          <p:cNvSpPr/>
          <p:nvPr/>
        </p:nvSpPr>
        <p:spPr>
          <a:xfrm>
            <a:off x="6949800" y="5666040"/>
            <a:ext cx="55800" cy="64080"/>
          </a:xfrm>
          <a:custGeom>
            <a:avLst/>
            <a:gdLst/>
            <a:ahLst/>
            <a:rect l="0" t="0" r="r" b="b"/>
            <a:pathLst>
              <a:path w="155" h="178">
                <a:moveTo>
                  <a:pt x="0" y="111"/>
                </a:moveTo>
                <a:cubicBezTo>
                  <a:pt x="0" y="83"/>
                  <a:pt x="11" y="57"/>
                  <a:pt x="35" y="35"/>
                </a:cubicBezTo>
                <a:cubicBezTo>
                  <a:pt x="57" y="11"/>
                  <a:pt x="81" y="0"/>
                  <a:pt x="107" y="0"/>
                </a:cubicBezTo>
                <a:cubicBezTo>
                  <a:pt x="122" y="0"/>
                  <a:pt x="133" y="3"/>
                  <a:pt x="142" y="9"/>
                </a:cubicBezTo>
                <a:cubicBezTo>
                  <a:pt x="150" y="16"/>
                  <a:pt x="154" y="25"/>
                  <a:pt x="155" y="35"/>
                </a:cubicBezTo>
                <a:cubicBezTo>
                  <a:pt x="155" y="42"/>
                  <a:pt x="152" y="49"/>
                  <a:pt x="147" y="54"/>
                </a:cubicBezTo>
                <a:cubicBezTo>
                  <a:pt x="142" y="59"/>
                  <a:pt x="136" y="62"/>
                  <a:pt x="128" y="62"/>
                </a:cubicBezTo>
                <a:cubicBezTo>
                  <a:pt x="123" y="62"/>
                  <a:pt x="120" y="61"/>
                  <a:pt x="117" y="58"/>
                </a:cubicBezTo>
                <a:cubicBezTo>
                  <a:pt x="114" y="56"/>
                  <a:pt x="112" y="52"/>
                  <a:pt x="112" y="46"/>
                </a:cubicBezTo>
                <a:cubicBezTo>
                  <a:pt x="112" y="41"/>
                  <a:pt x="114" y="37"/>
                  <a:pt x="117" y="33"/>
                </a:cubicBezTo>
                <a:cubicBezTo>
                  <a:pt x="120" y="30"/>
                  <a:pt x="122" y="27"/>
                  <a:pt x="125" y="25"/>
                </a:cubicBezTo>
                <a:cubicBezTo>
                  <a:pt x="128" y="23"/>
                  <a:pt x="130" y="22"/>
                  <a:pt x="131" y="23"/>
                </a:cubicBezTo>
                <a:cubicBezTo>
                  <a:pt x="131" y="22"/>
                  <a:pt x="130" y="21"/>
                  <a:pt x="129" y="20"/>
                </a:cubicBezTo>
                <a:cubicBezTo>
                  <a:pt x="127" y="19"/>
                  <a:pt x="124" y="18"/>
                  <a:pt x="121" y="17"/>
                </a:cubicBezTo>
                <a:cubicBezTo>
                  <a:pt x="117" y="16"/>
                  <a:pt x="112" y="16"/>
                  <a:pt x="107" y="16"/>
                </a:cubicBezTo>
                <a:cubicBezTo>
                  <a:pt x="100" y="16"/>
                  <a:pt x="92" y="17"/>
                  <a:pt x="85" y="21"/>
                </a:cubicBezTo>
                <a:cubicBezTo>
                  <a:pt x="80" y="23"/>
                  <a:pt x="74" y="27"/>
                  <a:pt x="68" y="33"/>
                </a:cubicBezTo>
                <a:cubicBezTo>
                  <a:pt x="57" y="45"/>
                  <a:pt x="49" y="61"/>
                  <a:pt x="43" y="82"/>
                </a:cubicBezTo>
                <a:cubicBezTo>
                  <a:pt x="38" y="102"/>
                  <a:pt x="35" y="117"/>
                  <a:pt x="35" y="127"/>
                </a:cubicBezTo>
                <a:cubicBezTo>
                  <a:pt x="35" y="139"/>
                  <a:pt x="38" y="148"/>
                  <a:pt x="45" y="154"/>
                </a:cubicBezTo>
                <a:cubicBezTo>
                  <a:pt x="51" y="160"/>
                  <a:pt x="59" y="163"/>
                  <a:pt x="68" y="163"/>
                </a:cubicBezTo>
                <a:lnTo>
                  <a:pt x="69" y="163"/>
                </a:lnTo>
                <a:cubicBezTo>
                  <a:pt x="99" y="163"/>
                  <a:pt x="123" y="152"/>
                  <a:pt x="142" y="130"/>
                </a:cubicBezTo>
                <a:cubicBezTo>
                  <a:pt x="144" y="127"/>
                  <a:pt x="146" y="126"/>
                  <a:pt x="146" y="126"/>
                </a:cubicBezTo>
                <a:cubicBezTo>
                  <a:pt x="147" y="126"/>
                  <a:pt x="149" y="127"/>
                  <a:pt x="151" y="130"/>
                </a:cubicBezTo>
                <a:cubicBezTo>
                  <a:pt x="154" y="132"/>
                  <a:pt x="155" y="134"/>
                  <a:pt x="155" y="135"/>
                </a:cubicBezTo>
                <a:cubicBezTo>
                  <a:pt x="156" y="136"/>
                  <a:pt x="154" y="138"/>
                  <a:pt x="152" y="141"/>
                </a:cubicBezTo>
                <a:cubicBezTo>
                  <a:pt x="149" y="144"/>
                  <a:pt x="145" y="147"/>
                  <a:pt x="140" y="152"/>
                </a:cubicBezTo>
                <a:cubicBezTo>
                  <a:pt x="136" y="157"/>
                  <a:pt x="130" y="160"/>
                  <a:pt x="123" y="164"/>
                </a:cubicBezTo>
                <a:cubicBezTo>
                  <a:pt x="116" y="167"/>
                  <a:pt x="108" y="170"/>
                  <a:pt x="98" y="173"/>
                </a:cubicBezTo>
                <a:cubicBezTo>
                  <a:pt x="88" y="177"/>
                  <a:pt x="78" y="178"/>
                  <a:pt x="67" y="178"/>
                </a:cubicBezTo>
                <a:cubicBezTo>
                  <a:pt x="47" y="178"/>
                  <a:pt x="31" y="171"/>
                  <a:pt x="18" y="159"/>
                </a:cubicBezTo>
                <a:cubicBezTo>
                  <a:pt x="7" y="146"/>
                  <a:pt x="0" y="130"/>
                  <a:pt x="0" y="111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2" name=""/>
          <p:cNvSpPr/>
          <p:nvPr/>
        </p:nvSpPr>
        <p:spPr>
          <a:xfrm>
            <a:off x="6949800" y="5666040"/>
            <a:ext cx="55800" cy="64080"/>
          </a:xfrm>
          <a:custGeom>
            <a:avLst/>
            <a:gdLst/>
            <a:ahLst/>
            <a:rect l="0" t="0" r="r" b="b"/>
            <a:pathLst>
              <a:path fill="none" w="155" h="178">
                <a:moveTo>
                  <a:pt x="0" y="111"/>
                </a:moveTo>
                <a:cubicBezTo>
                  <a:pt x="0" y="83"/>
                  <a:pt x="11" y="57"/>
                  <a:pt x="35" y="35"/>
                </a:cubicBezTo>
                <a:cubicBezTo>
                  <a:pt x="57" y="11"/>
                  <a:pt x="81" y="0"/>
                  <a:pt x="107" y="0"/>
                </a:cubicBezTo>
                <a:cubicBezTo>
                  <a:pt x="122" y="0"/>
                  <a:pt x="133" y="3"/>
                  <a:pt x="142" y="9"/>
                </a:cubicBezTo>
                <a:cubicBezTo>
                  <a:pt x="150" y="16"/>
                  <a:pt x="154" y="25"/>
                  <a:pt x="155" y="35"/>
                </a:cubicBezTo>
                <a:cubicBezTo>
                  <a:pt x="155" y="42"/>
                  <a:pt x="152" y="49"/>
                  <a:pt x="147" y="54"/>
                </a:cubicBezTo>
                <a:cubicBezTo>
                  <a:pt x="142" y="59"/>
                  <a:pt x="136" y="62"/>
                  <a:pt x="128" y="62"/>
                </a:cubicBezTo>
                <a:cubicBezTo>
                  <a:pt x="123" y="62"/>
                  <a:pt x="120" y="61"/>
                  <a:pt x="117" y="58"/>
                </a:cubicBezTo>
                <a:cubicBezTo>
                  <a:pt x="114" y="56"/>
                  <a:pt x="112" y="52"/>
                  <a:pt x="112" y="46"/>
                </a:cubicBezTo>
                <a:cubicBezTo>
                  <a:pt x="112" y="41"/>
                  <a:pt x="114" y="37"/>
                  <a:pt x="117" y="33"/>
                </a:cubicBezTo>
                <a:cubicBezTo>
                  <a:pt x="120" y="30"/>
                  <a:pt x="122" y="27"/>
                  <a:pt x="125" y="25"/>
                </a:cubicBezTo>
                <a:cubicBezTo>
                  <a:pt x="128" y="23"/>
                  <a:pt x="130" y="22"/>
                  <a:pt x="131" y="23"/>
                </a:cubicBezTo>
                <a:cubicBezTo>
                  <a:pt x="131" y="22"/>
                  <a:pt x="130" y="21"/>
                  <a:pt x="129" y="20"/>
                </a:cubicBezTo>
                <a:cubicBezTo>
                  <a:pt x="127" y="19"/>
                  <a:pt x="124" y="18"/>
                  <a:pt x="121" y="17"/>
                </a:cubicBezTo>
                <a:cubicBezTo>
                  <a:pt x="117" y="16"/>
                  <a:pt x="112" y="16"/>
                  <a:pt x="107" y="16"/>
                </a:cubicBezTo>
                <a:cubicBezTo>
                  <a:pt x="100" y="16"/>
                  <a:pt x="92" y="17"/>
                  <a:pt x="85" y="21"/>
                </a:cubicBezTo>
                <a:cubicBezTo>
                  <a:pt x="80" y="23"/>
                  <a:pt x="74" y="27"/>
                  <a:pt x="68" y="33"/>
                </a:cubicBezTo>
                <a:cubicBezTo>
                  <a:pt x="57" y="45"/>
                  <a:pt x="49" y="61"/>
                  <a:pt x="43" y="82"/>
                </a:cubicBezTo>
                <a:cubicBezTo>
                  <a:pt x="38" y="102"/>
                  <a:pt x="35" y="117"/>
                  <a:pt x="35" y="127"/>
                </a:cubicBezTo>
                <a:cubicBezTo>
                  <a:pt x="35" y="139"/>
                  <a:pt x="38" y="148"/>
                  <a:pt x="45" y="154"/>
                </a:cubicBezTo>
                <a:cubicBezTo>
                  <a:pt x="51" y="160"/>
                  <a:pt x="59" y="163"/>
                  <a:pt x="68" y="163"/>
                </a:cubicBezTo>
                <a:lnTo>
                  <a:pt x="69" y="163"/>
                </a:lnTo>
                <a:cubicBezTo>
                  <a:pt x="99" y="163"/>
                  <a:pt x="123" y="152"/>
                  <a:pt x="142" y="130"/>
                </a:cubicBezTo>
                <a:cubicBezTo>
                  <a:pt x="144" y="127"/>
                  <a:pt x="146" y="126"/>
                  <a:pt x="146" y="126"/>
                </a:cubicBezTo>
                <a:cubicBezTo>
                  <a:pt x="147" y="126"/>
                  <a:pt x="149" y="127"/>
                  <a:pt x="151" y="130"/>
                </a:cubicBezTo>
                <a:cubicBezTo>
                  <a:pt x="154" y="132"/>
                  <a:pt x="155" y="134"/>
                  <a:pt x="155" y="135"/>
                </a:cubicBezTo>
                <a:cubicBezTo>
                  <a:pt x="156" y="136"/>
                  <a:pt x="154" y="138"/>
                  <a:pt x="152" y="141"/>
                </a:cubicBezTo>
                <a:cubicBezTo>
                  <a:pt x="149" y="144"/>
                  <a:pt x="145" y="147"/>
                  <a:pt x="140" y="152"/>
                </a:cubicBezTo>
                <a:cubicBezTo>
                  <a:pt x="136" y="157"/>
                  <a:pt x="130" y="160"/>
                  <a:pt x="123" y="164"/>
                </a:cubicBezTo>
                <a:cubicBezTo>
                  <a:pt x="116" y="167"/>
                  <a:pt x="108" y="170"/>
                  <a:pt x="98" y="173"/>
                </a:cubicBezTo>
                <a:cubicBezTo>
                  <a:pt x="88" y="177"/>
                  <a:pt x="78" y="178"/>
                  <a:pt x="67" y="178"/>
                </a:cubicBezTo>
                <a:cubicBezTo>
                  <a:pt x="47" y="178"/>
                  <a:pt x="31" y="171"/>
                  <a:pt x="18" y="159"/>
                </a:cubicBezTo>
                <a:cubicBezTo>
                  <a:pt x="7" y="146"/>
                  <a:pt x="0" y="130"/>
                  <a:pt x="0" y="111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"/>
          <p:cNvSpPr/>
          <p:nvPr/>
        </p:nvSpPr>
        <p:spPr>
          <a:xfrm>
            <a:off x="7013520" y="5622840"/>
            <a:ext cx="34200" cy="140760"/>
          </a:xfrm>
          <a:custGeom>
            <a:avLst/>
            <a:gdLst/>
            <a:ahLst/>
            <a:rect l="0" t="0" r="r" b="b"/>
            <a:pathLst>
              <a:path w="95" h="391">
                <a:moveTo>
                  <a:pt x="3" y="0"/>
                </a:moveTo>
                <a:lnTo>
                  <a:pt x="5" y="0"/>
                </a:lnTo>
                <a:cubicBezTo>
                  <a:pt x="6" y="0"/>
                  <a:pt x="7" y="0"/>
                  <a:pt x="9" y="0"/>
                </a:cubicBezTo>
                <a:lnTo>
                  <a:pt x="13" y="0"/>
                </a:lnTo>
                <a:lnTo>
                  <a:pt x="24" y="9"/>
                </a:lnTo>
                <a:cubicBezTo>
                  <a:pt x="49" y="31"/>
                  <a:pt x="67" y="59"/>
                  <a:pt x="78" y="92"/>
                </a:cubicBezTo>
                <a:cubicBezTo>
                  <a:pt x="89" y="125"/>
                  <a:pt x="95" y="159"/>
                  <a:pt x="95" y="196"/>
                </a:cubicBezTo>
                <a:cubicBezTo>
                  <a:pt x="95" y="213"/>
                  <a:pt x="93" y="230"/>
                  <a:pt x="91" y="247"/>
                </a:cubicBezTo>
                <a:cubicBezTo>
                  <a:pt x="88" y="263"/>
                  <a:pt x="85" y="277"/>
                  <a:pt x="82" y="289"/>
                </a:cubicBezTo>
                <a:cubicBezTo>
                  <a:pt x="78" y="300"/>
                  <a:pt x="74" y="312"/>
                  <a:pt x="67" y="323"/>
                </a:cubicBezTo>
                <a:cubicBezTo>
                  <a:pt x="61" y="334"/>
                  <a:pt x="56" y="343"/>
                  <a:pt x="52" y="349"/>
                </a:cubicBezTo>
                <a:cubicBezTo>
                  <a:pt x="49" y="355"/>
                  <a:pt x="43" y="362"/>
                  <a:pt x="36" y="369"/>
                </a:cubicBezTo>
                <a:cubicBezTo>
                  <a:pt x="29" y="376"/>
                  <a:pt x="25" y="381"/>
                  <a:pt x="24" y="382"/>
                </a:cubicBezTo>
                <a:cubicBezTo>
                  <a:pt x="23" y="383"/>
                  <a:pt x="20" y="386"/>
                  <a:pt x="15" y="389"/>
                </a:cubicBezTo>
                <a:cubicBezTo>
                  <a:pt x="14" y="390"/>
                  <a:pt x="14" y="391"/>
                  <a:pt x="13" y="391"/>
                </a:cubicBezTo>
                <a:lnTo>
                  <a:pt x="9" y="391"/>
                </a:lnTo>
                <a:cubicBezTo>
                  <a:pt x="7" y="391"/>
                  <a:pt x="5" y="391"/>
                  <a:pt x="4" y="391"/>
                </a:cubicBezTo>
                <a:lnTo>
                  <a:pt x="3" y="390"/>
                </a:lnTo>
                <a:cubicBezTo>
                  <a:pt x="1" y="389"/>
                  <a:pt x="1" y="388"/>
                  <a:pt x="0" y="386"/>
                </a:cubicBezTo>
                <a:cubicBezTo>
                  <a:pt x="1" y="386"/>
                  <a:pt x="3" y="384"/>
                  <a:pt x="6" y="381"/>
                </a:cubicBezTo>
                <a:cubicBezTo>
                  <a:pt x="46" y="339"/>
                  <a:pt x="66" y="277"/>
                  <a:pt x="66" y="196"/>
                </a:cubicBezTo>
                <a:cubicBezTo>
                  <a:pt x="66" y="113"/>
                  <a:pt x="46" y="51"/>
                  <a:pt x="6" y="9"/>
                </a:cubicBezTo>
                <a:cubicBezTo>
                  <a:pt x="3" y="6"/>
                  <a:pt x="1" y="5"/>
                  <a:pt x="0" y="4"/>
                </a:cubicBezTo>
                <a:cubicBezTo>
                  <a:pt x="0" y="2"/>
                  <a:pt x="1" y="1"/>
                  <a:pt x="3" y="0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"/>
          <p:cNvSpPr/>
          <p:nvPr/>
        </p:nvSpPr>
        <p:spPr>
          <a:xfrm>
            <a:off x="7013520" y="5622840"/>
            <a:ext cx="34200" cy="140760"/>
          </a:xfrm>
          <a:custGeom>
            <a:avLst/>
            <a:gdLst/>
            <a:ahLst/>
            <a:rect l="0" t="0" r="r" b="b"/>
            <a:pathLst>
              <a:path fill="none" w="95" h="391">
                <a:moveTo>
                  <a:pt x="3" y="0"/>
                </a:moveTo>
                <a:lnTo>
                  <a:pt x="5" y="0"/>
                </a:lnTo>
                <a:cubicBezTo>
                  <a:pt x="6" y="0"/>
                  <a:pt x="7" y="0"/>
                  <a:pt x="9" y="0"/>
                </a:cubicBezTo>
                <a:lnTo>
                  <a:pt x="13" y="0"/>
                </a:lnTo>
                <a:lnTo>
                  <a:pt x="24" y="9"/>
                </a:lnTo>
                <a:cubicBezTo>
                  <a:pt x="49" y="31"/>
                  <a:pt x="67" y="59"/>
                  <a:pt x="78" y="92"/>
                </a:cubicBezTo>
                <a:cubicBezTo>
                  <a:pt x="89" y="125"/>
                  <a:pt x="95" y="159"/>
                  <a:pt x="95" y="196"/>
                </a:cubicBezTo>
                <a:cubicBezTo>
                  <a:pt x="95" y="213"/>
                  <a:pt x="93" y="230"/>
                  <a:pt x="91" y="247"/>
                </a:cubicBezTo>
                <a:cubicBezTo>
                  <a:pt x="88" y="263"/>
                  <a:pt x="85" y="277"/>
                  <a:pt x="82" y="289"/>
                </a:cubicBezTo>
                <a:cubicBezTo>
                  <a:pt x="78" y="300"/>
                  <a:pt x="74" y="312"/>
                  <a:pt x="67" y="323"/>
                </a:cubicBezTo>
                <a:cubicBezTo>
                  <a:pt x="61" y="334"/>
                  <a:pt x="56" y="343"/>
                  <a:pt x="52" y="349"/>
                </a:cubicBezTo>
                <a:cubicBezTo>
                  <a:pt x="49" y="355"/>
                  <a:pt x="43" y="362"/>
                  <a:pt x="36" y="369"/>
                </a:cubicBezTo>
                <a:cubicBezTo>
                  <a:pt x="29" y="376"/>
                  <a:pt x="25" y="381"/>
                  <a:pt x="24" y="382"/>
                </a:cubicBezTo>
                <a:cubicBezTo>
                  <a:pt x="23" y="383"/>
                  <a:pt x="20" y="386"/>
                  <a:pt x="15" y="389"/>
                </a:cubicBezTo>
                <a:cubicBezTo>
                  <a:pt x="14" y="390"/>
                  <a:pt x="14" y="391"/>
                  <a:pt x="13" y="391"/>
                </a:cubicBezTo>
                <a:lnTo>
                  <a:pt x="9" y="391"/>
                </a:lnTo>
                <a:cubicBezTo>
                  <a:pt x="7" y="391"/>
                  <a:pt x="5" y="391"/>
                  <a:pt x="4" y="391"/>
                </a:cubicBezTo>
                <a:lnTo>
                  <a:pt x="3" y="390"/>
                </a:lnTo>
                <a:cubicBezTo>
                  <a:pt x="1" y="389"/>
                  <a:pt x="1" y="388"/>
                  <a:pt x="0" y="386"/>
                </a:cubicBezTo>
                <a:cubicBezTo>
                  <a:pt x="1" y="386"/>
                  <a:pt x="3" y="384"/>
                  <a:pt x="6" y="381"/>
                </a:cubicBezTo>
                <a:cubicBezTo>
                  <a:pt x="46" y="339"/>
                  <a:pt x="66" y="277"/>
                  <a:pt x="66" y="196"/>
                </a:cubicBezTo>
                <a:cubicBezTo>
                  <a:pt x="66" y="113"/>
                  <a:pt x="46" y="51"/>
                  <a:pt x="6" y="9"/>
                </a:cubicBezTo>
                <a:cubicBezTo>
                  <a:pt x="3" y="6"/>
                  <a:pt x="1" y="5"/>
                  <a:pt x="0" y="4"/>
                </a:cubicBezTo>
                <a:cubicBezTo>
                  <a:pt x="0" y="2"/>
                  <a:pt x="1" y="1"/>
                  <a:pt x="3" y="0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"/>
          <p:cNvSpPr/>
          <p:nvPr/>
        </p:nvSpPr>
        <p:spPr>
          <a:xfrm>
            <a:off x="7135200" y="5685840"/>
            <a:ext cx="98280" cy="477360"/>
          </a:xfrm>
          <a:custGeom>
            <a:avLst/>
            <a:gdLst/>
            <a:ahLst/>
            <a:rect l="0" t="0" r="r" b="b"/>
            <a:pathLst>
              <a:path w="273" h="1326">
                <a:moveTo>
                  <a:pt x="273" y="1321"/>
                </a:moveTo>
                <a:cubicBezTo>
                  <a:pt x="273" y="1322"/>
                  <a:pt x="272" y="1324"/>
                  <a:pt x="270" y="1326"/>
                </a:cubicBezTo>
                <a:lnTo>
                  <a:pt x="252" y="1326"/>
                </a:lnTo>
                <a:cubicBezTo>
                  <a:pt x="252" y="1325"/>
                  <a:pt x="247" y="1320"/>
                  <a:pt x="237" y="1311"/>
                </a:cubicBezTo>
                <a:cubicBezTo>
                  <a:pt x="227" y="1302"/>
                  <a:pt x="219" y="1294"/>
                  <a:pt x="212" y="1287"/>
                </a:cubicBezTo>
                <a:cubicBezTo>
                  <a:pt x="205" y="1281"/>
                  <a:pt x="195" y="1269"/>
                  <a:pt x="182" y="1253"/>
                </a:cubicBezTo>
                <a:cubicBezTo>
                  <a:pt x="170" y="1238"/>
                  <a:pt x="158" y="1223"/>
                  <a:pt x="148" y="1209"/>
                </a:cubicBezTo>
                <a:cubicBezTo>
                  <a:pt x="138" y="1195"/>
                  <a:pt x="127" y="1176"/>
                  <a:pt x="113" y="1153"/>
                </a:cubicBezTo>
                <a:cubicBezTo>
                  <a:pt x="100" y="1130"/>
                  <a:pt x="88" y="1107"/>
                  <a:pt x="78" y="1084"/>
                </a:cubicBezTo>
                <a:cubicBezTo>
                  <a:pt x="69" y="1061"/>
                  <a:pt x="58" y="1034"/>
                  <a:pt x="48" y="1002"/>
                </a:cubicBezTo>
                <a:cubicBezTo>
                  <a:pt x="37" y="970"/>
                  <a:pt x="29" y="937"/>
                  <a:pt x="23" y="905"/>
                </a:cubicBezTo>
                <a:cubicBezTo>
                  <a:pt x="17" y="872"/>
                  <a:pt x="12" y="834"/>
                  <a:pt x="7" y="793"/>
                </a:cubicBezTo>
                <a:cubicBezTo>
                  <a:pt x="2" y="750"/>
                  <a:pt x="0" y="706"/>
                  <a:pt x="0" y="662"/>
                </a:cubicBezTo>
                <a:cubicBezTo>
                  <a:pt x="0" y="401"/>
                  <a:pt x="67" y="196"/>
                  <a:pt x="202" y="50"/>
                </a:cubicBezTo>
                <a:cubicBezTo>
                  <a:pt x="211" y="40"/>
                  <a:pt x="219" y="32"/>
                  <a:pt x="226" y="25"/>
                </a:cubicBezTo>
                <a:cubicBezTo>
                  <a:pt x="233" y="18"/>
                  <a:pt x="239" y="12"/>
                  <a:pt x="244" y="8"/>
                </a:cubicBezTo>
                <a:cubicBezTo>
                  <a:pt x="249" y="3"/>
                  <a:pt x="252" y="0"/>
                  <a:pt x="252" y="0"/>
                </a:cubicBezTo>
                <a:lnTo>
                  <a:pt x="270" y="0"/>
                </a:lnTo>
                <a:cubicBezTo>
                  <a:pt x="272" y="3"/>
                  <a:pt x="273" y="4"/>
                  <a:pt x="273" y="5"/>
                </a:cubicBezTo>
                <a:cubicBezTo>
                  <a:pt x="273" y="7"/>
                  <a:pt x="269" y="12"/>
                  <a:pt x="262" y="20"/>
                </a:cubicBezTo>
                <a:cubicBezTo>
                  <a:pt x="255" y="27"/>
                  <a:pt x="245" y="38"/>
                  <a:pt x="233" y="52"/>
                </a:cubicBezTo>
                <a:cubicBezTo>
                  <a:pt x="221" y="66"/>
                  <a:pt x="208" y="84"/>
                  <a:pt x="193" y="105"/>
                </a:cubicBezTo>
                <a:cubicBezTo>
                  <a:pt x="179" y="126"/>
                  <a:pt x="164" y="152"/>
                  <a:pt x="149" y="184"/>
                </a:cubicBezTo>
                <a:cubicBezTo>
                  <a:pt x="134" y="215"/>
                  <a:pt x="120" y="251"/>
                  <a:pt x="107" y="289"/>
                </a:cubicBezTo>
                <a:cubicBezTo>
                  <a:pt x="93" y="328"/>
                  <a:pt x="82" y="374"/>
                  <a:pt x="73" y="428"/>
                </a:cubicBezTo>
                <a:cubicBezTo>
                  <a:pt x="63" y="482"/>
                  <a:pt x="58" y="541"/>
                  <a:pt x="55" y="603"/>
                </a:cubicBezTo>
                <a:cubicBezTo>
                  <a:pt x="54" y="617"/>
                  <a:pt x="54" y="637"/>
                  <a:pt x="54" y="663"/>
                </a:cubicBezTo>
                <a:cubicBezTo>
                  <a:pt x="54" y="807"/>
                  <a:pt x="71" y="932"/>
                  <a:pt x="107" y="1039"/>
                </a:cubicBezTo>
                <a:cubicBezTo>
                  <a:pt x="141" y="1146"/>
                  <a:pt x="195" y="1237"/>
                  <a:pt x="267" y="1312"/>
                </a:cubicBezTo>
                <a:cubicBezTo>
                  <a:pt x="271" y="1316"/>
                  <a:pt x="273" y="1319"/>
                  <a:pt x="273" y="1321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"/>
          <p:cNvSpPr/>
          <p:nvPr/>
        </p:nvSpPr>
        <p:spPr>
          <a:xfrm>
            <a:off x="7135200" y="5685840"/>
            <a:ext cx="98280" cy="477360"/>
          </a:xfrm>
          <a:custGeom>
            <a:avLst/>
            <a:gdLst/>
            <a:ahLst/>
            <a:rect l="0" t="0" r="r" b="b"/>
            <a:pathLst>
              <a:path fill="none" w="273" h="1326">
                <a:moveTo>
                  <a:pt x="273" y="1321"/>
                </a:moveTo>
                <a:cubicBezTo>
                  <a:pt x="273" y="1322"/>
                  <a:pt x="272" y="1324"/>
                  <a:pt x="270" y="1326"/>
                </a:cubicBezTo>
                <a:lnTo>
                  <a:pt x="252" y="1326"/>
                </a:lnTo>
                <a:cubicBezTo>
                  <a:pt x="252" y="1325"/>
                  <a:pt x="247" y="1320"/>
                  <a:pt x="237" y="1311"/>
                </a:cubicBezTo>
                <a:cubicBezTo>
                  <a:pt x="227" y="1302"/>
                  <a:pt x="219" y="1294"/>
                  <a:pt x="212" y="1287"/>
                </a:cubicBezTo>
                <a:cubicBezTo>
                  <a:pt x="205" y="1281"/>
                  <a:pt x="195" y="1269"/>
                  <a:pt x="182" y="1253"/>
                </a:cubicBezTo>
                <a:cubicBezTo>
                  <a:pt x="170" y="1238"/>
                  <a:pt x="158" y="1223"/>
                  <a:pt x="148" y="1209"/>
                </a:cubicBezTo>
                <a:cubicBezTo>
                  <a:pt x="138" y="1195"/>
                  <a:pt x="127" y="1176"/>
                  <a:pt x="113" y="1153"/>
                </a:cubicBezTo>
                <a:cubicBezTo>
                  <a:pt x="100" y="1130"/>
                  <a:pt x="88" y="1107"/>
                  <a:pt x="78" y="1084"/>
                </a:cubicBezTo>
                <a:cubicBezTo>
                  <a:pt x="69" y="1061"/>
                  <a:pt x="58" y="1034"/>
                  <a:pt x="48" y="1002"/>
                </a:cubicBezTo>
                <a:cubicBezTo>
                  <a:pt x="37" y="970"/>
                  <a:pt x="29" y="937"/>
                  <a:pt x="23" y="905"/>
                </a:cubicBezTo>
                <a:cubicBezTo>
                  <a:pt x="17" y="872"/>
                  <a:pt x="12" y="834"/>
                  <a:pt x="7" y="793"/>
                </a:cubicBezTo>
                <a:cubicBezTo>
                  <a:pt x="2" y="750"/>
                  <a:pt x="0" y="706"/>
                  <a:pt x="0" y="662"/>
                </a:cubicBezTo>
                <a:cubicBezTo>
                  <a:pt x="0" y="401"/>
                  <a:pt x="67" y="196"/>
                  <a:pt x="202" y="50"/>
                </a:cubicBezTo>
                <a:cubicBezTo>
                  <a:pt x="211" y="40"/>
                  <a:pt x="219" y="32"/>
                  <a:pt x="226" y="25"/>
                </a:cubicBezTo>
                <a:cubicBezTo>
                  <a:pt x="233" y="18"/>
                  <a:pt x="239" y="12"/>
                  <a:pt x="244" y="8"/>
                </a:cubicBezTo>
                <a:cubicBezTo>
                  <a:pt x="249" y="3"/>
                  <a:pt x="252" y="0"/>
                  <a:pt x="252" y="0"/>
                </a:cubicBezTo>
                <a:lnTo>
                  <a:pt x="270" y="0"/>
                </a:lnTo>
                <a:cubicBezTo>
                  <a:pt x="272" y="3"/>
                  <a:pt x="273" y="4"/>
                  <a:pt x="273" y="5"/>
                </a:cubicBezTo>
                <a:cubicBezTo>
                  <a:pt x="273" y="7"/>
                  <a:pt x="269" y="12"/>
                  <a:pt x="262" y="20"/>
                </a:cubicBezTo>
                <a:cubicBezTo>
                  <a:pt x="255" y="27"/>
                  <a:pt x="245" y="38"/>
                  <a:pt x="233" y="52"/>
                </a:cubicBezTo>
                <a:cubicBezTo>
                  <a:pt x="221" y="66"/>
                  <a:pt x="208" y="84"/>
                  <a:pt x="193" y="105"/>
                </a:cubicBezTo>
                <a:cubicBezTo>
                  <a:pt x="179" y="126"/>
                  <a:pt x="164" y="152"/>
                  <a:pt x="149" y="184"/>
                </a:cubicBezTo>
                <a:cubicBezTo>
                  <a:pt x="134" y="215"/>
                  <a:pt x="120" y="251"/>
                  <a:pt x="107" y="289"/>
                </a:cubicBezTo>
                <a:cubicBezTo>
                  <a:pt x="93" y="328"/>
                  <a:pt x="82" y="374"/>
                  <a:pt x="73" y="428"/>
                </a:cubicBezTo>
                <a:cubicBezTo>
                  <a:pt x="63" y="482"/>
                  <a:pt x="58" y="541"/>
                  <a:pt x="55" y="603"/>
                </a:cubicBezTo>
                <a:cubicBezTo>
                  <a:pt x="54" y="617"/>
                  <a:pt x="54" y="637"/>
                  <a:pt x="54" y="663"/>
                </a:cubicBezTo>
                <a:cubicBezTo>
                  <a:pt x="54" y="807"/>
                  <a:pt x="71" y="932"/>
                  <a:pt x="107" y="1039"/>
                </a:cubicBezTo>
                <a:cubicBezTo>
                  <a:pt x="141" y="1146"/>
                  <a:pt x="195" y="1237"/>
                  <a:pt x="267" y="1312"/>
                </a:cubicBezTo>
                <a:cubicBezTo>
                  <a:pt x="271" y="1316"/>
                  <a:pt x="273" y="1319"/>
                  <a:pt x="273" y="1321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7" name=""/>
          <p:cNvSpPr/>
          <p:nvPr/>
        </p:nvSpPr>
        <p:spPr>
          <a:xfrm>
            <a:off x="7247880" y="5701680"/>
            <a:ext cx="76320" cy="140760"/>
          </a:xfrm>
          <a:custGeom>
            <a:avLst/>
            <a:gdLst/>
            <a:ahLst/>
            <a:rect l="0" t="0" r="r" b="b"/>
            <a:pathLst>
              <a:path w="212" h="391">
                <a:moveTo>
                  <a:pt x="19" y="26"/>
                </a:moveTo>
                <a:cubicBezTo>
                  <a:pt x="19" y="23"/>
                  <a:pt x="19" y="18"/>
                  <a:pt x="21" y="14"/>
                </a:cubicBezTo>
                <a:cubicBezTo>
                  <a:pt x="22" y="9"/>
                  <a:pt x="24" y="6"/>
                  <a:pt x="27" y="6"/>
                </a:cubicBezTo>
                <a:cubicBezTo>
                  <a:pt x="28" y="6"/>
                  <a:pt x="41" y="5"/>
                  <a:pt x="67" y="4"/>
                </a:cubicBezTo>
                <a:cubicBezTo>
                  <a:pt x="93" y="2"/>
                  <a:pt x="107" y="1"/>
                  <a:pt x="107" y="0"/>
                </a:cubicBezTo>
                <a:cubicBezTo>
                  <a:pt x="112" y="0"/>
                  <a:pt x="114" y="2"/>
                  <a:pt x="114" y="5"/>
                </a:cubicBezTo>
                <a:cubicBezTo>
                  <a:pt x="114" y="9"/>
                  <a:pt x="108" y="35"/>
                  <a:pt x="95" y="84"/>
                </a:cubicBezTo>
                <a:cubicBezTo>
                  <a:pt x="92" y="97"/>
                  <a:pt x="89" y="110"/>
                  <a:pt x="86" y="123"/>
                </a:cubicBezTo>
                <a:cubicBezTo>
                  <a:pt x="83" y="136"/>
                  <a:pt x="80" y="146"/>
                  <a:pt x="78" y="153"/>
                </a:cubicBezTo>
                <a:lnTo>
                  <a:pt x="75" y="163"/>
                </a:lnTo>
                <a:cubicBezTo>
                  <a:pt x="75" y="164"/>
                  <a:pt x="77" y="164"/>
                  <a:pt x="79" y="162"/>
                </a:cubicBezTo>
                <a:cubicBezTo>
                  <a:pt x="97" y="147"/>
                  <a:pt x="115" y="139"/>
                  <a:pt x="135" y="139"/>
                </a:cubicBezTo>
                <a:cubicBezTo>
                  <a:pt x="158" y="139"/>
                  <a:pt x="177" y="148"/>
                  <a:pt x="191" y="165"/>
                </a:cubicBezTo>
                <a:cubicBezTo>
                  <a:pt x="205" y="182"/>
                  <a:pt x="212" y="203"/>
                  <a:pt x="212" y="229"/>
                </a:cubicBezTo>
                <a:cubicBezTo>
                  <a:pt x="212" y="270"/>
                  <a:pt x="198" y="308"/>
                  <a:pt x="169" y="341"/>
                </a:cubicBezTo>
                <a:cubicBezTo>
                  <a:pt x="140" y="374"/>
                  <a:pt x="107" y="391"/>
                  <a:pt x="74" y="391"/>
                </a:cubicBezTo>
                <a:cubicBezTo>
                  <a:pt x="55" y="391"/>
                  <a:pt x="39" y="384"/>
                  <a:pt x="24" y="370"/>
                </a:cubicBezTo>
                <a:cubicBezTo>
                  <a:pt x="8" y="356"/>
                  <a:pt x="1" y="333"/>
                  <a:pt x="0" y="301"/>
                </a:cubicBezTo>
                <a:lnTo>
                  <a:pt x="0" y="296"/>
                </a:lnTo>
                <a:cubicBezTo>
                  <a:pt x="0" y="288"/>
                  <a:pt x="2" y="277"/>
                  <a:pt x="5" y="264"/>
                </a:cubicBezTo>
                <a:cubicBezTo>
                  <a:pt x="8" y="250"/>
                  <a:pt x="17" y="214"/>
                  <a:pt x="32" y="155"/>
                </a:cubicBezTo>
                <a:cubicBezTo>
                  <a:pt x="50" y="82"/>
                  <a:pt x="59" y="44"/>
                  <a:pt x="59" y="40"/>
                </a:cubicBezTo>
                <a:cubicBezTo>
                  <a:pt x="59" y="35"/>
                  <a:pt x="52" y="33"/>
                  <a:pt x="38" y="32"/>
                </a:cubicBezTo>
                <a:cubicBezTo>
                  <a:pt x="37" y="32"/>
                  <a:pt x="35" y="32"/>
                  <a:pt x="34" y="32"/>
                </a:cubicBezTo>
                <a:lnTo>
                  <a:pt x="31" y="32"/>
                </a:lnTo>
                <a:cubicBezTo>
                  <a:pt x="28" y="32"/>
                  <a:pt x="25" y="32"/>
                  <a:pt x="24" y="32"/>
                </a:cubicBezTo>
                <a:cubicBezTo>
                  <a:pt x="23" y="32"/>
                  <a:pt x="22" y="31"/>
                  <a:pt x="20" y="30"/>
                </a:cubicBezTo>
                <a:cubicBezTo>
                  <a:pt x="19" y="29"/>
                  <a:pt x="18" y="28"/>
                  <a:pt x="19" y="26"/>
                </a:cubicBezTo>
                <a:moveTo>
                  <a:pt x="165" y="204"/>
                </a:moveTo>
                <a:lnTo>
                  <a:pt x="165" y="201"/>
                </a:lnTo>
                <a:cubicBezTo>
                  <a:pt x="165" y="173"/>
                  <a:pt x="154" y="160"/>
                  <a:pt x="130" y="160"/>
                </a:cubicBezTo>
                <a:cubicBezTo>
                  <a:pt x="124" y="160"/>
                  <a:pt x="117" y="161"/>
                  <a:pt x="111" y="164"/>
                </a:cubicBezTo>
                <a:cubicBezTo>
                  <a:pt x="104" y="167"/>
                  <a:pt x="98" y="171"/>
                  <a:pt x="93" y="176"/>
                </a:cubicBezTo>
                <a:cubicBezTo>
                  <a:pt x="87" y="181"/>
                  <a:pt x="82" y="185"/>
                  <a:pt x="78" y="189"/>
                </a:cubicBezTo>
                <a:cubicBezTo>
                  <a:pt x="74" y="193"/>
                  <a:pt x="71" y="197"/>
                  <a:pt x="68" y="201"/>
                </a:cubicBezTo>
                <a:lnTo>
                  <a:pt x="65" y="206"/>
                </a:lnTo>
                <a:lnTo>
                  <a:pt x="53" y="253"/>
                </a:lnTo>
                <a:cubicBezTo>
                  <a:pt x="45" y="285"/>
                  <a:pt x="41" y="308"/>
                  <a:pt x="41" y="322"/>
                </a:cubicBezTo>
                <a:cubicBezTo>
                  <a:pt x="41" y="339"/>
                  <a:pt x="46" y="352"/>
                  <a:pt x="54" y="361"/>
                </a:cubicBezTo>
                <a:cubicBezTo>
                  <a:pt x="60" y="367"/>
                  <a:pt x="68" y="370"/>
                  <a:pt x="77" y="370"/>
                </a:cubicBezTo>
                <a:cubicBezTo>
                  <a:pt x="89" y="370"/>
                  <a:pt x="101" y="364"/>
                  <a:pt x="113" y="352"/>
                </a:cubicBezTo>
                <a:cubicBezTo>
                  <a:pt x="123" y="344"/>
                  <a:pt x="130" y="334"/>
                  <a:pt x="137" y="322"/>
                </a:cubicBezTo>
                <a:cubicBezTo>
                  <a:pt x="142" y="309"/>
                  <a:pt x="148" y="289"/>
                  <a:pt x="155" y="263"/>
                </a:cubicBezTo>
                <a:cubicBezTo>
                  <a:pt x="161" y="236"/>
                  <a:pt x="165" y="217"/>
                  <a:pt x="165" y="204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8" name=""/>
          <p:cNvSpPr/>
          <p:nvPr/>
        </p:nvSpPr>
        <p:spPr>
          <a:xfrm>
            <a:off x="7247880" y="5701680"/>
            <a:ext cx="76320" cy="140760"/>
          </a:xfrm>
          <a:custGeom>
            <a:avLst/>
            <a:gdLst/>
            <a:ahLst/>
            <a:rect l="0" t="0" r="r" b="b"/>
            <a:pathLst>
              <a:path fill="none" w="212" h="391">
                <a:moveTo>
                  <a:pt x="19" y="26"/>
                </a:moveTo>
                <a:cubicBezTo>
                  <a:pt x="19" y="23"/>
                  <a:pt x="19" y="18"/>
                  <a:pt x="21" y="14"/>
                </a:cubicBezTo>
                <a:cubicBezTo>
                  <a:pt x="22" y="9"/>
                  <a:pt x="24" y="6"/>
                  <a:pt x="27" y="6"/>
                </a:cubicBezTo>
                <a:cubicBezTo>
                  <a:pt x="28" y="6"/>
                  <a:pt x="41" y="5"/>
                  <a:pt x="67" y="4"/>
                </a:cubicBezTo>
                <a:cubicBezTo>
                  <a:pt x="93" y="2"/>
                  <a:pt x="107" y="1"/>
                  <a:pt x="107" y="0"/>
                </a:cubicBezTo>
                <a:cubicBezTo>
                  <a:pt x="112" y="0"/>
                  <a:pt x="114" y="2"/>
                  <a:pt x="114" y="5"/>
                </a:cubicBezTo>
                <a:cubicBezTo>
                  <a:pt x="114" y="9"/>
                  <a:pt x="108" y="35"/>
                  <a:pt x="95" y="84"/>
                </a:cubicBezTo>
                <a:cubicBezTo>
                  <a:pt x="92" y="97"/>
                  <a:pt x="89" y="110"/>
                  <a:pt x="86" y="123"/>
                </a:cubicBezTo>
                <a:cubicBezTo>
                  <a:pt x="83" y="136"/>
                  <a:pt x="80" y="146"/>
                  <a:pt x="78" y="153"/>
                </a:cubicBezTo>
                <a:lnTo>
                  <a:pt x="75" y="163"/>
                </a:lnTo>
                <a:cubicBezTo>
                  <a:pt x="75" y="164"/>
                  <a:pt x="77" y="164"/>
                  <a:pt x="79" y="162"/>
                </a:cubicBezTo>
                <a:cubicBezTo>
                  <a:pt x="97" y="147"/>
                  <a:pt x="115" y="139"/>
                  <a:pt x="135" y="139"/>
                </a:cubicBezTo>
                <a:cubicBezTo>
                  <a:pt x="158" y="139"/>
                  <a:pt x="177" y="148"/>
                  <a:pt x="191" y="165"/>
                </a:cubicBezTo>
                <a:cubicBezTo>
                  <a:pt x="205" y="182"/>
                  <a:pt x="212" y="203"/>
                  <a:pt x="212" y="229"/>
                </a:cubicBezTo>
                <a:cubicBezTo>
                  <a:pt x="212" y="270"/>
                  <a:pt x="198" y="308"/>
                  <a:pt x="169" y="341"/>
                </a:cubicBezTo>
                <a:cubicBezTo>
                  <a:pt x="140" y="374"/>
                  <a:pt x="107" y="391"/>
                  <a:pt x="74" y="391"/>
                </a:cubicBezTo>
                <a:cubicBezTo>
                  <a:pt x="55" y="391"/>
                  <a:pt x="39" y="384"/>
                  <a:pt x="24" y="370"/>
                </a:cubicBezTo>
                <a:cubicBezTo>
                  <a:pt x="8" y="356"/>
                  <a:pt x="1" y="333"/>
                  <a:pt x="0" y="301"/>
                </a:cubicBezTo>
                <a:lnTo>
                  <a:pt x="0" y="296"/>
                </a:lnTo>
                <a:cubicBezTo>
                  <a:pt x="0" y="288"/>
                  <a:pt x="2" y="277"/>
                  <a:pt x="5" y="264"/>
                </a:cubicBezTo>
                <a:cubicBezTo>
                  <a:pt x="8" y="250"/>
                  <a:pt x="17" y="214"/>
                  <a:pt x="32" y="155"/>
                </a:cubicBezTo>
                <a:cubicBezTo>
                  <a:pt x="50" y="82"/>
                  <a:pt x="59" y="44"/>
                  <a:pt x="59" y="40"/>
                </a:cubicBezTo>
                <a:cubicBezTo>
                  <a:pt x="59" y="35"/>
                  <a:pt x="52" y="33"/>
                  <a:pt x="38" y="32"/>
                </a:cubicBezTo>
                <a:cubicBezTo>
                  <a:pt x="37" y="32"/>
                  <a:pt x="35" y="32"/>
                  <a:pt x="34" y="32"/>
                </a:cubicBezTo>
                <a:lnTo>
                  <a:pt x="31" y="32"/>
                </a:lnTo>
                <a:cubicBezTo>
                  <a:pt x="28" y="32"/>
                  <a:pt x="25" y="32"/>
                  <a:pt x="24" y="32"/>
                </a:cubicBezTo>
                <a:cubicBezTo>
                  <a:pt x="23" y="32"/>
                  <a:pt x="22" y="31"/>
                  <a:pt x="20" y="30"/>
                </a:cubicBezTo>
                <a:cubicBezTo>
                  <a:pt x="19" y="29"/>
                  <a:pt x="18" y="28"/>
                  <a:pt x="19" y="26"/>
                </a:cubicBezTo>
                <a:moveTo>
                  <a:pt x="165" y="204"/>
                </a:moveTo>
                <a:lnTo>
                  <a:pt x="165" y="201"/>
                </a:lnTo>
                <a:cubicBezTo>
                  <a:pt x="165" y="173"/>
                  <a:pt x="154" y="160"/>
                  <a:pt x="130" y="160"/>
                </a:cubicBezTo>
                <a:cubicBezTo>
                  <a:pt x="124" y="160"/>
                  <a:pt x="117" y="161"/>
                  <a:pt x="111" y="164"/>
                </a:cubicBezTo>
                <a:cubicBezTo>
                  <a:pt x="104" y="167"/>
                  <a:pt x="98" y="171"/>
                  <a:pt x="93" y="176"/>
                </a:cubicBezTo>
                <a:cubicBezTo>
                  <a:pt x="87" y="181"/>
                  <a:pt x="82" y="185"/>
                  <a:pt x="78" y="189"/>
                </a:cubicBezTo>
                <a:cubicBezTo>
                  <a:pt x="74" y="193"/>
                  <a:pt x="71" y="197"/>
                  <a:pt x="68" y="201"/>
                </a:cubicBezTo>
                <a:lnTo>
                  <a:pt x="65" y="206"/>
                </a:lnTo>
                <a:lnTo>
                  <a:pt x="53" y="253"/>
                </a:lnTo>
                <a:cubicBezTo>
                  <a:pt x="45" y="285"/>
                  <a:pt x="41" y="308"/>
                  <a:pt x="41" y="322"/>
                </a:cubicBezTo>
                <a:cubicBezTo>
                  <a:pt x="41" y="339"/>
                  <a:pt x="46" y="352"/>
                  <a:pt x="54" y="361"/>
                </a:cubicBezTo>
                <a:cubicBezTo>
                  <a:pt x="60" y="367"/>
                  <a:pt x="68" y="370"/>
                  <a:pt x="77" y="370"/>
                </a:cubicBezTo>
                <a:cubicBezTo>
                  <a:pt x="89" y="370"/>
                  <a:pt x="101" y="364"/>
                  <a:pt x="113" y="352"/>
                </a:cubicBezTo>
                <a:cubicBezTo>
                  <a:pt x="123" y="344"/>
                  <a:pt x="130" y="334"/>
                  <a:pt x="137" y="322"/>
                </a:cubicBezTo>
                <a:cubicBezTo>
                  <a:pt x="142" y="309"/>
                  <a:pt x="148" y="289"/>
                  <a:pt x="155" y="263"/>
                </a:cubicBezTo>
                <a:cubicBezTo>
                  <a:pt x="161" y="236"/>
                  <a:pt x="165" y="217"/>
                  <a:pt x="165" y="204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9" name=""/>
          <p:cNvSpPr/>
          <p:nvPr/>
        </p:nvSpPr>
        <p:spPr>
          <a:xfrm>
            <a:off x="7380720" y="5724000"/>
            <a:ext cx="132480" cy="132480"/>
          </a:xfrm>
          <a:custGeom>
            <a:avLst/>
            <a:gdLst/>
            <a:ahLst/>
            <a:rect l="0" t="0" r="r" b="b"/>
            <a:pathLst>
              <a:path w="368" h="368">
                <a:moveTo>
                  <a:pt x="0" y="192"/>
                </a:moveTo>
                <a:cubicBezTo>
                  <a:pt x="0" y="192"/>
                  <a:pt x="0" y="189"/>
                  <a:pt x="0" y="184"/>
                </a:cubicBezTo>
                <a:cubicBezTo>
                  <a:pt x="0" y="180"/>
                  <a:pt x="2" y="176"/>
                  <a:pt x="7" y="173"/>
                </a:cubicBezTo>
                <a:lnTo>
                  <a:pt x="172" y="173"/>
                </a:lnTo>
                <a:lnTo>
                  <a:pt x="172" y="91"/>
                </a:lnTo>
                <a:lnTo>
                  <a:pt x="173" y="7"/>
                </a:lnTo>
                <a:cubicBezTo>
                  <a:pt x="177" y="2"/>
                  <a:pt x="180" y="0"/>
                  <a:pt x="183" y="0"/>
                </a:cubicBezTo>
                <a:cubicBezTo>
                  <a:pt x="188" y="0"/>
                  <a:pt x="192" y="2"/>
                  <a:pt x="195" y="8"/>
                </a:cubicBezTo>
                <a:lnTo>
                  <a:pt x="195" y="173"/>
                </a:lnTo>
                <a:lnTo>
                  <a:pt x="360" y="173"/>
                </a:lnTo>
                <a:cubicBezTo>
                  <a:pt x="366" y="176"/>
                  <a:pt x="368" y="180"/>
                  <a:pt x="368" y="184"/>
                </a:cubicBezTo>
                <a:cubicBezTo>
                  <a:pt x="368" y="189"/>
                  <a:pt x="366" y="193"/>
                  <a:pt x="360" y="195"/>
                </a:cubicBezTo>
                <a:lnTo>
                  <a:pt x="195" y="195"/>
                </a:lnTo>
                <a:lnTo>
                  <a:pt x="195" y="360"/>
                </a:lnTo>
                <a:cubicBezTo>
                  <a:pt x="192" y="365"/>
                  <a:pt x="188" y="368"/>
                  <a:pt x="185" y="368"/>
                </a:cubicBezTo>
                <a:lnTo>
                  <a:pt x="183" y="368"/>
                </a:lnTo>
                <a:lnTo>
                  <a:pt x="182" y="368"/>
                </a:lnTo>
                <a:cubicBezTo>
                  <a:pt x="178" y="368"/>
                  <a:pt x="175" y="365"/>
                  <a:pt x="172" y="360"/>
                </a:cubicBezTo>
                <a:lnTo>
                  <a:pt x="172" y="195"/>
                </a:lnTo>
                <a:lnTo>
                  <a:pt x="7" y="195"/>
                </a:lnTo>
                <a:cubicBezTo>
                  <a:pt x="2" y="193"/>
                  <a:pt x="0" y="189"/>
                  <a:pt x="0" y="184"/>
                </a:cubicBezTo>
                <a:lnTo>
                  <a:pt x="0" y="192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"/>
          <p:cNvSpPr/>
          <p:nvPr/>
        </p:nvSpPr>
        <p:spPr>
          <a:xfrm>
            <a:off x="7380720" y="5724000"/>
            <a:ext cx="132480" cy="132480"/>
          </a:xfrm>
          <a:custGeom>
            <a:avLst/>
            <a:gdLst/>
            <a:ahLst/>
            <a:rect l="0" t="0" r="r" b="b"/>
            <a:pathLst>
              <a:path fill="none" w="368" h="368">
                <a:moveTo>
                  <a:pt x="0" y="192"/>
                </a:moveTo>
                <a:cubicBezTo>
                  <a:pt x="0" y="192"/>
                  <a:pt x="0" y="189"/>
                  <a:pt x="0" y="184"/>
                </a:cubicBezTo>
                <a:cubicBezTo>
                  <a:pt x="0" y="180"/>
                  <a:pt x="2" y="176"/>
                  <a:pt x="7" y="173"/>
                </a:cubicBezTo>
                <a:lnTo>
                  <a:pt x="172" y="173"/>
                </a:lnTo>
                <a:lnTo>
                  <a:pt x="172" y="91"/>
                </a:lnTo>
                <a:lnTo>
                  <a:pt x="173" y="7"/>
                </a:lnTo>
                <a:cubicBezTo>
                  <a:pt x="177" y="2"/>
                  <a:pt x="180" y="0"/>
                  <a:pt x="183" y="0"/>
                </a:cubicBezTo>
                <a:cubicBezTo>
                  <a:pt x="188" y="0"/>
                  <a:pt x="192" y="2"/>
                  <a:pt x="195" y="8"/>
                </a:cubicBezTo>
                <a:lnTo>
                  <a:pt x="195" y="173"/>
                </a:lnTo>
                <a:lnTo>
                  <a:pt x="360" y="173"/>
                </a:lnTo>
                <a:cubicBezTo>
                  <a:pt x="366" y="176"/>
                  <a:pt x="368" y="180"/>
                  <a:pt x="368" y="184"/>
                </a:cubicBezTo>
                <a:cubicBezTo>
                  <a:pt x="368" y="189"/>
                  <a:pt x="366" y="193"/>
                  <a:pt x="360" y="195"/>
                </a:cubicBezTo>
                <a:lnTo>
                  <a:pt x="195" y="195"/>
                </a:lnTo>
                <a:lnTo>
                  <a:pt x="195" y="360"/>
                </a:lnTo>
                <a:cubicBezTo>
                  <a:pt x="192" y="365"/>
                  <a:pt x="188" y="368"/>
                  <a:pt x="185" y="368"/>
                </a:cubicBezTo>
                <a:lnTo>
                  <a:pt x="183" y="368"/>
                </a:lnTo>
                <a:lnTo>
                  <a:pt x="182" y="368"/>
                </a:lnTo>
                <a:cubicBezTo>
                  <a:pt x="178" y="368"/>
                  <a:pt x="175" y="365"/>
                  <a:pt x="172" y="360"/>
                </a:cubicBezTo>
                <a:lnTo>
                  <a:pt x="172" y="195"/>
                </a:lnTo>
                <a:lnTo>
                  <a:pt x="7" y="195"/>
                </a:lnTo>
                <a:cubicBezTo>
                  <a:pt x="2" y="193"/>
                  <a:pt x="0" y="189"/>
                  <a:pt x="0" y="184"/>
                </a:cubicBezTo>
                <a:lnTo>
                  <a:pt x="0" y="192"/>
                </a:ln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"/>
          <p:cNvSpPr/>
          <p:nvPr/>
        </p:nvSpPr>
        <p:spPr>
          <a:xfrm>
            <a:off x="7575120" y="5751720"/>
            <a:ext cx="78840" cy="90720"/>
          </a:xfrm>
          <a:custGeom>
            <a:avLst/>
            <a:gdLst/>
            <a:ahLst/>
            <a:rect l="0" t="0" r="r" b="b"/>
            <a:pathLst>
              <a:path w="219" h="252">
                <a:moveTo>
                  <a:pt x="0" y="158"/>
                </a:moveTo>
                <a:cubicBezTo>
                  <a:pt x="0" y="117"/>
                  <a:pt x="15" y="80"/>
                  <a:pt x="47" y="48"/>
                </a:cubicBezTo>
                <a:cubicBezTo>
                  <a:pt x="79" y="16"/>
                  <a:pt x="113" y="0"/>
                  <a:pt x="150" y="0"/>
                </a:cubicBezTo>
                <a:cubicBezTo>
                  <a:pt x="170" y="0"/>
                  <a:pt x="187" y="5"/>
                  <a:pt x="198" y="14"/>
                </a:cubicBezTo>
                <a:cubicBezTo>
                  <a:pt x="210" y="23"/>
                  <a:pt x="217" y="34"/>
                  <a:pt x="218" y="48"/>
                </a:cubicBezTo>
                <a:cubicBezTo>
                  <a:pt x="218" y="59"/>
                  <a:pt x="214" y="68"/>
                  <a:pt x="206" y="76"/>
                </a:cubicBezTo>
                <a:cubicBezTo>
                  <a:pt x="199" y="83"/>
                  <a:pt x="190" y="87"/>
                  <a:pt x="180" y="87"/>
                </a:cubicBezTo>
                <a:cubicBezTo>
                  <a:pt x="173" y="87"/>
                  <a:pt x="167" y="85"/>
                  <a:pt x="163" y="82"/>
                </a:cubicBezTo>
                <a:cubicBezTo>
                  <a:pt x="159" y="78"/>
                  <a:pt x="157" y="72"/>
                  <a:pt x="157" y="65"/>
                </a:cubicBezTo>
                <a:cubicBezTo>
                  <a:pt x="157" y="58"/>
                  <a:pt x="159" y="51"/>
                  <a:pt x="163" y="46"/>
                </a:cubicBezTo>
                <a:cubicBezTo>
                  <a:pt x="167" y="41"/>
                  <a:pt x="171" y="37"/>
                  <a:pt x="175" y="35"/>
                </a:cubicBezTo>
                <a:cubicBezTo>
                  <a:pt x="179" y="32"/>
                  <a:pt x="182" y="31"/>
                  <a:pt x="183" y="31"/>
                </a:cubicBezTo>
                <a:cubicBezTo>
                  <a:pt x="183" y="31"/>
                  <a:pt x="182" y="30"/>
                  <a:pt x="180" y="28"/>
                </a:cubicBezTo>
                <a:cubicBezTo>
                  <a:pt x="178" y="27"/>
                  <a:pt x="174" y="25"/>
                  <a:pt x="169" y="24"/>
                </a:cubicBezTo>
                <a:cubicBezTo>
                  <a:pt x="163" y="22"/>
                  <a:pt x="157" y="21"/>
                  <a:pt x="150" y="21"/>
                </a:cubicBezTo>
                <a:cubicBezTo>
                  <a:pt x="139" y="21"/>
                  <a:pt x="128" y="24"/>
                  <a:pt x="118" y="29"/>
                </a:cubicBezTo>
                <a:cubicBezTo>
                  <a:pt x="111" y="32"/>
                  <a:pt x="103" y="38"/>
                  <a:pt x="95" y="46"/>
                </a:cubicBezTo>
                <a:cubicBezTo>
                  <a:pt x="78" y="62"/>
                  <a:pt x="67" y="85"/>
                  <a:pt x="59" y="115"/>
                </a:cubicBezTo>
                <a:cubicBezTo>
                  <a:pt x="52" y="144"/>
                  <a:pt x="48" y="166"/>
                  <a:pt x="48" y="180"/>
                </a:cubicBezTo>
                <a:cubicBezTo>
                  <a:pt x="48" y="197"/>
                  <a:pt x="52" y="209"/>
                  <a:pt x="62" y="218"/>
                </a:cubicBezTo>
                <a:cubicBezTo>
                  <a:pt x="70" y="227"/>
                  <a:pt x="81" y="231"/>
                  <a:pt x="94" y="231"/>
                </a:cubicBezTo>
                <a:lnTo>
                  <a:pt x="96" y="231"/>
                </a:lnTo>
                <a:cubicBezTo>
                  <a:pt x="137" y="231"/>
                  <a:pt x="172" y="215"/>
                  <a:pt x="198" y="184"/>
                </a:cubicBezTo>
                <a:cubicBezTo>
                  <a:pt x="202" y="180"/>
                  <a:pt x="204" y="179"/>
                  <a:pt x="205" y="179"/>
                </a:cubicBezTo>
                <a:cubicBezTo>
                  <a:pt x="206" y="179"/>
                  <a:pt x="209" y="180"/>
                  <a:pt x="212" y="184"/>
                </a:cubicBezTo>
                <a:cubicBezTo>
                  <a:pt x="216" y="187"/>
                  <a:pt x="218" y="189"/>
                  <a:pt x="219" y="191"/>
                </a:cubicBezTo>
                <a:cubicBezTo>
                  <a:pt x="219" y="193"/>
                  <a:pt x="217" y="196"/>
                  <a:pt x="214" y="200"/>
                </a:cubicBezTo>
                <a:cubicBezTo>
                  <a:pt x="209" y="203"/>
                  <a:pt x="204" y="208"/>
                  <a:pt x="197" y="215"/>
                </a:cubicBezTo>
                <a:cubicBezTo>
                  <a:pt x="190" y="222"/>
                  <a:pt x="181" y="227"/>
                  <a:pt x="172" y="232"/>
                </a:cubicBezTo>
                <a:cubicBezTo>
                  <a:pt x="162" y="236"/>
                  <a:pt x="151" y="241"/>
                  <a:pt x="137" y="245"/>
                </a:cubicBezTo>
                <a:cubicBezTo>
                  <a:pt x="123" y="250"/>
                  <a:pt x="108" y="252"/>
                  <a:pt x="92" y="252"/>
                </a:cubicBezTo>
                <a:cubicBezTo>
                  <a:pt x="65" y="252"/>
                  <a:pt x="43" y="243"/>
                  <a:pt x="26" y="225"/>
                </a:cubicBezTo>
                <a:cubicBezTo>
                  <a:pt x="9" y="207"/>
                  <a:pt x="0" y="185"/>
                  <a:pt x="0" y="158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"/>
          <p:cNvSpPr/>
          <p:nvPr/>
        </p:nvSpPr>
        <p:spPr>
          <a:xfrm>
            <a:off x="7575120" y="5751720"/>
            <a:ext cx="78840" cy="90720"/>
          </a:xfrm>
          <a:custGeom>
            <a:avLst/>
            <a:gdLst/>
            <a:ahLst/>
            <a:rect l="0" t="0" r="r" b="b"/>
            <a:pathLst>
              <a:path fill="none" w="219" h="252">
                <a:moveTo>
                  <a:pt x="0" y="158"/>
                </a:moveTo>
                <a:cubicBezTo>
                  <a:pt x="0" y="117"/>
                  <a:pt x="15" y="80"/>
                  <a:pt x="47" y="48"/>
                </a:cubicBezTo>
                <a:cubicBezTo>
                  <a:pt x="79" y="16"/>
                  <a:pt x="113" y="0"/>
                  <a:pt x="150" y="0"/>
                </a:cubicBezTo>
                <a:cubicBezTo>
                  <a:pt x="170" y="0"/>
                  <a:pt x="187" y="5"/>
                  <a:pt x="198" y="14"/>
                </a:cubicBezTo>
                <a:cubicBezTo>
                  <a:pt x="210" y="23"/>
                  <a:pt x="217" y="34"/>
                  <a:pt x="218" y="48"/>
                </a:cubicBezTo>
                <a:cubicBezTo>
                  <a:pt x="218" y="59"/>
                  <a:pt x="214" y="68"/>
                  <a:pt x="206" y="76"/>
                </a:cubicBezTo>
                <a:cubicBezTo>
                  <a:pt x="199" y="83"/>
                  <a:pt x="190" y="87"/>
                  <a:pt x="180" y="87"/>
                </a:cubicBezTo>
                <a:cubicBezTo>
                  <a:pt x="173" y="87"/>
                  <a:pt x="167" y="85"/>
                  <a:pt x="163" y="82"/>
                </a:cubicBezTo>
                <a:cubicBezTo>
                  <a:pt x="159" y="78"/>
                  <a:pt x="157" y="72"/>
                  <a:pt x="157" y="65"/>
                </a:cubicBezTo>
                <a:cubicBezTo>
                  <a:pt x="157" y="58"/>
                  <a:pt x="159" y="51"/>
                  <a:pt x="163" y="46"/>
                </a:cubicBezTo>
                <a:cubicBezTo>
                  <a:pt x="167" y="41"/>
                  <a:pt x="171" y="37"/>
                  <a:pt x="175" y="35"/>
                </a:cubicBezTo>
                <a:cubicBezTo>
                  <a:pt x="179" y="32"/>
                  <a:pt x="182" y="31"/>
                  <a:pt x="183" y="31"/>
                </a:cubicBezTo>
                <a:cubicBezTo>
                  <a:pt x="183" y="31"/>
                  <a:pt x="182" y="30"/>
                  <a:pt x="180" y="28"/>
                </a:cubicBezTo>
                <a:cubicBezTo>
                  <a:pt x="178" y="27"/>
                  <a:pt x="174" y="25"/>
                  <a:pt x="169" y="24"/>
                </a:cubicBezTo>
                <a:cubicBezTo>
                  <a:pt x="163" y="22"/>
                  <a:pt x="157" y="21"/>
                  <a:pt x="150" y="21"/>
                </a:cubicBezTo>
                <a:cubicBezTo>
                  <a:pt x="139" y="21"/>
                  <a:pt x="128" y="24"/>
                  <a:pt x="118" y="29"/>
                </a:cubicBezTo>
                <a:cubicBezTo>
                  <a:pt x="111" y="32"/>
                  <a:pt x="103" y="38"/>
                  <a:pt x="95" y="46"/>
                </a:cubicBezTo>
                <a:cubicBezTo>
                  <a:pt x="78" y="62"/>
                  <a:pt x="67" y="85"/>
                  <a:pt x="59" y="115"/>
                </a:cubicBezTo>
                <a:cubicBezTo>
                  <a:pt x="52" y="144"/>
                  <a:pt x="48" y="166"/>
                  <a:pt x="48" y="180"/>
                </a:cubicBezTo>
                <a:cubicBezTo>
                  <a:pt x="48" y="197"/>
                  <a:pt x="52" y="209"/>
                  <a:pt x="62" y="218"/>
                </a:cubicBezTo>
                <a:cubicBezTo>
                  <a:pt x="70" y="227"/>
                  <a:pt x="81" y="231"/>
                  <a:pt x="94" y="231"/>
                </a:cubicBezTo>
                <a:lnTo>
                  <a:pt x="96" y="231"/>
                </a:lnTo>
                <a:cubicBezTo>
                  <a:pt x="137" y="231"/>
                  <a:pt x="172" y="215"/>
                  <a:pt x="198" y="184"/>
                </a:cubicBezTo>
                <a:cubicBezTo>
                  <a:pt x="202" y="180"/>
                  <a:pt x="204" y="179"/>
                  <a:pt x="205" y="179"/>
                </a:cubicBezTo>
                <a:cubicBezTo>
                  <a:pt x="206" y="179"/>
                  <a:pt x="209" y="180"/>
                  <a:pt x="212" y="184"/>
                </a:cubicBezTo>
                <a:cubicBezTo>
                  <a:pt x="216" y="187"/>
                  <a:pt x="218" y="189"/>
                  <a:pt x="219" y="191"/>
                </a:cubicBezTo>
                <a:cubicBezTo>
                  <a:pt x="219" y="193"/>
                  <a:pt x="217" y="196"/>
                  <a:pt x="214" y="200"/>
                </a:cubicBezTo>
                <a:cubicBezTo>
                  <a:pt x="209" y="203"/>
                  <a:pt x="204" y="208"/>
                  <a:pt x="197" y="215"/>
                </a:cubicBezTo>
                <a:cubicBezTo>
                  <a:pt x="190" y="222"/>
                  <a:pt x="181" y="227"/>
                  <a:pt x="172" y="232"/>
                </a:cubicBezTo>
                <a:cubicBezTo>
                  <a:pt x="162" y="236"/>
                  <a:pt x="151" y="241"/>
                  <a:pt x="137" y="245"/>
                </a:cubicBezTo>
                <a:cubicBezTo>
                  <a:pt x="123" y="250"/>
                  <a:pt x="108" y="252"/>
                  <a:pt x="92" y="252"/>
                </a:cubicBezTo>
                <a:cubicBezTo>
                  <a:pt x="65" y="252"/>
                  <a:pt x="43" y="243"/>
                  <a:pt x="26" y="225"/>
                </a:cubicBezTo>
                <a:cubicBezTo>
                  <a:pt x="9" y="207"/>
                  <a:pt x="0" y="185"/>
                  <a:pt x="0" y="158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"/>
          <p:cNvSpPr/>
          <p:nvPr/>
        </p:nvSpPr>
        <p:spPr>
          <a:xfrm>
            <a:off x="7404840" y="5972400"/>
            <a:ext cx="90720" cy="140400"/>
          </a:xfrm>
          <a:custGeom>
            <a:avLst/>
            <a:gdLst/>
            <a:ahLst/>
            <a:rect l="0" t="0" r="r" b="b"/>
            <a:pathLst>
              <a:path w="252" h="390">
                <a:moveTo>
                  <a:pt x="41" y="26"/>
                </a:moveTo>
                <a:cubicBezTo>
                  <a:pt x="41" y="22"/>
                  <a:pt x="41" y="18"/>
                  <a:pt x="43" y="13"/>
                </a:cubicBezTo>
                <a:cubicBezTo>
                  <a:pt x="44" y="9"/>
                  <a:pt x="46" y="6"/>
                  <a:pt x="49" y="6"/>
                </a:cubicBezTo>
                <a:cubicBezTo>
                  <a:pt x="50" y="6"/>
                  <a:pt x="63" y="5"/>
                  <a:pt x="89" y="4"/>
                </a:cubicBezTo>
                <a:cubicBezTo>
                  <a:pt x="115" y="2"/>
                  <a:pt x="129" y="1"/>
                  <a:pt x="129" y="0"/>
                </a:cubicBezTo>
                <a:cubicBezTo>
                  <a:pt x="134" y="0"/>
                  <a:pt x="136" y="2"/>
                  <a:pt x="136" y="5"/>
                </a:cubicBezTo>
                <a:cubicBezTo>
                  <a:pt x="136" y="7"/>
                  <a:pt x="127" y="46"/>
                  <a:pt x="108" y="120"/>
                </a:cubicBezTo>
                <a:cubicBezTo>
                  <a:pt x="90" y="193"/>
                  <a:pt x="81" y="231"/>
                  <a:pt x="81" y="233"/>
                </a:cubicBezTo>
                <a:cubicBezTo>
                  <a:pt x="88" y="229"/>
                  <a:pt x="93" y="226"/>
                  <a:pt x="97" y="223"/>
                </a:cubicBezTo>
                <a:cubicBezTo>
                  <a:pt x="106" y="216"/>
                  <a:pt x="118" y="204"/>
                  <a:pt x="135" y="188"/>
                </a:cubicBezTo>
                <a:cubicBezTo>
                  <a:pt x="153" y="171"/>
                  <a:pt x="165" y="160"/>
                  <a:pt x="175" y="154"/>
                </a:cubicBezTo>
                <a:cubicBezTo>
                  <a:pt x="189" y="144"/>
                  <a:pt x="203" y="139"/>
                  <a:pt x="217" y="139"/>
                </a:cubicBezTo>
                <a:cubicBezTo>
                  <a:pt x="228" y="139"/>
                  <a:pt x="236" y="143"/>
                  <a:pt x="243" y="150"/>
                </a:cubicBezTo>
                <a:cubicBezTo>
                  <a:pt x="249" y="157"/>
                  <a:pt x="252" y="167"/>
                  <a:pt x="252" y="180"/>
                </a:cubicBezTo>
                <a:cubicBezTo>
                  <a:pt x="252" y="189"/>
                  <a:pt x="251" y="197"/>
                  <a:pt x="249" y="203"/>
                </a:cubicBezTo>
                <a:cubicBezTo>
                  <a:pt x="246" y="209"/>
                  <a:pt x="243" y="214"/>
                  <a:pt x="238" y="217"/>
                </a:cubicBezTo>
                <a:cubicBezTo>
                  <a:pt x="234" y="220"/>
                  <a:pt x="230" y="222"/>
                  <a:pt x="227" y="223"/>
                </a:cubicBezTo>
                <a:cubicBezTo>
                  <a:pt x="223" y="224"/>
                  <a:pt x="220" y="224"/>
                  <a:pt x="217" y="224"/>
                </a:cubicBezTo>
                <a:cubicBezTo>
                  <a:pt x="209" y="224"/>
                  <a:pt x="203" y="222"/>
                  <a:pt x="199" y="218"/>
                </a:cubicBezTo>
                <a:cubicBezTo>
                  <a:pt x="194" y="214"/>
                  <a:pt x="192" y="209"/>
                  <a:pt x="192" y="202"/>
                </a:cubicBezTo>
                <a:cubicBezTo>
                  <a:pt x="192" y="193"/>
                  <a:pt x="195" y="185"/>
                  <a:pt x="201" y="180"/>
                </a:cubicBezTo>
                <a:cubicBezTo>
                  <a:pt x="207" y="174"/>
                  <a:pt x="213" y="170"/>
                  <a:pt x="219" y="168"/>
                </a:cubicBezTo>
                <a:lnTo>
                  <a:pt x="228" y="166"/>
                </a:lnTo>
                <a:cubicBezTo>
                  <a:pt x="223" y="162"/>
                  <a:pt x="219" y="160"/>
                  <a:pt x="214" y="160"/>
                </a:cubicBezTo>
                <a:lnTo>
                  <a:pt x="212" y="160"/>
                </a:lnTo>
                <a:cubicBezTo>
                  <a:pt x="200" y="161"/>
                  <a:pt x="189" y="165"/>
                  <a:pt x="177" y="174"/>
                </a:cubicBezTo>
                <a:cubicBezTo>
                  <a:pt x="166" y="182"/>
                  <a:pt x="153" y="193"/>
                  <a:pt x="136" y="209"/>
                </a:cubicBezTo>
                <a:cubicBezTo>
                  <a:pt x="121" y="224"/>
                  <a:pt x="108" y="236"/>
                  <a:pt x="100" y="243"/>
                </a:cubicBezTo>
                <a:cubicBezTo>
                  <a:pt x="100" y="243"/>
                  <a:pt x="103" y="243"/>
                  <a:pt x="108" y="244"/>
                </a:cubicBezTo>
                <a:cubicBezTo>
                  <a:pt x="113" y="245"/>
                  <a:pt x="117" y="246"/>
                  <a:pt x="121" y="248"/>
                </a:cubicBezTo>
                <a:cubicBezTo>
                  <a:pt x="125" y="249"/>
                  <a:pt x="130" y="250"/>
                  <a:pt x="136" y="252"/>
                </a:cubicBezTo>
                <a:cubicBezTo>
                  <a:pt x="142" y="253"/>
                  <a:pt x="147" y="256"/>
                  <a:pt x="151" y="260"/>
                </a:cubicBezTo>
                <a:cubicBezTo>
                  <a:pt x="156" y="263"/>
                  <a:pt x="160" y="267"/>
                  <a:pt x="164" y="270"/>
                </a:cubicBezTo>
                <a:cubicBezTo>
                  <a:pt x="167" y="273"/>
                  <a:pt x="170" y="277"/>
                  <a:pt x="173" y="284"/>
                </a:cubicBezTo>
                <a:cubicBezTo>
                  <a:pt x="176" y="291"/>
                  <a:pt x="177" y="297"/>
                  <a:pt x="176" y="302"/>
                </a:cubicBezTo>
                <a:cubicBezTo>
                  <a:pt x="176" y="308"/>
                  <a:pt x="175" y="316"/>
                  <a:pt x="174" y="325"/>
                </a:cubicBezTo>
                <a:cubicBezTo>
                  <a:pt x="172" y="335"/>
                  <a:pt x="171" y="342"/>
                  <a:pt x="170" y="348"/>
                </a:cubicBezTo>
                <a:cubicBezTo>
                  <a:pt x="170" y="363"/>
                  <a:pt x="175" y="370"/>
                  <a:pt x="185" y="370"/>
                </a:cubicBezTo>
                <a:cubicBezTo>
                  <a:pt x="203" y="370"/>
                  <a:pt x="217" y="348"/>
                  <a:pt x="228" y="303"/>
                </a:cubicBezTo>
                <a:cubicBezTo>
                  <a:pt x="229" y="300"/>
                  <a:pt x="233" y="299"/>
                  <a:pt x="239" y="299"/>
                </a:cubicBezTo>
                <a:lnTo>
                  <a:pt x="241" y="299"/>
                </a:lnTo>
                <a:cubicBezTo>
                  <a:pt x="247" y="299"/>
                  <a:pt x="250" y="301"/>
                  <a:pt x="250" y="304"/>
                </a:cubicBezTo>
                <a:cubicBezTo>
                  <a:pt x="250" y="306"/>
                  <a:pt x="250" y="308"/>
                  <a:pt x="249" y="312"/>
                </a:cubicBezTo>
                <a:cubicBezTo>
                  <a:pt x="233" y="364"/>
                  <a:pt x="212" y="390"/>
                  <a:pt x="183" y="390"/>
                </a:cubicBezTo>
                <a:cubicBezTo>
                  <a:pt x="167" y="390"/>
                  <a:pt x="153" y="386"/>
                  <a:pt x="143" y="376"/>
                </a:cubicBezTo>
                <a:cubicBezTo>
                  <a:pt x="132" y="366"/>
                  <a:pt x="127" y="353"/>
                  <a:pt x="127" y="335"/>
                </a:cubicBezTo>
                <a:cubicBezTo>
                  <a:pt x="127" y="327"/>
                  <a:pt x="127" y="321"/>
                  <a:pt x="128" y="317"/>
                </a:cubicBezTo>
                <a:cubicBezTo>
                  <a:pt x="129" y="312"/>
                  <a:pt x="130" y="307"/>
                  <a:pt x="130" y="303"/>
                </a:cubicBezTo>
                <a:cubicBezTo>
                  <a:pt x="130" y="295"/>
                  <a:pt x="127" y="288"/>
                  <a:pt x="122" y="282"/>
                </a:cubicBezTo>
                <a:cubicBezTo>
                  <a:pt x="117" y="276"/>
                  <a:pt x="111" y="272"/>
                  <a:pt x="103" y="270"/>
                </a:cubicBezTo>
                <a:cubicBezTo>
                  <a:pt x="95" y="267"/>
                  <a:pt x="89" y="265"/>
                  <a:pt x="84" y="264"/>
                </a:cubicBezTo>
                <a:cubicBezTo>
                  <a:pt x="79" y="262"/>
                  <a:pt x="76" y="261"/>
                  <a:pt x="74" y="262"/>
                </a:cubicBezTo>
                <a:lnTo>
                  <a:pt x="73" y="262"/>
                </a:lnTo>
                <a:cubicBezTo>
                  <a:pt x="69" y="277"/>
                  <a:pt x="65" y="292"/>
                  <a:pt x="62" y="307"/>
                </a:cubicBezTo>
                <a:cubicBezTo>
                  <a:pt x="58" y="321"/>
                  <a:pt x="56" y="333"/>
                  <a:pt x="54" y="340"/>
                </a:cubicBezTo>
                <a:cubicBezTo>
                  <a:pt x="52" y="347"/>
                  <a:pt x="50" y="353"/>
                  <a:pt x="49" y="360"/>
                </a:cubicBezTo>
                <a:cubicBezTo>
                  <a:pt x="47" y="367"/>
                  <a:pt x="46" y="371"/>
                  <a:pt x="45" y="373"/>
                </a:cubicBezTo>
                <a:cubicBezTo>
                  <a:pt x="44" y="375"/>
                  <a:pt x="43" y="378"/>
                  <a:pt x="41" y="380"/>
                </a:cubicBezTo>
                <a:cubicBezTo>
                  <a:pt x="40" y="383"/>
                  <a:pt x="38" y="385"/>
                  <a:pt x="35" y="385"/>
                </a:cubicBezTo>
                <a:cubicBezTo>
                  <a:pt x="30" y="389"/>
                  <a:pt x="25" y="390"/>
                  <a:pt x="20" y="390"/>
                </a:cubicBezTo>
                <a:cubicBezTo>
                  <a:pt x="13" y="390"/>
                  <a:pt x="9" y="389"/>
                  <a:pt x="5" y="385"/>
                </a:cubicBezTo>
                <a:cubicBezTo>
                  <a:pt x="2" y="381"/>
                  <a:pt x="0" y="378"/>
                  <a:pt x="0" y="375"/>
                </a:cubicBezTo>
                <a:cubicBezTo>
                  <a:pt x="0" y="372"/>
                  <a:pt x="7" y="342"/>
                  <a:pt x="21" y="286"/>
                </a:cubicBezTo>
                <a:cubicBezTo>
                  <a:pt x="34" y="231"/>
                  <a:pt x="48" y="177"/>
                  <a:pt x="61" y="123"/>
                </a:cubicBezTo>
                <a:lnTo>
                  <a:pt x="81" y="43"/>
                </a:lnTo>
                <a:cubicBezTo>
                  <a:pt x="82" y="38"/>
                  <a:pt x="81" y="36"/>
                  <a:pt x="78" y="34"/>
                </a:cubicBezTo>
                <a:cubicBezTo>
                  <a:pt x="75" y="33"/>
                  <a:pt x="67" y="32"/>
                  <a:pt x="56" y="32"/>
                </a:cubicBezTo>
                <a:lnTo>
                  <a:pt x="53" y="32"/>
                </a:lnTo>
                <a:cubicBezTo>
                  <a:pt x="50" y="32"/>
                  <a:pt x="47" y="32"/>
                  <a:pt x="46" y="32"/>
                </a:cubicBezTo>
                <a:cubicBezTo>
                  <a:pt x="45" y="32"/>
                  <a:pt x="44" y="31"/>
                  <a:pt x="42" y="30"/>
                </a:cubicBezTo>
                <a:cubicBezTo>
                  <a:pt x="41" y="29"/>
                  <a:pt x="40" y="28"/>
                  <a:pt x="41" y="26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4" name=""/>
          <p:cNvSpPr/>
          <p:nvPr/>
        </p:nvSpPr>
        <p:spPr>
          <a:xfrm>
            <a:off x="7404840" y="5972400"/>
            <a:ext cx="90720" cy="140400"/>
          </a:xfrm>
          <a:custGeom>
            <a:avLst/>
            <a:gdLst/>
            <a:ahLst/>
            <a:rect l="0" t="0" r="r" b="b"/>
            <a:pathLst>
              <a:path fill="none" w="252" h="390">
                <a:moveTo>
                  <a:pt x="41" y="26"/>
                </a:moveTo>
                <a:cubicBezTo>
                  <a:pt x="41" y="22"/>
                  <a:pt x="41" y="18"/>
                  <a:pt x="43" y="13"/>
                </a:cubicBezTo>
                <a:cubicBezTo>
                  <a:pt x="44" y="9"/>
                  <a:pt x="46" y="6"/>
                  <a:pt x="49" y="6"/>
                </a:cubicBezTo>
                <a:cubicBezTo>
                  <a:pt x="50" y="6"/>
                  <a:pt x="63" y="5"/>
                  <a:pt x="89" y="4"/>
                </a:cubicBezTo>
                <a:cubicBezTo>
                  <a:pt x="115" y="2"/>
                  <a:pt x="129" y="1"/>
                  <a:pt x="129" y="0"/>
                </a:cubicBezTo>
                <a:cubicBezTo>
                  <a:pt x="134" y="0"/>
                  <a:pt x="136" y="2"/>
                  <a:pt x="136" y="5"/>
                </a:cubicBezTo>
                <a:cubicBezTo>
                  <a:pt x="136" y="7"/>
                  <a:pt x="127" y="46"/>
                  <a:pt x="108" y="120"/>
                </a:cubicBezTo>
                <a:cubicBezTo>
                  <a:pt x="90" y="193"/>
                  <a:pt x="81" y="231"/>
                  <a:pt x="81" y="233"/>
                </a:cubicBezTo>
                <a:cubicBezTo>
                  <a:pt x="88" y="229"/>
                  <a:pt x="93" y="226"/>
                  <a:pt x="97" y="223"/>
                </a:cubicBezTo>
                <a:cubicBezTo>
                  <a:pt x="106" y="216"/>
                  <a:pt x="118" y="204"/>
                  <a:pt x="135" y="188"/>
                </a:cubicBezTo>
                <a:cubicBezTo>
                  <a:pt x="153" y="171"/>
                  <a:pt x="165" y="160"/>
                  <a:pt x="175" y="154"/>
                </a:cubicBezTo>
                <a:cubicBezTo>
                  <a:pt x="189" y="144"/>
                  <a:pt x="203" y="139"/>
                  <a:pt x="217" y="139"/>
                </a:cubicBezTo>
                <a:cubicBezTo>
                  <a:pt x="228" y="139"/>
                  <a:pt x="236" y="143"/>
                  <a:pt x="243" y="150"/>
                </a:cubicBezTo>
                <a:cubicBezTo>
                  <a:pt x="249" y="157"/>
                  <a:pt x="252" y="167"/>
                  <a:pt x="252" y="180"/>
                </a:cubicBezTo>
                <a:cubicBezTo>
                  <a:pt x="252" y="189"/>
                  <a:pt x="251" y="197"/>
                  <a:pt x="249" y="203"/>
                </a:cubicBezTo>
                <a:cubicBezTo>
                  <a:pt x="246" y="209"/>
                  <a:pt x="243" y="214"/>
                  <a:pt x="238" y="217"/>
                </a:cubicBezTo>
                <a:cubicBezTo>
                  <a:pt x="234" y="220"/>
                  <a:pt x="230" y="222"/>
                  <a:pt x="227" y="223"/>
                </a:cubicBezTo>
                <a:cubicBezTo>
                  <a:pt x="223" y="224"/>
                  <a:pt x="220" y="224"/>
                  <a:pt x="217" y="224"/>
                </a:cubicBezTo>
                <a:cubicBezTo>
                  <a:pt x="209" y="224"/>
                  <a:pt x="203" y="222"/>
                  <a:pt x="199" y="218"/>
                </a:cubicBezTo>
                <a:cubicBezTo>
                  <a:pt x="194" y="214"/>
                  <a:pt x="192" y="209"/>
                  <a:pt x="192" y="202"/>
                </a:cubicBezTo>
                <a:cubicBezTo>
                  <a:pt x="192" y="193"/>
                  <a:pt x="195" y="185"/>
                  <a:pt x="201" y="180"/>
                </a:cubicBezTo>
                <a:cubicBezTo>
                  <a:pt x="207" y="174"/>
                  <a:pt x="213" y="170"/>
                  <a:pt x="219" y="168"/>
                </a:cubicBezTo>
                <a:lnTo>
                  <a:pt x="228" y="166"/>
                </a:lnTo>
                <a:cubicBezTo>
                  <a:pt x="223" y="162"/>
                  <a:pt x="219" y="160"/>
                  <a:pt x="214" y="160"/>
                </a:cubicBezTo>
                <a:lnTo>
                  <a:pt x="212" y="160"/>
                </a:lnTo>
                <a:cubicBezTo>
                  <a:pt x="200" y="161"/>
                  <a:pt x="189" y="165"/>
                  <a:pt x="177" y="174"/>
                </a:cubicBezTo>
                <a:cubicBezTo>
                  <a:pt x="166" y="182"/>
                  <a:pt x="153" y="193"/>
                  <a:pt x="136" y="209"/>
                </a:cubicBezTo>
                <a:cubicBezTo>
                  <a:pt x="121" y="224"/>
                  <a:pt x="108" y="236"/>
                  <a:pt x="100" y="243"/>
                </a:cubicBezTo>
                <a:cubicBezTo>
                  <a:pt x="100" y="243"/>
                  <a:pt x="103" y="243"/>
                  <a:pt x="108" y="244"/>
                </a:cubicBezTo>
                <a:cubicBezTo>
                  <a:pt x="113" y="245"/>
                  <a:pt x="117" y="246"/>
                  <a:pt x="121" y="248"/>
                </a:cubicBezTo>
                <a:cubicBezTo>
                  <a:pt x="125" y="249"/>
                  <a:pt x="130" y="250"/>
                  <a:pt x="136" y="252"/>
                </a:cubicBezTo>
                <a:cubicBezTo>
                  <a:pt x="142" y="253"/>
                  <a:pt x="147" y="256"/>
                  <a:pt x="151" y="260"/>
                </a:cubicBezTo>
                <a:cubicBezTo>
                  <a:pt x="156" y="263"/>
                  <a:pt x="160" y="267"/>
                  <a:pt x="164" y="270"/>
                </a:cubicBezTo>
                <a:cubicBezTo>
                  <a:pt x="167" y="273"/>
                  <a:pt x="170" y="277"/>
                  <a:pt x="173" y="284"/>
                </a:cubicBezTo>
                <a:cubicBezTo>
                  <a:pt x="176" y="291"/>
                  <a:pt x="177" y="297"/>
                  <a:pt x="176" y="302"/>
                </a:cubicBezTo>
                <a:cubicBezTo>
                  <a:pt x="176" y="308"/>
                  <a:pt x="175" y="316"/>
                  <a:pt x="174" y="325"/>
                </a:cubicBezTo>
                <a:cubicBezTo>
                  <a:pt x="172" y="335"/>
                  <a:pt x="171" y="342"/>
                  <a:pt x="170" y="348"/>
                </a:cubicBezTo>
                <a:cubicBezTo>
                  <a:pt x="170" y="363"/>
                  <a:pt x="175" y="370"/>
                  <a:pt x="185" y="370"/>
                </a:cubicBezTo>
                <a:cubicBezTo>
                  <a:pt x="203" y="370"/>
                  <a:pt x="217" y="348"/>
                  <a:pt x="228" y="303"/>
                </a:cubicBezTo>
                <a:cubicBezTo>
                  <a:pt x="229" y="300"/>
                  <a:pt x="233" y="299"/>
                  <a:pt x="239" y="299"/>
                </a:cubicBezTo>
                <a:lnTo>
                  <a:pt x="241" y="299"/>
                </a:lnTo>
                <a:cubicBezTo>
                  <a:pt x="247" y="299"/>
                  <a:pt x="250" y="301"/>
                  <a:pt x="250" y="304"/>
                </a:cubicBezTo>
                <a:cubicBezTo>
                  <a:pt x="250" y="306"/>
                  <a:pt x="250" y="308"/>
                  <a:pt x="249" y="312"/>
                </a:cubicBezTo>
                <a:cubicBezTo>
                  <a:pt x="233" y="364"/>
                  <a:pt x="212" y="390"/>
                  <a:pt x="183" y="390"/>
                </a:cubicBezTo>
                <a:cubicBezTo>
                  <a:pt x="167" y="390"/>
                  <a:pt x="153" y="386"/>
                  <a:pt x="143" y="376"/>
                </a:cubicBezTo>
                <a:cubicBezTo>
                  <a:pt x="132" y="366"/>
                  <a:pt x="127" y="353"/>
                  <a:pt x="127" y="335"/>
                </a:cubicBezTo>
                <a:cubicBezTo>
                  <a:pt x="127" y="327"/>
                  <a:pt x="127" y="321"/>
                  <a:pt x="128" y="317"/>
                </a:cubicBezTo>
                <a:cubicBezTo>
                  <a:pt x="129" y="312"/>
                  <a:pt x="130" y="307"/>
                  <a:pt x="130" y="303"/>
                </a:cubicBezTo>
                <a:cubicBezTo>
                  <a:pt x="130" y="295"/>
                  <a:pt x="127" y="288"/>
                  <a:pt x="122" y="282"/>
                </a:cubicBezTo>
                <a:cubicBezTo>
                  <a:pt x="117" y="276"/>
                  <a:pt x="111" y="272"/>
                  <a:pt x="103" y="270"/>
                </a:cubicBezTo>
                <a:cubicBezTo>
                  <a:pt x="95" y="267"/>
                  <a:pt x="89" y="265"/>
                  <a:pt x="84" y="264"/>
                </a:cubicBezTo>
                <a:cubicBezTo>
                  <a:pt x="79" y="262"/>
                  <a:pt x="76" y="261"/>
                  <a:pt x="74" y="262"/>
                </a:cubicBezTo>
                <a:lnTo>
                  <a:pt x="73" y="262"/>
                </a:lnTo>
                <a:cubicBezTo>
                  <a:pt x="69" y="277"/>
                  <a:pt x="65" y="292"/>
                  <a:pt x="62" y="307"/>
                </a:cubicBezTo>
                <a:cubicBezTo>
                  <a:pt x="58" y="321"/>
                  <a:pt x="56" y="333"/>
                  <a:pt x="54" y="340"/>
                </a:cubicBezTo>
                <a:cubicBezTo>
                  <a:pt x="52" y="347"/>
                  <a:pt x="50" y="353"/>
                  <a:pt x="49" y="360"/>
                </a:cubicBezTo>
                <a:cubicBezTo>
                  <a:pt x="47" y="367"/>
                  <a:pt x="46" y="371"/>
                  <a:pt x="45" y="373"/>
                </a:cubicBezTo>
                <a:cubicBezTo>
                  <a:pt x="44" y="375"/>
                  <a:pt x="43" y="378"/>
                  <a:pt x="41" y="380"/>
                </a:cubicBezTo>
                <a:cubicBezTo>
                  <a:pt x="40" y="383"/>
                  <a:pt x="38" y="385"/>
                  <a:pt x="35" y="385"/>
                </a:cubicBezTo>
                <a:cubicBezTo>
                  <a:pt x="30" y="389"/>
                  <a:pt x="25" y="390"/>
                  <a:pt x="20" y="390"/>
                </a:cubicBezTo>
                <a:cubicBezTo>
                  <a:pt x="13" y="390"/>
                  <a:pt x="9" y="389"/>
                  <a:pt x="5" y="385"/>
                </a:cubicBezTo>
                <a:cubicBezTo>
                  <a:pt x="2" y="381"/>
                  <a:pt x="0" y="378"/>
                  <a:pt x="0" y="375"/>
                </a:cubicBezTo>
                <a:cubicBezTo>
                  <a:pt x="0" y="372"/>
                  <a:pt x="7" y="342"/>
                  <a:pt x="21" y="286"/>
                </a:cubicBezTo>
                <a:cubicBezTo>
                  <a:pt x="34" y="231"/>
                  <a:pt x="48" y="177"/>
                  <a:pt x="61" y="123"/>
                </a:cubicBezTo>
                <a:lnTo>
                  <a:pt x="81" y="43"/>
                </a:lnTo>
                <a:cubicBezTo>
                  <a:pt x="82" y="38"/>
                  <a:pt x="81" y="36"/>
                  <a:pt x="78" y="34"/>
                </a:cubicBezTo>
                <a:cubicBezTo>
                  <a:pt x="75" y="33"/>
                  <a:pt x="67" y="32"/>
                  <a:pt x="56" y="32"/>
                </a:cubicBezTo>
                <a:lnTo>
                  <a:pt x="53" y="32"/>
                </a:lnTo>
                <a:cubicBezTo>
                  <a:pt x="50" y="32"/>
                  <a:pt x="47" y="32"/>
                  <a:pt x="46" y="32"/>
                </a:cubicBezTo>
                <a:cubicBezTo>
                  <a:pt x="45" y="32"/>
                  <a:pt x="44" y="31"/>
                  <a:pt x="42" y="30"/>
                </a:cubicBezTo>
                <a:cubicBezTo>
                  <a:pt x="41" y="29"/>
                  <a:pt x="40" y="28"/>
                  <a:pt x="41" y="26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5" name=""/>
          <p:cNvSpPr/>
          <p:nvPr/>
        </p:nvSpPr>
        <p:spPr>
          <a:xfrm>
            <a:off x="7661160" y="5685840"/>
            <a:ext cx="97920" cy="477360"/>
          </a:xfrm>
          <a:custGeom>
            <a:avLst/>
            <a:gdLst/>
            <a:ahLst/>
            <a:rect l="0" t="0" r="r" b="b"/>
            <a:pathLst>
              <a:path w="272" h="1326">
                <a:moveTo>
                  <a:pt x="0" y="7"/>
                </a:moveTo>
                <a:cubicBezTo>
                  <a:pt x="0" y="4"/>
                  <a:pt x="0" y="2"/>
                  <a:pt x="1" y="2"/>
                </a:cubicBezTo>
                <a:cubicBezTo>
                  <a:pt x="2" y="1"/>
                  <a:pt x="5" y="0"/>
                  <a:pt x="9" y="0"/>
                </a:cubicBezTo>
                <a:lnTo>
                  <a:pt x="12" y="0"/>
                </a:lnTo>
                <a:lnTo>
                  <a:pt x="20" y="0"/>
                </a:lnTo>
                <a:cubicBezTo>
                  <a:pt x="21" y="1"/>
                  <a:pt x="26" y="6"/>
                  <a:pt x="36" y="15"/>
                </a:cubicBezTo>
                <a:cubicBezTo>
                  <a:pt x="45" y="25"/>
                  <a:pt x="53" y="32"/>
                  <a:pt x="60" y="39"/>
                </a:cubicBezTo>
                <a:cubicBezTo>
                  <a:pt x="67" y="46"/>
                  <a:pt x="77" y="57"/>
                  <a:pt x="90" y="73"/>
                </a:cubicBezTo>
                <a:cubicBezTo>
                  <a:pt x="103" y="89"/>
                  <a:pt x="115" y="103"/>
                  <a:pt x="124" y="117"/>
                </a:cubicBezTo>
                <a:cubicBezTo>
                  <a:pt x="134" y="131"/>
                  <a:pt x="146" y="150"/>
                  <a:pt x="159" y="173"/>
                </a:cubicBezTo>
                <a:cubicBezTo>
                  <a:pt x="172" y="196"/>
                  <a:pt x="184" y="219"/>
                  <a:pt x="193" y="242"/>
                </a:cubicBezTo>
                <a:cubicBezTo>
                  <a:pt x="203" y="264"/>
                  <a:pt x="213" y="292"/>
                  <a:pt x="224" y="324"/>
                </a:cubicBezTo>
                <a:cubicBezTo>
                  <a:pt x="234" y="356"/>
                  <a:pt x="243" y="389"/>
                  <a:pt x="249" y="421"/>
                </a:cubicBezTo>
                <a:cubicBezTo>
                  <a:pt x="255" y="453"/>
                  <a:pt x="260" y="491"/>
                  <a:pt x="266" y="533"/>
                </a:cubicBezTo>
                <a:cubicBezTo>
                  <a:pt x="270" y="575"/>
                  <a:pt x="273" y="619"/>
                  <a:pt x="272" y="662"/>
                </a:cubicBezTo>
                <a:cubicBezTo>
                  <a:pt x="272" y="705"/>
                  <a:pt x="271" y="742"/>
                  <a:pt x="268" y="773"/>
                </a:cubicBezTo>
                <a:cubicBezTo>
                  <a:pt x="250" y="983"/>
                  <a:pt x="184" y="1151"/>
                  <a:pt x="70" y="1277"/>
                </a:cubicBezTo>
                <a:cubicBezTo>
                  <a:pt x="62" y="1286"/>
                  <a:pt x="54" y="1294"/>
                  <a:pt x="47" y="1301"/>
                </a:cubicBezTo>
                <a:cubicBezTo>
                  <a:pt x="39" y="1308"/>
                  <a:pt x="33" y="1314"/>
                  <a:pt x="28" y="1319"/>
                </a:cubicBezTo>
                <a:cubicBezTo>
                  <a:pt x="24" y="1323"/>
                  <a:pt x="21" y="1326"/>
                  <a:pt x="20" y="1326"/>
                </a:cubicBezTo>
                <a:lnTo>
                  <a:pt x="12" y="1326"/>
                </a:lnTo>
                <a:cubicBezTo>
                  <a:pt x="7" y="1326"/>
                  <a:pt x="4" y="1325"/>
                  <a:pt x="2" y="1325"/>
                </a:cubicBezTo>
                <a:cubicBezTo>
                  <a:pt x="1" y="1324"/>
                  <a:pt x="0" y="1322"/>
                  <a:pt x="0" y="1319"/>
                </a:cubicBezTo>
                <a:cubicBezTo>
                  <a:pt x="20" y="1299"/>
                  <a:pt x="39" y="1276"/>
                  <a:pt x="58" y="1251"/>
                </a:cubicBezTo>
                <a:cubicBezTo>
                  <a:pt x="164" y="1110"/>
                  <a:pt x="217" y="914"/>
                  <a:pt x="217" y="662"/>
                </a:cubicBezTo>
                <a:cubicBezTo>
                  <a:pt x="217" y="588"/>
                  <a:pt x="212" y="519"/>
                  <a:pt x="203" y="454"/>
                </a:cubicBezTo>
                <a:cubicBezTo>
                  <a:pt x="193" y="390"/>
                  <a:pt x="181" y="336"/>
                  <a:pt x="168" y="292"/>
                </a:cubicBezTo>
                <a:cubicBezTo>
                  <a:pt x="154" y="248"/>
                  <a:pt x="136" y="207"/>
                  <a:pt x="116" y="168"/>
                </a:cubicBezTo>
                <a:cubicBezTo>
                  <a:pt x="96" y="130"/>
                  <a:pt x="78" y="100"/>
                  <a:pt x="61" y="78"/>
                </a:cubicBezTo>
                <a:cubicBezTo>
                  <a:pt x="44" y="57"/>
                  <a:pt x="26" y="36"/>
                  <a:pt x="6" y="14"/>
                </a:cubicBezTo>
                <a:cubicBezTo>
                  <a:pt x="6" y="13"/>
                  <a:pt x="5" y="13"/>
                  <a:pt x="4" y="12"/>
                </a:cubicBezTo>
                <a:cubicBezTo>
                  <a:pt x="3" y="11"/>
                  <a:pt x="3" y="11"/>
                  <a:pt x="2" y="10"/>
                </a:cubicBezTo>
                <a:cubicBezTo>
                  <a:pt x="2" y="9"/>
                  <a:pt x="2" y="9"/>
                  <a:pt x="1" y="8"/>
                </a:cubicBezTo>
                <a:lnTo>
                  <a:pt x="0" y="7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6" name=""/>
          <p:cNvSpPr/>
          <p:nvPr/>
        </p:nvSpPr>
        <p:spPr>
          <a:xfrm>
            <a:off x="7661160" y="5685840"/>
            <a:ext cx="97920" cy="477360"/>
          </a:xfrm>
          <a:custGeom>
            <a:avLst/>
            <a:gdLst/>
            <a:ahLst/>
            <a:rect l="0" t="0" r="r" b="b"/>
            <a:pathLst>
              <a:path fill="none" w="272" h="1326">
                <a:moveTo>
                  <a:pt x="0" y="7"/>
                </a:moveTo>
                <a:cubicBezTo>
                  <a:pt x="0" y="4"/>
                  <a:pt x="0" y="2"/>
                  <a:pt x="1" y="2"/>
                </a:cubicBezTo>
                <a:cubicBezTo>
                  <a:pt x="2" y="1"/>
                  <a:pt x="5" y="0"/>
                  <a:pt x="9" y="0"/>
                </a:cubicBezTo>
                <a:lnTo>
                  <a:pt x="12" y="0"/>
                </a:lnTo>
                <a:lnTo>
                  <a:pt x="20" y="0"/>
                </a:lnTo>
                <a:cubicBezTo>
                  <a:pt x="21" y="1"/>
                  <a:pt x="26" y="6"/>
                  <a:pt x="36" y="15"/>
                </a:cubicBezTo>
                <a:cubicBezTo>
                  <a:pt x="45" y="25"/>
                  <a:pt x="53" y="32"/>
                  <a:pt x="60" y="39"/>
                </a:cubicBezTo>
                <a:cubicBezTo>
                  <a:pt x="67" y="46"/>
                  <a:pt x="77" y="57"/>
                  <a:pt x="90" y="73"/>
                </a:cubicBezTo>
                <a:cubicBezTo>
                  <a:pt x="103" y="89"/>
                  <a:pt x="115" y="103"/>
                  <a:pt x="124" y="117"/>
                </a:cubicBezTo>
                <a:cubicBezTo>
                  <a:pt x="134" y="131"/>
                  <a:pt x="146" y="150"/>
                  <a:pt x="159" y="173"/>
                </a:cubicBezTo>
                <a:cubicBezTo>
                  <a:pt x="172" y="196"/>
                  <a:pt x="184" y="219"/>
                  <a:pt x="193" y="242"/>
                </a:cubicBezTo>
                <a:cubicBezTo>
                  <a:pt x="203" y="264"/>
                  <a:pt x="213" y="292"/>
                  <a:pt x="224" y="324"/>
                </a:cubicBezTo>
                <a:cubicBezTo>
                  <a:pt x="234" y="356"/>
                  <a:pt x="243" y="389"/>
                  <a:pt x="249" y="421"/>
                </a:cubicBezTo>
                <a:cubicBezTo>
                  <a:pt x="255" y="453"/>
                  <a:pt x="260" y="491"/>
                  <a:pt x="266" y="533"/>
                </a:cubicBezTo>
                <a:cubicBezTo>
                  <a:pt x="270" y="575"/>
                  <a:pt x="273" y="619"/>
                  <a:pt x="272" y="662"/>
                </a:cubicBezTo>
                <a:cubicBezTo>
                  <a:pt x="272" y="705"/>
                  <a:pt x="271" y="742"/>
                  <a:pt x="268" y="773"/>
                </a:cubicBezTo>
                <a:cubicBezTo>
                  <a:pt x="250" y="983"/>
                  <a:pt x="184" y="1151"/>
                  <a:pt x="70" y="1277"/>
                </a:cubicBezTo>
                <a:cubicBezTo>
                  <a:pt x="62" y="1286"/>
                  <a:pt x="54" y="1294"/>
                  <a:pt x="47" y="1301"/>
                </a:cubicBezTo>
                <a:cubicBezTo>
                  <a:pt x="39" y="1308"/>
                  <a:pt x="33" y="1314"/>
                  <a:pt x="28" y="1319"/>
                </a:cubicBezTo>
                <a:cubicBezTo>
                  <a:pt x="24" y="1323"/>
                  <a:pt x="21" y="1326"/>
                  <a:pt x="20" y="1326"/>
                </a:cubicBezTo>
                <a:lnTo>
                  <a:pt x="12" y="1326"/>
                </a:lnTo>
                <a:cubicBezTo>
                  <a:pt x="7" y="1326"/>
                  <a:pt x="4" y="1325"/>
                  <a:pt x="2" y="1325"/>
                </a:cubicBezTo>
                <a:cubicBezTo>
                  <a:pt x="1" y="1324"/>
                  <a:pt x="0" y="1322"/>
                  <a:pt x="0" y="1319"/>
                </a:cubicBezTo>
                <a:cubicBezTo>
                  <a:pt x="20" y="1299"/>
                  <a:pt x="39" y="1276"/>
                  <a:pt x="58" y="1251"/>
                </a:cubicBezTo>
                <a:cubicBezTo>
                  <a:pt x="164" y="1110"/>
                  <a:pt x="217" y="914"/>
                  <a:pt x="217" y="662"/>
                </a:cubicBezTo>
                <a:cubicBezTo>
                  <a:pt x="217" y="588"/>
                  <a:pt x="212" y="519"/>
                  <a:pt x="203" y="454"/>
                </a:cubicBezTo>
                <a:cubicBezTo>
                  <a:pt x="193" y="390"/>
                  <a:pt x="181" y="336"/>
                  <a:pt x="168" y="292"/>
                </a:cubicBezTo>
                <a:cubicBezTo>
                  <a:pt x="154" y="248"/>
                  <a:pt x="136" y="207"/>
                  <a:pt x="116" y="168"/>
                </a:cubicBezTo>
                <a:cubicBezTo>
                  <a:pt x="96" y="130"/>
                  <a:pt x="78" y="100"/>
                  <a:pt x="61" y="78"/>
                </a:cubicBezTo>
                <a:cubicBezTo>
                  <a:pt x="44" y="57"/>
                  <a:pt x="26" y="36"/>
                  <a:pt x="6" y="14"/>
                </a:cubicBezTo>
                <a:cubicBezTo>
                  <a:pt x="6" y="13"/>
                  <a:pt x="5" y="13"/>
                  <a:pt x="4" y="12"/>
                </a:cubicBezTo>
                <a:cubicBezTo>
                  <a:pt x="3" y="11"/>
                  <a:pt x="3" y="11"/>
                  <a:pt x="2" y="10"/>
                </a:cubicBezTo>
                <a:cubicBezTo>
                  <a:pt x="2" y="9"/>
                  <a:pt x="2" y="9"/>
                  <a:pt x="1" y="8"/>
                </a:cubicBezTo>
                <a:lnTo>
                  <a:pt x="0" y="7"/>
                </a:ln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7" name=""/>
          <p:cNvSpPr/>
          <p:nvPr/>
        </p:nvSpPr>
        <p:spPr>
          <a:xfrm>
            <a:off x="7830720" y="5805360"/>
            <a:ext cx="54000" cy="238680"/>
          </a:xfrm>
          <a:custGeom>
            <a:avLst/>
            <a:gdLst/>
            <a:ahLst/>
            <a:rect l="0" t="0" r="r" b="b"/>
            <a:pathLst>
              <a:path w="150" h="663">
                <a:moveTo>
                  <a:pt x="0" y="331"/>
                </a:moveTo>
                <a:cubicBezTo>
                  <a:pt x="0" y="186"/>
                  <a:pt x="44" y="76"/>
                  <a:pt x="131" y="0"/>
                </a:cubicBezTo>
                <a:lnTo>
                  <a:pt x="147" y="0"/>
                </a:lnTo>
                <a:cubicBezTo>
                  <a:pt x="149" y="2"/>
                  <a:pt x="150" y="4"/>
                  <a:pt x="150" y="5"/>
                </a:cubicBezTo>
                <a:cubicBezTo>
                  <a:pt x="150" y="6"/>
                  <a:pt x="147" y="11"/>
                  <a:pt x="140" y="18"/>
                </a:cubicBezTo>
                <a:cubicBezTo>
                  <a:pt x="133" y="26"/>
                  <a:pt x="124" y="38"/>
                  <a:pt x="114" y="53"/>
                </a:cubicBezTo>
                <a:cubicBezTo>
                  <a:pt x="104" y="70"/>
                  <a:pt x="94" y="89"/>
                  <a:pt x="84" y="112"/>
                </a:cubicBezTo>
                <a:cubicBezTo>
                  <a:pt x="73" y="134"/>
                  <a:pt x="64" y="165"/>
                  <a:pt x="57" y="204"/>
                </a:cubicBezTo>
                <a:cubicBezTo>
                  <a:pt x="50" y="242"/>
                  <a:pt x="46" y="285"/>
                  <a:pt x="46" y="332"/>
                </a:cubicBezTo>
                <a:cubicBezTo>
                  <a:pt x="46" y="378"/>
                  <a:pt x="50" y="421"/>
                  <a:pt x="57" y="459"/>
                </a:cubicBezTo>
                <a:cubicBezTo>
                  <a:pt x="64" y="498"/>
                  <a:pt x="72" y="529"/>
                  <a:pt x="83" y="551"/>
                </a:cubicBezTo>
                <a:cubicBezTo>
                  <a:pt x="93" y="573"/>
                  <a:pt x="103" y="593"/>
                  <a:pt x="114" y="608"/>
                </a:cubicBezTo>
                <a:cubicBezTo>
                  <a:pt x="124" y="624"/>
                  <a:pt x="133" y="636"/>
                  <a:pt x="140" y="644"/>
                </a:cubicBezTo>
                <a:cubicBezTo>
                  <a:pt x="147" y="652"/>
                  <a:pt x="150" y="656"/>
                  <a:pt x="150" y="658"/>
                </a:cubicBezTo>
                <a:cubicBezTo>
                  <a:pt x="150" y="659"/>
                  <a:pt x="149" y="660"/>
                  <a:pt x="147" y="663"/>
                </a:cubicBezTo>
                <a:lnTo>
                  <a:pt x="131" y="663"/>
                </a:lnTo>
                <a:cubicBezTo>
                  <a:pt x="121" y="654"/>
                  <a:pt x="110" y="644"/>
                  <a:pt x="100" y="633"/>
                </a:cubicBezTo>
                <a:cubicBezTo>
                  <a:pt x="91" y="623"/>
                  <a:pt x="79" y="607"/>
                  <a:pt x="66" y="587"/>
                </a:cubicBezTo>
                <a:cubicBezTo>
                  <a:pt x="53" y="568"/>
                  <a:pt x="42" y="546"/>
                  <a:pt x="33" y="523"/>
                </a:cubicBezTo>
                <a:cubicBezTo>
                  <a:pt x="24" y="501"/>
                  <a:pt x="16" y="472"/>
                  <a:pt x="10" y="439"/>
                </a:cubicBezTo>
                <a:cubicBezTo>
                  <a:pt x="4" y="405"/>
                  <a:pt x="0" y="370"/>
                  <a:pt x="0" y="331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8" name=""/>
          <p:cNvSpPr/>
          <p:nvPr/>
        </p:nvSpPr>
        <p:spPr>
          <a:xfrm>
            <a:off x="7830720" y="5805360"/>
            <a:ext cx="54000" cy="238680"/>
          </a:xfrm>
          <a:custGeom>
            <a:avLst/>
            <a:gdLst/>
            <a:ahLst/>
            <a:rect l="0" t="0" r="r" b="b"/>
            <a:pathLst>
              <a:path fill="none" w="150" h="663">
                <a:moveTo>
                  <a:pt x="0" y="331"/>
                </a:moveTo>
                <a:cubicBezTo>
                  <a:pt x="0" y="186"/>
                  <a:pt x="44" y="76"/>
                  <a:pt x="131" y="0"/>
                </a:cubicBezTo>
                <a:lnTo>
                  <a:pt x="147" y="0"/>
                </a:lnTo>
                <a:cubicBezTo>
                  <a:pt x="149" y="2"/>
                  <a:pt x="150" y="4"/>
                  <a:pt x="150" y="5"/>
                </a:cubicBezTo>
                <a:cubicBezTo>
                  <a:pt x="150" y="6"/>
                  <a:pt x="147" y="11"/>
                  <a:pt x="140" y="18"/>
                </a:cubicBezTo>
                <a:cubicBezTo>
                  <a:pt x="133" y="26"/>
                  <a:pt x="124" y="38"/>
                  <a:pt x="114" y="53"/>
                </a:cubicBezTo>
                <a:cubicBezTo>
                  <a:pt x="104" y="70"/>
                  <a:pt x="94" y="89"/>
                  <a:pt x="84" y="112"/>
                </a:cubicBezTo>
                <a:cubicBezTo>
                  <a:pt x="73" y="134"/>
                  <a:pt x="64" y="165"/>
                  <a:pt x="57" y="204"/>
                </a:cubicBezTo>
                <a:cubicBezTo>
                  <a:pt x="50" y="242"/>
                  <a:pt x="46" y="285"/>
                  <a:pt x="46" y="332"/>
                </a:cubicBezTo>
                <a:cubicBezTo>
                  <a:pt x="46" y="378"/>
                  <a:pt x="50" y="421"/>
                  <a:pt x="57" y="459"/>
                </a:cubicBezTo>
                <a:cubicBezTo>
                  <a:pt x="64" y="498"/>
                  <a:pt x="72" y="529"/>
                  <a:pt x="83" y="551"/>
                </a:cubicBezTo>
                <a:cubicBezTo>
                  <a:pt x="93" y="573"/>
                  <a:pt x="103" y="593"/>
                  <a:pt x="114" y="608"/>
                </a:cubicBezTo>
                <a:cubicBezTo>
                  <a:pt x="124" y="624"/>
                  <a:pt x="133" y="636"/>
                  <a:pt x="140" y="644"/>
                </a:cubicBezTo>
                <a:cubicBezTo>
                  <a:pt x="147" y="652"/>
                  <a:pt x="150" y="656"/>
                  <a:pt x="150" y="658"/>
                </a:cubicBezTo>
                <a:cubicBezTo>
                  <a:pt x="150" y="659"/>
                  <a:pt x="149" y="660"/>
                  <a:pt x="147" y="663"/>
                </a:cubicBezTo>
                <a:lnTo>
                  <a:pt x="131" y="663"/>
                </a:lnTo>
                <a:cubicBezTo>
                  <a:pt x="121" y="654"/>
                  <a:pt x="110" y="644"/>
                  <a:pt x="100" y="633"/>
                </a:cubicBezTo>
                <a:cubicBezTo>
                  <a:pt x="91" y="623"/>
                  <a:pt x="79" y="607"/>
                  <a:pt x="66" y="587"/>
                </a:cubicBezTo>
                <a:cubicBezTo>
                  <a:pt x="53" y="568"/>
                  <a:pt x="42" y="546"/>
                  <a:pt x="33" y="523"/>
                </a:cubicBezTo>
                <a:cubicBezTo>
                  <a:pt x="24" y="501"/>
                  <a:pt x="16" y="472"/>
                  <a:pt x="10" y="439"/>
                </a:cubicBezTo>
                <a:cubicBezTo>
                  <a:pt x="4" y="405"/>
                  <a:pt x="0" y="370"/>
                  <a:pt x="0" y="331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9" name=""/>
          <p:cNvSpPr/>
          <p:nvPr/>
        </p:nvSpPr>
        <p:spPr>
          <a:xfrm>
            <a:off x="7947000" y="5802120"/>
            <a:ext cx="48600" cy="93960"/>
          </a:xfrm>
          <a:custGeom>
            <a:avLst/>
            <a:gdLst/>
            <a:ahLst/>
            <a:rect l="0" t="0" r="r" b="b"/>
            <a:pathLst>
              <a:path w="135" h="261">
                <a:moveTo>
                  <a:pt x="51" y="35"/>
                </a:moveTo>
                <a:lnTo>
                  <a:pt x="46" y="36"/>
                </a:lnTo>
                <a:cubicBezTo>
                  <a:pt x="42" y="38"/>
                  <a:pt x="37" y="39"/>
                  <a:pt x="30" y="40"/>
                </a:cubicBezTo>
                <a:cubicBezTo>
                  <a:pt x="23" y="42"/>
                  <a:pt x="16" y="43"/>
                  <a:pt x="7" y="43"/>
                </a:cubicBezTo>
                <a:lnTo>
                  <a:pt x="0" y="43"/>
                </a:lnTo>
                <a:lnTo>
                  <a:pt x="0" y="25"/>
                </a:lnTo>
                <a:lnTo>
                  <a:pt x="7" y="25"/>
                </a:lnTo>
                <a:cubicBezTo>
                  <a:pt x="20" y="25"/>
                  <a:pt x="31" y="23"/>
                  <a:pt x="41" y="19"/>
                </a:cubicBezTo>
                <a:cubicBezTo>
                  <a:pt x="52" y="16"/>
                  <a:pt x="59" y="13"/>
                  <a:pt x="63" y="10"/>
                </a:cubicBezTo>
                <a:cubicBezTo>
                  <a:pt x="67" y="7"/>
                  <a:pt x="71" y="4"/>
                  <a:pt x="74" y="1"/>
                </a:cubicBezTo>
                <a:cubicBezTo>
                  <a:pt x="75" y="1"/>
                  <a:pt x="76" y="0"/>
                  <a:pt x="79" y="0"/>
                </a:cubicBezTo>
                <a:cubicBezTo>
                  <a:pt x="81" y="0"/>
                  <a:pt x="83" y="1"/>
                  <a:pt x="85" y="3"/>
                </a:cubicBezTo>
                <a:lnTo>
                  <a:pt x="85" y="120"/>
                </a:lnTo>
                <a:lnTo>
                  <a:pt x="86" y="237"/>
                </a:lnTo>
                <a:cubicBezTo>
                  <a:pt x="88" y="239"/>
                  <a:pt x="89" y="240"/>
                  <a:pt x="90" y="241"/>
                </a:cubicBezTo>
                <a:cubicBezTo>
                  <a:pt x="92" y="241"/>
                  <a:pt x="95" y="242"/>
                  <a:pt x="100" y="242"/>
                </a:cubicBezTo>
                <a:cubicBezTo>
                  <a:pt x="106" y="243"/>
                  <a:pt x="114" y="243"/>
                  <a:pt x="125" y="243"/>
                </a:cubicBezTo>
                <a:lnTo>
                  <a:pt x="135" y="243"/>
                </a:lnTo>
                <a:lnTo>
                  <a:pt x="135" y="261"/>
                </a:lnTo>
                <a:lnTo>
                  <a:pt x="131" y="261"/>
                </a:lnTo>
                <a:cubicBezTo>
                  <a:pt x="125" y="260"/>
                  <a:pt x="105" y="260"/>
                  <a:pt x="68" y="260"/>
                </a:cubicBezTo>
                <a:cubicBezTo>
                  <a:pt x="32" y="260"/>
                  <a:pt x="12" y="260"/>
                  <a:pt x="7" y="261"/>
                </a:cubicBezTo>
                <a:lnTo>
                  <a:pt x="2" y="261"/>
                </a:lnTo>
                <a:lnTo>
                  <a:pt x="2" y="243"/>
                </a:lnTo>
                <a:lnTo>
                  <a:pt x="12" y="243"/>
                </a:lnTo>
                <a:cubicBezTo>
                  <a:pt x="18" y="243"/>
                  <a:pt x="23" y="243"/>
                  <a:pt x="27" y="243"/>
                </a:cubicBezTo>
                <a:cubicBezTo>
                  <a:pt x="31" y="243"/>
                  <a:pt x="34" y="243"/>
                  <a:pt x="37" y="243"/>
                </a:cubicBezTo>
                <a:cubicBezTo>
                  <a:pt x="39" y="243"/>
                  <a:pt x="41" y="242"/>
                  <a:pt x="43" y="242"/>
                </a:cubicBezTo>
                <a:cubicBezTo>
                  <a:pt x="45" y="241"/>
                  <a:pt x="46" y="241"/>
                  <a:pt x="46" y="241"/>
                </a:cubicBezTo>
                <a:cubicBezTo>
                  <a:pt x="46" y="241"/>
                  <a:pt x="47" y="240"/>
                  <a:pt x="48" y="239"/>
                </a:cubicBezTo>
                <a:cubicBezTo>
                  <a:pt x="50" y="238"/>
                  <a:pt x="50" y="237"/>
                  <a:pt x="51" y="237"/>
                </a:cubicBezTo>
                <a:lnTo>
                  <a:pt x="51" y="35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0" name=""/>
          <p:cNvSpPr/>
          <p:nvPr/>
        </p:nvSpPr>
        <p:spPr>
          <a:xfrm>
            <a:off x="7947000" y="5802120"/>
            <a:ext cx="48600" cy="93960"/>
          </a:xfrm>
          <a:custGeom>
            <a:avLst/>
            <a:gdLst/>
            <a:ahLst/>
            <a:rect l="0" t="0" r="r" b="b"/>
            <a:pathLst>
              <a:path fill="none" w="135" h="261">
                <a:moveTo>
                  <a:pt x="51" y="35"/>
                </a:moveTo>
                <a:lnTo>
                  <a:pt x="46" y="36"/>
                </a:lnTo>
                <a:cubicBezTo>
                  <a:pt x="42" y="38"/>
                  <a:pt x="37" y="39"/>
                  <a:pt x="30" y="40"/>
                </a:cubicBezTo>
                <a:cubicBezTo>
                  <a:pt x="23" y="42"/>
                  <a:pt x="16" y="43"/>
                  <a:pt x="7" y="43"/>
                </a:cubicBezTo>
                <a:lnTo>
                  <a:pt x="0" y="43"/>
                </a:lnTo>
                <a:lnTo>
                  <a:pt x="0" y="25"/>
                </a:lnTo>
                <a:lnTo>
                  <a:pt x="7" y="25"/>
                </a:lnTo>
                <a:cubicBezTo>
                  <a:pt x="20" y="25"/>
                  <a:pt x="31" y="23"/>
                  <a:pt x="41" y="19"/>
                </a:cubicBezTo>
                <a:cubicBezTo>
                  <a:pt x="52" y="16"/>
                  <a:pt x="59" y="13"/>
                  <a:pt x="63" y="10"/>
                </a:cubicBezTo>
                <a:cubicBezTo>
                  <a:pt x="67" y="7"/>
                  <a:pt x="71" y="4"/>
                  <a:pt x="74" y="1"/>
                </a:cubicBezTo>
                <a:cubicBezTo>
                  <a:pt x="75" y="1"/>
                  <a:pt x="76" y="0"/>
                  <a:pt x="79" y="0"/>
                </a:cubicBezTo>
                <a:cubicBezTo>
                  <a:pt x="81" y="0"/>
                  <a:pt x="83" y="1"/>
                  <a:pt x="85" y="3"/>
                </a:cubicBezTo>
                <a:lnTo>
                  <a:pt x="85" y="120"/>
                </a:lnTo>
                <a:lnTo>
                  <a:pt x="86" y="237"/>
                </a:lnTo>
                <a:cubicBezTo>
                  <a:pt x="88" y="239"/>
                  <a:pt x="89" y="240"/>
                  <a:pt x="90" y="241"/>
                </a:cubicBezTo>
                <a:cubicBezTo>
                  <a:pt x="92" y="241"/>
                  <a:pt x="95" y="242"/>
                  <a:pt x="100" y="242"/>
                </a:cubicBezTo>
                <a:cubicBezTo>
                  <a:pt x="106" y="243"/>
                  <a:pt x="114" y="243"/>
                  <a:pt x="125" y="243"/>
                </a:cubicBezTo>
                <a:lnTo>
                  <a:pt x="135" y="243"/>
                </a:lnTo>
                <a:lnTo>
                  <a:pt x="135" y="261"/>
                </a:lnTo>
                <a:lnTo>
                  <a:pt x="131" y="261"/>
                </a:lnTo>
                <a:cubicBezTo>
                  <a:pt x="125" y="260"/>
                  <a:pt x="105" y="260"/>
                  <a:pt x="68" y="260"/>
                </a:cubicBezTo>
                <a:cubicBezTo>
                  <a:pt x="32" y="260"/>
                  <a:pt x="12" y="260"/>
                  <a:pt x="7" y="261"/>
                </a:cubicBezTo>
                <a:lnTo>
                  <a:pt x="2" y="261"/>
                </a:lnTo>
                <a:lnTo>
                  <a:pt x="2" y="243"/>
                </a:lnTo>
                <a:lnTo>
                  <a:pt x="12" y="243"/>
                </a:lnTo>
                <a:cubicBezTo>
                  <a:pt x="18" y="243"/>
                  <a:pt x="23" y="243"/>
                  <a:pt x="27" y="243"/>
                </a:cubicBezTo>
                <a:cubicBezTo>
                  <a:pt x="31" y="243"/>
                  <a:pt x="34" y="243"/>
                  <a:pt x="37" y="243"/>
                </a:cubicBezTo>
                <a:cubicBezTo>
                  <a:pt x="39" y="243"/>
                  <a:pt x="41" y="242"/>
                  <a:pt x="43" y="242"/>
                </a:cubicBezTo>
                <a:cubicBezTo>
                  <a:pt x="45" y="241"/>
                  <a:pt x="46" y="241"/>
                  <a:pt x="46" y="241"/>
                </a:cubicBezTo>
                <a:cubicBezTo>
                  <a:pt x="46" y="241"/>
                  <a:pt x="47" y="240"/>
                  <a:pt x="48" y="239"/>
                </a:cubicBezTo>
                <a:cubicBezTo>
                  <a:pt x="50" y="238"/>
                  <a:pt x="50" y="237"/>
                  <a:pt x="51" y="237"/>
                </a:cubicBezTo>
                <a:lnTo>
                  <a:pt x="51" y="35"/>
                </a:ln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1" name=""/>
          <p:cNvSpPr/>
          <p:nvPr/>
        </p:nvSpPr>
        <p:spPr>
          <a:xfrm>
            <a:off x="7942320" y="5949000"/>
            <a:ext cx="56520" cy="93960"/>
          </a:xfrm>
          <a:custGeom>
            <a:avLst/>
            <a:gdLst/>
            <a:ahLst/>
            <a:rect l="0" t="0" r="r" b="b"/>
            <a:pathLst>
              <a:path w="157" h="261">
                <a:moveTo>
                  <a:pt x="23" y="93"/>
                </a:moveTo>
                <a:cubicBezTo>
                  <a:pt x="16" y="93"/>
                  <a:pt x="10" y="90"/>
                  <a:pt x="6" y="86"/>
                </a:cubicBezTo>
                <a:cubicBezTo>
                  <a:pt x="2" y="81"/>
                  <a:pt x="0" y="75"/>
                  <a:pt x="0" y="68"/>
                </a:cubicBezTo>
                <a:cubicBezTo>
                  <a:pt x="0" y="50"/>
                  <a:pt x="7" y="34"/>
                  <a:pt x="21" y="20"/>
                </a:cubicBezTo>
                <a:cubicBezTo>
                  <a:pt x="35" y="7"/>
                  <a:pt x="53" y="0"/>
                  <a:pt x="73" y="0"/>
                </a:cubicBezTo>
                <a:cubicBezTo>
                  <a:pt x="97" y="0"/>
                  <a:pt x="117" y="7"/>
                  <a:pt x="133" y="22"/>
                </a:cubicBezTo>
                <a:cubicBezTo>
                  <a:pt x="148" y="37"/>
                  <a:pt x="156" y="55"/>
                  <a:pt x="157" y="79"/>
                </a:cubicBezTo>
                <a:cubicBezTo>
                  <a:pt x="157" y="90"/>
                  <a:pt x="154" y="100"/>
                  <a:pt x="149" y="111"/>
                </a:cubicBezTo>
                <a:cubicBezTo>
                  <a:pt x="144" y="121"/>
                  <a:pt x="137" y="130"/>
                  <a:pt x="130" y="137"/>
                </a:cubicBezTo>
                <a:cubicBezTo>
                  <a:pt x="123" y="145"/>
                  <a:pt x="113" y="154"/>
                  <a:pt x="99" y="166"/>
                </a:cubicBezTo>
                <a:cubicBezTo>
                  <a:pt x="90" y="174"/>
                  <a:pt x="77" y="187"/>
                  <a:pt x="60" y="203"/>
                </a:cubicBezTo>
                <a:lnTo>
                  <a:pt x="37" y="225"/>
                </a:lnTo>
                <a:lnTo>
                  <a:pt x="67" y="225"/>
                </a:lnTo>
                <a:cubicBezTo>
                  <a:pt x="107" y="225"/>
                  <a:pt x="129" y="225"/>
                  <a:pt x="132" y="223"/>
                </a:cubicBezTo>
                <a:cubicBezTo>
                  <a:pt x="134" y="223"/>
                  <a:pt x="137" y="211"/>
                  <a:pt x="141" y="188"/>
                </a:cubicBezTo>
                <a:lnTo>
                  <a:pt x="141" y="187"/>
                </a:lnTo>
                <a:lnTo>
                  <a:pt x="157" y="187"/>
                </a:lnTo>
                <a:lnTo>
                  <a:pt x="157" y="188"/>
                </a:lnTo>
                <a:cubicBezTo>
                  <a:pt x="156" y="189"/>
                  <a:pt x="155" y="201"/>
                  <a:pt x="152" y="224"/>
                </a:cubicBezTo>
                <a:cubicBezTo>
                  <a:pt x="149" y="247"/>
                  <a:pt x="147" y="259"/>
                  <a:pt x="146" y="260"/>
                </a:cubicBezTo>
                <a:lnTo>
                  <a:pt x="146" y="261"/>
                </a:lnTo>
                <a:lnTo>
                  <a:pt x="0" y="261"/>
                </a:lnTo>
                <a:lnTo>
                  <a:pt x="0" y="254"/>
                </a:lnTo>
                <a:lnTo>
                  <a:pt x="0" y="249"/>
                </a:lnTo>
                <a:cubicBezTo>
                  <a:pt x="0" y="247"/>
                  <a:pt x="1" y="245"/>
                  <a:pt x="2" y="243"/>
                </a:cubicBezTo>
                <a:cubicBezTo>
                  <a:pt x="4" y="241"/>
                  <a:pt x="8" y="236"/>
                  <a:pt x="14" y="229"/>
                </a:cubicBezTo>
                <a:cubicBezTo>
                  <a:pt x="22" y="221"/>
                  <a:pt x="29" y="214"/>
                  <a:pt x="35" y="208"/>
                </a:cubicBezTo>
                <a:cubicBezTo>
                  <a:pt x="37" y="205"/>
                  <a:pt x="41" y="200"/>
                  <a:pt x="48" y="193"/>
                </a:cubicBezTo>
                <a:cubicBezTo>
                  <a:pt x="54" y="186"/>
                  <a:pt x="59" y="180"/>
                  <a:pt x="61" y="178"/>
                </a:cubicBezTo>
                <a:cubicBezTo>
                  <a:pt x="63" y="175"/>
                  <a:pt x="67" y="171"/>
                  <a:pt x="72" y="165"/>
                </a:cubicBezTo>
                <a:cubicBezTo>
                  <a:pt x="78" y="159"/>
                  <a:pt x="81" y="154"/>
                  <a:pt x="83" y="152"/>
                </a:cubicBezTo>
                <a:cubicBezTo>
                  <a:pt x="85" y="149"/>
                  <a:pt x="88" y="145"/>
                  <a:pt x="92" y="140"/>
                </a:cubicBezTo>
                <a:cubicBezTo>
                  <a:pt x="96" y="135"/>
                  <a:pt x="99" y="131"/>
                  <a:pt x="101" y="127"/>
                </a:cubicBezTo>
                <a:cubicBezTo>
                  <a:pt x="102" y="124"/>
                  <a:pt x="104" y="120"/>
                  <a:pt x="106" y="116"/>
                </a:cubicBezTo>
                <a:cubicBezTo>
                  <a:pt x="109" y="112"/>
                  <a:pt x="110" y="108"/>
                  <a:pt x="111" y="104"/>
                </a:cubicBezTo>
                <a:cubicBezTo>
                  <a:pt x="113" y="99"/>
                  <a:pt x="113" y="95"/>
                  <a:pt x="114" y="92"/>
                </a:cubicBezTo>
                <a:cubicBezTo>
                  <a:pt x="115" y="88"/>
                  <a:pt x="115" y="84"/>
                  <a:pt x="115" y="79"/>
                </a:cubicBezTo>
                <a:cubicBezTo>
                  <a:pt x="115" y="63"/>
                  <a:pt x="111" y="48"/>
                  <a:pt x="102" y="36"/>
                </a:cubicBezTo>
                <a:cubicBezTo>
                  <a:pt x="93" y="24"/>
                  <a:pt x="81" y="18"/>
                  <a:pt x="64" y="18"/>
                </a:cubicBezTo>
                <a:cubicBezTo>
                  <a:pt x="56" y="18"/>
                  <a:pt x="48" y="21"/>
                  <a:pt x="42" y="25"/>
                </a:cubicBezTo>
                <a:cubicBezTo>
                  <a:pt x="35" y="30"/>
                  <a:pt x="31" y="34"/>
                  <a:pt x="28" y="38"/>
                </a:cubicBezTo>
                <a:cubicBezTo>
                  <a:pt x="24" y="42"/>
                  <a:pt x="23" y="45"/>
                  <a:pt x="23" y="45"/>
                </a:cubicBezTo>
                <a:cubicBezTo>
                  <a:pt x="23" y="46"/>
                  <a:pt x="24" y="46"/>
                  <a:pt x="25" y="46"/>
                </a:cubicBezTo>
                <a:cubicBezTo>
                  <a:pt x="31" y="46"/>
                  <a:pt x="35" y="48"/>
                  <a:pt x="40" y="51"/>
                </a:cubicBezTo>
                <a:cubicBezTo>
                  <a:pt x="45" y="55"/>
                  <a:pt x="48" y="61"/>
                  <a:pt x="48" y="69"/>
                </a:cubicBezTo>
                <a:cubicBezTo>
                  <a:pt x="48" y="76"/>
                  <a:pt x="46" y="81"/>
                  <a:pt x="42" y="86"/>
                </a:cubicBezTo>
                <a:cubicBezTo>
                  <a:pt x="37" y="90"/>
                  <a:pt x="32" y="92"/>
                  <a:pt x="23" y="93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2" name=""/>
          <p:cNvSpPr/>
          <p:nvPr/>
        </p:nvSpPr>
        <p:spPr>
          <a:xfrm>
            <a:off x="7942320" y="5949000"/>
            <a:ext cx="56520" cy="93960"/>
          </a:xfrm>
          <a:custGeom>
            <a:avLst/>
            <a:gdLst/>
            <a:ahLst/>
            <a:rect l="0" t="0" r="r" b="b"/>
            <a:pathLst>
              <a:path fill="none" w="157" h="261">
                <a:moveTo>
                  <a:pt x="23" y="93"/>
                </a:moveTo>
                <a:cubicBezTo>
                  <a:pt x="16" y="93"/>
                  <a:pt x="10" y="90"/>
                  <a:pt x="6" y="86"/>
                </a:cubicBezTo>
                <a:cubicBezTo>
                  <a:pt x="2" y="81"/>
                  <a:pt x="0" y="75"/>
                  <a:pt x="0" y="68"/>
                </a:cubicBezTo>
                <a:cubicBezTo>
                  <a:pt x="0" y="50"/>
                  <a:pt x="7" y="34"/>
                  <a:pt x="21" y="20"/>
                </a:cubicBezTo>
                <a:cubicBezTo>
                  <a:pt x="35" y="7"/>
                  <a:pt x="53" y="0"/>
                  <a:pt x="73" y="0"/>
                </a:cubicBezTo>
                <a:cubicBezTo>
                  <a:pt x="97" y="0"/>
                  <a:pt x="117" y="7"/>
                  <a:pt x="133" y="22"/>
                </a:cubicBezTo>
                <a:cubicBezTo>
                  <a:pt x="148" y="37"/>
                  <a:pt x="156" y="55"/>
                  <a:pt x="157" y="79"/>
                </a:cubicBezTo>
                <a:cubicBezTo>
                  <a:pt x="157" y="90"/>
                  <a:pt x="154" y="100"/>
                  <a:pt x="149" y="111"/>
                </a:cubicBezTo>
                <a:cubicBezTo>
                  <a:pt x="144" y="121"/>
                  <a:pt x="137" y="130"/>
                  <a:pt x="130" y="137"/>
                </a:cubicBezTo>
                <a:cubicBezTo>
                  <a:pt x="123" y="145"/>
                  <a:pt x="113" y="154"/>
                  <a:pt x="99" y="166"/>
                </a:cubicBezTo>
                <a:cubicBezTo>
                  <a:pt x="90" y="174"/>
                  <a:pt x="77" y="187"/>
                  <a:pt x="60" y="203"/>
                </a:cubicBezTo>
                <a:lnTo>
                  <a:pt x="37" y="225"/>
                </a:lnTo>
                <a:lnTo>
                  <a:pt x="67" y="225"/>
                </a:lnTo>
                <a:cubicBezTo>
                  <a:pt x="107" y="225"/>
                  <a:pt x="129" y="225"/>
                  <a:pt x="132" y="223"/>
                </a:cubicBezTo>
                <a:cubicBezTo>
                  <a:pt x="134" y="223"/>
                  <a:pt x="137" y="211"/>
                  <a:pt x="141" y="188"/>
                </a:cubicBezTo>
                <a:lnTo>
                  <a:pt x="141" y="187"/>
                </a:lnTo>
                <a:lnTo>
                  <a:pt x="157" y="187"/>
                </a:lnTo>
                <a:lnTo>
                  <a:pt x="157" y="188"/>
                </a:lnTo>
                <a:cubicBezTo>
                  <a:pt x="156" y="189"/>
                  <a:pt x="155" y="201"/>
                  <a:pt x="152" y="224"/>
                </a:cubicBezTo>
                <a:cubicBezTo>
                  <a:pt x="149" y="247"/>
                  <a:pt x="147" y="259"/>
                  <a:pt x="146" y="260"/>
                </a:cubicBezTo>
                <a:lnTo>
                  <a:pt x="146" y="261"/>
                </a:lnTo>
                <a:lnTo>
                  <a:pt x="0" y="261"/>
                </a:lnTo>
                <a:lnTo>
                  <a:pt x="0" y="254"/>
                </a:lnTo>
                <a:lnTo>
                  <a:pt x="0" y="249"/>
                </a:lnTo>
                <a:cubicBezTo>
                  <a:pt x="0" y="247"/>
                  <a:pt x="1" y="245"/>
                  <a:pt x="2" y="243"/>
                </a:cubicBezTo>
                <a:cubicBezTo>
                  <a:pt x="4" y="241"/>
                  <a:pt x="8" y="236"/>
                  <a:pt x="14" y="229"/>
                </a:cubicBezTo>
                <a:cubicBezTo>
                  <a:pt x="22" y="221"/>
                  <a:pt x="29" y="214"/>
                  <a:pt x="35" y="208"/>
                </a:cubicBezTo>
                <a:cubicBezTo>
                  <a:pt x="37" y="205"/>
                  <a:pt x="41" y="200"/>
                  <a:pt x="48" y="193"/>
                </a:cubicBezTo>
                <a:cubicBezTo>
                  <a:pt x="54" y="186"/>
                  <a:pt x="59" y="180"/>
                  <a:pt x="61" y="178"/>
                </a:cubicBezTo>
                <a:cubicBezTo>
                  <a:pt x="63" y="175"/>
                  <a:pt x="67" y="171"/>
                  <a:pt x="72" y="165"/>
                </a:cubicBezTo>
                <a:cubicBezTo>
                  <a:pt x="78" y="159"/>
                  <a:pt x="81" y="154"/>
                  <a:pt x="83" y="152"/>
                </a:cubicBezTo>
                <a:cubicBezTo>
                  <a:pt x="85" y="149"/>
                  <a:pt x="88" y="145"/>
                  <a:pt x="92" y="140"/>
                </a:cubicBezTo>
                <a:cubicBezTo>
                  <a:pt x="96" y="135"/>
                  <a:pt x="99" y="131"/>
                  <a:pt x="101" y="127"/>
                </a:cubicBezTo>
                <a:cubicBezTo>
                  <a:pt x="102" y="124"/>
                  <a:pt x="104" y="120"/>
                  <a:pt x="106" y="116"/>
                </a:cubicBezTo>
                <a:cubicBezTo>
                  <a:pt x="109" y="112"/>
                  <a:pt x="110" y="108"/>
                  <a:pt x="111" y="104"/>
                </a:cubicBezTo>
                <a:cubicBezTo>
                  <a:pt x="113" y="99"/>
                  <a:pt x="113" y="95"/>
                  <a:pt x="114" y="92"/>
                </a:cubicBezTo>
                <a:cubicBezTo>
                  <a:pt x="115" y="88"/>
                  <a:pt x="115" y="84"/>
                  <a:pt x="115" y="79"/>
                </a:cubicBezTo>
                <a:cubicBezTo>
                  <a:pt x="115" y="63"/>
                  <a:pt x="111" y="48"/>
                  <a:pt x="102" y="36"/>
                </a:cubicBezTo>
                <a:cubicBezTo>
                  <a:pt x="93" y="24"/>
                  <a:pt x="81" y="18"/>
                  <a:pt x="64" y="18"/>
                </a:cubicBezTo>
                <a:cubicBezTo>
                  <a:pt x="56" y="18"/>
                  <a:pt x="48" y="21"/>
                  <a:pt x="42" y="25"/>
                </a:cubicBezTo>
                <a:cubicBezTo>
                  <a:pt x="35" y="30"/>
                  <a:pt x="31" y="34"/>
                  <a:pt x="28" y="38"/>
                </a:cubicBezTo>
                <a:cubicBezTo>
                  <a:pt x="24" y="42"/>
                  <a:pt x="23" y="45"/>
                  <a:pt x="23" y="45"/>
                </a:cubicBezTo>
                <a:cubicBezTo>
                  <a:pt x="23" y="46"/>
                  <a:pt x="24" y="46"/>
                  <a:pt x="25" y="46"/>
                </a:cubicBezTo>
                <a:cubicBezTo>
                  <a:pt x="31" y="46"/>
                  <a:pt x="35" y="48"/>
                  <a:pt x="40" y="51"/>
                </a:cubicBezTo>
                <a:cubicBezTo>
                  <a:pt x="45" y="55"/>
                  <a:pt x="48" y="61"/>
                  <a:pt x="48" y="69"/>
                </a:cubicBezTo>
                <a:cubicBezTo>
                  <a:pt x="48" y="76"/>
                  <a:pt x="46" y="81"/>
                  <a:pt x="42" y="86"/>
                </a:cubicBezTo>
                <a:cubicBezTo>
                  <a:pt x="37" y="90"/>
                  <a:pt x="32" y="92"/>
                  <a:pt x="23" y="93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3" name=""/>
          <p:cNvSpPr/>
          <p:nvPr/>
        </p:nvSpPr>
        <p:spPr>
          <a:xfrm>
            <a:off x="7915320" y="5918400"/>
            <a:ext cx="110520" cy="12240"/>
          </a:xfrm>
          <a:custGeom>
            <a:avLst/>
            <a:gdLst/>
            <a:ahLst/>
            <a:rect l="0" t="0" r="r" b="b"/>
            <a:pathLst>
              <a:path w="307" h="34">
                <a:moveTo>
                  <a:pt x="0" y="0"/>
                </a:moveTo>
                <a:lnTo>
                  <a:pt x="307" y="0"/>
                </a:lnTo>
                <a:lnTo>
                  <a:pt x="307" y="34"/>
                </a:lnTo>
                <a:lnTo>
                  <a:pt x="0" y="34"/>
                </a:lnTo>
                <a:lnTo>
                  <a:pt x="0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4" name=""/>
          <p:cNvSpPr/>
          <p:nvPr/>
        </p:nvSpPr>
        <p:spPr>
          <a:xfrm>
            <a:off x="8056080" y="5805360"/>
            <a:ext cx="54360" cy="238680"/>
          </a:xfrm>
          <a:custGeom>
            <a:avLst/>
            <a:gdLst/>
            <a:ahLst/>
            <a:rect l="0" t="0" r="r" b="b"/>
            <a:pathLst>
              <a:path w="151" h="663">
                <a:moveTo>
                  <a:pt x="151" y="331"/>
                </a:moveTo>
                <a:cubicBezTo>
                  <a:pt x="151" y="477"/>
                  <a:pt x="107" y="587"/>
                  <a:pt x="19" y="663"/>
                </a:cubicBezTo>
                <a:lnTo>
                  <a:pt x="12" y="663"/>
                </a:lnTo>
                <a:cubicBezTo>
                  <a:pt x="7" y="663"/>
                  <a:pt x="4" y="662"/>
                  <a:pt x="3" y="661"/>
                </a:cubicBezTo>
                <a:cubicBezTo>
                  <a:pt x="1" y="661"/>
                  <a:pt x="0" y="659"/>
                  <a:pt x="0" y="656"/>
                </a:cubicBezTo>
                <a:cubicBezTo>
                  <a:pt x="1" y="655"/>
                  <a:pt x="6" y="649"/>
                  <a:pt x="14" y="639"/>
                </a:cubicBezTo>
                <a:cubicBezTo>
                  <a:pt x="23" y="630"/>
                  <a:pt x="32" y="617"/>
                  <a:pt x="41" y="602"/>
                </a:cubicBezTo>
                <a:cubicBezTo>
                  <a:pt x="51" y="586"/>
                  <a:pt x="61" y="567"/>
                  <a:pt x="70" y="545"/>
                </a:cubicBezTo>
                <a:cubicBezTo>
                  <a:pt x="80" y="523"/>
                  <a:pt x="89" y="493"/>
                  <a:pt x="95" y="455"/>
                </a:cubicBezTo>
                <a:cubicBezTo>
                  <a:pt x="101" y="417"/>
                  <a:pt x="104" y="376"/>
                  <a:pt x="104" y="332"/>
                </a:cubicBezTo>
                <a:cubicBezTo>
                  <a:pt x="104" y="287"/>
                  <a:pt x="101" y="246"/>
                  <a:pt x="95" y="209"/>
                </a:cubicBezTo>
                <a:cubicBezTo>
                  <a:pt x="89" y="171"/>
                  <a:pt x="80" y="141"/>
                  <a:pt x="70" y="119"/>
                </a:cubicBezTo>
                <a:cubicBezTo>
                  <a:pt x="61" y="96"/>
                  <a:pt x="51" y="77"/>
                  <a:pt x="41" y="60"/>
                </a:cubicBezTo>
                <a:cubicBezTo>
                  <a:pt x="32" y="45"/>
                  <a:pt x="23" y="32"/>
                  <a:pt x="14" y="23"/>
                </a:cubicBezTo>
                <a:cubicBezTo>
                  <a:pt x="6" y="15"/>
                  <a:pt x="1" y="9"/>
                  <a:pt x="0" y="6"/>
                </a:cubicBezTo>
                <a:cubicBezTo>
                  <a:pt x="0" y="2"/>
                  <a:pt x="3" y="0"/>
                  <a:pt x="9" y="0"/>
                </a:cubicBezTo>
                <a:lnTo>
                  <a:pt x="12" y="0"/>
                </a:lnTo>
                <a:lnTo>
                  <a:pt x="19" y="0"/>
                </a:lnTo>
                <a:cubicBezTo>
                  <a:pt x="67" y="39"/>
                  <a:pt x="102" y="92"/>
                  <a:pt x="123" y="157"/>
                </a:cubicBezTo>
                <a:cubicBezTo>
                  <a:pt x="142" y="209"/>
                  <a:pt x="151" y="267"/>
                  <a:pt x="151" y="331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"/>
          <p:cNvSpPr/>
          <p:nvPr/>
        </p:nvSpPr>
        <p:spPr>
          <a:xfrm>
            <a:off x="8056080" y="5805360"/>
            <a:ext cx="54360" cy="238680"/>
          </a:xfrm>
          <a:custGeom>
            <a:avLst/>
            <a:gdLst/>
            <a:ahLst/>
            <a:rect l="0" t="0" r="r" b="b"/>
            <a:pathLst>
              <a:path fill="none" w="151" h="663">
                <a:moveTo>
                  <a:pt x="151" y="331"/>
                </a:moveTo>
                <a:cubicBezTo>
                  <a:pt x="151" y="477"/>
                  <a:pt x="107" y="587"/>
                  <a:pt x="19" y="663"/>
                </a:cubicBezTo>
                <a:lnTo>
                  <a:pt x="12" y="663"/>
                </a:lnTo>
                <a:cubicBezTo>
                  <a:pt x="7" y="663"/>
                  <a:pt x="4" y="662"/>
                  <a:pt x="3" y="661"/>
                </a:cubicBezTo>
                <a:cubicBezTo>
                  <a:pt x="1" y="661"/>
                  <a:pt x="0" y="659"/>
                  <a:pt x="0" y="656"/>
                </a:cubicBezTo>
                <a:cubicBezTo>
                  <a:pt x="1" y="655"/>
                  <a:pt x="6" y="649"/>
                  <a:pt x="14" y="639"/>
                </a:cubicBezTo>
                <a:cubicBezTo>
                  <a:pt x="23" y="630"/>
                  <a:pt x="32" y="617"/>
                  <a:pt x="41" y="602"/>
                </a:cubicBezTo>
                <a:cubicBezTo>
                  <a:pt x="51" y="586"/>
                  <a:pt x="61" y="567"/>
                  <a:pt x="70" y="545"/>
                </a:cubicBezTo>
                <a:cubicBezTo>
                  <a:pt x="80" y="523"/>
                  <a:pt x="89" y="493"/>
                  <a:pt x="95" y="455"/>
                </a:cubicBezTo>
                <a:cubicBezTo>
                  <a:pt x="101" y="417"/>
                  <a:pt x="104" y="376"/>
                  <a:pt x="104" y="332"/>
                </a:cubicBezTo>
                <a:cubicBezTo>
                  <a:pt x="104" y="287"/>
                  <a:pt x="101" y="246"/>
                  <a:pt x="95" y="209"/>
                </a:cubicBezTo>
                <a:cubicBezTo>
                  <a:pt x="89" y="171"/>
                  <a:pt x="80" y="141"/>
                  <a:pt x="70" y="119"/>
                </a:cubicBezTo>
                <a:cubicBezTo>
                  <a:pt x="61" y="96"/>
                  <a:pt x="51" y="77"/>
                  <a:pt x="41" y="60"/>
                </a:cubicBezTo>
                <a:cubicBezTo>
                  <a:pt x="32" y="45"/>
                  <a:pt x="23" y="32"/>
                  <a:pt x="14" y="23"/>
                </a:cubicBezTo>
                <a:cubicBezTo>
                  <a:pt x="6" y="15"/>
                  <a:pt x="1" y="9"/>
                  <a:pt x="0" y="6"/>
                </a:cubicBezTo>
                <a:cubicBezTo>
                  <a:pt x="0" y="2"/>
                  <a:pt x="3" y="0"/>
                  <a:pt x="9" y="0"/>
                </a:cubicBezTo>
                <a:lnTo>
                  <a:pt x="12" y="0"/>
                </a:lnTo>
                <a:lnTo>
                  <a:pt x="19" y="0"/>
                </a:lnTo>
                <a:cubicBezTo>
                  <a:pt x="67" y="39"/>
                  <a:pt x="102" y="92"/>
                  <a:pt x="123" y="157"/>
                </a:cubicBezTo>
                <a:cubicBezTo>
                  <a:pt x="142" y="209"/>
                  <a:pt x="151" y="267"/>
                  <a:pt x="151" y="331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6" name=""/>
          <p:cNvSpPr/>
          <p:nvPr/>
        </p:nvSpPr>
        <p:spPr>
          <a:xfrm>
            <a:off x="8152560" y="5758920"/>
            <a:ext cx="54000" cy="99360"/>
          </a:xfrm>
          <a:custGeom>
            <a:avLst/>
            <a:gdLst/>
            <a:ahLst/>
            <a:rect l="0" t="0" r="r" b="b"/>
            <a:pathLst>
              <a:path w="150" h="276">
                <a:moveTo>
                  <a:pt x="13" y="18"/>
                </a:moveTo>
                <a:cubicBezTo>
                  <a:pt x="13" y="16"/>
                  <a:pt x="13" y="13"/>
                  <a:pt x="14" y="9"/>
                </a:cubicBezTo>
                <a:cubicBezTo>
                  <a:pt x="15" y="6"/>
                  <a:pt x="17" y="4"/>
                  <a:pt x="19" y="4"/>
                </a:cubicBezTo>
                <a:cubicBezTo>
                  <a:pt x="19" y="4"/>
                  <a:pt x="29" y="4"/>
                  <a:pt x="47" y="2"/>
                </a:cubicBezTo>
                <a:cubicBezTo>
                  <a:pt x="66" y="1"/>
                  <a:pt x="75" y="0"/>
                  <a:pt x="76" y="0"/>
                </a:cubicBezTo>
                <a:cubicBezTo>
                  <a:pt x="80" y="0"/>
                  <a:pt x="81" y="1"/>
                  <a:pt x="81" y="3"/>
                </a:cubicBezTo>
                <a:cubicBezTo>
                  <a:pt x="81" y="6"/>
                  <a:pt x="76" y="24"/>
                  <a:pt x="67" y="59"/>
                </a:cubicBezTo>
                <a:cubicBezTo>
                  <a:pt x="65" y="68"/>
                  <a:pt x="63" y="77"/>
                  <a:pt x="60" y="87"/>
                </a:cubicBezTo>
                <a:cubicBezTo>
                  <a:pt x="58" y="97"/>
                  <a:pt x="56" y="104"/>
                  <a:pt x="54" y="109"/>
                </a:cubicBezTo>
                <a:lnTo>
                  <a:pt x="53" y="116"/>
                </a:lnTo>
                <a:cubicBezTo>
                  <a:pt x="53" y="117"/>
                  <a:pt x="54" y="116"/>
                  <a:pt x="55" y="115"/>
                </a:cubicBezTo>
                <a:cubicBezTo>
                  <a:pt x="68" y="105"/>
                  <a:pt x="82" y="99"/>
                  <a:pt x="96" y="99"/>
                </a:cubicBezTo>
                <a:cubicBezTo>
                  <a:pt x="112" y="99"/>
                  <a:pt x="125" y="105"/>
                  <a:pt x="135" y="117"/>
                </a:cubicBezTo>
                <a:cubicBezTo>
                  <a:pt x="145" y="129"/>
                  <a:pt x="150" y="144"/>
                  <a:pt x="150" y="163"/>
                </a:cubicBezTo>
                <a:cubicBezTo>
                  <a:pt x="150" y="191"/>
                  <a:pt x="140" y="218"/>
                  <a:pt x="119" y="241"/>
                </a:cubicBezTo>
                <a:cubicBezTo>
                  <a:pt x="99" y="264"/>
                  <a:pt x="75" y="276"/>
                  <a:pt x="52" y="276"/>
                </a:cubicBezTo>
                <a:cubicBezTo>
                  <a:pt x="39" y="276"/>
                  <a:pt x="27" y="271"/>
                  <a:pt x="16" y="261"/>
                </a:cubicBezTo>
                <a:cubicBezTo>
                  <a:pt x="6" y="251"/>
                  <a:pt x="0" y="235"/>
                  <a:pt x="0" y="213"/>
                </a:cubicBezTo>
                <a:lnTo>
                  <a:pt x="0" y="210"/>
                </a:lnTo>
                <a:cubicBezTo>
                  <a:pt x="0" y="204"/>
                  <a:pt x="1" y="197"/>
                  <a:pt x="3" y="187"/>
                </a:cubicBezTo>
                <a:cubicBezTo>
                  <a:pt x="5" y="177"/>
                  <a:pt x="11" y="152"/>
                  <a:pt x="22" y="110"/>
                </a:cubicBezTo>
                <a:cubicBezTo>
                  <a:pt x="35" y="58"/>
                  <a:pt x="42" y="31"/>
                  <a:pt x="42" y="28"/>
                </a:cubicBezTo>
                <a:cubicBezTo>
                  <a:pt x="42" y="25"/>
                  <a:pt x="37" y="23"/>
                  <a:pt x="27" y="22"/>
                </a:cubicBezTo>
                <a:cubicBezTo>
                  <a:pt x="25" y="22"/>
                  <a:pt x="24" y="22"/>
                  <a:pt x="24" y="22"/>
                </a:cubicBezTo>
                <a:lnTo>
                  <a:pt x="22" y="22"/>
                </a:lnTo>
                <a:cubicBezTo>
                  <a:pt x="19" y="22"/>
                  <a:pt x="17" y="22"/>
                  <a:pt x="17" y="22"/>
                </a:cubicBezTo>
                <a:cubicBezTo>
                  <a:pt x="16" y="22"/>
                  <a:pt x="15" y="22"/>
                  <a:pt x="14" y="21"/>
                </a:cubicBezTo>
                <a:cubicBezTo>
                  <a:pt x="13" y="20"/>
                  <a:pt x="12" y="19"/>
                  <a:pt x="13" y="18"/>
                </a:cubicBezTo>
                <a:moveTo>
                  <a:pt x="116" y="145"/>
                </a:moveTo>
                <a:lnTo>
                  <a:pt x="116" y="143"/>
                </a:lnTo>
                <a:cubicBezTo>
                  <a:pt x="116" y="123"/>
                  <a:pt x="108" y="114"/>
                  <a:pt x="93" y="114"/>
                </a:cubicBezTo>
                <a:cubicBezTo>
                  <a:pt x="88" y="114"/>
                  <a:pt x="84" y="115"/>
                  <a:pt x="79" y="117"/>
                </a:cubicBezTo>
                <a:cubicBezTo>
                  <a:pt x="73" y="119"/>
                  <a:pt x="69" y="122"/>
                  <a:pt x="65" y="125"/>
                </a:cubicBezTo>
                <a:cubicBezTo>
                  <a:pt x="61" y="128"/>
                  <a:pt x="58" y="132"/>
                  <a:pt x="55" y="134"/>
                </a:cubicBezTo>
                <a:cubicBezTo>
                  <a:pt x="52" y="137"/>
                  <a:pt x="50" y="140"/>
                  <a:pt x="48" y="143"/>
                </a:cubicBezTo>
                <a:lnTo>
                  <a:pt x="45" y="146"/>
                </a:lnTo>
                <a:lnTo>
                  <a:pt x="37" y="180"/>
                </a:lnTo>
                <a:cubicBezTo>
                  <a:pt x="32" y="202"/>
                  <a:pt x="29" y="218"/>
                  <a:pt x="29" y="227"/>
                </a:cubicBezTo>
                <a:cubicBezTo>
                  <a:pt x="29" y="240"/>
                  <a:pt x="32" y="249"/>
                  <a:pt x="38" y="255"/>
                </a:cubicBezTo>
                <a:cubicBezTo>
                  <a:pt x="42" y="260"/>
                  <a:pt x="47" y="262"/>
                  <a:pt x="54" y="262"/>
                </a:cubicBezTo>
                <a:cubicBezTo>
                  <a:pt x="62" y="262"/>
                  <a:pt x="71" y="257"/>
                  <a:pt x="81" y="249"/>
                </a:cubicBezTo>
                <a:cubicBezTo>
                  <a:pt x="87" y="243"/>
                  <a:pt x="93" y="236"/>
                  <a:pt x="96" y="227"/>
                </a:cubicBezTo>
                <a:cubicBezTo>
                  <a:pt x="100" y="219"/>
                  <a:pt x="105" y="205"/>
                  <a:pt x="109" y="186"/>
                </a:cubicBezTo>
                <a:cubicBezTo>
                  <a:pt x="114" y="168"/>
                  <a:pt x="116" y="154"/>
                  <a:pt x="116" y="145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7" name=""/>
          <p:cNvSpPr/>
          <p:nvPr/>
        </p:nvSpPr>
        <p:spPr>
          <a:xfrm>
            <a:off x="8152560" y="5758920"/>
            <a:ext cx="54000" cy="99360"/>
          </a:xfrm>
          <a:custGeom>
            <a:avLst/>
            <a:gdLst/>
            <a:ahLst/>
            <a:rect l="0" t="0" r="r" b="b"/>
            <a:pathLst>
              <a:path fill="none" w="150" h="276">
                <a:moveTo>
                  <a:pt x="13" y="18"/>
                </a:moveTo>
                <a:cubicBezTo>
                  <a:pt x="13" y="16"/>
                  <a:pt x="13" y="13"/>
                  <a:pt x="14" y="9"/>
                </a:cubicBezTo>
                <a:cubicBezTo>
                  <a:pt x="15" y="6"/>
                  <a:pt x="17" y="4"/>
                  <a:pt x="19" y="4"/>
                </a:cubicBezTo>
                <a:cubicBezTo>
                  <a:pt x="19" y="4"/>
                  <a:pt x="29" y="4"/>
                  <a:pt x="47" y="2"/>
                </a:cubicBezTo>
                <a:cubicBezTo>
                  <a:pt x="66" y="1"/>
                  <a:pt x="75" y="0"/>
                  <a:pt x="76" y="0"/>
                </a:cubicBezTo>
                <a:cubicBezTo>
                  <a:pt x="80" y="0"/>
                  <a:pt x="81" y="1"/>
                  <a:pt x="81" y="3"/>
                </a:cubicBezTo>
                <a:cubicBezTo>
                  <a:pt x="81" y="6"/>
                  <a:pt x="76" y="24"/>
                  <a:pt x="67" y="59"/>
                </a:cubicBezTo>
                <a:cubicBezTo>
                  <a:pt x="65" y="68"/>
                  <a:pt x="63" y="77"/>
                  <a:pt x="60" y="87"/>
                </a:cubicBezTo>
                <a:cubicBezTo>
                  <a:pt x="58" y="97"/>
                  <a:pt x="56" y="104"/>
                  <a:pt x="54" y="109"/>
                </a:cubicBezTo>
                <a:lnTo>
                  <a:pt x="53" y="116"/>
                </a:lnTo>
                <a:cubicBezTo>
                  <a:pt x="53" y="117"/>
                  <a:pt x="54" y="116"/>
                  <a:pt x="55" y="115"/>
                </a:cubicBezTo>
                <a:cubicBezTo>
                  <a:pt x="68" y="105"/>
                  <a:pt x="82" y="99"/>
                  <a:pt x="96" y="99"/>
                </a:cubicBezTo>
                <a:cubicBezTo>
                  <a:pt x="112" y="99"/>
                  <a:pt x="125" y="105"/>
                  <a:pt x="135" y="117"/>
                </a:cubicBezTo>
                <a:cubicBezTo>
                  <a:pt x="145" y="129"/>
                  <a:pt x="150" y="144"/>
                  <a:pt x="150" y="163"/>
                </a:cubicBezTo>
                <a:cubicBezTo>
                  <a:pt x="150" y="191"/>
                  <a:pt x="140" y="218"/>
                  <a:pt x="119" y="241"/>
                </a:cubicBezTo>
                <a:cubicBezTo>
                  <a:pt x="99" y="264"/>
                  <a:pt x="75" y="276"/>
                  <a:pt x="52" y="276"/>
                </a:cubicBezTo>
                <a:cubicBezTo>
                  <a:pt x="39" y="276"/>
                  <a:pt x="27" y="271"/>
                  <a:pt x="16" y="261"/>
                </a:cubicBezTo>
                <a:cubicBezTo>
                  <a:pt x="6" y="251"/>
                  <a:pt x="0" y="235"/>
                  <a:pt x="0" y="213"/>
                </a:cubicBezTo>
                <a:lnTo>
                  <a:pt x="0" y="210"/>
                </a:lnTo>
                <a:cubicBezTo>
                  <a:pt x="0" y="204"/>
                  <a:pt x="1" y="197"/>
                  <a:pt x="3" y="187"/>
                </a:cubicBezTo>
                <a:cubicBezTo>
                  <a:pt x="5" y="177"/>
                  <a:pt x="11" y="152"/>
                  <a:pt x="22" y="110"/>
                </a:cubicBezTo>
                <a:cubicBezTo>
                  <a:pt x="35" y="58"/>
                  <a:pt x="42" y="31"/>
                  <a:pt x="42" y="28"/>
                </a:cubicBezTo>
                <a:cubicBezTo>
                  <a:pt x="42" y="25"/>
                  <a:pt x="37" y="23"/>
                  <a:pt x="27" y="22"/>
                </a:cubicBezTo>
                <a:cubicBezTo>
                  <a:pt x="25" y="22"/>
                  <a:pt x="24" y="22"/>
                  <a:pt x="24" y="22"/>
                </a:cubicBezTo>
                <a:lnTo>
                  <a:pt x="22" y="22"/>
                </a:lnTo>
                <a:cubicBezTo>
                  <a:pt x="19" y="22"/>
                  <a:pt x="17" y="22"/>
                  <a:pt x="17" y="22"/>
                </a:cubicBezTo>
                <a:cubicBezTo>
                  <a:pt x="16" y="22"/>
                  <a:pt x="15" y="22"/>
                  <a:pt x="14" y="21"/>
                </a:cubicBezTo>
                <a:cubicBezTo>
                  <a:pt x="13" y="20"/>
                  <a:pt x="12" y="19"/>
                  <a:pt x="13" y="18"/>
                </a:cubicBezTo>
                <a:moveTo>
                  <a:pt x="116" y="145"/>
                </a:moveTo>
                <a:lnTo>
                  <a:pt x="116" y="143"/>
                </a:lnTo>
                <a:cubicBezTo>
                  <a:pt x="116" y="123"/>
                  <a:pt x="108" y="114"/>
                  <a:pt x="93" y="114"/>
                </a:cubicBezTo>
                <a:cubicBezTo>
                  <a:pt x="88" y="114"/>
                  <a:pt x="84" y="115"/>
                  <a:pt x="79" y="117"/>
                </a:cubicBezTo>
                <a:cubicBezTo>
                  <a:pt x="73" y="119"/>
                  <a:pt x="69" y="122"/>
                  <a:pt x="65" y="125"/>
                </a:cubicBezTo>
                <a:cubicBezTo>
                  <a:pt x="61" y="128"/>
                  <a:pt x="58" y="132"/>
                  <a:pt x="55" y="134"/>
                </a:cubicBezTo>
                <a:cubicBezTo>
                  <a:pt x="52" y="137"/>
                  <a:pt x="50" y="140"/>
                  <a:pt x="48" y="143"/>
                </a:cubicBezTo>
                <a:lnTo>
                  <a:pt x="45" y="146"/>
                </a:lnTo>
                <a:lnTo>
                  <a:pt x="37" y="180"/>
                </a:lnTo>
                <a:cubicBezTo>
                  <a:pt x="32" y="202"/>
                  <a:pt x="29" y="218"/>
                  <a:pt x="29" y="227"/>
                </a:cubicBezTo>
                <a:cubicBezTo>
                  <a:pt x="29" y="240"/>
                  <a:pt x="32" y="249"/>
                  <a:pt x="38" y="255"/>
                </a:cubicBezTo>
                <a:cubicBezTo>
                  <a:pt x="42" y="260"/>
                  <a:pt x="47" y="262"/>
                  <a:pt x="54" y="262"/>
                </a:cubicBezTo>
                <a:cubicBezTo>
                  <a:pt x="62" y="262"/>
                  <a:pt x="71" y="257"/>
                  <a:pt x="81" y="249"/>
                </a:cubicBezTo>
                <a:cubicBezTo>
                  <a:pt x="87" y="243"/>
                  <a:pt x="93" y="236"/>
                  <a:pt x="96" y="227"/>
                </a:cubicBezTo>
                <a:cubicBezTo>
                  <a:pt x="100" y="219"/>
                  <a:pt x="105" y="205"/>
                  <a:pt x="109" y="186"/>
                </a:cubicBezTo>
                <a:cubicBezTo>
                  <a:pt x="114" y="168"/>
                  <a:pt x="116" y="154"/>
                  <a:pt x="116" y="145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"/>
          <p:cNvSpPr/>
          <p:nvPr/>
        </p:nvSpPr>
        <p:spPr>
          <a:xfrm>
            <a:off x="8214840" y="5774400"/>
            <a:ext cx="93960" cy="93960"/>
          </a:xfrm>
          <a:custGeom>
            <a:avLst/>
            <a:gdLst/>
            <a:ahLst/>
            <a:rect l="0" t="0" r="r" b="b"/>
            <a:pathLst>
              <a:path w="261" h="261">
                <a:moveTo>
                  <a:pt x="0" y="135"/>
                </a:moveTo>
                <a:cubicBezTo>
                  <a:pt x="0" y="135"/>
                  <a:pt x="0" y="134"/>
                  <a:pt x="0" y="130"/>
                </a:cubicBezTo>
                <a:cubicBezTo>
                  <a:pt x="0" y="127"/>
                  <a:pt x="2" y="124"/>
                  <a:pt x="6" y="122"/>
                </a:cubicBezTo>
                <a:lnTo>
                  <a:pt x="124" y="122"/>
                </a:lnTo>
                <a:lnTo>
                  <a:pt x="124" y="64"/>
                </a:lnTo>
                <a:lnTo>
                  <a:pt x="124" y="5"/>
                </a:lnTo>
                <a:cubicBezTo>
                  <a:pt x="127" y="2"/>
                  <a:pt x="129" y="0"/>
                  <a:pt x="131" y="0"/>
                </a:cubicBezTo>
                <a:cubicBezTo>
                  <a:pt x="135" y="0"/>
                  <a:pt x="137" y="2"/>
                  <a:pt x="139" y="6"/>
                </a:cubicBezTo>
                <a:lnTo>
                  <a:pt x="139" y="122"/>
                </a:lnTo>
                <a:lnTo>
                  <a:pt x="256" y="122"/>
                </a:lnTo>
                <a:cubicBezTo>
                  <a:pt x="259" y="125"/>
                  <a:pt x="261" y="127"/>
                  <a:pt x="261" y="130"/>
                </a:cubicBezTo>
                <a:cubicBezTo>
                  <a:pt x="261" y="133"/>
                  <a:pt x="259" y="136"/>
                  <a:pt x="256" y="138"/>
                </a:cubicBezTo>
                <a:lnTo>
                  <a:pt x="139" y="138"/>
                </a:lnTo>
                <a:lnTo>
                  <a:pt x="139" y="255"/>
                </a:lnTo>
                <a:cubicBezTo>
                  <a:pt x="137" y="259"/>
                  <a:pt x="135" y="261"/>
                  <a:pt x="132" y="261"/>
                </a:cubicBezTo>
                <a:lnTo>
                  <a:pt x="131" y="261"/>
                </a:lnTo>
                <a:cubicBezTo>
                  <a:pt x="128" y="261"/>
                  <a:pt x="125" y="259"/>
                  <a:pt x="124" y="255"/>
                </a:cubicBezTo>
                <a:lnTo>
                  <a:pt x="124" y="138"/>
                </a:lnTo>
                <a:lnTo>
                  <a:pt x="6" y="138"/>
                </a:lnTo>
                <a:cubicBezTo>
                  <a:pt x="2" y="136"/>
                  <a:pt x="0" y="134"/>
                  <a:pt x="0" y="130"/>
                </a:cubicBezTo>
                <a:lnTo>
                  <a:pt x="0" y="135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9" name=""/>
          <p:cNvSpPr/>
          <p:nvPr/>
        </p:nvSpPr>
        <p:spPr>
          <a:xfrm>
            <a:off x="8214840" y="5774400"/>
            <a:ext cx="93960" cy="93960"/>
          </a:xfrm>
          <a:custGeom>
            <a:avLst/>
            <a:gdLst/>
            <a:ahLst/>
            <a:rect l="0" t="0" r="r" b="b"/>
            <a:pathLst>
              <a:path fill="none" w="261" h="261">
                <a:moveTo>
                  <a:pt x="0" y="135"/>
                </a:moveTo>
                <a:cubicBezTo>
                  <a:pt x="0" y="135"/>
                  <a:pt x="0" y="134"/>
                  <a:pt x="0" y="130"/>
                </a:cubicBezTo>
                <a:cubicBezTo>
                  <a:pt x="0" y="127"/>
                  <a:pt x="2" y="124"/>
                  <a:pt x="6" y="122"/>
                </a:cubicBezTo>
                <a:lnTo>
                  <a:pt x="124" y="122"/>
                </a:lnTo>
                <a:lnTo>
                  <a:pt x="124" y="64"/>
                </a:lnTo>
                <a:lnTo>
                  <a:pt x="124" y="5"/>
                </a:lnTo>
                <a:cubicBezTo>
                  <a:pt x="127" y="2"/>
                  <a:pt x="129" y="0"/>
                  <a:pt x="131" y="0"/>
                </a:cubicBezTo>
                <a:cubicBezTo>
                  <a:pt x="135" y="0"/>
                  <a:pt x="137" y="2"/>
                  <a:pt x="139" y="6"/>
                </a:cubicBezTo>
                <a:lnTo>
                  <a:pt x="139" y="122"/>
                </a:lnTo>
                <a:lnTo>
                  <a:pt x="256" y="122"/>
                </a:lnTo>
                <a:cubicBezTo>
                  <a:pt x="259" y="125"/>
                  <a:pt x="261" y="127"/>
                  <a:pt x="261" y="130"/>
                </a:cubicBezTo>
                <a:cubicBezTo>
                  <a:pt x="261" y="133"/>
                  <a:pt x="259" y="136"/>
                  <a:pt x="256" y="138"/>
                </a:cubicBezTo>
                <a:lnTo>
                  <a:pt x="139" y="138"/>
                </a:lnTo>
                <a:lnTo>
                  <a:pt x="139" y="255"/>
                </a:lnTo>
                <a:cubicBezTo>
                  <a:pt x="137" y="259"/>
                  <a:pt x="135" y="261"/>
                  <a:pt x="132" y="261"/>
                </a:cubicBezTo>
                <a:lnTo>
                  <a:pt x="131" y="261"/>
                </a:lnTo>
                <a:cubicBezTo>
                  <a:pt x="128" y="261"/>
                  <a:pt x="125" y="259"/>
                  <a:pt x="124" y="255"/>
                </a:cubicBezTo>
                <a:lnTo>
                  <a:pt x="124" y="138"/>
                </a:lnTo>
                <a:lnTo>
                  <a:pt x="6" y="138"/>
                </a:lnTo>
                <a:cubicBezTo>
                  <a:pt x="2" y="136"/>
                  <a:pt x="0" y="134"/>
                  <a:pt x="0" y="130"/>
                </a:cubicBezTo>
                <a:lnTo>
                  <a:pt x="0" y="135"/>
                </a:ln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0" name=""/>
          <p:cNvSpPr/>
          <p:nvPr/>
        </p:nvSpPr>
        <p:spPr>
          <a:xfrm>
            <a:off x="8321400" y="5794200"/>
            <a:ext cx="55800" cy="64080"/>
          </a:xfrm>
          <a:custGeom>
            <a:avLst/>
            <a:gdLst/>
            <a:ahLst/>
            <a:rect l="0" t="0" r="r" b="b"/>
            <a:pathLst>
              <a:path w="155" h="178">
                <a:moveTo>
                  <a:pt x="0" y="112"/>
                </a:moveTo>
                <a:cubicBezTo>
                  <a:pt x="0" y="83"/>
                  <a:pt x="11" y="58"/>
                  <a:pt x="33" y="35"/>
                </a:cubicBezTo>
                <a:cubicBezTo>
                  <a:pt x="55" y="13"/>
                  <a:pt x="81" y="0"/>
                  <a:pt x="107" y="0"/>
                </a:cubicBezTo>
                <a:cubicBezTo>
                  <a:pt x="121" y="0"/>
                  <a:pt x="133" y="3"/>
                  <a:pt x="141" y="11"/>
                </a:cubicBezTo>
                <a:cubicBezTo>
                  <a:pt x="149" y="17"/>
                  <a:pt x="154" y="25"/>
                  <a:pt x="154" y="35"/>
                </a:cubicBezTo>
                <a:cubicBezTo>
                  <a:pt x="154" y="43"/>
                  <a:pt x="151" y="49"/>
                  <a:pt x="147" y="54"/>
                </a:cubicBezTo>
                <a:cubicBezTo>
                  <a:pt x="142" y="60"/>
                  <a:pt x="135" y="62"/>
                  <a:pt x="128" y="63"/>
                </a:cubicBezTo>
                <a:cubicBezTo>
                  <a:pt x="123" y="63"/>
                  <a:pt x="119" y="61"/>
                  <a:pt x="116" y="59"/>
                </a:cubicBezTo>
                <a:cubicBezTo>
                  <a:pt x="113" y="56"/>
                  <a:pt x="112" y="52"/>
                  <a:pt x="112" y="47"/>
                </a:cubicBezTo>
                <a:cubicBezTo>
                  <a:pt x="112" y="42"/>
                  <a:pt x="113" y="37"/>
                  <a:pt x="116" y="34"/>
                </a:cubicBezTo>
                <a:cubicBezTo>
                  <a:pt x="119" y="30"/>
                  <a:pt x="122" y="27"/>
                  <a:pt x="125" y="25"/>
                </a:cubicBezTo>
                <a:cubicBezTo>
                  <a:pt x="128" y="24"/>
                  <a:pt x="129" y="23"/>
                  <a:pt x="130" y="23"/>
                </a:cubicBezTo>
                <a:lnTo>
                  <a:pt x="131" y="23"/>
                </a:lnTo>
                <a:cubicBezTo>
                  <a:pt x="131" y="23"/>
                  <a:pt x="130" y="22"/>
                  <a:pt x="128" y="21"/>
                </a:cubicBezTo>
                <a:cubicBezTo>
                  <a:pt x="127" y="20"/>
                  <a:pt x="124" y="19"/>
                  <a:pt x="120" y="18"/>
                </a:cubicBezTo>
                <a:cubicBezTo>
                  <a:pt x="116" y="17"/>
                  <a:pt x="112" y="16"/>
                  <a:pt x="107" y="16"/>
                </a:cubicBezTo>
                <a:cubicBezTo>
                  <a:pt x="99" y="16"/>
                  <a:pt x="91" y="18"/>
                  <a:pt x="84" y="22"/>
                </a:cubicBezTo>
                <a:cubicBezTo>
                  <a:pt x="79" y="24"/>
                  <a:pt x="73" y="28"/>
                  <a:pt x="68" y="34"/>
                </a:cubicBezTo>
                <a:cubicBezTo>
                  <a:pt x="55" y="45"/>
                  <a:pt x="47" y="61"/>
                  <a:pt x="42" y="82"/>
                </a:cubicBezTo>
                <a:cubicBezTo>
                  <a:pt x="36" y="103"/>
                  <a:pt x="34" y="118"/>
                  <a:pt x="34" y="127"/>
                </a:cubicBezTo>
                <a:cubicBezTo>
                  <a:pt x="34" y="139"/>
                  <a:pt x="37" y="148"/>
                  <a:pt x="44" y="154"/>
                </a:cubicBezTo>
                <a:cubicBezTo>
                  <a:pt x="49" y="161"/>
                  <a:pt x="57" y="164"/>
                  <a:pt x="67" y="164"/>
                </a:cubicBezTo>
                <a:lnTo>
                  <a:pt x="69" y="164"/>
                </a:lnTo>
                <a:cubicBezTo>
                  <a:pt x="98" y="164"/>
                  <a:pt x="122" y="153"/>
                  <a:pt x="141" y="130"/>
                </a:cubicBezTo>
                <a:cubicBezTo>
                  <a:pt x="143" y="128"/>
                  <a:pt x="145" y="127"/>
                  <a:pt x="146" y="127"/>
                </a:cubicBezTo>
                <a:cubicBezTo>
                  <a:pt x="147" y="127"/>
                  <a:pt x="148" y="128"/>
                  <a:pt x="151" y="130"/>
                </a:cubicBezTo>
                <a:cubicBezTo>
                  <a:pt x="153" y="132"/>
                  <a:pt x="154" y="134"/>
                  <a:pt x="155" y="136"/>
                </a:cubicBezTo>
                <a:cubicBezTo>
                  <a:pt x="155" y="137"/>
                  <a:pt x="154" y="139"/>
                  <a:pt x="151" y="141"/>
                </a:cubicBezTo>
                <a:cubicBezTo>
                  <a:pt x="149" y="144"/>
                  <a:pt x="145" y="148"/>
                  <a:pt x="140" y="152"/>
                </a:cubicBezTo>
                <a:cubicBezTo>
                  <a:pt x="135" y="157"/>
                  <a:pt x="129" y="161"/>
                  <a:pt x="122" y="164"/>
                </a:cubicBezTo>
                <a:cubicBezTo>
                  <a:pt x="116" y="167"/>
                  <a:pt x="107" y="170"/>
                  <a:pt x="97" y="174"/>
                </a:cubicBezTo>
                <a:cubicBezTo>
                  <a:pt x="87" y="177"/>
                  <a:pt x="77" y="179"/>
                  <a:pt x="66" y="178"/>
                </a:cubicBezTo>
                <a:cubicBezTo>
                  <a:pt x="46" y="178"/>
                  <a:pt x="30" y="172"/>
                  <a:pt x="18" y="159"/>
                </a:cubicBezTo>
                <a:cubicBezTo>
                  <a:pt x="6" y="147"/>
                  <a:pt x="0" y="131"/>
                  <a:pt x="0" y="112"/>
                </a:cubicBez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1" name=""/>
          <p:cNvSpPr/>
          <p:nvPr/>
        </p:nvSpPr>
        <p:spPr>
          <a:xfrm>
            <a:off x="8321400" y="5794200"/>
            <a:ext cx="55800" cy="64080"/>
          </a:xfrm>
          <a:custGeom>
            <a:avLst/>
            <a:gdLst/>
            <a:ahLst/>
            <a:rect l="0" t="0" r="r" b="b"/>
            <a:pathLst>
              <a:path fill="none" w="155" h="178">
                <a:moveTo>
                  <a:pt x="0" y="112"/>
                </a:moveTo>
                <a:cubicBezTo>
                  <a:pt x="0" y="83"/>
                  <a:pt x="11" y="58"/>
                  <a:pt x="33" y="35"/>
                </a:cubicBezTo>
                <a:cubicBezTo>
                  <a:pt x="55" y="13"/>
                  <a:pt x="81" y="0"/>
                  <a:pt x="107" y="0"/>
                </a:cubicBezTo>
                <a:cubicBezTo>
                  <a:pt x="121" y="0"/>
                  <a:pt x="133" y="3"/>
                  <a:pt x="141" y="11"/>
                </a:cubicBezTo>
                <a:cubicBezTo>
                  <a:pt x="149" y="17"/>
                  <a:pt x="154" y="25"/>
                  <a:pt x="154" y="35"/>
                </a:cubicBezTo>
                <a:cubicBezTo>
                  <a:pt x="154" y="43"/>
                  <a:pt x="151" y="49"/>
                  <a:pt x="147" y="54"/>
                </a:cubicBezTo>
                <a:cubicBezTo>
                  <a:pt x="142" y="60"/>
                  <a:pt x="135" y="62"/>
                  <a:pt x="128" y="63"/>
                </a:cubicBezTo>
                <a:cubicBezTo>
                  <a:pt x="123" y="63"/>
                  <a:pt x="119" y="61"/>
                  <a:pt x="116" y="59"/>
                </a:cubicBezTo>
                <a:cubicBezTo>
                  <a:pt x="113" y="56"/>
                  <a:pt x="112" y="52"/>
                  <a:pt x="112" y="47"/>
                </a:cubicBezTo>
                <a:cubicBezTo>
                  <a:pt x="112" y="42"/>
                  <a:pt x="113" y="37"/>
                  <a:pt x="116" y="34"/>
                </a:cubicBezTo>
                <a:cubicBezTo>
                  <a:pt x="119" y="30"/>
                  <a:pt x="122" y="27"/>
                  <a:pt x="125" y="25"/>
                </a:cubicBezTo>
                <a:cubicBezTo>
                  <a:pt x="128" y="24"/>
                  <a:pt x="129" y="23"/>
                  <a:pt x="130" y="23"/>
                </a:cubicBezTo>
                <a:lnTo>
                  <a:pt x="131" y="23"/>
                </a:lnTo>
                <a:cubicBezTo>
                  <a:pt x="131" y="23"/>
                  <a:pt x="130" y="22"/>
                  <a:pt x="128" y="21"/>
                </a:cubicBezTo>
                <a:cubicBezTo>
                  <a:pt x="127" y="20"/>
                  <a:pt x="124" y="19"/>
                  <a:pt x="120" y="18"/>
                </a:cubicBezTo>
                <a:cubicBezTo>
                  <a:pt x="116" y="17"/>
                  <a:pt x="112" y="16"/>
                  <a:pt x="107" y="16"/>
                </a:cubicBezTo>
                <a:cubicBezTo>
                  <a:pt x="99" y="16"/>
                  <a:pt x="91" y="18"/>
                  <a:pt x="84" y="22"/>
                </a:cubicBezTo>
                <a:cubicBezTo>
                  <a:pt x="79" y="24"/>
                  <a:pt x="73" y="28"/>
                  <a:pt x="68" y="34"/>
                </a:cubicBezTo>
                <a:cubicBezTo>
                  <a:pt x="55" y="45"/>
                  <a:pt x="47" y="61"/>
                  <a:pt x="42" y="82"/>
                </a:cubicBezTo>
                <a:cubicBezTo>
                  <a:pt x="36" y="103"/>
                  <a:pt x="34" y="118"/>
                  <a:pt x="34" y="127"/>
                </a:cubicBezTo>
                <a:cubicBezTo>
                  <a:pt x="34" y="139"/>
                  <a:pt x="37" y="148"/>
                  <a:pt x="44" y="154"/>
                </a:cubicBezTo>
                <a:cubicBezTo>
                  <a:pt x="49" y="161"/>
                  <a:pt x="57" y="164"/>
                  <a:pt x="67" y="164"/>
                </a:cubicBezTo>
                <a:lnTo>
                  <a:pt x="69" y="164"/>
                </a:lnTo>
                <a:cubicBezTo>
                  <a:pt x="98" y="164"/>
                  <a:pt x="122" y="153"/>
                  <a:pt x="141" y="130"/>
                </a:cubicBezTo>
                <a:cubicBezTo>
                  <a:pt x="143" y="128"/>
                  <a:pt x="145" y="127"/>
                  <a:pt x="146" y="127"/>
                </a:cubicBezTo>
                <a:cubicBezTo>
                  <a:pt x="147" y="127"/>
                  <a:pt x="148" y="128"/>
                  <a:pt x="151" y="130"/>
                </a:cubicBezTo>
                <a:cubicBezTo>
                  <a:pt x="153" y="132"/>
                  <a:pt x="154" y="134"/>
                  <a:pt x="155" y="136"/>
                </a:cubicBezTo>
                <a:cubicBezTo>
                  <a:pt x="155" y="137"/>
                  <a:pt x="154" y="139"/>
                  <a:pt x="151" y="141"/>
                </a:cubicBezTo>
                <a:cubicBezTo>
                  <a:pt x="149" y="144"/>
                  <a:pt x="145" y="148"/>
                  <a:pt x="140" y="152"/>
                </a:cubicBezTo>
                <a:cubicBezTo>
                  <a:pt x="135" y="157"/>
                  <a:pt x="129" y="161"/>
                  <a:pt x="122" y="164"/>
                </a:cubicBezTo>
                <a:cubicBezTo>
                  <a:pt x="116" y="167"/>
                  <a:pt x="107" y="170"/>
                  <a:pt x="97" y="174"/>
                </a:cubicBezTo>
                <a:cubicBezTo>
                  <a:pt x="87" y="177"/>
                  <a:pt x="77" y="179"/>
                  <a:pt x="66" y="178"/>
                </a:cubicBezTo>
                <a:cubicBezTo>
                  <a:pt x="46" y="178"/>
                  <a:pt x="30" y="172"/>
                  <a:pt x="18" y="159"/>
                </a:cubicBezTo>
                <a:cubicBezTo>
                  <a:pt x="6" y="147"/>
                  <a:pt x="0" y="131"/>
                  <a:pt x="0" y="112"/>
                </a:cubicBezTo>
              </a:path>
            </a:pathLst>
          </a:custGeom>
          <a:ln>
            <a:solidFill>
              <a:srgbClr val="0a0a0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2" name=""/>
          <p:cNvSpPr txBox="1"/>
          <p:nvPr/>
        </p:nvSpPr>
        <p:spPr>
          <a:xfrm>
            <a:off x="12320280" y="3929040"/>
            <a:ext cx="2887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76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(3.4)</a:t>
            </a:r>
            <a:endParaRPr b="0" lang="en-IN" sz="7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3" name=""/>
          <p:cNvSpPr txBox="1"/>
          <p:nvPr/>
        </p:nvSpPr>
        <p:spPr>
          <a:xfrm>
            <a:off x="12320280" y="5867280"/>
            <a:ext cx="2887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76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(3.5)</a:t>
            </a:r>
            <a:endParaRPr b="0" lang="en-IN" sz="7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4" name=""/>
          <p:cNvSpPr txBox="1"/>
          <p:nvPr/>
        </p:nvSpPr>
        <p:spPr>
          <a:xfrm>
            <a:off x="960840" y="6916680"/>
            <a:ext cx="571752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6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A difference is declared significant only when the McNemar p-value &lt; 0.05 </a:t>
            </a:r>
            <a:r>
              <a:rPr b="0" lang="en-IN" sz="860" strike="noStrike" u="none">
                <a:solidFill>
                  <a:srgbClr val="8b1538"/>
                </a:solidFill>
                <a:effectLst/>
                <a:uFillTx/>
                <a:latin typeface="Inter"/>
                <a:ea typeface="Inter"/>
              </a:rPr>
              <a:t>and</a:t>
            </a:r>
            <a:r>
              <a:rPr b="0" lang="en-IN" sz="86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 the paired bootstrap CI excludes zero.   </a:t>
            </a:r>
            <a:endParaRPr b="0" lang="en-IN" sz="8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5" name=""/>
          <p:cNvSpPr/>
          <p:nvPr/>
        </p:nvSpPr>
        <p:spPr>
          <a:xfrm>
            <a:off x="6634440" y="6946920"/>
            <a:ext cx="50040" cy="92160"/>
          </a:xfrm>
          <a:custGeom>
            <a:avLst/>
            <a:gdLst/>
            <a:ahLst/>
            <a:rect l="0" t="0" r="r" b="b"/>
            <a:pathLst>
              <a:path w="139" h="256">
                <a:moveTo>
                  <a:pt x="12" y="17"/>
                </a:moveTo>
                <a:cubicBezTo>
                  <a:pt x="12" y="15"/>
                  <a:pt x="12" y="12"/>
                  <a:pt x="13" y="9"/>
                </a:cubicBezTo>
                <a:cubicBezTo>
                  <a:pt x="14" y="6"/>
                  <a:pt x="16" y="4"/>
                  <a:pt x="18" y="4"/>
                </a:cubicBezTo>
                <a:cubicBezTo>
                  <a:pt x="18" y="4"/>
                  <a:pt x="27" y="4"/>
                  <a:pt x="44" y="2"/>
                </a:cubicBezTo>
                <a:cubicBezTo>
                  <a:pt x="61" y="1"/>
                  <a:pt x="70" y="0"/>
                  <a:pt x="70" y="0"/>
                </a:cubicBezTo>
                <a:cubicBezTo>
                  <a:pt x="73" y="0"/>
                  <a:pt x="74" y="1"/>
                  <a:pt x="74" y="3"/>
                </a:cubicBezTo>
                <a:cubicBezTo>
                  <a:pt x="74" y="6"/>
                  <a:pt x="70" y="23"/>
                  <a:pt x="62" y="55"/>
                </a:cubicBezTo>
                <a:cubicBezTo>
                  <a:pt x="60" y="63"/>
                  <a:pt x="58" y="72"/>
                  <a:pt x="56" y="80"/>
                </a:cubicBezTo>
                <a:cubicBezTo>
                  <a:pt x="54" y="89"/>
                  <a:pt x="52" y="95"/>
                  <a:pt x="51" y="100"/>
                </a:cubicBezTo>
                <a:lnTo>
                  <a:pt x="49" y="107"/>
                </a:lnTo>
                <a:cubicBezTo>
                  <a:pt x="49" y="107"/>
                  <a:pt x="50" y="107"/>
                  <a:pt x="51" y="106"/>
                </a:cubicBezTo>
                <a:cubicBezTo>
                  <a:pt x="63" y="96"/>
                  <a:pt x="75" y="91"/>
                  <a:pt x="88" y="91"/>
                </a:cubicBezTo>
                <a:cubicBezTo>
                  <a:pt x="103" y="91"/>
                  <a:pt x="115" y="97"/>
                  <a:pt x="124" y="108"/>
                </a:cubicBezTo>
                <a:cubicBezTo>
                  <a:pt x="133" y="119"/>
                  <a:pt x="139" y="133"/>
                  <a:pt x="139" y="151"/>
                </a:cubicBezTo>
                <a:cubicBezTo>
                  <a:pt x="139" y="177"/>
                  <a:pt x="128" y="202"/>
                  <a:pt x="109" y="223"/>
                </a:cubicBezTo>
                <a:cubicBezTo>
                  <a:pt x="90" y="245"/>
                  <a:pt x="70" y="256"/>
                  <a:pt x="48" y="256"/>
                </a:cubicBezTo>
                <a:cubicBezTo>
                  <a:pt x="36" y="256"/>
                  <a:pt x="25" y="251"/>
                  <a:pt x="15" y="242"/>
                </a:cubicBezTo>
                <a:cubicBezTo>
                  <a:pt x="5" y="233"/>
                  <a:pt x="0" y="218"/>
                  <a:pt x="0" y="198"/>
                </a:cubicBezTo>
                <a:lnTo>
                  <a:pt x="0" y="194"/>
                </a:lnTo>
                <a:cubicBezTo>
                  <a:pt x="0" y="189"/>
                  <a:pt x="1" y="182"/>
                  <a:pt x="3" y="173"/>
                </a:cubicBezTo>
                <a:cubicBezTo>
                  <a:pt x="5" y="164"/>
                  <a:pt x="11" y="141"/>
                  <a:pt x="21" y="101"/>
                </a:cubicBezTo>
                <a:cubicBezTo>
                  <a:pt x="33" y="54"/>
                  <a:pt x="39" y="29"/>
                  <a:pt x="39" y="26"/>
                </a:cubicBezTo>
                <a:cubicBezTo>
                  <a:pt x="39" y="23"/>
                  <a:pt x="34" y="21"/>
                  <a:pt x="25" y="21"/>
                </a:cubicBezTo>
                <a:cubicBezTo>
                  <a:pt x="24" y="21"/>
                  <a:pt x="23" y="21"/>
                  <a:pt x="22" y="21"/>
                </a:cubicBezTo>
                <a:lnTo>
                  <a:pt x="20" y="21"/>
                </a:lnTo>
                <a:cubicBezTo>
                  <a:pt x="18" y="21"/>
                  <a:pt x="16" y="21"/>
                  <a:pt x="15" y="21"/>
                </a:cubicBezTo>
                <a:cubicBezTo>
                  <a:pt x="15" y="21"/>
                  <a:pt x="14" y="20"/>
                  <a:pt x="13" y="20"/>
                </a:cubicBezTo>
                <a:cubicBezTo>
                  <a:pt x="12" y="19"/>
                  <a:pt x="12" y="18"/>
                  <a:pt x="12" y="17"/>
                </a:cubicBezTo>
                <a:moveTo>
                  <a:pt x="107" y="133"/>
                </a:moveTo>
                <a:lnTo>
                  <a:pt x="107" y="131"/>
                </a:lnTo>
                <a:cubicBezTo>
                  <a:pt x="107" y="113"/>
                  <a:pt x="99" y="105"/>
                  <a:pt x="85" y="105"/>
                </a:cubicBezTo>
                <a:cubicBezTo>
                  <a:pt x="81" y="105"/>
                  <a:pt x="77" y="105"/>
                  <a:pt x="72" y="107"/>
                </a:cubicBezTo>
                <a:cubicBezTo>
                  <a:pt x="68" y="109"/>
                  <a:pt x="64" y="112"/>
                  <a:pt x="60" y="115"/>
                </a:cubicBezTo>
                <a:cubicBezTo>
                  <a:pt x="57" y="118"/>
                  <a:pt x="54" y="121"/>
                  <a:pt x="51" y="124"/>
                </a:cubicBezTo>
                <a:cubicBezTo>
                  <a:pt x="48" y="126"/>
                  <a:pt x="46" y="129"/>
                  <a:pt x="44" y="132"/>
                </a:cubicBezTo>
                <a:lnTo>
                  <a:pt x="42" y="135"/>
                </a:lnTo>
                <a:lnTo>
                  <a:pt x="35" y="167"/>
                </a:lnTo>
                <a:cubicBezTo>
                  <a:pt x="29" y="187"/>
                  <a:pt x="27" y="202"/>
                  <a:pt x="27" y="211"/>
                </a:cubicBezTo>
                <a:cubicBezTo>
                  <a:pt x="27" y="222"/>
                  <a:pt x="30" y="231"/>
                  <a:pt x="35" y="237"/>
                </a:cubicBezTo>
                <a:cubicBezTo>
                  <a:pt x="39" y="240"/>
                  <a:pt x="44" y="242"/>
                  <a:pt x="50" y="242"/>
                </a:cubicBezTo>
                <a:cubicBezTo>
                  <a:pt x="58" y="242"/>
                  <a:pt x="66" y="239"/>
                  <a:pt x="74" y="231"/>
                </a:cubicBezTo>
                <a:cubicBezTo>
                  <a:pt x="80" y="225"/>
                  <a:pt x="85" y="219"/>
                  <a:pt x="88" y="211"/>
                </a:cubicBezTo>
                <a:cubicBezTo>
                  <a:pt x="92" y="203"/>
                  <a:pt x="96" y="190"/>
                  <a:pt x="100" y="173"/>
                </a:cubicBezTo>
                <a:cubicBezTo>
                  <a:pt x="105" y="155"/>
                  <a:pt x="107" y="143"/>
                  <a:pt x="107" y="133"/>
                </a:cubicBez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6" name=""/>
          <p:cNvSpPr/>
          <p:nvPr/>
        </p:nvSpPr>
        <p:spPr>
          <a:xfrm>
            <a:off x="6634440" y="6946920"/>
            <a:ext cx="50040" cy="92160"/>
          </a:xfrm>
          <a:custGeom>
            <a:avLst/>
            <a:gdLst/>
            <a:ahLst/>
            <a:rect l="0" t="0" r="r" b="b"/>
            <a:pathLst>
              <a:path fill="none" w="139" h="256">
                <a:moveTo>
                  <a:pt x="12" y="17"/>
                </a:moveTo>
                <a:cubicBezTo>
                  <a:pt x="12" y="15"/>
                  <a:pt x="12" y="12"/>
                  <a:pt x="13" y="9"/>
                </a:cubicBezTo>
                <a:cubicBezTo>
                  <a:pt x="14" y="6"/>
                  <a:pt x="16" y="4"/>
                  <a:pt x="18" y="4"/>
                </a:cubicBezTo>
                <a:cubicBezTo>
                  <a:pt x="18" y="4"/>
                  <a:pt x="27" y="4"/>
                  <a:pt x="44" y="2"/>
                </a:cubicBezTo>
                <a:cubicBezTo>
                  <a:pt x="61" y="1"/>
                  <a:pt x="70" y="0"/>
                  <a:pt x="70" y="0"/>
                </a:cubicBezTo>
                <a:cubicBezTo>
                  <a:pt x="73" y="0"/>
                  <a:pt x="74" y="1"/>
                  <a:pt x="74" y="3"/>
                </a:cubicBezTo>
                <a:cubicBezTo>
                  <a:pt x="74" y="6"/>
                  <a:pt x="70" y="23"/>
                  <a:pt x="62" y="55"/>
                </a:cubicBezTo>
                <a:cubicBezTo>
                  <a:pt x="60" y="63"/>
                  <a:pt x="58" y="72"/>
                  <a:pt x="56" y="80"/>
                </a:cubicBezTo>
                <a:cubicBezTo>
                  <a:pt x="54" y="89"/>
                  <a:pt x="52" y="95"/>
                  <a:pt x="51" y="100"/>
                </a:cubicBezTo>
                <a:lnTo>
                  <a:pt x="49" y="107"/>
                </a:lnTo>
                <a:cubicBezTo>
                  <a:pt x="49" y="107"/>
                  <a:pt x="50" y="107"/>
                  <a:pt x="51" y="106"/>
                </a:cubicBezTo>
                <a:cubicBezTo>
                  <a:pt x="63" y="96"/>
                  <a:pt x="75" y="91"/>
                  <a:pt x="88" y="91"/>
                </a:cubicBezTo>
                <a:cubicBezTo>
                  <a:pt x="103" y="91"/>
                  <a:pt x="115" y="97"/>
                  <a:pt x="124" y="108"/>
                </a:cubicBezTo>
                <a:cubicBezTo>
                  <a:pt x="133" y="119"/>
                  <a:pt x="139" y="133"/>
                  <a:pt x="139" y="151"/>
                </a:cubicBezTo>
                <a:cubicBezTo>
                  <a:pt x="139" y="177"/>
                  <a:pt x="128" y="202"/>
                  <a:pt x="109" y="223"/>
                </a:cubicBezTo>
                <a:cubicBezTo>
                  <a:pt x="90" y="245"/>
                  <a:pt x="70" y="256"/>
                  <a:pt x="48" y="256"/>
                </a:cubicBezTo>
                <a:cubicBezTo>
                  <a:pt x="36" y="256"/>
                  <a:pt x="25" y="251"/>
                  <a:pt x="15" y="242"/>
                </a:cubicBezTo>
                <a:cubicBezTo>
                  <a:pt x="5" y="233"/>
                  <a:pt x="0" y="218"/>
                  <a:pt x="0" y="198"/>
                </a:cubicBezTo>
                <a:lnTo>
                  <a:pt x="0" y="194"/>
                </a:lnTo>
                <a:cubicBezTo>
                  <a:pt x="0" y="189"/>
                  <a:pt x="1" y="182"/>
                  <a:pt x="3" y="173"/>
                </a:cubicBezTo>
                <a:cubicBezTo>
                  <a:pt x="5" y="164"/>
                  <a:pt x="11" y="141"/>
                  <a:pt x="21" y="101"/>
                </a:cubicBezTo>
                <a:cubicBezTo>
                  <a:pt x="33" y="54"/>
                  <a:pt x="39" y="29"/>
                  <a:pt x="39" y="26"/>
                </a:cubicBezTo>
                <a:cubicBezTo>
                  <a:pt x="39" y="23"/>
                  <a:pt x="34" y="21"/>
                  <a:pt x="25" y="21"/>
                </a:cubicBezTo>
                <a:cubicBezTo>
                  <a:pt x="24" y="21"/>
                  <a:pt x="23" y="21"/>
                  <a:pt x="22" y="21"/>
                </a:cubicBezTo>
                <a:lnTo>
                  <a:pt x="20" y="21"/>
                </a:lnTo>
                <a:cubicBezTo>
                  <a:pt x="18" y="21"/>
                  <a:pt x="16" y="21"/>
                  <a:pt x="15" y="21"/>
                </a:cubicBezTo>
                <a:cubicBezTo>
                  <a:pt x="15" y="21"/>
                  <a:pt x="14" y="20"/>
                  <a:pt x="13" y="20"/>
                </a:cubicBezTo>
                <a:cubicBezTo>
                  <a:pt x="12" y="19"/>
                  <a:pt x="12" y="18"/>
                  <a:pt x="12" y="17"/>
                </a:cubicBezTo>
                <a:moveTo>
                  <a:pt x="107" y="133"/>
                </a:moveTo>
                <a:lnTo>
                  <a:pt x="107" y="131"/>
                </a:lnTo>
                <a:cubicBezTo>
                  <a:pt x="107" y="113"/>
                  <a:pt x="99" y="105"/>
                  <a:pt x="85" y="105"/>
                </a:cubicBezTo>
                <a:cubicBezTo>
                  <a:pt x="81" y="105"/>
                  <a:pt x="77" y="105"/>
                  <a:pt x="72" y="107"/>
                </a:cubicBezTo>
                <a:cubicBezTo>
                  <a:pt x="68" y="109"/>
                  <a:pt x="64" y="112"/>
                  <a:pt x="60" y="115"/>
                </a:cubicBezTo>
                <a:cubicBezTo>
                  <a:pt x="57" y="118"/>
                  <a:pt x="54" y="121"/>
                  <a:pt x="51" y="124"/>
                </a:cubicBezTo>
                <a:cubicBezTo>
                  <a:pt x="48" y="126"/>
                  <a:pt x="46" y="129"/>
                  <a:pt x="44" y="132"/>
                </a:cubicBezTo>
                <a:lnTo>
                  <a:pt x="42" y="135"/>
                </a:lnTo>
                <a:lnTo>
                  <a:pt x="35" y="167"/>
                </a:lnTo>
                <a:cubicBezTo>
                  <a:pt x="29" y="187"/>
                  <a:pt x="27" y="202"/>
                  <a:pt x="27" y="211"/>
                </a:cubicBezTo>
                <a:cubicBezTo>
                  <a:pt x="27" y="222"/>
                  <a:pt x="30" y="231"/>
                  <a:pt x="35" y="237"/>
                </a:cubicBezTo>
                <a:cubicBezTo>
                  <a:pt x="39" y="240"/>
                  <a:pt x="44" y="242"/>
                  <a:pt x="50" y="242"/>
                </a:cubicBezTo>
                <a:cubicBezTo>
                  <a:pt x="58" y="242"/>
                  <a:pt x="66" y="239"/>
                  <a:pt x="74" y="231"/>
                </a:cubicBezTo>
                <a:cubicBezTo>
                  <a:pt x="80" y="225"/>
                  <a:pt x="85" y="219"/>
                  <a:pt x="88" y="211"/>
                </a:cubicBezTo>
                <a:cubicBezTo>
                  <a:pt x="92" y="203"/>
                  <a:pt x="96" y="190"/>
                  <a:pt x="100" y="173"/>
                </a:cubicBezTo>
                <a:cubicBezTo>
                  <a:pt x="105" y="155"/>
                  <a:pt x="107" y="143"/>
                  <a:pt x="107" y="133"/>
                </a:cubicBezTo>
              </a:path>
            </a:pathLst>
          </a:custGeom>
          <a:ln>
            <a:solidFill>
              <a:srgbClr val="2a2a2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7" name=""/>
          <p:cNvSpPr/>
          <p:nvPr/>
        </p:nvSpPr>
        <p:spPr>
          <a:xfrm>
            <a:off x="6695280" y="7021440"/>
            <a:ext cx="17280" cy="41400"/>
          </a:xfrm>
          <a:custGeom>
            <a:avLst/>
            <a:gdLst/>
            <a:ahLst/>
            <a:rect l="0" t="0" r="r" b="b"/>
            <a:pathLst>
              <a:path w="48" h="115">
                <a:moveTo>
                  <a:pt x="0" y="31"/>
                </a:moveTo>
                <a:cubicBezTo>
                  <a:pt x="0" y="31"/>
                  <a:pt x="0" y="28"/>
                  <a:pt x="0" y="22"/>
                </a:cubicBezTo>
                <a:cubicBezTo>
                  <a:pt x="0" y="16"/>
                  <a:pt x="2" y="11"/>
                  <a:pt x="5" y="7"/>
                </a:cubicBezTo>
                <a:cubicBezTo>
                  <a:pt x="9" y="2"/>
                  <a:pt x="14" y="0"/>
                  <a:pt x="21" y="0"/>
                </a:cubicBezTo>
                <a:cubicBezTo>
                  <a:pt x="28" y="0"/>
                  <a:pt x="34" y="3"/>
                  <a:pt x="40" y="9"/>
                </a:cubicBezTo>
                <a:cubicBezTo>
                  <a:pt x="45" y="15"/>
                  <a:pt x="48" y="26"/>
                  <a:pt x="48" y="41"/>
                </a:cubicBezTo>
                <a:cubicBezTo>
                  <a:pt x="48" y="49"/>
                  <a:pt x="47" y="57"/>
                  <a:pt x="45" y="65"/>
                </a:cubicBezTo>
                <a:cubicBezTo>
                  <a:pt x="43" y="73"/>
                  <a:pt x="40" y="80"/>
                  <a:pt x="36" y="86"/>
                </a:cubicBezTo>
                <a:cubicBezTo>
                  <a:pt x="34" y="92"/>
                  <a:pt x="30" y="97"/>
                  <a:pt x="27" y="101"/>
                </a:cubicBezTo>
                <a:cubicBezTo>
                  <a:pt x="24" y="106"/>
                  <a:pt x="21" y="109"/>
                  <a:pt x="18" y="112"/>
                </a:cubicBezTo>
                <a:cubicBezTo>
                  <a:pt x="16" y="114"/>
                  <a:pt x="14" y="115"/>
                  <a:pt x="14" y="115"/>
                </a:cubicBezTo>
                <a:cubicBezTo>
                  <a:pt x="13" y="115"/>
                  <a:pt x="11" y="114"/>
                  <a:pt x="9" y="112"/>
                </a:cubicBezTo>
                <a:cubicBezTo>
                  <a:pt x="7" y="109"/>
                  <a:pt x="6" y="108"/>
                  <a:pt x="6" y="107"/>
                </a:cubicBezTo>
                <a:cubicBezTo>
                  <a:pt x="6" y="106"/>
                  <a:pt x="7" y="104"/>
                  <a:pt x="10" y="100"/>
                </a:cubicBezTo>
                <a:cubicBezTo>
                  <a:pt x="12" y="97"/>
                  <a:pt x="15" y="94"/>
                  <a:pt x="19" y="89"/>
                </a:cubicBezTo>
                <a:cubicBezTo>
                  <a:pt x="22" y="85"/>
                  <a:pt x="25" y="79"/>
                  <a:pt x="28" y="71"/>
                </a:cubicBezTo>
                <a:cubicBezTo>
                  <a:pt x="31" y="64"/>
                  <a:pt x="33" y="55"/>
                  <a:pt x="34" y="45"/>
                </a:cubicBezTo>
                <a:lnTo>
                  <a:pt x="34" y="41"/>
                </a:lnTo>
                <a:cubicBezTo>
                  <a:pt x="33" y="41"/>
                  <a:pt x="32" y="41"/>
                  <a:pt x="32" y="42"/>
                </a:cubicBezTo>
                <a:cubicBezTo>
                  <a:pt x="31" y="42"/>
                  <a:pt x="30" y="42"/>
                  <a:pt x="30" y="43"/>
                </a:cubicBezTo>
                <a:cubicBezTo>
                  <a:pt x="29" y="43"/>
                  <a:pt x="28" y="43"/>
                  <a:pt x="26" y="43"/>
                </a:cubicBezTo>
                <a:cubicBezTo>
                  <a:pt x="25" y="43"/>
                  <a:pt x="23" y="44"/>
                  <a:pt x="22" y="44"/>
                </a:cubicBezTo>
                <a:cubicBezTo>
                  <a:pt x="15" y="44"/>
                  <a:pt x="10" y="42"/>
                  <a:pt x="6" y="38"/>
                </a:cubicBezTo>
                <a:lnTo>
                  <a:pt x="0" y="31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8" name=""/>
          <p:cNvSpPr/>
          <p:nvPr/>
        </p:nvSpPr>
        <p:spPr>
          <a:xfrm>
            <a:off x="6695280" y="7021440"/>
            <a:ext cx="17280" cy="41400"/>
          </a:xfrm>
          <a:custGeom>
            <a:avLst/>
            <a:gdLst/>
            <a:ahLst/>
            <a:rect l="0" t="0" r="r" b="b"/>
            <a:pathLst>
              <a:path fill="none" w="48" h="115">
                <a:moveTo>
                  <a:pt x="0" y="31"/>
                </a:moveTo>
                <a:cubicBezTo>
                  <a:pt x="0" y="31"/>
                  <a:pt x="0" y="28"/>
                  <a:pt x="0" y="22"/>
                </a:cubicBezTo>
                <a:cubicBezTo>
                  <a:pt x="0" y="16"/>
                  <a:pt x="2" y="11"/>
                  <a:pt x="5" y="7"/>
                </a:cubicBezTo>
                <a:cubicBezTo>
                  <a:pt x="9" y="2"/>
                  <a:pt x="14" y="0"/>
                  <a:pt x="21" y="0"/>
                </a:cubicBezTo>
                <a:cubicBezTo>
                  <a:pt x="28" y="0"/>
                  <a:pt x="34" y="3"/>
                  <a:pt x="40" y="9"/>
                </a:cubicBezTo>
                <a:cubicBezTo>
                  <a:pt x="45" y="15"/>
                  <a:pt x="48" y="26"/>
                  <a:pt x="48" y="41"/>
                </a:cubicBezTo>
                <a:cubicBezTo>
                  <a:pt x="48" y="49"/>
                  <a:pt x="47" y="57"/>
                  <a:pt x="45" y="65"/>
                </a:cubicBezTo>
                <a:cubicBezTo>
                  <a:pt x="43" y="73"/>
                  <a:pt x="40" y="80"/>
                  <a:pt x="36" y="86"/>
                </a:cubicBezTo>
                <a:cubicBezTo>
                  <a:pt x="34" y="92"/>
                  <a:pt x="30" y="97"/>
                  <a:pt x="27" y="101"/>
                </a:cubicBezTo>
                <a:cubicBezTo>
                  <a:pt x="24" y="106"/>
                  <a:pt x="21" y="109"/>
                  <a:pt x="18" y="112"/>
                </a:cubicBezTo>
                <a:cubicBezTo>
                  <a:pt x="16" y="114"/>
                  <a:pt x="14" y="115"/>
                  <a:pt x="14" y="115"/>
                </a:cubicBezTo>
                <a:cubicBezTo>
                  <a:pt x="13" y="115"/>
                  <a:pt x="11" y="114"/>
                  <a:pt x="9" y="112"/>
                </a:cubicBezTo>
                <a:cubicBezTo>
                  <a:pt x="7" y="109"/>
                  <a:pt x="6" y="108"/>
                  <a:pt x="6" y="107"/>
                </a:cubicBezTo>
                <a:cubicBezTo>
                  <a:pt x="6" y="106"/>
                  <a:pt x="7" y="104"/>
                  <a:pt x="10" y="100"/>
                </a:cubicBezTo>
                <a:cubicBezTo>
                  <a:pt x="12" y="97"/>
                  <a:pt x="15" y="94"/>
                  <a:pt x="19" y="89"/>
                </a:cubicBezTo>
                <a:cubicBezTo>
                  <a:pt x="22" y="85"/>
                  <a:pt x="25" y="79"/>
                  <a:pt x="28" y="71"/>
                </a:cubicBezTo>
                <a:cubicBezTo>
                  <a:pt x="31" y="64"/>
                  <a:pt x="33" y="55"/>
                  <a:pt x="34" y="45"/>
                </a:cubicBezTo>
                <a:lnTo>
                  <a:pt x="34" y="41"/>
                </a:lnTo>
                <a:cubicBezTo>
                  <a:pt x="33" y="41"/>
                  <a:pt x="32" y="41"/>
                  <a:pt x="32" y="42"/>
                </a:cubicBezTo>
                <a:cubicBezTo>
                  <a:pt x="31" y="42"/>
                  <a:pt x="30" y="42"/>
                  <a:pt x="30" y="43"/>
                </a:cubicBezTo>
                <a:cubicBezTo>
                  <a:pt x="29" y="43"/>
                  <a:pt x="28" y="43"/>
                  <a:pt x="26" y="43"/>
                </a:cubicBezTo>
                <a:cubicBezTo>
                  <a:pt x="25" y="43"/>
                  <a:pt x="23" y="44"/>
                  <a:pt x="22" y="44"/>
                </a:cubicBezTo>
                <a:cubicBezTo>
                  <a:pt x="15" y="44"/>
                  <a:pt x="10" y="42"/>
                  <a:pt x="6" y="38"/>
                </a:cubicBezTo>
                <a:lnTo>
                  <a:pt x="0" y="31"/>
                </a:lnTo>
              </a:path>
            </a:pathLst>
          </a:custGeom>
          <a:ln>
            <a:solidFill>
              <a:srgbClr val="2a2a2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9" name=""/>
          <p:cNvSpPr/>
          <p:nvPr/>
        </p:nvSpPr>
        <p:spPr>
          <a:xfrm>
            <a:off x="6747120" y="6979680"/>
            <a:ext cx="51840" cy="59400"/>
          </a:xfrm>
          <a:custGeom>
            <a:avLst/>
            <a:gdLst/>
            <a:ahLst/>
            <a:rect l="0" t="0" r="r" b="b"/>
            <a:pathLst>
              <a:path w="144" h="165">
                <a:moveTo>
                  <a:pt x="0" y="103"/>
                </a:moveTo>
                <a:cubicBezTo>
                  <a:pt x="0" y="76"/>
                  <a:pt x="11" y="53"/>
                  <a:pt x="31" y="32"/>
                </a:cubicBezTo>
                <a:cubicBezTo>
                  <a:pt x="52" y="11"/>
                  <a:pt x="75" y="0"/>
                  <a:pt x="100" y="0"/>
                </a:cubicBezTo>
                <a:cubicBezTo>
                  <a:pt x="113" y="0"/>
                  <a:pt x="124" y="3"/>
                  <a:pt x="131" y="9"/>
                </a:cubicBezTo>
                <a:cubicBezTo>
                  <a:pt x="139" y="15"/>
                  <a:pt x="143" y="22"/>
                  <a:pt x="143" y="32"/>
                </a:cubicBezTo>
                <a:cubicBezTo>
                  <a:pt x="143" y="39"/>
                  <a:pt x="141" y="44"/>
                  <a:pt x="136" y="49"/>
                </a:cubicBezTo>
                <a:cubicBezTo>
                  <a:pt x="132" y="54"/>
                  <a:pt x="126" y="57"/>
                  <a:pt x="119" y="57"/>
                </a:cubicBezTo>
                <a:cubicBezTo>
                  <a:pt x="114" y="57"/>
                  <a:pt x="111" y="56"/>
                  <a:pt x="108" y="53"/>
                </a:cubicBezTo>
                <a:cubicBezTo>
                  <a:pt x="106" y="51"/>
                  <a:pt x="104" y="47"/>
                  <a:pt x="104" y="42"/>
                </a:cubicBezTo>
                <a:cubicBezTo>
                  <a:pt x="104" y="38"/>
                  <a:pt x="106" y="33"/>
                  <a:pt x="108" y="30"/>
                </a:cubicBezTo>
                <a:cubicBezTo>
                  <a:pt x="111" y="27"/>
                  <a:pt x="113" y="24"/>
                  <a:pt x="116" y="23"/>
                </a:cubicBezTo>
                <a:cubicBezTo>
                  <a:pt x="119" y="21"/>
                  <a:pt x="120" y="20"/>
                  <a:pt x="121" y="20"/>
                </a:cubicBezTo>
                <a:lnTo>
                  <a:pt x="122" y="20"/>
                </a:lnTo>
                <a:cubicBezTo>
                  <a:pt x="122" y="20"/>
                  <a:pt x="121" y="19"/>
                  <a:pt x="119" y="18"/>
                </a:cubicBezTo>
                <a:cubicBezTo>
                  <a:pt x="118" y="17"/>
                  <a:pt x="115" y="16"/>
                  <a:pt x="112" y="15"/>
                </a:cubicBezTo>
                <a:cubicBezTo>
                  <a:pt x="108" y="14"/>
                  <a:pt x="104" y="14"/>
                  <a:pt x="100" y="14"/>
                </a:cubicBezTo>
                <a:cubicBezTo>
                  <a:pt x="92" y="14"/>
                  <a:pt x="85" y="16"/>
                  <a:pt x="79" y="19"/>
                </a:cubicBezTo>
                <a:cubicBezTo>
                  <a:pt x="74" y="21"/>
                  <a:pt x="68" y="25"/>
                  <a:pt x="62" y="30"/>
                </a:cubicBezTo>
                <a:cubicBezTo>
                  <a:pt x="52" y="41"/>
                  <a:pt x="44" y="56"/>
                  <a:pt x="39" y="75"/>
                </a:cubicBezTo>
                <a:cubicBezTo>
                  <a:pt x="34" y="95"/>
                  <a:pt x="32" y="109"/>
                  <a:pt x="32" y="118"/>
                </a:cubicBezTo>
                <a:cubicBezTo>
                  <a:pt x="32" y="129"/>
                  <a:pt x="35" y="137"/>
                  <a:pt x="41" y="143"/>
                </a:cubicBezTo>
                <a:cubicBezTo>
                  <a:pt x="46" y="148"/>
                  <a:pt x="53" y="151"/>
                  <a:pt x="62" y="151"/>
                </a:cubicBezTo>
                <a:lnTo>
                  <a:pt x="63" y="151"/>
                </a:lnTo>
                <a:cubicBezTo>
                  <a:pt x="91" y="151"/>
                  <a:pt x="114" y="141"/>
                  <a:pt x="131" y="121"/>
                </a:cubicBezTo>
                <a:cubicBezTo>
                  <a:pt x="133" y="118"/>
                  <a:pt x="135" y="117"/>
                  <a:pt x="136" y="117"/>
                </a:cubicBezTo>
                <a:cubicBezTo>
                  <a:pt x="137" y="117"/>
                  <a:pt x="138" y="118"/>
                  <a:pt x="140" y="120"/>
                </a:cubicBezTo>
                <a:cubicBezTo>
                  <a:pt x="142" y="122"/>
                  <a:pt x="144" y="124"/>
                  <a:pt x="144" y="125"/>
                </a:cubicBezTo>
                <a:cubicBezTo>
                  <a:pt x="144" y="127"/>
                  <a:pt x="143" y="128"/>
                  <a:pt x="141" y="131"/>
                </a:cubicBezTo>
                <a:cubicBezTo>
                  <a:pt x="138" y="133"/>
                  <a:pt x="135" y="137"/>
                  <a:pt x="130" y="141"/>
                </a:cubicBezTo>
                <a:cubicBezTo>
                  <a:pt x="126" y="145"/>
                  <a:pt x="120" y="149"/>
                  <a:pt x="114" y="152"/>
                </a:cubicBezTo>
                <a:cubicBezTo>
                  <a:pt x="108" y="155"/>
                  <a:pt x="100" y="158"/>
                  <a:pt x="91" y="161"/>
                </a:cubicBezTo>
                <a:cubicBezTo>
                  <a:pt x="82" y="164"/>
                  <a:pt x="71" y="165"/>
                  <a:pt x="61" y="165"/>
                </a:cubicBezTo>
                <a:cubicBezTo>
                  <a:pt x="43" y="165"/>
                  <a:pt x="28" y="159"/>
                  <a:pt x="17" y="147"/>
                </a:cubicBezTo>
                <a:cubicBezTo>
                  <a:pt x="6" y="136"/>
                  <a:pt x="1" y="121"/>
                  <a:pt x="0" y="103"/>
                </a:cubicBez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0" name=""/>
          <p:cNvSpPr/>
          <p:nvPr/>
        </p:nvSpPr>
        <p:spPr>
          <a:xfrm>
            <a:off x="6747120" y="6979680"/>
            <a:ext cx="51840" cy="59400"/>
          </a:xfrm>
          <a:custGeom>
            <a:avLst/>
            <a:gdLst/>
            <a:ahLst/>
            <a:rect l="0" t="0" r="r" b="b"/>
            <a:pathLst>
              <a:path fill="none" w="144" h="165">
                <a:moveTo>
                  <a:pt x="0" y="103"/>
                </a:moveTo>
                <a:cubicBezTo>
                  <a:pt x="0" y="76"/>
                  <a:pt x="11" y="53"/>
                  <a:pt x="31" y="32"/>
                </a:cubicBezTo>
                <a:cubicBezTo>
                  <a:pt x="52" y="11"/>
                  <a:pt x="75" y="0"/>
                  <a:pt x="100" y="0"/>
                </a:cubicBezTo>
                <a:cubicBezTo>
                  <a:pt x="113" y="0"/>
                  <a:pt x="124" y="3"/>
                  <a:pt x="131" y="9"/>
                </a:cubicBezTo>
                <a:cubicBezTo>
                  <a:pt x="139" y="15"/>
                  <a:pt x="143" y="22"/>
                  <a:pt x="143" y="32"/>
                </a:cubicBezTo>
                <a:cubicBezTo>
                  <a:pt x="143" y="39"/>
                  <a:pt x="141" y="44"/>
                  <a:pt x="136" y="49"/>
                </a:cubicBezTo>
                <a:cubicBezTo>
                  <a:pt x="132" y="54"/>
                  <a:pt x="126" y="57"/>
                  <a:pt x="119" y="57"/>
                </a:cubicBezTo>
                <a:cubicBezTo>
                  <a:pt x="114" y="57"/>
                  <a:pt x="111" y="56"/>
                  <a:pt x="108" y="53"/>
                </a:cubicBezTo>
                <a:cubicBezTo>
                  <a:pt x="106" y="51"/>
                  <a:pt x="104" y="47"/>
                  <a:pt x="104" y="42"/>
                </a:cubicBezTo>
                <a:cubicBezTo>
                  <a:pt x="104" y="38"/>
                  <a:pt x="106" y="33"/>
                  <a:pt x="108" y="30"/>
                </a:cubicBezTo>
                <a:cubicBezTo>
                  <a:pt x="111" y="27"/>
                  <a:pt x="113" y="24"/>
                  <a:pt x="116" y="23"/>
                </a:cubicBezTo>
                <a:cubicBezTo>
                  <a:pt x="119" y="21"/>
                  <a:pt x="120" y="20"/>
                  <a:pt x="121" y="20"/>
                </a:cubicBezTo>
                <a:lnTo>
                  <a:pt x="122" y="20"/>
                </a:lnTo>
                <a:cubicBezTo>
                  <a:pt x="122" y="20"/>
                  <a:pt x="121" y="19"/>
                  <a:pt x="119" y="18"/>
                </a:cubicBezTo>
                <a:cubicBezTo>
                  <a:pt x="118" y="17"/>
                  <a:pt x="115" y="16"/>
                  <a:pt x="112" y="15"/>
                </a:cubicBezTo>
                <a:cubicBezTo>
                  <a:pt x="108" y="14"/>
                  <a:pt x="104" y="14"/>
                  <a:pt x="100" y="14"/>
                </a:cubicBezTo>
                <a:cubicBezTo>
                  <a:pt x="92" y="14"/>
                  <a:pt x="85" y="16"/>
                  <a:pt x="79" y="19"/>
                </a:cubicBezTo>
                <a:cubicBezTo>
                  <a:pt x="74" y="21"/>
                  <a:pt x="68" y="25"/>
                  <a:pt x="62" y="30"/>
                </a:cubicBezTo>
                <a:cubicBezTo>
                  <a:pt x="52" y="41"/>
                  <a:pt x="44" y="56"/>
                  <a:pt x="39" y="75"/>
                </a:cubicBezTo>
                <a:cubicBezTo>
                  <a:pt x="34" y="95"/>
                  <a:pt x="32" y="109"/>
                  <a:pt x="32" y="118"/>
                </a:cubicBezTo>
                <a:cubicBezTo>
                  <a:pt x="32" y="129"/>
                  <a:pt x="35" y="137"/>
                  <a:pt x="41" y="143"/>
                </a:cubicBezTo>
                <a:cubicBezTo>
                  <a:pt x="46" y="148"/>
                  <a:pt x="53" y="151"/>
                  <a:pt x="62" y="151"/>
                </a:cubicBezTo>
                <a:lnTo>
                  <a:pt x="63" y="151"/>
                </a:lnTo>
                <a:cubicBezTo>
                  <a:pt x="91" y="151"/>
                  <a:pt x="114" y="141"/>
                  <a:pt x="131" y="121"/>
                </a:cubicBezTo>
                <a:cubicBezTo>
                  <a:pt x="133" y="118"/>
                  <a:pt x="135" y="117"/>
                  <a:pt x="136" y="117"/>
                </a:cubicBezTo>
                <a:cubicBezTo>
                  <a:pt x="137" y="117"/>
                  <a:pt x="138" y="118"/>
                  <a:pt x="140" y="120"/>
                </a:cubicBezTo>
                <a:cubicBezTo>
                  <a:pt x="142" y="122"/>
                  <a:pt x="144" y="124"/>
                  <a:pt x="144" y="125"/>
                </a:cubicBezTo>
                <a:cubicBezTo>
                  <a:pt x="144" y="127"/>
                  <a:pt x="143" y="128"/>
                  <a:pt x="141" y="131"/>
                </a:cubicBezTo>
                <a:cubicBezTo>
                  <a:pt x="138" y="133"/>
                  <a:pt x="135" y="137"/>
                  <a:pt x="130" y="141"/>
                </a:cubicBezTo>
                <a:cubicBezTo>
                  <a:pt x="126" y="145"/>
                  <a:pt x="120" y="149"/>
                  <a:pt x="114" y="152"/>
                </a:cubicBezTo>
                <a:cubicBezTo>
                  <a:pt x="108" y="155"/>
                  <a:pt x="100" y="158"/>
                  <a:pt x="91" y="161"/>
                </a:cubicBezTo>
                <a:cubicBezTo>
                  <a:pt x="82" y="164"/>
                  <a:pt x="71" y="165"/>
                  <a:pt x="61" y="165"/>
                </a:cubicBezTo>
                <a:cubicBezTo>
                  <a:pt x="43" y="165"/>
                  <a:pt x="28" y="159"/>
                  <a:pt x="17" y="147"/>
                </a:cubicBezTo>
                <a:cubicBezTo>
                  <a:pt x="6" y="136"/>
                  <a:pt x="1" y="121"/>
                  <a:pt x="0" y="103"/>
                </a:cubicBezTo>
              </a:path>
            </a:pathLst>
          </a:custGeom>
          <a:ln>
            <a:solidFill>
              <a:srgbClr val="2a2a2a"/>
            </a:solidFill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1" name=""/>
          <p:cNvSpPr txBox="1"/>
          <p:nvPr/>
        </p:nvSpPr>
        <p:spPr>
          <a:xfrm>
            <a:off x="6822720" y="6916680"/>
            <a:ext cx="9180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6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 = discordant pairs.</a:t>
            </a:r>
            <a:endParaRPr b="0" lang="en-IN" sz="8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2" name=""/>
          <p:cNvSpPr txBox="1"/>
          <p:nvPr/>
        </p:nvSpPr>
        <p:spPr>
          <a:xfrm>
            <a:off x="685800" y="8312040"/>
            <a:ext cx="2566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MEMORY-ASSISTED LLM AS A JUDGE VIA KNOWLEDGE GRAPHS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3" name=""/>
          <p:cNvSpPr txBox="1"/>
          <p:nvPr/>
        </p:nvSpPr>
        <p:spPr>
          <a:xfrm>
            <a:off x="11400480" y="8312040"/>
            <a:ext cx="13590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19 / 36  ·  K. PATEL · 2026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5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6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7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8" name=""/>
          <p:cNvSpPr/>
          <p:nvPr/>
        </p:nvSpPr>
        <p:spPr>
          <a:xfrm>
            <a:off x="273960" y="171360"/>
            <a:ext cx="13167720" cy="8229960"/>
          </a:xfrm>
          <a:custGeom>
            <a:avLst/>
            <a:gdLst/>
            <a:ahLst/>
            <a:rect l="0" t="0" r="r" b="b"/>
            <a:pathLst>
              <a:path w="36577" h="22861">
                <a:moveTo>
                  <a:pt x="0" y="0"/>
                </a:moveTo>
                <a:lnTo>
                  <a:pt x="36577" y="0"/>
                </a:lnTo>
                <a:lnTo>
                  <a:pt x="36577" y="22861"/>
                </a:lnTo>
                <a:lnTo>
                  <a:pt x="0" y="22861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9" name=""/>
          <p:cNvSpPr/>
          <p:nvPr/>
        </p:nvSpPr>
        <p:spPr>
          <a:xfrm>
            <a:off x="932400" y="1689120"/>
            <a:ext cx="4444560" cy="9720"/>
          </a:xfrm>
          <a:custGeom>
            <a:avLst/>
            <a:gdLst/>
            <a:ahLst/>
            <a:rect l="0" t="0" r="r" b="b"/>
            <a:pathLst>
              <a:path w="12346" h="27">
                <a:moveTo>
                  <a:pt x="0" y="0"/>
                </a:moveTo>
                <a:lnTo>
                  <a:pt x="12346" y="0"/>
                </a:lnTo>
                <a:lnTo>
                  <a:pt x="123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0" name=""/>
          <p:cNvSpPr/>
          <p:nvPr/>
        </p:nvSpPr>
        <p:spPr>
          <a:xfrm>
            <a:off x="5376600" y="1689120"/>
            <a:ext cx="1673640" cy="9720"/>
          </a:xfrm>
          <a:custGeom>
            <a:avLst/>
            <a:gdLst/>
            <a:ahLst/>
            <a:rect l="0" t="0" r="r" b="b"/>
            <a:pathLst>
              <a:path w="4649" h="27">
                <a:moveTo>
                  <a:pt x="0" y="0"/>
                </a:moveTo>
                <a:lnTo>
                  <a:pt x="4649" y="0"/>
                </a:lnTo>
                <a:lnTo>
                  <a:pt x="46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1" name=""/>
          <p:cNvSpPr/>
          <p:nvPr/>
        </p:nvSpPr>
        <p:spPr>
          <a:xfrm>
            <a:off x="7049880" y="1689120"/>
            <a:ext cx="2487600" cy="9720"/>
          </a:xfrm>
          <a:custGeom>
            <a:avLst/>
            <a:gdLst/>
            <a:ahLst/>
            <a:rect l="0" t="0" r="r" b="b"/>
            <a:pathLst>
              <a:path w="6910" h="27">
                <a:moveTo>
                  <a:pt x="0" y="0"/>
                </a:moveTo>
                <a:lnTo>
                  <a:pt x="6910" y="0"/>
                </a:lnTo>
                <a:lnTo>
                  <a:pt x="691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2" name=""/>
          <p:cNvSpPr/>
          <p:nvPr/>
        </p:nvSpPr>
        <p:spPr>
          <a:xfrm>
            <a:off x="9537120" y="1689120"/>
            <a:ext cx="3246480" cy="9720"/>
          </a:xfrm>
          <a:custGeom>
            <a:avLst/>
            <a:gdLst/>
            <a:ahLst/>
            <a:rect l="0" t="0" r="r" b="b"/>
            <a:pathLst>
              <a:path w="9018" h="27">
                <a:moveTo>
                  <a:pt x="0" y="0"/>
                </a:moveTo>
                <a:lnTo>
                  <a:pt x="9018" y="0"/>
                </a:lnTo>
                <a:lnTo>
                  <a:pt x="90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3" name=""/>
          <p:cNvSpPr/>
          <p:nvPr/>
        </p:nvSpPr>
        <p:spPr>
          <a:xfrm>
            <a:off x="932400" y="2137320"/>
            <a:ext cx="4444560" cy="9360"/>
          </a:xfrm>
          <a:custGeom>
            <a:avLst/>
            <a:gdLst/>
            <a:ahLst/>
            <a:rect l="0" t="0" r="r" b="b"/>
            <a:pathLst>
              <a:path w="12346" h="26">
                <a:moveTo>
                  <a:pt x="0" y="0"/>
                </a:moveTo>
                <a:lnTo>
                  <a:pt x="12346" y="0"/>
                </a:lnTo>
                <a:lnTo>
                  <a:pt x="12346" y="2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4" name=""/>
          <p:cNvSpPr/>
          <p:nvPr/>
        </p:nvSpPr>
        <p:spPr>
          <a:xfrm>
            <a:off x="5376600" y="2137320"/>
            <a:ext cx="1673640" cy="9360"/>
          </a:xfrm>
          <a:custGeom>
            <a:avLst/>
            <a:gdLst/>
            <a:ahLst/>
            <a:rect l="0" t="0" r="r" b="b"/>
            <a:pathLst>
              <a:path w="4649" h="26">
                <a:moveTo>
                  <a:pt x="0" y="0"/>
                </a:moveTo>
                <a:lnTo>
                  <a:pt x="4649" y="0"/>
                </a:lnTo>
                <a:lnTo>
                  <a:pt x="4649" y="2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5" name=""/>
          <p:cNvSpPr/>
          <p:nvPr/>
        </p:nvSpPr>
        <p:spPr>
          <a:xfrm>
            <a:off x="7049880" y="2137320"/>
            <a:ext cx="2487600" cy="9360"/>
          </a:xfrm>
          <a:custGeom>
            <a:avLst/>
            <a:gdLst/>
            <a:ahLst/>
            <a:rect l="0" t="0" r="r" b="b"/>
            <a:pathLst>
              <a:path w="6910" h="26">
                <a:moveTo>
                  <a:pt x="0" y="0"/>
                </a:moveTo>
                <a:lnTo>
                  <a:pt x="6910" y="0"/>
                </a:lnTo>
                <a:lnTo>
                  <a:pt x="6910" y="2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6" name=""/>
          <p:cNvSpPr/>
          <p:nvPr/>
        </p:nvSpPr>
        <p:spPr>
          <a:xfrm>
            <a:off x="9537120" y="2137320"/>
            <a:ext cx="3246480" cy="9360"/>
          </a:xfrm>
          <a:custGeom>
            <a:avLst/>
            <a:gdLst/>
            <a:ahLst/>
            <a:rect l="0" t="0" r="r" b="b"/>
            <a:pathLst>
              <a:path w="9018" h="26">
                <a:moveTo>
                  <a:pt x="0" y="0"/>
                </a:moveTo>
                <a:lnTo>
                  <a:pt x="9018" y="0"/>
                </a:lnTo>
                <a:lnTo>
                  <a:pt x="9018" y="2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7" name=""/>
          <p:cNvSpPr/>
          <p:nvPr/>
        </p:nvSpPr>
        <p:spPr>
          <a:xfrm>
            <a:off x="932400" y="2594520"/>
            <a:ext cx="4444560" cy="9360"/>
          </a:xfrm>
          <a:custGeom>
            <a:avLst/>
            <a:gdLst/>
            <a:ahLst/>
            <a:rect l="0" t="0" r="r" b="b"/>
            <a:pathLst>
              <a:path w="12346" h="26">
                <a:moveTo>
                  <a:pt x="0" y="0"/>
                </a:moveTo>
                <a:lnTo>
                  <a:pt x="12346" y="0"/>
                </a:lnTo>
                <a:lnTo>
                  <a:pt x="12346" y="2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8" name=""/>
          <p:cNvSpPr/>
          <p:nvPr/>
        </p:nvSpPr>
        <p:spPr>
          <a:xfrm>
            <a:off x="5376600" y="2594520"/>
            <a:ext cx="1673640" cy="9360"/>
          </a:xfrm>
          <a:custGeom>
            <a:avLst/>
            <a:gdLst/>
            <a:ahLst/>
            <a:rect l="0" t="0" r="r" b="b"/>
            <a:pathLst>
              <a:path w="4649" h="26">
                <a:moveTo>
                  <a:pt x="0" y="0"/>
                </a:moveTo>
                <a:lnTo>
                  <a:pt x="4649" y="0"/>
                </a:lnTo>
                <a:lnTo>
                  <a:pt x="4649" y="2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9" name=""/>
          <p:cNvSpPr/>
          <p:nvPr/>
        </p:nvSpPr>
        <p:spPr>
          <a:xfrm>
            <a:off x="7049880" y="2594520"/>
            <a:ext cx="2487600" cy="9360"/>
          </a:xfrm>
          <a:custGeom>
            <a:avLst/>
            <a:gdLst/>
            <a:ahLst/>
            <a:rect l="0" t="0" r="r" b="b"/>
            <a:pathLst>
              <a:path w="6910" h="26">
                <a:moveTo>
                  <a:pt x="0" y="0"/>
                </a:moveTo>
                <a:lnTo>
                  <a:pt x="6910" y="0"/>
                </a:lnTo>
                <a:lnTo>
                  <a:pt x="6910" y="2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0" name=""/>
          <p:cNvSpPr/>
          <p:nvPr/>
        </p:nvSpPr>
        <p:spPr>
          <a:xfrm>
            <a:off x="9537120" y="2594520"/>
            <a:ext cx="3246480" cy="9360"/>
          </a:xfrm>
          <a:custGeom>
            <a:avLst/>
            <a:gdLst/>
            <a:ahLst/>
            <a:rect l="0" t="0" r="r" b="b"/>
            <a:pathLst>
              <a:path w="9018" h="26">
                <a:moveTo>
                  <a:pt x="0" y="0"/>
                </a:moveTo>
                <a:lnTo>
                  <a:pt x="9018" y="0"/>
                </a:lnTo>
                <a:lnTo>
                  <a:pt x="9018" y="2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1" name=""/>
          <p:cNvSpPr/>
          <p:nvPr/>
        </p:nvSpPr>
        <p:spPr>
          <a:xfrm>
            <a:off x="932400" y="3051720"/>
            <a:ext cx="4444560" cy="9360"/>
          </a:xfrm>
          <a:custGeom>
            <a:avLst/>
            <a:gdLst/>
            <a:ahLst/>
            <a:rect l="0" t="0" r="r" b="b"/>
            <a:pathLst>
              <a:path w="12346" h="26">
                <a:moveTo>
                  <a:pt x="0" y="0"/>
                </a:moveTo>
                <a:lnTo>
                  <a:pt x="12346" y="0"/>
                </a:lnTo>
                <a:lnTo>
                  <a:pt x="12346" y="2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2" name=""/>
          <p:cNvSpPr/>
          <p:nvPr/>
        </p:nvSpPr>
        <p:spPr>
          <a:xfrm>
            <a:off x="5376600" y="3051720"/>
            <a:ext cx="1673640" cy="9360"/>
          </a:xfrm>
          <a:custGeom>
            <a:avLst/>
            <a:gdLst/>
            <a:ahLst/>
            <a:rect l="0" t="0" r="r" b="b"/>
            <a:pathLst>
              <a:path w="4649" h="26">
                <a:moveTo>
                  <a:pt x="0" y="0"/>
                </a:moveTo>
                <a:lnTo>
                  <a:pt x="4649" y="0"/>
                </a:lnTo>
                <a:lnTo>
                  <a:pt x="4649" y="2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3" name=""/>
          <p:cNvSpPr/>
          <p:nvPr/>
        </p:nvSpPr>
        <p:spPr>
          <a:xfrm>
            <a:off x="7049880" y="3051720"/>
            <a:ext cx="2487600" cy="9360"/>
          </a:xfrm>
          <a:custGeom>
            <a:avLst/>
            <a:gdLst/>
            <a:ahLst/>
            <a:rect l="0" t="0" r="r" b="b"/>
            <a:pathLst>
              <a:path w="6910" h="26">
                <a:moveTo>
                  <a:pt x="0" y="0"/>
                </a:moveTo>
                <a:lnTo>
                  <a:pt x="6910" y="0"/>
                </a:lnTo>
                <a:lnTo>
                  <a:pt x="6910" y="2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4" name=""/>
          <p:cNvSpPr/>
          <p:nvPr/>
        </p:nvSpPr>
        <p:spPr>
          <a:xfrm>
            <a:off x="9537120" y="3051720"/>
            <a:ext cx="3246480" cy="9360"/>
          </a:xfrm>
          <a:custGeom>
            <a:avLst/>
            <a:gdLst/>
            <a:ahLst/>
            <a:rect l="0" t="0" r="r" b="b"/>
            <a:pathLst>
              <a:path w="9018" h="26">
                <a:moveTo>
                  <a:pt x="0" y="0"/>
                </a:moveTo>
                <a:lnTo>
                  <a:pt x="9018" y="0"/>
                </a:lnTo>
                <a:lnTo>
                  <a:pt x="9018" y="2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5" name=""/>
          <p:cNvSpPr/>
          <p:nvPr/>
        </p:nvSpPr>
        <p:spPr>
          <a:xfrm>
            <a:off x="932400" y="3499560"/>
            <a:ext cx="4444560" cy="9720"/>
          </a:xfrm>
          <a:custGeom>
            <a:avLst/>
            <a:gdLst/>
            <a:ahLst/>
            <a:rect l="0" t="0" r="r" b="b"/>
            <a:pathLst>
              <a:path w="12346" h="27">
                <a:moveTo>
                  <a:pt x="0" y="0"/>
                </a:moveTo>
                <a:lnTo>
                  <a:pt x="12346" y="0"/>
                </a:lnTo>
                <a:lnTo>
                  <a:pt x="123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6" name=""/>
          <p:cNvSpPr/>
          <p:nvPr/>
        </p:nvSpPr>
        <p:spPr>
          <a:xfrm>
            <a:off x="5376600" y="3499560"/>
            <a:ext cx="1673640" cy="9720"/>
          </a:xfrm>
          <a:custGeom>
            <a:avLst/>
            <a:gdLst/>
            <a:ahLst/>
            <a:rect l="0" t="0" r="r" b="b"/>
            <a:pathLst>
              <a:path w="4649" h="27">
                <a:moveTo>
                  <a:pt x="0" y="0"/>
                </a:moveTo>
                <a:lnTo>
                  <a:pt x="4649" y="0"/>
                </a:lnTo>
                <a:lnTo>
                  <a:pt x="46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7" name=""/>
          <p:cNvSpPr/>
          <p:nvPr/>
        </p:nvSpPr>
        <p:spPr>
          <a:xfrm>
            <a:off x="7049880" y="3499560"/>
            <a:ext cx="2487600" cy="9720"/>
          </a:xfrm>
          <a:custGeom>
            <a:avLst/>
            <a:gdLst/>
            <a:ahLst/>
            <a:rect l="0" t="0" r="r" b="b"/>
            <a:pathLst>
              <a:path w="6910" h="27">
                <a:moveTo>
                  <a:pt x="0" y="0"/>
                </a:moveTo>
                <a:lnTo>
                  <a:pt x="6910" y="0"/>
                </a:lnTo>
                <a:lnTo>
                  <a:pt x="691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8" name=""/>
          <p:cNvSpPr/>
          <p:nvPr/>
        </p:nvSpPr>
        <p:spPr>
          <a:xfrm>
            <a:off x="9537120" y="3499560"/>
            <a:ext cx="3246480" cy="9720"/>
          </a:xfrm>
          <a:custGeom>
            <a:avLst/>
            <a:gdLst/>
            <a:ahLst/>
            <a:rect l="0" t="0" r="r" b="b"/>
            <a:pathLst>
              <a:path w="9018" h="27">
                <a:moveTo>
                  <a:pt x="0" y="0"/>
                </a:moveTo>
                <a:lnTo>
                  <a:pt x="9018" y="0"/>
                </a:lnTo>
                <a:lnTo>
                  <a:pt x="90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9" name=""/>
          <p:cNvSpPr txBox="1"/>
          <p:nvPr/>
        </p:nvSpPr>
        <p:spPr>
          <a:xfrm>
            <a:off x="932760" y="579960"/>
            <a:ext cx="210060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EVALUATION · AUDITED RESULTS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0" name=""/>
          <p:cNvSpPr txBox="1"/>
          <p:nvPr/>
        </p:nvSpPr>
        <p:spPr>
          <a:xfrm>
            <a:off x="932760" y="802080"/>
            <a:ext cx="527832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2760" strike="noStrike" u="none">
                <a:solidFill>
                  <a:srgbClr val="0a0a0a"/>
                </a:solidFill>
                <a:effectLst/>
                <a:uFillTx/>
                <a:latin typeface="Fraunces-Regular_opsz266666_wght2580000"/>
                <a:ea typeface="Fraunces-Regular_opsz266666_wght2580000"/>
              </a:rPr>
              <a:t>Under the audited protocol.</a:t>
            </a:r>
            <a:endParaRPr b="0" lang="en-IN" sz="27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1" name=""/>
          <p:cNvSpPr txBox="1"/>
          <p:nvPr/>
        </p:nvSpPr>
        <p:spPr>
          <a:xfrm>
            <a:off x="1033920" y="1495080"/>
            <a:ext cx="474480" cy="128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80" strike="noStrike" u="none">
                <a:solidFill>
                  <a:srgbClr val="6a6a66"/>
                </a:solidFill>
                <a:effectLst/>
                <a:uFillTx/>
                <a:latin typeface="JetBrainsMonoRoman"/>
                <a:ea typeface="JetBrainsMonoRoman"/>
              </a:rPr>
              <a:t>M O D E</a:t>
            </a:r>
            <a:endParaRPr b="0" lang="en-IN" sz="8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2" name=""/>
          <p:cNvSpPr txBox="1"/>
          <p:nvPr/>
        </p:nvSpPr>
        <p:spPr>
          <a:xfrm>
            <a:off x="5477400" y="1495080"/>
            <a:ext cx="1015920" cy="128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80" strike="noStrike" u="none">
                <a:solidFill>
                  <a:srgbClr val="6a6a66"/>
                </a:solidFill>
                <a:effectLst/>
                <a:uFillTx/>
                <a:latin typeface="JetBrainsMonoRoman"/>
                <a:ea typeface="JetBrainsMonoRoman"/>
              </a:rPr>
              <a:t>A C C U R A C Y</a:t>
            </a:r>
            <a:endParaRPr b="0" lang="en-IN" sz="8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3" name=""/>
          <p:cNvSpPr txBox="1"/>
          <p:nvPr/>
        </p:nvSpPr>
        <p:spPr>
          <a:xfrm>
            <a:off x="7155720" y="1495080"/>
            <a:ext cx="880560" cy="128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80" strike="noStrike" u="none">
                <a:solidFill>
                  <a:srgbClr val="6a6a66"/>
                </a:solidFill>
                <a:effectLst/>
                <a:uFillTx/>
                <a:latin typeface="JetBrainsMonoRoman"/>
                <a:ea typeface="JetBrainsMonoRoman"/>
              </a:rPr>
              <a:t>95% WILSON CI</a:t>
            </a:r>
            <a:endParaRPr b="0" lang="en-IN" sz="8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4" name=""/>
          <p:cNvSpPr/>
          <p:nvPr/>
        </p:nvSpPr>
        <p:spPr>
          <a:xfrm>
            <a:off x="932400" y="1698480"/>
            <a:ext cx="4444560" cy="439200"/>
          </a:xfrm>
          <a:custGeom>
            <a:avLst/>
            <a:gdLst/>
            <a:ahLst/>
            <a:rect l="0" t="0" r="r" b="b"/>
            <a:pathLst>
              <a:path w="12346" h="1220">
                <a:moveTo>
                  <a:pt x="0" y="0"/>
                </a:moveTo>
                <a:lnTo>
                  <a:pt x="12346" y="0"/>
                </a:lnTo>
                <a:lnTo>
                  <a:pt x="12346" y="1220"/>
                </a:lnTo>
                <a:lnTo>
                  <a:pt x="0" y="1220"/>
                </a:lnTo>
                <a:lnTo>
                  <a:pt x="0" y="0"/>
                </a:lnTo>
                <a:close/>
              </a:path>
            </a:pathLst>
          </a:custGeom>
          <a:solidFill>
            <a:srgbClr val="1a3d6e">
              <a:alpha val="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5" name=""/>
          <p:cNvSpPr/>
          <p:nvPr/>
        </p:nvSpPr>
        <p:spPr>
          <a:xfrm>
            <a:off x="5376600" y="1698480"/>
            <a:ext cx="1673640" cy="439200"/>
          </a:xfrm>
          <a:custGeom>
            <a:avLst/>
            <a:gdLst/>
            <a:ahLst/>
            <a:rect l="0" t="0" r="r" b="b"/>
            <a:pathLst>
              <a:path w="4649" h="1220">
                <a:moveTo>
                  <a:pt x="0" y="0"/>
                </a:moveTo>
                <a:lnTo>
                  <a:pt x="4649" y="0"/>
                </a:lnTo>
                <a:lnTo>
                  <a:pt x="4649" y="1220"/>
                </a:lnTo>
                <a:lnTo>
                  <a:pt x="0" y="1220"/>
                </a:lnTo>
                <a:lnTo>
                  <a:pt x="0" y="0"/>
                </a:lnTo>
                <a:close/>
              </a:path>
            </a:pathLst>
          </a:custGeom>
          <a:solidFill>
            <a:srgbClr val="1a3d6e">
              <a:alpha val="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6" name=""/>
          <p:cNvSpPr/>
          <p:nvPr/>
        </p:nvSpPr>
        <p:spPr>
          <a:xfrm>
            <a:off x="7049880" y="1698480"/>
            <a:ext cx="2487600" cy="439200"/>
          </a:xfrm>
          <a:custGeom>
            <a:avLst/>
            <a:gdLst/>
            <a:ahLst/>
            <a:rect l="0" t="0" r="r" b="b"/>
            <a:pathLst>
              <a:path w="6910" h="1220">
                <a:moveTo>
                  <a:pt x="0" y="0"/>
                </a:moveTo>
                <a:lnTo>
                  <a:pt x="6910" y="0"/>
                </a:lnTo>
                <a:lnTo>
                  <a:pt x="6910" y="1220"/>
                </a:lnTo>
                <a:lnTo>
                  <a:pt x="0" y="1220"/>
                </a:lnTo>
                <a:lnTo>
                  <a:pt x="0" y="0"/>
                </a:lnTo>
                <a:close/>
              </a:path>
            </a:pathLst>
          </a:custGeom>
          <a:solidFill>
            <a:srgbClr val="1a3d6e">
              <a:alpha val="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7" name=""/>
          <p:cNvSpPr/>
          <p:nvPr/>
        </p:nvSpPr>
        <p:spPr>
          <a:xfrm>
            <a:off x="9537120" y="1698480"/>
            <a:ext cx="3246480" cy="439200"/>
          </a:xfrm>
          <a:custGeom>
            <a:avLst/>
            <a:gdLst/>
            <a:ahLst/>
            <a:rect l="0" t="0" r="r" b="b"/>
            <a:pathLst>
              <a:path w="9018" h="1220">
                <a:moveTo>
                  <a:pt x="0" y="0"/>
                </a:moveTo>
                <a:lnTo>
                  <a:pt x="9018" y="0"/>
                </a:lnTo>
                <a:lnTo>
                  <a:pt x="9018" y="1220"/>
                </a:lnTo>
                <a:lnTo>
                  <a:pt x="0" y="1220"/>
                </a:lnTo>
                <a:lnTo>
                  <a:pt x="0" y="0"/>
                </a:lnTo>
                <a:close/>
              </a:path>
            </a:pathLst>
          </a:custGeom>
          <a:solidFill>
            <a:srgbClr val="1a3d6e">
              <a:alpha val="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8" name=""/>
          <p:cNvSpPr txBox="1"/>
          <p:nvPr/>
        </p:nvSpPr>
        <p:spPr>
          <a:xfrm>
            <a:off x="9641520" y="1495080"/>
            <a:ext cx="880560" cy="128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80" strike="noStrike" u="none">
                <a:solidFill>
                  <a:srgbClr val="6a6a66"/>
                </a:solidFill>
                <a:effectLst/>
                <a:uFillTx/>
                <a:latin typeface="JetBrainsMonoRoman"/>
                <a:ea typeface="JetBrainsMonoRoman"/>
              </a:rPr>
              <a:t>VS. STATELESS</a:t>
            </a:r>
            <a:endParaRPr b="0" lang="en-IN" sz="8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9" name=""/>
          <p:cNvSpPr txBox="1"/>
          <p:nvPr/>
        </p:nvSpPr>
        <p:spPr>
          <a:xfrm>
            <a:off x="1099080" y="1784160"/>
            <a:ext cx="7592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450" strike="noStrike" u="none">
                <a:solidFill>
                  <a:srgbClr val="0a0a0a"/>
                </a:solidFill>
                <a:effectLst/>
                <a:uFillTx/>
                <a:latin typeface="Fraunces-Regular_opsz143D6A_wght1900000"/>
                <a:ea typeface="Fraunces-Regular_opsz143D6A_wght1900000"/>
              </a:rPr>
              <a:t>Stateless</a:t>
            </a:r>
            <a:endParaRPr b="0" lang="en-IN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0" name=""/>
          <p:cNvSpPr txBox="1"/>
          <p:nvPr/>
        </p:nvSpPr>
        <p:spPr>
          <a:xfrm>
            <a:off x="5520600" y="1847880"/>
            <a:ext cx="48096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260" strike="noStrike" u="none">
                <a:solidFill>
                  <a:srgbClr val="0a0a0a"/>
                </a:solidFill>
                <a:effectLst/>
                <a:uFillTx/>
                <a:latin typeface="JetBrainsMonoRoman"/>
                <a:ea typeface="JetBrainsMonoRoman"/>
              </a:rPr>
              <a:t>70.0%</a:t>
            </a:r>
            <a:endParaRPr b="0" lang="en-IN" sz="12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1" name=""/>
          <p:cNvSpPr txBox="1"/>
          <p:nvPr/>
        </p:nvSpPr>
        <p:spPr>
          <a:xfrm>
            <a:off x="7177320" y="1868040"/>
            <a:ext cx="9885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[59.2, 78.9]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2" name=""/>
          <p:cNvSpPr txBox="1"/>
          <p:nvPr/>
        </p:nvSpPr>
        <p:spPr>
          <a:xfrm>
            <a:off x="9663120" y="1868040"/>
            <a:ext cx="9885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— baseline —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3" name=""/>
          <p:cNvSpPr txBox="1"/>
          <p:nvPr/>
        </p:nvSpPr>
        <p:spPr>
          <a:xfrm>
            <a:off x="1099080" y="2241360"/>
            <a:ext cx="12096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450" strike="noStrike" u="none">
                <a:solidFill>
                  <a:srgbClr val="0a0a0a"/>
                </a:solidFill>
                <a:effectLst/>
                <a:uFillTx/>
                <a:latin typeface="Fraunces-Regular_opsz143D6A_wght1900000"/>
                <a:ea typeface="Fraunces-Regular_opsz143D6A_wght1900000"/>
              </a:rPr>
              <a:t>MAJ (memory)</a:t>
            </a:r>
            <a:endParaRPr b="0" lang="en-IN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4" name=""/>
          <p:cNvSpPr txBox="1"/>
          <p:nvPr/>
        </p:nvSpPr>
        <p:spPr>
          <a:xfrm>
            <a:off x="5520600" y="2305080"/>
            <a:ext cx="48096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260" strike="noStrike" u="none">
                <a:solidFill>
                  <a:srgbClr val="0a0a0a"/>
                </a:solidFill>
                <a:effectLst/>
                <a:uFillTx/>
                <a:latin typeface="JetBrainsMonoRoman"/>
                <a:ea typeface="JetBrainsMonoRoman"/>
              </a:rPr>
              <a:t>65.0%</a:t>
            </a:r>
            <a:endParaRPr b="0" lang="en-IN" sz="12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5" name=""/>
          <p:cNvSpPr txBox="1"/>
          <p:nvPr/>
        </p:nvSpPr>
        <p:spPr>
          <a:xfrm>
            <a:off x="7177320" y="2325240"/>
            <a:ext cx="9885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[54.1, 74.5]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6" name=""/>
          <p:cNvSpPr txBox="1"/>
          <p:nvPr/>
        </p:nvSpPr>
        <p:spPr>
          <a:xfrm>
            <a:off x="9663120" y="2325240"/>
            <a:ext cx="14821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−5.0 pp · p = 0.29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7" name=""/>
          <p:cNvSpPr txBox="1"/>
          <p:nvPr/>
        </p:nvSpPr>
        <p:spPr>
          <a:xfrm>
            <a:off x="1099080" y="2689200"/>
            <a:ext cx="10868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450" strike="noStrike" u="none">
                <a:solidFill>
                  <a:srgbClr val="0a0a0a"/>
                </a:solidFill>
                <a:effectLst/>
                <a:uFillTx/>
                <a:latin typeface="Fraunces-Regular_opsz143D6A_wght1900000"/>
                <a:ea typeface="Fraunces-Regular_opsz143D6A_wght1900000"/>
              </a:rPr>
              <a:t>MCTS-Judge</a:t>
            </a:r>
            <a:endParaRPr b="0" lang="en-IN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8" name=""/>
          <p:cNvSpPr txBox="1"/>
          <p:nvPr/>
        </p:nvSpPr>
        <p:spPr>
          <a:xfrm>
            <a:off x="5520600" y="2753280"/>
            <a:ext cx="48096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260" strike="noStrike" u="none">
                <a:solidFill>
                  <a:srgbClr val="0a0a0a"/>
                </a:solidFill>
                <a:effectLst/>
                <a:uFillTx/>
                <a:latin typeface="JetBrainsMonoRoman"/>
                <a:ea typeface="JetBrainsMonoRoman"/>
              </a:rPr>
              <a:t>70.0%</a:t>
            </a:r>
            <a:endParaRPr b="0" lang="en-IN" sz="12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9" name=""/>
          <p:cNvSpPr txBox="1"/>
          <p:nvPr/>
        </p:nvSpPr>
        <p:spPr>
          <a:xfrm>
            <a:off x="7177320" y="2773440"/>
            <a:ext cx="9885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[59.2, 78.9]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0" name=""/>
          <p:cNvSpPr txBox="1"/>
          <p:nvPr/>
        </p:nvSpPr>
        <p:spPr>
          <a:xfrm>
            <a:off x="9663120" y="2773440"/>
            <a:ext cx="5767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±0.0 pp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1" name=""/>
          <p:cNvSpPr txBox="1"/>
          <p:nvPr/>
        </p:nvSpPr>
        <p:spPr>
          <a:xfrm>
            <a:off x="1099080" y="3146400"/>
            <a:ext cx="19630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450" strike="noStrike" u="none">
                <a:solidFill>
                  <a:srgbClr val="0a0a0a"/>
                </a:solidFill>
                <a:effectLst/>
                <a:uFillTx/>
                <a:latin typeface="Fraunces-Regular_opsz143D6A_wght1900000"/>
                <a:ea typeface="Fraunces-Regular_opsz143D6A_wght1900000"/>
              </a:rPr>
              <a:t>MCTS-Judge + Memory</a:t>
            </a:r>
            <a:endParaRPr b="0" lang="en-IN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2" name=""/>
          <p:cNvSpPr txBox="1"/>
          <p:nvPr/>
        </p:nvSpPr>
        <p:spPr>
          <a:xfrm>
            <a:off x="5520600" y="3210480"/>
            <a:ext cx="48096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260" strike="noStrike" u="none">
                <a:solidFill>
                  <a:srgbClr val="0a0a0a"/>
                </a:solidFill>
                <a:effectLst/>
                <a:uFillTx/>
                <a:latin typeface="JetBrainsMonoRoman"/>
                <a:ea typeface="JetBrainsMonoRoman"/>
              </a:rPr>
              <a:t>71.8%</a:t>
            </a:r>
            <a:endParaRPr b="0" lang="en-IN" sz="12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3" name=""/>
          <p:cNvSpPr txBox="1"/>
          <p:nvPr/>
        </p:nvSpPr>
        <p:spPr>
          <a:xfrm>
            <a:off x="7177320" y="3230640"/>
            <a:ext cx="9885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[61.0, 80.6]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4" name=""/>
          <p:cNvSpPr txBox="1"/>
          <p:nvPr/>
        </p:nvSpPr>
        <p:spPr>
          <a:xfrm>
            <a:off x="9663120" y="3230640"/>
            <a:ext cx="14821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+1.8 pp · p = 0.80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5" name=""/>
          <p:cNvSpPr txBox="1"/>
          <p:nvPr/>
        </p:nvSpPr>
        <p:spPr>
          <a:xfrm>
            <a:off x="932760" y="3680640"/>
            <a:ext cx="65336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Every CI overlaps the baseline. No paired difference is significant (McNemar &amp; paired bootstrap, α = 0.05).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6" name=""/>
          <p:cNvSpPr txBox="1"/>
          <p:nvPr/>
        </p:nvSpPr>
        <p:spPr>
          <a:xfrm>
            <a:off x="685800" y="8312040"/>
            <a:ext cx="2566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MEMORY-ASSISTED LLM AS A JUDGE VIA KNOWLEDGE GRAPHS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7" name=""/>
          <p:cNvSpPr txBox="1"/>
          <p:nvPr/>
        </p:nvSpPr>
        <p:spPr>
          <a:xfrm>
            <a:off x="11400480" y="8312040"/>
            <a:ext cx="13590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20 / 36  ·  K. PATEL · 2026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9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0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1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2" name=""/>
          <p:cNvSpPr/>
          <p:nvPr/>
        </p:nvSpPr>
        <p:spPr>
          <a:xfrm>
            <a:off x="273960" y="171360"/>
            <a:ext cx="13167720" cy="8229960"/>
          </a:xfrm>
          <a:custGeom>
            <a:avLst/>
            <a:gdLst/>
            <a:ahLst/>
            <a:rect l="0" t="0" r="r" b="b"/>
            <a:pathLst>
              <a:path w="36577" h="22861">
                <a:moveTo>
                  <a:pt x="0" y="0"/>
                </a:moveTo>
                <a:lnTo>
                  <a:pt x="36577" y="0"/>
                </a:lnTo>
                <a:lnTo>
                  <a:pt x="36577" y="22861"/>
                </a:lnTo>
                <a:lnTo>
                  <a:pt x="0" y="22861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3" name=""/>
          <p:cNvSpPr txBox="1"/>
          <p:nvPr/>
        </p:nvSpPr>
        <p:spPr>
          <a:xfrm>
            <a:off x="932760" y="579960"/>
            <a:ext cx="142560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EVALUATION · VISUAL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64" name="" descr=""/>
          <p:cNvPicPr/>
          <p:nvPr/>
        </p:nvPicPr>
        <p:blipFill>
          <a:blip r:embed="rId1"/>
          <a:stretch/>
        </p:blipFill>
        <p:spPr>
          <a:xfrm>
            <a:off x="1527120" y="1816560"/>
            <a:ext cx="10661400" cy="575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5" name=""/>
          <p:cNvSpPr/>
          <p:nvPr/>
        </p:nvSpPr>
        <p:spPr>
          <a:xfrm>
            <a:off x="1526760" y="1816560"/>
            <a:ext cx="10662480" cy="5751720"/>
          </a:xfrm>
          <a:custGeom>
            <a:avLst/>
            <a:gdLst/>
            <a:ahLst/>
            <a:rect l="0" t="0" r="r" b="b"/>
            <a:pathLst>
              <a:path w="29618" h="15977">
                <a:moveTo>
                  <a:pt x="635" y="611"/>
                </a:moveTo>
                <a:lnTo>
                  <a:pt x="635" y="14963"/>
                </a:lnTo>
                <a:cubicBezTo>
                  <a:pt x="635" y="14987"/>
                  <a:pt x="640" y="15010"/>
                  <a:pt x="649" y="15031"/>
                </a:cubicBezTo>
                <a:cubicBezTo>
                  <a:pt x="658" y="15053"/>
                  <a:pt x="671" y="15072"/>
                  <a:pt x="687" y="15089"/>
                </a:cubicBezTo>
                <a:cubicBezTo>
                  <a:pt x="704" y="15106"/>
                  <a:pt x="723" y="15119"/>
                  <a:pt x="745" y="15128"/>
                </a:cubicBezTo>
                <a:cubicBezTo>
                  <a:pt x="767" y="15137"/>
                  <a:pt x="790" y="15141"/>
                  <a:pt x="813" y="15141"/>
                </a:cubicBezTo>
                <a:lnTo>
                  <a:pt x="28805" y="15141"/>
                </a:lnTo>
                <a:cubicBezTo>
                  <a:pt x="28828" y="15141"/>
                  <a:pt x="28851" y="15137"/>
                  <a:pt x="28873" y="15128"/>
                </a:cubicBezTo>
                <a:cubicBezTo>
                  <a:pt x="28895" y="15119"/>
                  <a:pt x="28914" y="15106"/>
                  <a:pt x="28931" y="15089"/>
                </a:cubicBezTo>
                <a:cubicBezTo>
                  <a:pt x="28947" y="15072"/>
                  <a:pt x="28960" y="15053"/>
                  <a:pt x="28969" y="15031"/>
                </a:cubicBezTo>
                <a:cubicBezTo>
                  <a:pt x="28978" y="15010"/>
                  <a:pt x="28983" y="14987"/>
                  <a:pt x="28983" y="14963"/>
                </a:cubicBezTo>
                <a:lnTo>
                  <a:pt x="28983" y="611"/>
                </a:lnTo>
                <a:cubicBezTo>
                  <a:pt x="28983" y="588"/>
                  <a:pt x="28978" y="565"/>
                  <a:pt x="28969" y="543"/>
                </a:cubicBezTo>
                <a:cubicBezTo>
                  <a:pt x="28960" y="522"/>
                  <a:pt x="28947" y="502"/>
                  <a:pt x="28931" y="486"/>
                </a:cubicBezTo>
                <a:cubicBezTo>
                  <a:pt x="28914" y="469"/>
                  <a:pt x="28895" y="456"/>
                  <a:pt x="28873" y="447"/>
                </a:cubicBezTo>
                <a:cubicBezTo>
                  <a:pt x="28851" y="438"/>
                  <a:pt x="28828" y="434"/>
                  <a:pt x="28805" y="434"/>
                </a:cubicBezTo>
                <a:lnTo>
                  <a:pt x="813" y="434"/>
                </a:lnTo>
                <a:cubicBezTo>
                  <a:pt x="790" y="434"/>
                  <a:pt x="767" y="438"/>
                  <a:pt x="745" y="447"/>
                </a:cubicBezTo>
                <a:cubicBezTo>
                  <a:pt x="723" y="456"/>
                  <a:pt x="704" y="469"/>
                  <a:pt x="687" y="486"/>
                </a:cubicBezTo>
                <a:cubicBezTo>
                  <a:pt x="671" y="502"/>
                  <a:pt x="658" y="522"/>
                  <a:pt x="649" y="543"/>
                </a:cubicBezTo>
                <a:cubicBezTo>
                  <a:pt x="640" y="565"/>
                  <a:pt x="635" y="588"/>
                  <a:pt x="635" y="611"/>
                </a:cubicBezTo>
                <a:moveTo>
                  <a:pt x="0" y="0"/>
                </a:moveTo>
                <a:lnTo>
                  <a:pt x="29618" y="0"/>
                </a:lnTo>
                <a:lnTo>
                  <a:pt x="29618" y="15977"/>
                </a:lnTo>
                <a:lnTo>
                  <a:pt x="0" y="1597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966" name="" descr=""/>
          <p:cNvPicPr/>
          <p:nvPr/>
        </p:nvPicPr>
        <p:blipFill>
          <a:blip r:embed="rId2"/>
          <a:stretch/>
        </p:blipFill>
        <p:spPr>
          <a:xfrm>
            <a:off x="1719000" y="1944720"/>
            <a:ext cx="10277640" cy="536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7" name=""/>
          <p:cNvSpPr/>
          <p:nvPr/>
        </p:nvSpPr>
        <p:spPr>
          <a:xfrm>
            <a:off x="1719000" y="1944360"/>
            <a:ext cx="10278000" cy="5367960"/>
          </a:xfrm>
          <a:custGeom>
            <a:avLst/>
            <a:gdLst/>
            <a:ahLst/>
            <a:rect l="0" t="0" r="r" b="b"/>
            <a:pathLst>
              <a:path w="28550" h="14911">
                <a:moveTo>
                  <a:pt x="101" y="256"/>
                </a:moveTo>
                <a:lnTo>
                  <a:pt x="101" y="14608"/>
                </a:lnTo>
                <a:cubicBezTo>
                  <a:pt x="101" y="14632"/>
                  <a:pt x="106" y="14655"/>
                  <a:pt x="115" y="14676"/>
                </a:cubicBezTo>
                <a:cubicBezTo>
                  <a:pt x="124" y="14698"/>
                  <a:pt x="137" y="14717"/>
                  <a:pt x="153" y="14734"/>
                </a:cubicBezTo>
                <a:cubicBezTo>
                  <a:pt x="170" y="14751"/>
                  <a:pt x="189" y="14764"/>
                  <a:pt x="211" y="14773"/>
                </a:cubicBezTo>
                <a:cubicBezTo>
                  <a:pt x="233" y="14782"/>
                  <a:pt x="256" y="14786"/>
                  <a:pt x="279" y="14786"/>
                </a:cubicBezTo>
                <a:lnTo>
                  <a:pt x="28271" y="14786"/>
                </a:lnTo>
                <a:cubicBezTo>
                  <a:pt x="28294" y="14786"/>
                  <a:pt x="28317" y="14782"/>
                  <a:pt x="28339" y="14773"/>
                </a:cubicBezTo>
                <a:cubicBezTo>
                  <a:pt x="28361" y="14764"/>
                  <a:pt x="28380" y="14751"/>
                  <a:pt x="28397" y="14734"/>
                </a:cubicBezTo>
                <a:cubicBezTo>
                  <a:pt x="28413" y="14717"/>
                  <a:pt x="28426" y="14698"/>
                  <a:pt x="28435" y="14676"/>
                </a:cubicBezTo>
                <a:cubicBezTo>
                  <a:pt x="28444" y="14655"/>
                  <a:pt x="28449" y="14632"/>
                  <a:pt x="28449" y="14608"/>
                </a:cubicBezTo>
                <a:lnTo>
                  <a:pt x="28449" y="256"/>
                </a:lnTo>
                <a:cubicBezTo>
                  <a:pt x="28449" y="233"/>
                  <a:pt x="28444" y="210"/>
                  <a:pt x="28435" y="188"/>
                </a:cubicBezTo>
                <a:cubicBezTo>
                  <a:pt x="28426" y="167"/>
                  <a:pt x="28413" y="147"/>
                  <a:pt x="28397" y="131"/>
                </a:cubicBezTo>
                <a:cubicBezTo>
                  <a:pt x="28380" y="114"/>
                  <a:pt x="28361" y="101"/>
                  <a:pt x="28339" y="92"/>
                </a:cubicBezTo>
                <a:cubicBezTo>
                  <a:pt x="28317" y="83"/>
                  <a:pt x="28294" y="79"/>
                  <a:pt x="28271" y="79"/>
                </a:cubicBezTo>
                <a:lnTo>
                  <a:pt x="279" y="79"/>
                </a:lnTo>
                <a:cubicBezTo>
                  <a:pt x="256" y="79"/>
                  <a:pt x="233" y="83"/>
                  <a:pt x="211" y="92"/>
                </a:cubicBezTo>
                <a:cubicBezTo>
                  <a:pt x="189" y="101"/>
                  <a:pt x="170" y="114"/>
                  <a:pt x="153" y="131"/>
                </a:cubicBezTo>
                <a:cubicBezTo>
                  <a:pt x="137" y="147"/>
                  <a:pt x="124" y="167"/>
                  <a:pt x="115" y="188"/>
                </a:cubicBezTo>
                <a:cubicBezTo>
                  <a:pt x="106" y="210"/>
                  <a:pt x="101" y="233"/>
                  <a:pt x="101" y="256"/>
                </a:cubicBezTo>
                <a:moveTo>
                  <a:pt x="0" y="0"/>
                </a:moveTo>
                <a:lnTo>
                  <a:pt x="28550" y="0"/>
                </a:lnTo>
                <a:lnTo>
                  <a:pt x="28550" y="14911"/>
                </a:lnTo>
                <a:lnTo>
                  <a:pt x="0" y="1491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8" name=""/>
          <p:cNvSpPr/>
          <p:nvPr/>
        </p:nvSpPr>
        <p:spPr>
          <a:xfrm>
            <a:off x="1746360" y="1963440"/>
            <a:ext cx="10223280" cy="5313240"/>
          </a:xfrm>
          <a:custGeom>
            <a:avLst/>
            <a:gdLst/>
            <a:ahLst/>
            <a:rect l="0" t="0" r="r" b="b"/>
            <a:pathLst>
              <a:path w="28398" h="14759">
                <a:moveTo>
                  <a:pt x="0" y="14555"/>
                </a:moveTo>
                <a:lnTo>
                  <a:pt x="0" y="203"/>
                </a:lnTo>
                <a:cubicBezTo>
                  <a:pt x="0" y="190"/>
                  <a:pt x="1" y="177"/>
                  <a:pt x="4" y="164"/>
                </a:cubicBezTo>
                <a:cubicBezTo>
                  <a:pt x="6" y="151"/>
                  <a:pt x="10" y="138"/>
                  <a:pt x="15" y="126"/>
                </a:cubicBezTo>
                <a:cubicBezTo>
                  <a:pt x="20" y="113"/>
                  <a:pt x="27" y="102"/>
                  <a:pt x="34" y="90"/>
                </a:cubicBezTo>
                <a:cubicBezTo>
                  <a:pt x="42" y="79"/>
                  <a:pt x="50" y="69"/>
                  <a:pt x="59" y="60"/>
                </a:cubicBezTo>
                <a:cubicBezTo>
                  <a:pt x="69" y="50"/>
                  <a:pt x="79" y="42"/>
                  <a:pt x="90" y="34"/>
                </a:cubicBezTo>
                <a:cubicBezTo>
                  <a:pt x="101" y="27"/>
                  <a:pt x="113" y="21"/>
                  <a:pt x="125" y="16"/>
                </a:cubicBezTo>
                <a:cubicBezTo>
                  <a:pt x="138" y="11"/>
                  <a:pt x="150" y="7"/>
                  <a:pt x="163" y="4"/>
                </a:cubicBezTo>
                <a:cubicBezTo>
                  <a:pt x="177" y="1"/>
                  <a:pt x="190" y="0"/>
                  <a:pt x="203" y="0"/>
                </a:cubicBezTo>
                <a:lnTo>
                  <a:pt x="28195" y="0"/>
                </a:lnTo>
                <a:cubicBezTo>
                  <a:pt x="28208" y="0"/>
                  <a:pt x="28221" y="1"/>
                  <a:pt x="28235" y="4"/>
                </a:cubicBezTo>
                <a:cubicBezTo>
                  <a:pt x="28248" y="7"/>
                  <a:pt x="28260" y="11"/>
                  <a:pt x="28273" y="16"/>
                </a:cubicBezTo>
                <a:cubicBezTo>
                  <a:pt x="28285" y="21"/>
                  <a:pt x="28297" y="27"/>
                  <a:pt x="28308" y="34"/>
                </a:cubicBezTo>
                <a:cubicBezTo>
                  <a:pt x="28319" y="42"/>
                  <a:pt x="28329" y="50"/>
                  <a:pt x="28339" y="60"/>
                </a:cubicBezTo>
                <a:cubicBezTo>
                  <a:pt x="28348" y="69"/>
                  <a:pt x="28356" y="79"/>
                  <a:pt x="28364" y="90"/>
                </a:cubicBezTo>
                <a:cubicBezTo>
                  <a:pt x="28371" y="102"/>
                  <a:pt x="28378" y="113"/>
                  <a:pt x="28383" y="126"/>
                </a:cubicBezTo>
                <a:cubicBezTo>
                  <a:pt x="28388" y="138"/>
                  <a:pt x="28392" y="151"/>
                  <a:pt x="28394" y="164"/>
                </a:cubicBezTo>
                <a:cubicBezTo>
                  <a:pt x="28397" y="177"/>
                  <a:pt x="28398" y="190"/>
                  <a:pt x="28398" y="203"/>
                </a:cubicBezTo>
                <a:lnTo>
                  <a:pt x="28398" y="14555"/>
                </a:lnTo>
                <a:cubicBezTo>
                  <a:pt x="28398" y="14569"/>
                  <a:pt x="28397" y="14582"/>
                  <a:pt x="28394" y="14595"/>
                </a:cubicBezTo>
                <a:cubicBezTo>
                  <a:pt x="28392" y="14608"/>
                  <a:pt x="28388" y="14621"/>
                  <a:pt x="28383" y="14633"/>
                </a:cubicBezTo>
                <a:cubicBezTo>
                  <a:pt x="28378" y="14645"/>
                  <a:pt x="28371" y="14657"/>
                  <a:pt x="28364" y="14668"/>
                </a:cubicBezTo>
                <a:cubicBezTo>
                  <a:pt x="28356" y="14679"/>
                  <a:pt x="28348" y="14690"/>
                  <a:pt x="28339" y="14699"/>
                </a:cubicBezTo>
                <a:cubicBezTo>
                  <a:pt x="28329" y="14708"/>
                  <a:pt x="28319" y="14717"/>
                  <a:pt x="28308" y="14724"/>
                </a:cubicBezTo>
                <a:cubicBezTo>
                  <a:pt x="28297" y="14732"/>
                  <a:pt x="28285" y="14738"/>
                  <a:pt x="28273" y="14743"/>
                </a:cubicBezTo>
                <a:cubicBezTo>
                  <a:pt x="28260" y="14748"/>
                  <a:pt x="28248" y="14752"/>
                  <a:pt x="28235" y="14755"/>
                </a:cubicBezTo>
                <a:cubicBezTo>
                  <a:pt x="28221" y="14757"/>
                  <a:pt x="28208" y="14759"/>
                  <a:pt x="28195" y="14759"/>
                </a:cubicBezTo>
                <a:lnTo>
                  <a:pt x="203" y="14759"/>
                </a:lnTo>
                <a:cubicBezTo>
                  <a:pt x="190" y="14759"/>
                  <a:pt x="177" y="14757"/>
                  <a:pt x="163" y="14755"/>
                </a:cubicBezTo>
                <a:cubicBezTo>
                  <a:pt x="150" y="14752"/>
                  <a:pt x="138" y="14748"/>
                  <a:pt x="125" y="14743"/>
                </a:cubicBezTo>
                <a:cubicBezTo>
                  <a:pt x="113" y="14738"/>
                  <a:pt x="101" y="14732"/>
                  <a:pt x="90" y="14724"/>
                </a:cubicBezTo>
                <a:cubicBezTo>
                  <a:pt x="79" y="14717"/>
                  <a:pt x="69" y="14708"/>
                  <a:pt x="59" y="14699"/>
                </a:cubicBezTo>
                <a:cubicBezTo>
                  <a:pt x="50" y="14690"/>
                  <a:pt x="42" y="14679"/>
                  <a:pt x="34" y="14668"/>
                </a:cubicBezTo>
                <a:cubicBezTo>
                  <a:pt x="27" y="14657"/>
                  <a:pt x="20" y="14645"/>
                  <a:pt x="15" y="14633"/>
                </a:cubicBezTo>
                <a:cubicBezTo>
                  <a:pt x="10" y="14621"/>
                  <a:pt x="6" y="14608"/>
                  <a:pt x="4" y="14595"/>
                </a:cubicBezTo>
                <a:cubicBezTo>
                  <a:pt x="1" y="14582"/>
                  <a:pt x="0" y="14569"/>
                  <a:pt x="0" y="145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69" name="" descr=""/>
          <p:cNvPicPr/>
          <p:nvPr/>
        </p:nvPicPr>
        <p:blipFill>
          <a:blip r:embed="rId3"/>
          <a:stretch/>
        </p:blipFill>
        <p:spPr>
          <a:xfrm>
            <a:off x="1920240" y="2137320"/>
            <a:ext cx="987516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0" name=""/>
          <p:cNvSpPr txBox="1"/>
          <p:nvPr/>
        </p:nvSpPr>
        <p:spPr>
          <a:xfrm>
            <a:off x="932760" y="802080"/>
            <a:ext cx="473220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2760" strike="noStrike" u="none">
                <a:solidFill>
                  <a:srgbClr val="0a0a0a"/>
                </a:solidFill>
                <a:effectLst/>
                <a:uFillTx/>
                <a:latin typeface="Fraunces-Regular_opsz266666_wght2580000"/>
                <a:ea typeface="Fraunces-Regular_opsz266666_wght2580000"/>
              </a:rPr>
              <a:t>Every error bar overlaps.</a:t>
            </a:r>
            <a:endParaRPr b="0" lang="en-IN" sz="27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1" name=""/>
          <p:cNvSpPr txBox="1"/>
          <p:nvPr/>
        </p:nvSpPr>
        <p:spPr>
          <a:xfrm>
            <a:off x="5246280" y="7815960"/>
            <a:ext cx="2659320" cy="97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9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PER-MODE ACCURACY · WILSON 95% CI · N = 80 · GPT-4O</a:t>
            </a:r>
            <a:endParaRPr b="0" lang="en-IN" sz="6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2" name=""/>
          <p:cNvSpPr txBox="1"/>
          <p:nvPr/>
        </p:nvSpPr>
        <p:spPr>
          <a:xfrm>
            <a:off x="685800" y="8312040"/>
            <a:ext cx="2566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MEMORY-ASSISTED LLM AS A JUDGE VIA KNOWLEDGE GRAPHS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"/>
          <p:cNvSpPr txBox="1"/>
          <p:nvPr/>
        </p:nvSpPr>
        <p:spPr>
          <a:xfrm>
            <a:off x="11400480" y="8312040"/>
            <a:ext cx="13590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21 / 36  ·  K. PATEL · 2026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5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6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7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8" name=""/>
          <p:cNvSpPr/>
          <p:nvPr/>
        </p:nvSpPr>
        <p:spPr>
          <a:xfrm>
            <a:off x="273960" y="171360"/>
            <a:ext cx="13167720" cy="8229960"/>
          </a:xfrm>
          <a:custGeom>
            <a:avLst/>
            <a:gdLst/>
            <a:ahLst/>
            <a:rect l="0" t="0" r="r" b="b"/>
            <a:pathLst>
              <a:path w="36577" h="22861">
                <a:moveTo>
                  <a:pt x="0" y="0"/>
                </a:moveTo>
                <a:lnTo>
                  <a:pt x="36577" y="0"/>
                </a:lnTo>
                <a:lnTo>
                  <a:pt x="36577" y="22861"/>
                </a:lnTo>
                <a:lnTo>
                  <a:pt x="0" y="22861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9" name=""/>
          <p:cNvSpPr txBox="1"/>
          <p:nvPr/>
        </p:nvSpPr>
        <p:spPr>
          <a:xfrm>
            <a:off x="932760" y="579960"/>
            <a:ext cx="277560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EVALUATION · CLASS-CONDITIONAL ERRORS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80" name="" descr=""/>
          <p:cNvPicPr/>
          <p:nvPr/>
        </p:nvPicPr>
        <p:blipFill>
          <a:blip r:embed="rId1"/>
          <a:stretch/>
        </p:blipFill>
        <p:spPr>
          <a:xfrm>
            <a:off x="1527120" y="1816560"/>
            <a:ext cx="10661400" cy="575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1" name=""/>
          <p:cNvSpPr/>
          <p:nvPr/>
        </p:nvSpPr>
        <p:spPr>
          <a:xfrm>
            <a:off x="1526760" y="1816560"/>
            <a:ext cx="10662480" cy="5751720"/>
          </a:xfrm>
          <a:custGeom>
            <a:avLst/>
            <a:gdLst/>
            <a:ahLst/>
            <a:rect l="0" t="0" r="r" b="b"/>
            <a:pathLst>
              <a:path w="29618" h="15977">
                <a:moveTo>
                  <a:pt x="635" y="611"/>
                </a:moveTo>
                <a:lnTo>
                  <a:pt x="635" y="14963"/>
                </a:lnTo>
                <a:cubicBezTo>
                  <a:pt x="635" y="14987"/>
                  <a:pt x="640" y="15010"/>
                  <a:pt x="649" y="15031"/>
                </a:cubicBezTo>
                <a:cubicBezTo>
                  <a:pt x="658" y="15053"/>
                  <a:pt x="671" y="15072"/>
                  <a:pt x="687" y="15089"/>
                </a:cubicBezTo>
                <a:cubicBezTo>
                  <a:pt x="704" y="15106"/>
                  <a:pt x="723" y="15119"/>
                  <a:pt x="745" y="15128"/>
                </a:cubicBezTo>
                <a:cubicBezTo>
                  <a:pt x="767" y="15137"/>
                  <a:pt x="790" y="15141"/>
                  <a:pt x="813" y="15141"/>
                </a:cubicBezTo>
                <a:lnTo>
                  <a:pt x="28805" y="15141"/>
                </a:lnTo>
                <a:cubicBezTo>
                  <a:pt x="28828" y="15141"/>
                  <a:pt x="28851" y="15137"/>
                  <a:pt x="28873" y="15128"/>
                </a:cubicBezTo>
                <a:cubicBezTo>
                  <a:pt x="28895" y="15119"/>
                  <a:pt x="28914" y="15106"/>
                  <a:pt x="28931" y="15089"/>
                </a:cubicBezTo>
                <a:cubicBezTo>
                  <a:pt x="28947" y="15072"/>
                  <a:pt x="28960" y="15053"/>
                  <a:pt x="28969" y="15031"/>
                </a:cubicBezTo>
                <a:cubicBezTo>
                  <a:pt x="28978" y="15010"/>
                  <a:pt x="28983" y="14987"/>
                  <a:pt x="28983" y="14963"/>
                </a:cubicBezTo>
                <a:lnTo>
                  <a:pt x="28983" y="611"/>
                </a:lnTo>
                <a:cubicBezTo>
                  <a:pt x="28983" y="588"/>
                  <a:pt x="28978" y="565"/>
                  <a:pt x="28969" y="543"/>
                </a:cubicBezTo>
                <a:cubicBezTo>
                  <a:pt x="28960" y="522"/>
                  <a:pt x="28947" y="502"/>
                  <a:pt x="28931" y="486"/>
                </a:cubicBezTo>
                <a:cubicBezTo>
                  <a:pt x="28914" y="469"/>
                  <a:pt x="28895" y="456"/>
                  <a:pt x="28873" y="447"/>
                </a:cubicBezTo>
                <a:cubicBezTo>
                  <a:pt x="28851" y="438"/>
                  <a:pt x="28828" y="434"/>
                  <a:pt x="28805" y="434"/>
                </a:cubicBezTo>
                <a:lnTo>
                  <a:pt x="813" y="434"/>
                </a:lnTo>
                <a:cubicBezTo>
                  <a:pt x="790" y="434"/>
                  <a:pt x="767" y="438"/>
                  <a:pt x="745" y="447"/>
                </a:cubicBezTo>
                <a:cubicBezTo>
                  <a:pt x="723" y="456"/>
                  <a:pt x="704" y="469"/>
                  <a:pt x="687" y="486"/>
                </a:cubicBezTo>
                <a:cubicBezTo>
                  <a:pt x="671" y="502"/>
                  <a:pt x="658" y="522"/>
                  <a:pt x="649" y="543"/>
                </a:cubicBezTo>
                <a:cubicBezTo>
                  <a:pt x="640" y="565"/>
                  <a:pt x="635" y="588"/>
                  <a:pt x="635" y="611"/>
                </a:cubicBezTo>
                <a:moveTo>
                  <a:pt x="0" y="0"/>
                </a:moveTo>
                <a:lnTo>
                  <a:pt x="29618" y="0"/>
                </a:lnTo>
                <a:lnTo>
                  <a:pt x="29618" y="15977"/>
                </a:lnTo>
                <a:lnTo>
                  <a:pt x="0" y="1597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982" name="" descr=""/>
          <p:cNvPicPr/>
          <p:nvPr/>
        </p:nvPicPr>
        <p:blipFill>
          <a:blip r:embed="rId2"/>
          <a:stretch/>
        </p:blipFill>
        <p:spPr>
          <a:xfrm>
            <a:off x="1719000" y="1944720"/>
            <a:ext cx="10277640" cy="536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3" name=""/>
          <p:cNvSpPr/>
          <p:nvPr/>
        </p:nvSpPr>
        <p:spPr>
          <a:xfrm>
            <a:off x="1719000" y="1944360"/>
            <a:ext cx="10278000" cy="5367960"/>
          </a:xfrm>
          <a:custGeom>
            <a:avLst/>
            <a:gdLst/>
            <a:ahLst/>
            <a:rect l="0" t="0" r="r" b="b"/>
            <a:pathLst>
              <a:path w="28550" h="14911">
                <a:moveTo>
                  <a:pt x="101" y="256"/>
                </a:moveTo>
                <a:lnTo>
                  <a:pt x="101" y="14608"/>
                </a:lnTo>
                <a:cubicBezTo>
                  <a:pt x="101" y="14632"/>
                  <a:pt x="106" y="14655"/>
                  <a:pt x="115" y="14676"/>
                </a:cubicBezTo>
                <a:cubicBezTo>
                  <a:pt x="124" y="14698"/>
                  <a:pt x="137" y="14717"/>
                  <a:pt x="153" y="14734"/>
                </a:cubicBezTo>
                <a:cubicBezTo>
                  <a:pt x="170" y="14751"/>
                  <a:pt x="189" y="14764"/>
                  <a:pt x="211" y="14773"/>
                </a:cubicBezTo>
                <a:cubicBezTo>
                  <a:pt x="233" y="14782"/>
                  <a:pt x="256" y="14786"/>
                  <a:pt x="279" y="14786"/>
                </a:cubicBezTo>
                <a:lnTo>
                  <a:pt x="28271" y="14786"/>
                </a:lnTo>
                <a:cubicBezTo>
                  <a:pt x="28294" y="14786"/>
                  <a:pt x="28317" y="14782"/>
                  <a:pt x="28339" y="14773"/>
                </a:cubicBezTo>
                <a:cubicBezTo>
                  <a:pt x="28361" y="14764"/>
                  <a:pt x="28380" y="14751"/>
                  <a:pt x="28397" y="14734"/>
                </a:cubicBezTo>
                <a:cubicBezTo>
                  <a:pt x="28413" y="14717"/>
                  <a:pt x="28426" y="14698"/>
                  <a:pt x="28435" y="14676"/>
                </a:cubicBezTo>
                <a:cubicBezTo>
                  <a:pt x="28444" y="14655"/>
                  <a:pt x="28449" y="14632"/>
                  <a:pt x="28449" y="14608"/>
                </a:cubicBezTo>
                <a:lnTo>
                  <a:pt x="28449" y="256"/>
                </a:lnTo>
                <a:cubicBezTo>
                  <a:pt x="28449" y="233"/>
                  <a:pt x="28444" y="210"/>
                  <a:pt x="28435" y="188"/>
                </a:cubicBezTo>
                <a:cubicBezTo>
                  <a:pt x="28426" y="167"/>
                  <a:pt x="28413" y="147"/>
                  <a:pt x="28397" y="131"/>
                </a:cubicBezTo>
                <a:cubicBezTo>
                  <a:pt x="28380" y="114"/>
                  <a:pt x="28361" y="101"/>
                  <a:pt x="28339" y="92"/>
                </a:cubicBezTo>
                <a:cubicBezTo>
                  <a:pt x="28317" y="83"/>
                  <a:pt x="28294" y="79"/>
                  <a:pt x="28271" y="79"/>
                </a:cubicBezTo>
                <a:lnTo>
                  <a:pt x="279" y="79"/>
                </a:lnTo>
                <a:cubicBezTo>
                  <a:pt x="256" y="79"/>
                  <a:pt x="233" y="83"/>
                  <a:pt x="211" y="92"/>
                </a:cubicBezTo>
                <a:cubicBezTo>
                  <a:pt x="189" y="101"/>
                  <a:pt x="170" y="114"/>
                  <a:pt x="153" y="131"/>
                </a:cubicBezTo>
                <a:cubicBezTo>
                  <a:pt x="137" y="147"/>
                  <a:pt x="124" y="167"/>
                  <a:pt x="115" y="188"/>
                </a:cubicBezTo>
                <a:cubicBezTo>
                  <a:pt x="106" y="210"/>
                  <a:pt x="101" y="233"/>
                  <a:pt x="101" y="256"/>
                </a:cubicBezTo>
                <a:moveTo>
                  <a:pt x="0" y="0"/>
                </a:moveTo>
                <a:lnTo>
                  <a:pt x="28550" y="0"/>
                </a:lnTo>
                <a:lnTo>
                  <a:pt x="28550" y="14911"/>
                </a:lnTo>
                <a:lnTo>
                  <a:pt x="0" y="1491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4" name=""/>
          <p:cNvSpPr/>
          <p:nvPr/>
        </p:nvSpPr>
        <p:spPr>
          <a:xfrm>
            <a:off x="1746360" y="1963440"/>
            <a:ext cx="10223280" cy="5313240"/>
          </a:xfrm>
          <a:custGeom>
            <a:avLst/>
            <a:gdLst/>
            <a:ahLst/>
            <a:rect l="0" t="0" r="r" b="b"/>
            <a:pathLst>
              <a:path w="28398" h="14759">
                <a:moveTo>
                  <a:pt x="0" y="14555"/>
                </a:moveTo>
                <a:lnTo>
                  <a:pt x="0" y="203"/>
                </a:lnTo>
                <a:cubicBezTo>
                  <a:pt x="0" y="190"/>
                  <a:pt x="1" y="177"/>
                  <a:pt x="4" y="164"/>
                </a:cubicBezTo>
                <a:cubicBezTo>
                  <a:pt x="6" y="151"/>
                  <a:pt x="10" y="138"/>
                  <a:pt x="15" y="126"/>
                </a:cubicBezTo>
                <a:cubicBezTo>
                  <a:pt x="20" y="113"/>
                  <a:pt x="27" y="102"/>
                  <a:pt x="34" y="90"/>
                </a:cubicBezTo>
                <a:cubicBezTo>
                  <a:pt x="42" y="79"/>
                  <a:pt x="50" y="69"/>
                  <a:pt x="59" y="60"/>
                </a:cubicBezTo>
                <a:cubicBezTo>
                  <a:pt x="69" y="50"/>
                  <a:pt x="79" y="42"/>
                  <a:pt x="90" y="34"/>
                </a:cubicBezTo>
                <a:cubicBezTo>
                  <a:pt x="101" y="27"/>
                  <a:pt x="113" y="21"/>
                  <a:pt x="125" y="16"/>
                </a:cubicBezTo>
                <a:cubicBezTo>
                  <a:pt x="138" y="11"/>
                  <a:pt x="150" y="7"/>
                  <a:pt x="163" y="4"/>
                </a:cubicBezTo>
                <a:cubicBezTo>
                  <a:pt x="177" y="1"/>
                  <a:pt x="190" y="0"/>
                  <a:pt x="203" y="0"/>
                </a:cubicBezTo>
                <a:lnTo>
                  <a:pt x="28195" y="0"/>
                </a:lnTo>
                <a:cubicBezTo>
                  <a:pt x="28208" y="0"/>
                  <a:pt x="28221" y="1"/>
                  <a:pt x="28235" y="4"/>
                </a:cubicBezTo>
                <a:cubicBezTo>
                  <a:pt x="28248" y="7"/>
                  <a:pt x="28260" y="11"/>
                  <a:pt x="28273" y="16"/>
                </a:cubicBezTo>
                <a:cubicBezTo>
                  <a:pt x="28285" y="21"/>
                  <a:pt x="28297" y="27"/>
                  <a:pt x="28308" y="34"/>
                </a:cubicBezTo>
                <a:cubicBezTo>
                  <a:pt x="28319" y="42"/>
                  <a:pt x="28329" y="50"/>
                  <a:pt x="28339" y="60"/>
                </a:cubicBezTo>
                <a:cubicBezTo>
                  <a:pt x="28348" y="69"/>
                  <a:pt x="28356" y="79"/>
                  <a:pt x="28364" y="90"/>
                </a:cubicBezTo>
                <a:cubicBezTo>
                  <a:pt x="28371" y="102"/>
                  <a:pt x="28378" y="113"/>
                  <a:pt x="28383" y="126"/>
                </a:cubicBezTo>
                <a:cubicBezTo>
                  <a:pt x="28388" y="138"/>
                  <a:pt x="28392" y="151"/>
                  <a:pt x="28394" y="164"/>
                </a:cubicBezTo>
                <a:cubicBezTo>
                  <a:pt x="28397" y="177"/>
                  <a:pt x="28398" y="190"/>
                  <a:pt x="28398" y="203"/>
                </a:cubicBezTo>
                <a:lnTo>
                  <a:pt x="28398" y="14555"/>
                </a:lnTo>
                <a:cubicBezTo>
                  <a:pt x="28398" y="14569"/>
                  <a:pt x="28397" y="14582"/>
                  <a:pt x="28394" y="14595"/>
                </a:cubicBezTo>
                <a:cubicBezTo>
                  <a:pt x="28392" y="14608"/>
                  <a:pt x="28388" y="14621"/>
                  <a:pt x="28383" y="14633"/>
                </a:cubicBezTo>
                <a:cubicBezTo>
                  <a:pt x="28378" y="14645"/>
                  <a:pt x="28371" y="14657"/>
                  <a:pt x="28364" y="14668"/>
                </a:cubicBezTo>
                <a:cubicBezTo>
                  <a:pt x="28356" y="14679"/>
                  <a:pt x="28348" y="14690"/>
                  <a:pt x="28339" y="14699"/>
                </a:cubicBezTo>
                <a:cubicBezTo>
                  <a:pt x="28329" y="14708"/>
                  <a:pt x="28319" y="14717"/>
                  <a:pt x="28308" y="14724"/>
                </a:cubicBezTo>
                <a:cubicBezTo>
                  <a:pt x="28297" y="14732"/>
                  <a:pt x="28285" y="14738"/>
                  <a:pt x="28273" y="14743"/>
                </a:cubicBezTo>
                <a:cubicBezTo>
                  <a:pt x="28260" y="14748"/>
                  <a:pt x="28248" y="14752"/>
                  <a:pt x="28235" y="14755"/>
                </a:cubicBezTo>
                <a:cubicBezTo>
                  <a:pt x="28221" y="14757"/>
                  <a:pt x="28208" y="14759"/>
                  <a:pt x="28195" y="14759"/>
                </a:cubicBezTo>
                <a:lnTo>
                  <a:pt x="203" y="14759"/>
                </a:lnTo>
                <a:cubicBezTo>
                  <a:pt x="190" y="14759"/>
                  <a:pt x="177" y="14757"/>
                  <a:pt x="163" y="14755"/>
                </a:cubicBezTo>
                <a:cubicBezTo>
                  <a:pt x="150" y="14752"/>
                  <a:pt x="138" y="14748"/>
                  <a:pt x="125" y="14743"/>
                </a:cubicBezTo>
                <a:cubicBezTo>
                  <a:pt x="113" y="14738"/>
                  <a:pt x="101" y="14732"/>
                  <a:pt x="90" y="14724"/>
                </a:cubicBezTo>
                <a:cubicBezTo>
                  <a:pt x="79" y="14717"/>
                  <a:pt x="69" y="14708"/>
                  <a:pt x="59" y="14699"/>
                </a:cubicBezTo>
                <a:cubicBezTo>
                  <a:pt x="50" y="14690"/>
                  <a:pt x="42" y="14679"/>
                  <a:pt x="34" y="14668"/>
                </a:cubicBezTo>
                <a:cubicBezTo>
                  <a:pt x="27" y="14657"/>
                  <a:pt x="20" y="14645"/>
                  <a:pt x="15" y="14633"/>
                </a:cubicBezTo>
                <a:cubicBezTo>
                  <a:pt x="10" y="14621"/>
                  <a:pt x="6" y="14608"/>
                  <a:pt x="4" y="14595"/>
                </a:cubicBezTo>
                <a:cubicBezTo>
                  <a:pt x="1" y="14582"/>
                  <a:pt x="0" y="14569"/>
                  <a:pt x="0" y="145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85" name="" descr=""/>
          <p:cNvPicPr/>
          <p:nvPr/>
        </p:nvPicPr>
        <p:blipFill>
          <a:blip r:embed="rId3"/>
          <a:stretch/>
        </p:blipFill>
        <p:spPr>
          <a:xfrm>
            <a:off x="1920240" y="2137320"/>
            <a:ext cx="987516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6" name=""/>
          <p:cNvSpPr txBox="1"/>
          <p:nvPr/>
        </p:nvSpPr>
        <p:spPr>
          <a:xfrm>
            <a:off x="932760" y="802080"/>
            <a:ext cx="718668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2760" strike="noStrike" u="none">
                <a:solidFill>
                  <a:srgbClr val="0a0a0a"/>
                </a:solidFill>
                <a:effectLst/>
                <a:uFillTx/>
                <a:latin typeface="Fraunces-Regular_opsz266666_wght2580000"/>
                <a:ea typeface="Fraunces-Regular_opsz266666_wght2580000"/>
              </a:rPr>
              <a:t>All modes share a pass-oriented bias.</a:t>
            </a:r>
            <a:endParaRPr b="0" lang="en-IN" sz="27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7" name=""/>
          <p:cNvSpPr txBox="1"/>
          <p:nvPr/>
        </p:nvSpPr>
        <p:spPr>
          <a:xfrm>
            <a:off x="4582440" y="7815960"/>
            <a:ext cx="3754080" cy="97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9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PER-CLASS ACCURACY · GPT-4O · ATTACHING MEMORY DOES NOT CORRECT THE BIAS</a:t>
            </a:r>
            <a:endParaRPr b="0" lang="en-IN" sz="6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8" name=""/>
          <p:cNvSpPr txBox="1"/>
          <p:nvPr/>
        </p:nvSpPr>
        <p:spPr>
          <a:xfrm>
            <a:off x="685800" y="8312040"/>
            <a:ext cx="2566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MEMORY-ASSISTED LLM AS A JUDGE VIA KNOWLEDGE GRAPHS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9" name=""/>
          <p:cNvSpPr txBox="1"/>
          <p:nvPr/>
        </p:nvSpPr>
        <p:spPr>
          <a:xfrm>
            <a:off x="11400480" y="8312040"/>
            <a:ext cx="13590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22 / 36  ·  K. PATEL · 2026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1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2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3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4" name=""/>
          <p:cNvSpPr/>
          <p:nvPr/>
        </p:nvSpPr>
        <p:spPr>
          <a:xfrm>
            <a:off x="273960" y="171360"/>
            <a:ext cx="13167720" cy="8229960"/>
          </a:xfrm>
          <a:custGeom>
            <a:avLst/>
            <a:gdLst/>
            <a:ahLst/>
            <a:rect l="0" t="0" r="r" b="b"/>
            <a:pathLst>
              <a:path w="36577" h="22861">
                <a:moveTo>
                  <a:pt x="0" y="0"/>
                </a:moveTo>
                <a:lnTo>
                  <a:pt x="36577" y="0"/>
                </a:lnTo>
                <a:lnTo>
                  <a:pt x="36577" y="22861"/>
                </a:lnTo>
                <a:lnTo>
                  <a:pt x="0" y="22861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5" name=""/>
          <p:cNvSpPr txBox="1"/>
          <p:nvPr/>
        </p:nvSpPr>
        <p:spPr>
          <a:xfrm>
            <a:off x="932760" y="579960"/>
            <a:ext cx="225036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EVALUATION · A CAUGHT ARTIFACT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6" name=""/>
          <p:cNvSpPr/>
          <p:nvPr/>
        </p:nvSpPr>
        <p:spPr>
          <a:xfrm>
            <a:off x="937080" y="1455840"/>
            <a:ext cx="5678640" cy="1198440"/>
          </a:xfrm>
          <a:custGeom>
            <a:avLst/>
            <a:gdLst/>
            <a:ahLst/>
            <a:rect l="0" t="0" r="r" b="b"/>
            <a:pathLst>
              <a:path w="15774" h="3329">
                <a:moveTo>
                  <a:pt x="0" y="3240"/>
                </a:moveTo>
                <a:lnTo>
                  <a:pt x="0" y="89"/>
                </a:lnTo>
                <a:cubicBezTo>
                  <a:pt x="0" y="78"/>
                  <a:pt x="2" y="66"/>
                  <a:pt x="7" y="55"/>
                </a:cubicBezTo>
                <a:cubicBezTo>
                  <a:pt x="11" y="44"/>
                  <a:pt x="18" y="35"/>
                  <a:pt x="26" y="26"/>
                </a:cubicBezTo>
                <a:cubicBezTo>
                  <a:pt x="34" y="18"/>
                  <a:pt x="44" y="12"/>
                  <a:pt x="55" y="7"/>
                </a:cubicBezTo>
                <a:cubicBezTo>
                  <a:pt x="66" y="3"/>
                  <a:pt x="77" y="0"/>
                  <a:pt x="89" y="0"/>
                </a:cubicBezTo>
                <a:lnTo>
                  <a:pt x="15685" y="0"/>
                </a:lnTo>
                <a:cubicBezTo>
                  <a:pt x="15697" y="0"/>
                  <a:pt x="15709" y="3"/>
                  <a:pt x="15720" y="7"/>
                </a:cubicBezTo>
                <a:cubicBezTo>
                  <a:pt x="15730" y="12"/>
                  <a:pt x="15740" y="18"/>
                  <a:pt x="15748" y="26"/>
                </a:cubicBezTo>
                <a:cubicBezTo>
                  <a:pt x="15757" y="35"/>
                  <a:pt x="15763" y="44"/>
                  <a:pt x="15768" y="55"/>
                </a:cubicBezTo>
                <a:cubicBezTo>
                  <a:pt x="15772" y="66"/>
                  <a:pt x="15774" y="78"/>
                  <a:pt x="15774" y="89"/>
                </a:cubicBezTo>
                <a:lnTo>
                  <a:pt x="15774" y="3240"/>
                </a:lnTo>
                <a:cubicBezTo>
                  <a:pt x="15774" y="3252"/>
                  <a:pt x="15772" y="3263"/>
                  <a:pt x="15768" y="3274"/>
                </a:cubicBezTo>
                <a:cubicBezTo>
                  <a:pt x="15763" y="3285"/>
                  <a:pt x="15757" y="3294"/>
                  <a:pt x="15748" y="3303"/>
                </a:cubicBezTo>
                <a:cubicBezTo>
                  <a:pt x="15740" y="3311"/>
                  <a:pt x="15730" y="3318"/>
                  <a:pt x="15720" y="3322"/>
                </a:cubicBezTo>
                <a:cubicBezTo>
                  <a:pt x="15709" y="3327"/>
                  <a:pt x="15697" y="3329"/>
                  <a:pt x="15685" y="3329"/>
                </a:cubicBezTo>
                <a:lnTo>
                  <a:pt x="89" y="3329"/>
                </a:lnTo>
                <a:cubicBezTo>
                  <a:pt x="77" y="3329"/>
                  <a:pt x="66" y="3327"/>
                  <a:pt x="55" y="3322"/>
                </a:cubicBezTo>
                <a:cubicBezTo>
                  <a:pt x="44" y="3318"/>
                  <a:pt x="34" y="3311"/>
                  <a:pt x="26" y="3303"/>
                </a:cubicBezTo>
                <a:cubicBezTo>
                  <a:pt x="18" y="3294"/>
                  <a:pt x="11" y="3285"/>
                  <a:pt x="7" y="3274"/>
                </a:cubicBezTo>
                <a:cubicBezTo>
                  <a:pt x="2" y="3263"/>
                  <a:pt x="0" y="3252"/>
                  <a:pt x="0" y="3240"/>
                </a:cubicBez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7" name=""/>
          <p:cNvSpPr/>
          <p:nvPr/>
        </p:nvSpPr>
        <p:spPr>
          <a:xfrm>
            <a:off x="937080" y="1455840"/>
            <a:ext cx="5678640" cy="1198440"/>
          </a:xfrm>
          <a:custGeom>
            <a:avLst/>
            <a:gdLst/>
            <a:ahLst/>
            <a:rect l="0" t="0" r="r" b="b"/>
            <a:pathLst>
              <a:path fill="none" w="15774" h="3329">
                <a:moveTo>
                  <a:pt x="0" y="3240"/>
                </a:moveTo>
                <a:lnTo>
                  <a:pt x="0" y="89"/>
                </a:lnTo>
                <a:cubicBezTo>
                  <a:pt x="0" y="78"/>
                  <a:pt x="2" y="66"/>
                  <a:pt x="7" y="55"/>
                </a:cubicBezTo>
                <a:cubicBezTo>
                  <a:pt x="11" y="44"/>
                  <a:pt x="18" y="35"/>
                  <a:pt x="26" y="26"/>
                </a:cubicBezTo>
                <a:cubicBezTo>
                  <a:pt x="34" y="18"/>
                  <a:pt x="44" y="12"/>
                  <a:pt x="55" y="7"/>
                </a:cubicBezTo>
                <a:cubicBezTo>
                  <a:pt x="66" y="3"/>
                  <a:pt x="77" y="0"/>
                  <a:pt x="89" y="0"/>
                </a:cubicBezTo>
                <a:lnTo>
                  <a:pt x="15685" y="0"/>
                </a:lnTo>
                <a:cubicBezTo>
                  <a:pt x="15697" y="0"/>
                  <a:pt x="15709" y="3"/>
                  <a:pt x="15720" y="7"/>
                </a:cubicBezTo>
                <a:cubicBezTo>
                  <a:pt x="15730" y="12"/>
                  <a:pt x="15740" y="18"/>
                  <a:pt x="15748" y="26"/>
                </a:cubicBezTo>
                <a:cubicBezTo>
                  <a:pt x="15757" y="35"/>
                  <a:pt x="15763" y="44"/>
                  <a:pt x="15768" y="55"/>
                </a:cubicBezTo>
                <a:cubicBezTo>
                  <a:pt x="15772" y="66"/>
                  <a:pt x="15774" y="78"/>
                  <a:pt x="15774" y="89"/>
                </a:cubicBezTo>
                <a:lnTo>
                  <a:pt x="15774" y="3240"/>
                </a:lnTo>
                <a:cubicBezTo>
                  <a:pt x="15774" y="3252"/>
                  <a:pt x="15772" y="3263"/>
                  <a:pt x="15768" y="3274"/>
                </a:cubicBezTo>
                <a:cubicBezTo>
                  <a:pt x="15763" y="3285"/>
                  <a:pt x="15757" y="3294"/>
                  <a:pt x="15748" y="3303"/>
                </a:cubicBezTo>
                <a:cubicBezTo>
                  <a:pt x="15740" y="3311"/>
                  <a:pt x="15730" y="3318"/>
                  <a:pt x="15720" y="3322"/>
                </a:cubicBezTo>
                <a:cubicBezTo>
                  <a:pt x="15709" y="3327"/>
                  <a:pt x="15697" y="3329"/>
                  <a:pt x="15685" y="3329"/>
                </a:cubicBezTo>
                <a:lnTo>
                  <a:pt x="89" y="3329"/>
                </a:lnTo>
                <a:cubicBezTo>
                  <a:pt x="77" y="3329"/>
                  <a:pt x="66" y="3327"/>
                  <a:pt x="55" y="3322"/>
                </a:cubicBezTo>
                <a:cubicBezTo>
                  <a:pt x="44" y="3318"/>
                  <a:pt x="34" y="3311"/>
                  <a:pt x="26" y="3303"/>
                </a:cubicBezTo>
                <a:cubicBezTo>
                  <a:pt x="18" y="3294"/>
                  <a:pt x="11" y="3285"/>
                  <a:pt x="7" y="3274"/>
                </a:cubicBezTo>
                <a:cubicBezTo>
                  <a:pt x="2" y="3263"/>
                  <a:pt x="0" y="3252"/>
                  <a:pt x="0" y="3240"/>
                </a:cubicBezTo>
              </a:path>
            </a:pathLst>
          </a:custGeom>
          <a:ln w="9000">
            <a:solidFill>
              <a:srgbClr val="b8860b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8" name=""/>
          <p:cNvSpPr txBox="1"/>
          <p:nvPr/>
        </p:nvSpPr>
        <p:spPr>
          <a:xfrm>
            <a:off x="932760" y="802080"/>
            <a:ext cx="689508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2760" strike="noStrike" u="none">
                <a:solidFill>
                  <a:srgbClr val="0a0a0a"/>
                </a:solidFill>
                <a:effectLst/>
                <a:uFillTx/>
                <a:latin typeface="Fraunces-Regular_opsz266666_wght2580000"/>
                <a:ea typeface="Fraunces-Regular_opsz266666_wght2580000"/>
              </a:rPr>
              <a:t>What looked like a collapse, wasn't.</a:t>
            </a:r>
            <a:endParaRPr b="0" lang="en-IN" sz="27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9" name=""/>
          <p:cNvSpPr txBox="1"/>
          <p:nvPr/>
        </p:nvSpPr>
        <p:spPr>
          <a:xfrm>
            <a:off x="3142800" y="1643760"/>
            <a:ext cx="938880" cy="97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9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UN-AUDITED HARNESS</a:t>
            </a:r>
            <a:endParaRPr b="0" lang="en-IN" sz="6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0" name=""/>
          <p:cNvSpPr txBox="1"/>
          <p:nvPr/>
        </p:nvSpPr>
        <p:spPr>
          <a:xfrm>
            <a:off x="3157920" y="1682640"/>
            <a:ext cx="1560600" cy="660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3690" strike="noStrike" u="none">
                <a:solidFill>
                  <a:srgbClr val="b8860b"/>
                </a:solidFill>
                <a:effectLst/>
                <a:uFillTx/>
                <a:latin typeface="Fraunces-Regular_opsz333333_wght2580000"/>
                <a:ea typeface="Fraunces-Regular_opsz333333_wght2580000"/>
              </a:rPr>
              <a:t>21.2%</a:t>
            </a:r>
            <a:endParaRPr b="0" lang="en-IN" sz="36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1" name=""/>
          <p:cNvSpPr txBox="1"/>
          <p:nvPr/>
        </p:nvSpPr>
        <p:spPr>
          <a:xfrm>
            <a:off x="2514240" y="2294280"/>
            <a:ext cx="2452320" cy="11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60" strike="noStrike" u="none">
                <a:solidFill>
                  <a:srgbClr val="6a6a66"/>
                </a:solidFill>
                <a:effectLst/>
                <a:uFillTx/>
                <a:latin typeface="Inter-Regular_"/>
                <a:ea typeface="Inter-Regular_"/>
              </a:rPr>
              <a:t>Network errors silently counted as wrong answers.</a:t>
            </a:r>
            <a:endParaRPr b="0" lang="en-IN" sz="8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2" name=""/>
          <p:cNvSpPr/>
          <p:nvPr/>
        </p:nvSpPr>
        <p:spPr>
          <a:xfrm>
            <a:off x="7100280" y="1455840"/>
            <a:ext cx="5678640" cy="1198440"/>
          </a:xfrm>
          <a:custGeom>
            <a:avLst/>
            <a:gdLst/>
            <a:ahLst/>
            <a:rect l="0" t="0" r="r" b="b"/>
            <a:pathLst>
              <a:path w="15774" h="3329">
                <a:moveTo>
                  <a:pt x="0" y="3240"/>
                </a:moveTo>
                <a:lnTo>
                  <a:pt x="0" y="89"/>
                </a:lnTo>
                <a:cubicBezTo>
                  <a:pt x="0" y="78"/>
                  <a:pt x="2" y="66"/>
                  <a:pt x="6" y="55"/>
                </a:cubicBezTo>
                <a:cubicBezTo>
                  <a:pt x="11" y="44"/>
                  <a:pt x="17" y="35"/>
                  <a:pt x="26" y="26"/>
                </a:cubicBezTo>
                <a:cubicBezTo>
                  <a:pt x="34" y="18"/>
                  <a:pt x="44" y="12"/>
                  <a:pt x="54" y="7"/>
                </a:cubicBezTo>
                <a:cubicBezTo>
                  <a:pt x="65" y="3"/>
                  <a:pt x="77" y="0"/>
                  <a:pt x="88" y="0"/>
                </a:cubicBezTo>
                <a:lnTo>
                  <a:pt x="15685" y="0"/>
                </a:lnTo>
                <a:cubicBezTo>
                  <a:pt x="15697" y="0"/>
                  <a:pt x="15708" y="3"/>
                  <a:pt x="15719" y="7"/>
                </a:cubicBezTo>
                <a:cubicBezTo>
                  <a:pt x="15730" y="12"/>
                  <a:pt x="15740" y="18"/>
                  <a:pt x="15748" y="26"/>
                </a:cubicBezTo>
                <a:cubicBezTo>
                  <a:pt x="15756" y="35"/>
                  <a:pt x="15763" y="44"/>
                  <a:pt x="15767" y="55"/>
                </a:cubicBezTo>
                <a:cubicBezTo>
                  <a:pt x="15772" y="66"/>
                  <a:pt x="15774" y="78"/>
                  <a:pt x="15774" y="89"/>
                </a:cubicBezTo>
                <a:lnTo>
                  <a:pt x="15774" y="3240"/>
                </a:lnTo>
                <a:cubicBezTo>
                  <a:pt x="15774" y="3252"/>
                  <a:pt x="15772" y="3263"/>
                  <a:pt x="15767" y="3274"/>
                </a:cubicBezTo>
                <a:cubicBezTo>
                  <a:pt x="15763" y="3285"/>
                  <a:pt x="15756" y="3294"/>
                  <a:pt x="15748" y="3303"/>
                </a:cubicBezTo>
                <a:cubicBezTo>
                  <a:pt x="15740" y="3311"/>
                  <a:pt x="15730" y="3318"/>
                  <a:pt x="15719" y="3322"/>
                </a:cubicBezTo>
                <a:cubicBezTo>
                  <a:pt x="15708" y="3327"/>
                  <a:pt x="15697" y="3329"/>
                  <a:pt x="15685" y="3329"/>
                </a:cubicBezTo>
                <a:lnTo>
                  <a:pt x="88" y="3329"/>
                </a:lnTo>
                <a:cubicBezTo>
                  <a:pt x="77" y="3329"/>
                  <a:pt x="65" y="3327"/>
                  <a:pt x="54" y="3322"/>
                </a:cubicBezTo>
                <a:cubicBezTo>
                  <a:pt x="44" y="3318"/>
                  <a:pt x="34" y="3311"/>
                  <a:pt x="26" y="3303"/>
                </a:cubicBezTo>
                <a:cubicBezTo>
                  <a:pt x="17" y="3294"/>
                  <a:pt x="11" y="3285"/>
                  <a:pt x="6" y="3274"/>
                </a:cubicBezTo>
                <a:cubicBezTo>
                  <a:pt x="2" y="3263"/>
                  <a:pt x="0" y="3252"/>
                  <a:pt x="0" y="3240"/>
                </a:cubicBez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3" name=""/>
          <p:cNvSpPr/>
          <p:nvPr/>
        </p:nvSpPr>
        <p:spPr>
          <a:xfrm>
            <a:off x="7100280" y="1455840"/>
            <a:ext cx="5678640" cy="1198440"/>
          </a:xfrm>
          <a:custGeom>
            <a:avLst/>
            <a:gdLst/>
            <a:ahLst/>
            <a:rect l="0" t="0" r="r" b="b"/>
            <a:pathLst>
              <a:path fill="none" w="15774" h="3329">
                <a:moveTo>
                  <a:pt x="0" y="3240"/>
                </a:moveTo>
                <a:lnTo>
                  <a:pt x="0" y="89"/>
                </a:lnTo>
                <a:cubicBezTo>
                  <a:pt x="0" y="78"/>
                  <a:pt x="2" y="66"/>
                  <a:pt x="6" y="55"/>
                </a:cubicBezTo>
                <a:cubicBezTo>
                  <a:pt x="11" y="44"/>
                  <a:pt x="17" y="35"/>
                  <a:pt x="26" y="26"/>
                </a:cubicBezTo>
                <a:cubicBezTo>
                  <a:pt x="34" y="18"/>
                  <a:pt x="44" y="12"/>
                  <a:pt x="54" y="7"/>
                </a:cubicBezTo>
                <a:cubicBezTo>
                  <a:pt x="65" y="3"/>
                  <a:pt x="77" y="0"/>
                  <a:pt x="88" y="0"/>
                </a:cubicBezTo>
                <a:lnTo>
                  <a:pt x="15685" y="0"/>
                </a:lnTo>
                <a:cubicBezTo>
                  <a:pt x="15697" y="0"/>
                  <a:pt x="15708" y="3"/>
                  <a:pt x="15719" y="7"/>
                </a:cubicBezTo>
                <a:cubicBezTo>
                  <a:pt x="15730" y="12"/>
                  <a:pt x="15740" y="18"/>
                  <a:pt x="15748" y="26"/>
                </a:cubicBezTo>
                <a:cubicBezTo>
                  <a:pt x="15756" y="35"/>
                  <a:pt x="15763" y="44"/>
                  <a:pt x="15767" y="55"/>
                </a:cubicBezTo>
                <a:cubicBezTo>
                  <a:pt x="15772" y="66"/>
                  <a:pt x="15774" y="78"/>
                  <a:pt x="15774" y="89"/>
                </a:cubicBezTo>
                <a:lnTo>
                  <a:pt x="15774" y="3240"/>
                </a:lnTo>
                <a:cubicBezTo>
                  <a:pt x="15774" y="3252"/>
                  <a:pt x="15772" y="3263"/>
                  <a:pt x="15767" y="3274"/>
                </a:cubicBezTo>
                <a:cubicBezTo>
                  <a:pt x="15763" y="3285"/>
                  <a:pt x="15756" y="3294"/>
                  <a:pt x="15748" y="3303"/>
                </a:cubicBezTo>
                <a:cubicBezTo>
                  <a:pt x="15740" y="3311"/>
                  <a:pt x="15730" y="3318"/>
                  <a:pt x="15719" y="3322"/>
                </a:cubicBezTo>
                <a:cubicBezTo>
                  <a:pt x="15708" y="3327"/>
                  <a:pt x="15697" y="3329"/>
                  <a:pt x="15685" y="3329"/>
                </a:cubicBezTo>
                <a:lnTo>
                  <a:pt x="88" y="3329"/>
                </a:lnTo>
                <a:cubicBezTo>
                  <a:pt x="77" y="3329"/>
                  <a:pt x="65" y="3327"/>
                  <a:pt x="54" y="3322"/>
                </a:cubicBezTo>
                <a:cubicBezTo>
                  <a:pt x="44" y="3318"/>
                  <a:pt x="34" y="3311"/>
                  <a:pt x="26" y="3303"/>
                </a:cubicBezTo>
                <a:cubicBezTo>
                  <a:pt x="17" y="3294"/>
                  <a:pt x="11" y="3285"/>
                  <a:pt x="6" y="3274"/>
                </a:cubicBezTo>
                <a:cubicBezTo>
                  <a:pt x="2" y="3263"/>
                  <a:pt x="0" y="3252"/>
                  <a:pt x="0" y="3240"/>
                </a:cubicBezTo>
              </a:path>
            </a:pathLst>
          </a:custGeom>
          <a:ln w="9000">
            <a:solidFill>
              <a:srgbClr val="1f7a3a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4" name=""/>
          <p:cNvSpPr txBox="1"/>
          <p:nvPr/>
        </p:nvSpPr>
        <p:spPr>
          <a:xfrm>
            <a:off x="6792480" y="1924560"/>
            <a:ext cx="219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729" strike="noStrike" u="none">
                <a:solidFill>
                  <a:srgbClr val="8b1538"/>
                </a:solidFill>
                <a:effectLst/>
                <a:uFillTx/>
                <a:latin typeface="Menlo"/>
                <a:ea typeface="Menlo"/>
              </a:rPr>
              <a:t>→</a:t>
            </a:r>
            <a:endParaRPr b="0" lang="en-IN" sz="172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5" name=""/>
          <p:cNvSpPr txBox="1"/>
          <p:nvPr/>
        </p:nvSpPr>
        <p:spPr>
          <a:xfrm>
            <a:off x="9063000" y="1643760"/>
            <a:ext cx="1303920" cy="97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9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AUDITED HARNESS · RETRIED</a:t>
            </a:r>
            <a:endParaRPr b="0" lang="en-IN" sz="6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6" name=""/>
          <p:cNvSpPr txBox="1"/>
          <p:nvPr/>
        </p:nvSpPr>
        <p:spPr>
          <a:xfrm>
            <a:off x="9290880" y="1682640"/>
            <a:ext cx="1560600" cy="660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3690" strike="noStrike" u="none">
                <a:solidFill>
                  <a:srgbClr val="1f7a3a"/>
                </a:solidFill>
                <a:effectLst/>
                <a:uFillTx/>
                <a:latin typeface="Fraunces-Regular_opsz333333_wght2580000"/>
                <a:ea typeface="Fraunces-Regular_opsz333333_wght2580000"/>
              </a:rPr>
              <a:t>65.4%</a:t>
            </a:r>
            <a:endParaRPr b="0" lang="en-IN" sz="36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7" name=""/>
          <p:cNvSpPr txBox="1"/>
          <p:nvPr/>
        </p:nvSpPr>
        <p:spPr>
          <a:xfrm>
            <a:off x="9165240" y="2294280"/>
            <a:ext cx="1525680" cy="11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60" strike="noStrike" u="none">
                <a:solidFill>
                  <a:srgbClr val="6a6a66"/>
                </a:solidFill>
                <a:effectLst/>
                <a:uFillTx/>
                <a:latin typeface="Inter-Regular_"/>
                <a:ea typeface="Inter-Regular_"/>
              </a:rPr>
              <a:t>Identical to oracle. No collapse.</a:t>
            </a:r>
            <a:endParaRPr b="0" lang="en-IN" sz="8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8" name=""/>
          <p:cNvSpPr txBox="1"/>
          <p:nvPr/>
        </p:nvSpPr>
        <p:spPr>
          <a:xfrm>
            <a:off x="975600" y="2870640"/>
            <a:ext cx="671292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300" strike="noStrike" u="none">
                <a:solidFill>
                  <a:srgbClr val="8b1538"/>
                </a:solidFill>
                <a:effectLst/>
                <a:uFillTx/>
                <a:latin typeface="Fraunces-Regular_opsz119999_wght12C0000"/>
                <a:ea typeface="Fraunces-Regular_opsz119999_wght12C0000"/>
              </a:rPr>
              <a:t>A spurious fragility — like a spurious benefit — is a property of the harness, not the system.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9" name=""/>
          <p:cNvSpPr txBox="1"/>
          <p:nvPr/>
        </p:nvSpPr>
        <p:spPr>
          <a:xfrm>
            <a:off x="685800" y="8312040"/>
            <a:ext cx="2566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MEMORY-ASSISTED LLM AS A JUDGE VIA KNOWLEDGE GRAPHS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0" name=""/>
          <p:cNvSpPr txBox="1"/>
          <p:nvPr/>
        </p:nvSpPr>
        <p:spPr>
          <a:xfrm>
            <a:off x="11400480" y="8312040"/>
            <a:ext cx="13590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23 / 36  ·  K. PATEL · 2026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2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3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4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5" name=""/>
          <p:cNvSpPr/>
          <p:nvPr/>
        </p:nvSpPr>
        <p:spPr>
          <a:xfrm>
            <a:off x="273960" y="171360"/>
            <a:ext cx="13167720" cy="8229960"/>
          </a:xfrm>
          <a:custGeom>
            <a:avLst/>
            <a:gdLst/>
            <a:ahLst/>
            <a:rect l="0" t="0" r="r" b="b"/>
            <a:pathLst>
              <a:path w="36577" h="22861">
                <a:moveTo>
                  <a:pt x="0" y="0"/>
                </a:moveTo>
                <a:lnTo>
                  <a:pt x="36577" y="0"/>
                </a:lnTo>
                <a:lnTo>
                  <a:pt x="36577" y="22861"/>
                </a:lnTo>
                <a:lnTo>
                  <a:pt x="0" y="22861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6" name=""/>
          <p:cNvSpPr txBox="1"/>
          <p:nvPr/>
        </p:nvSpPr>
        <p:spPr>
          <a:xfrm>
            <a:off x="932760" y="579960"/>
            <a:ext cx="405036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PROPOSED SOLUTION · BUILD #5 · THE RELIABILITY HARNESS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7" name=""/>
          <p:cNvSpPr/>
          <p:nvPr/>
        </p:nvSpPr>
        <p:spPr>
          <a:xfrm>
            <a:off x="937080" y="1428480"/>
            <a:ext cx="3822480" cy="1801800"/>
          </a:xfrm>
          <a:custGeom>
            <a:avLst/>
            <a:gdLst/>
            <a:ahLst/>
            <a:rect l="0" t="0" r="r" b="b"/>
            <a:pathLst>
              <a:path w="10618" h="5005">
                <a:moveTo>
                  <a:pt x="0" y="4916"/>
                </a:moveTo>
                <a:lnTo>
                  <a:pt x="0" y="0"/>
                </a:lnTo>
                <a:lnTo>
                  <a:pt x="10618" y="0"/>
                </a:lnTo>
                <a:lnTo>
                  <a:pt x="10618" y="4916"/>
                </a:lnTo>
                <a:cubicBezTo>
                  <a:pt x="10618" y="4928"/>
                  <a:pt x="10616" y="4939"/>
                  <a:pt x="10611" y="4950"/>
                </a:cubicBezTo>
                <a:cubicBezTo>
                  <a:pt x="10607" y="4961"/>
                  <a:pt x="10600" y="4971"/>
                  <a:pt x="10592" y="4979"/>
                </a:cubicBezTo>
                <a:cubicBezTo>
                  <a:pt x="10584" y="4987"/>
                  <a:pt x="10574" y="4994"/>
                  <a:pt x="10563" y="4998"/>
                </a:cubicBezTo>
                <a:cubicBezTo>
                  <a:pt x="10552" y="5003"/>
                  <a:pt x="10541" y="5005"/>
                  <a:pt x="10529" y="5005"/>
                </a:cubicBezTo>
                <a:lnTo>
                  <a:pt x="89" y="5005"/>
                </a:lnTo>
                <a:cubicBezTo>
                  <a:pt x="77" y="5005"/>
                  <a:pt x="66" y="5003"/>
                  <a:pt x="55" y="4998"/>
                </a:cubicBezTo>
                <a:cubicBezTo>
                  <a:pt x="44" y="4994"/>
                  <a:pt x="34" y="4987"/>
                  <a:pt x="26" y="4979"/>
                </a:cubicBezTo>
                <a:cubicBezTo>
                  <a:pt x="18" y="4971"/>
                  <a:pt x="11" y="4961"/>
                  <a:pt x="7" y="4950"/>
                </a:cubicBezTo>
                <a:cubicBezTo>
                  <a:pt x="2" y="4939"/>
                  <a:pt x="0" y="4928"/>
                  <a:pt x="0" y="491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8" name=""/>
          <p:cNvSpPr/>
          <p:nvPr/>
        </p:nvSpPr>
        <p:spPr>
          <a:xfrm>
            <a:off x="932400" y="1414800"/>
            <a:ext cx="3831840" cy="27720"/>
          </a:xfrm>
          <a:custGeom>
            <a:avLst/>
            <a:gdLst/>
            <a:ahLst/>
            <a:rect l="0" t="0" r="r" b="b"/>
            <a:pathLst>
              <a:path w="10644" h="77">
                <a:moveTo>
                  <a:pt x="26" y="77"/>
                </a:moveTo>
                <a:lnTo>
                  <a:pt x="0" y="77"/>
                </a:lnTo>
                <a:lnTo>
                  <a:pt x="0" y="0"/>
                </a:lnTo>
                <a:lnTo>
                  <a:pt x="10644" y="0"/>
                </a:lnTo>
                <a:lnTo>
                  <a:pt x="10644" y="77"/>
                </a:lnTo>
                <a:lnTo>
                  <a:pt x="10618" y="77"/>
                </a:lnTo>
                <a:lnTo>
                  <a:pt x="26" y="77"/>
                </a:lnTo>
                <a:close/>
              </a:path>
            </a:pathLst>
          </a:custGeom>
          <a:solidFill>
            <a:srgbClr val="1f7a3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9" name=""/>
          <p:cNvSpPr/>
          <p:nvPr/>
        </p:nvSpPr>
        <p:spPr>
          <a:xfrm>
            <a:off x="943200" y="3217320"/>
            <a:ext cx="3810240" cy="17640"/>
          </a:xfrm>
          <a:custGeom>
            <a:avLst/>
            <a:gdLst/>
            <a:ahLst/>
            <a:rect l="0" t="0" r="r" b="b"/>
            <a:pathLst>
              <a:path w="10584" h="49">
                <a:moveTo>
                  <a:pt x="18" y="0"/>
                </a:moveTo>
                <a:cubicBezTo>
                  <a:pt x="33" y="15"/>
                  <a:pt x="51" y="23"/>
                  <a:pt x="72" y="23"/>
                </a:cubicBezTo>
                <a:lnTo>
                  <a:pt x="10512" y="23"/>
                </a:lnTo>
                <a:cubicBezTo>
                  <a:pt x="10533" y="23"/>
                  <a:pt x="10551" y="15"/>
                  <a:pt x="10566" y="0"/>
                </a:cubicBezTo>
                <a:lnTo>
                  <a:pt x="10584" y="19"/>
                </a:lnTo>
                <a:cubicBezTo>
                  <a:pt x="10564" y="39"/>
                  <a:pt x="10540" y="49"/>
                  <a:pt x="10512" y="49"/>
                </a:cubicBezTo>
                <a:lnTo>
                  <a:pt x="72" y="49"/>
                </a:lnTo>
                <a:cubicBezTo>
                  <a:pt x="44" y="49"/>
                  <a:pt x="20" y="39"/>
                  <a:pt x="0" y="19"/>
                </a:cubicBezTo>
                <a:lnTo>
                  <a:pt x="18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0" name=""/>
          <p:cNvSpPr/>
          <p:nvPr/>
        </p:nvSpPr>
        <p:spPr>
          <a:xfrm>
            <a:off x="4746240" y="1414800"/>
            <a:ext cx="18000" cy="1809720"/>
          </a:xfrm>
          <a:custGeom>
            <a:avLst/>
            <a:gdLst/>
            <a:ahLst/>
            <a:rect l="0" t="0" r="r" b="b"/>
            <a:pathLst>
              <a:path w="50" h="5027">
                <a:moveTo>
                  <a:pt x="0" y="5009"/>
                </a:moveTo>
                <a:lnTo>
                  <a:pt x="1" y="5008"/>
                </a:lnTo>
                <a:cubicBezTo>
                  <a:pt x="16" y="4993"/>
                  <a:pt x="24" y="4975"/>
                  <a:pt x="24" y="4954"/>
                </a:cubicBezTo>
                <a:lnTo>
                  <a:pt x="24" y="76"/>
                </a:lnTo>
                <a:lnTo>
                  <a:pt x="49" y="0"/>
                </a:lnTo>
                <a:lnTo>
                  <a:pt x="50" y="0"/>
                </a:lnTo>
                <a:lnTo>
                  <a:pt x="50" y="4954"/>
                </a:lnTo>
                <a:cubicBezTo>
                  <a:pt x="50" y="4982"/>
                  <a:pt x="40" y="5006"/>
                  <a:pt x="19" y="5026"/>
                </a:cubicBezTo>
                <a:lnTo>
                  <a:pt x="18" y="5027"/>
                </a:lnTo>
                <a:lnTo>
                  <a:pt x="0" y="5009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1" name=""/>
          <p:cNvSpPr/>
          <p:nvPr/>
        </p:nvSpPr>
        <p:spPr>
          <a:xfrm>
            <a:off x="932400" y="1414800"/>
            <a:ext cx="18000" cy="1809720"/>
          </a:xfrm>
          <a:custGeom>
            <a:avLst/>
            <a:gdLst/>
            <a:ahLst/>
            <a:rect l="0" t="0" r="r" b="b"/>
            <a:pathLst>
              <a:path w="50" h="5027">
                <a:moveTo>
                  <a:pt x="27" y="76"/>
                </a:moveTo>
                <a:lnTo>
                  <a:pt x="26" y="76"/>
                </a:lnTo>
                <a:lnTo>
                  <a:pt x="26" y="4954"/>
                </a:lnTo>
                <a:cubicBezTo>
                  <a:pt x="26" y="4975"/>
                  <a:pt x="34" y="4993"/>
                  <a:pt x="49" y="5008"/>
                </a:cubicBezTo>
                <a:lnTo>
                  <a:pt x="50" y="5009"/>
                </a:lnTo>
                <a:lnTo>
                  <a:pt x="31" y="5027"/>
                </a:lnTo>
                <a:lnTo>
                  <a:pt x="30" y="5026"/>
                </a:lnTo>
                <a:cubicBezTo>
                  <a:pt x="10" y="5006"/>
                  <a:pt x="0" y="4982"/>
                  <a:pt x="0" y="4954"/>
                </a:cubicBezTo>
                <a:lnTo>
                  <a:pt x="0" y="0"/>
                </a:lnTo>
                <a:lnTo>
                  <a:pt x="1" y="0"/>
                </a:lnTo>
                <a:lnTo>
                  <a:pt x="27" y="76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2" name=""/>
          <p:cNvSpPr txBox="1"/>
          <p:nvPr/>
        </p:nvSpPr>
        <p:spPr>
          <a:xfrm>
            <a:off x="932760" y="802080"/>
            <a:ext cx="611496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2760" strike="noStrike" u="none">
                <a:solidFill>
                  <a:srgbClr val="0a0a0a"/>
                </a:solidFill>
                <a:effectLst/>
                <a:uFillTx/>
                <a:latin typeface="Fraunces-Regular_opsz266666_wght2580000"/>
                <a:ea typeface="Fraunces-Regular_opsz266666_wght2580000"/>
              </a:rPr>
              <a:t>Three independent stress tests.</a:t>
            </a:r>
            <a:endParaRPr b="0" lang="en-IN" sz="27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3" name=""/>
          <p:cNvSpPr txBox="1"/>
          <p:nvPr/>
        </p:nvSpPr>
        <p:spPr>
          <a:xfrm>
            <a:off x="1131840" y="1627920"/>
            <a:ext cx="615240" cy="97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7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EXPERIMENT B</a:t>
            </a:r>
            <a:endParaRPr b="0" lang="en-IN" sz="6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4" name=""/>
          <p:cNvSpPr txBox="1"/>
          <p:nvPr/>
        </p:nvSpPr>
        <p:spPr>
          <a:xfrm>
            <a:off x="1131840" y="1717200"/>
            <a:ext cx="2217600" cy="29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620" strike="noStrike" u="none">
                <a:solidFill>
                  <a:srgbClr val="0a0a0a"/>
                </a:solidFill>
                <a:effectLst/>
                <a:uFillTx/>
                <a:latin typeface="Fraunces-Regular_opsz16665F_wght2580000"/>
                <a:ea typeface="Fraunces-Regular_opsz16665F_wght2580000"/>
              </a:rPr>
              <a:t>Stochastic Stability</a:t>
            </a:r>
            <a:endParaRPr b="0" lang="en-IN" sz="16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5" name=""/>
          <p:cNvSpPr txBox="1"/>
          <p:nvPr/>
        </p:nvSpPr>
        <p:spPr>
          <a:xfrm>
            <a:off x="1131840" y="2013840"/>
            <a:ext cx="1581480" cy="39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2190" strike="noStrike" u="none">
                <a:solidFill>
                  <a:srgbClr val="1f7a3a"/>
                </a:solidFill>
                <a:effectLst/>
                <a:uFillTx/>
                <a:latin typeface="Fraunces-Regular_opsz1E665F_wght2580000"/>
                <a:ea typeface="Fraunces-Regular_opsz1E665F_wght2580000"/>
              </a:rPr>
              <a:t>95%   90%</a:t>
            </a:r>
            <a:endParaRPr b="0" lang="en-IN" sz="21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6" name=""/>
          <p:cNvSpPr txBox="1"/>
          <p:nvPr/>
        </p:nvSpPr>
        <p:spPr>
          <a:xfrm>
            <a:off x="1131840" y="2432520"/>
            <a:ext cx="25272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6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Same item, judged twice. MAJ and MCTS-</a:t>
            </a:r>
            <a:endParaRPr b="0" lang="en-IN" sz="10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7" name=""/>
          <p:cNvSpPr txBox="1"/>
          <p:nvPr/>
        </p:nvSpPr>
        <p:spPr>
          <a:xfrm>
            <a:off x="1131840" y="2633760"/>
            <a:ext cx="305352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6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Judge+Memory agree with themselves on the great</a:t>
            </a:r>
            <a:endParaRPr b="0" lang="en-IN" sz="10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8" name=""/>
          <p:cNvSpPr txBox="1"/>
          <p:nvPr/>
        </p:nvSpPr>
        <p:spPr>
          <a:xfrm>
            <a:off x="1131840" y="2834640"/>
            <a:ext cx="10515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6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majority of items. </a:t>
            </a:r>
            <a:endParaRPr b="0" lang="en-IN" sz="10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9" name=""/>
          <p:cNvSpPr/>
          <p:nvPr/>
        </p:nvSpPr>
        <p:spPr>
          <a:xfrm>
            <a:off x="4942080" y="1428480"/>
            <a:ext cx="3831840" cy="1801800"/>
          </a:xfrm>
          <a:custGeom>
            <a:avLst/>
            <a:gdLst/>
            <a:ahLst/>
            <a:rect l="0" t="0" r="r" b="b"/>
            <a:pathLst>
              <a:path w="10644" h="5005">
                <a:moveTo>
                  <a:pt x="0" y="4916"/>
                </a:moveTo>
                <a:lnTo>
                  <a:pt x="0" y="0"/>
                </a:lnTo>
                <a:lnTo>
                  <a:pt x="10644" y="0"/>
                </a:lnTo>
                <a:lnTo>
                  <a:pt x="10644" y="4916"/>
                </a:lnTo>
                <a:cubicBezTo>
                  <a:pt x="10644" y="4928"/>
                  <a:pt x="10642" y="4939"/>
                  <a:pt x="10637" y="4950"/>
                </a:cubicBezTo>
                <a:cubicBezTo>
                  <a:pt x="10633" y="4961"/>
                  <a:pt x="10626" y="4971"/>
                  <a:pt x="10618" y="4979"/>
                </a:cubicBezTo>
                <a:cubicBezTo>
                  <a:pt x="10609" y="4987"/>
                  <a:pt x="10600" y="4994"/>
                  <a:pt x="10589" y="4998"/>
                </a:cubicBezTo>
                <a:cubicBezTo>
                  <a:pt x="10578" y="5003"/>
                  <a:pt x="10567" y="5005"/>
                  <a:pt x="10555" y="5005"/>
                </a:cubicBezTo>
                <a:lnTo>
                  <a:pt x="89" y="5005"/>
                </a:lnTo>
                <a:cubicBezTo>
                  <a:pt x="77" y="5005"/>
                  <a:pt x="66" y="5003"/>
                  <a:pt x="55" y="4998"/>
                </a:cubicBezTo>
                <a:cubicBezTo>
                  <a:pt x="44" y="4994"/>
                  <a:pt x="35" y="4987"/>
                  <a:pt x="26" y="4979"/>
                </a:cubicBezTo>
                <a:cubicBezTo>
                  <a:pt x="18" y="4971"/>
                  <a:pt x="11" y="4961"/>
                  <a:pt x="7" y="4950"/>
                </a:cubicBezTo>
                <a:cubicBezTo>
                  <a:pt x="2" y="4939"/>
                  <a:pt x="0" y="4928"/>
                  <a:pt x="0" y="491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0" name=""/>
          <p:cNvSpPr/>
          <p:nvPr/>
        </p:nvSpPr>
        <p:spPr>
          <a:xfrm>
            <a:off x="4946760" y="1442160"/>
            <a:ext cx="3822120" cy="0"/>
          </a:xfrm>
          <a:custGeom>
            <a:avLst/>
            <a:gdLst/>
            <a:ahLst/>
            <a:rect l="0" t="0" r="r" b="b"/>
            <a:pathLst>
              <a:path w="10617" h="0">
                <a:moveTo>
                  <a:pt x="0" y="0"/>
                </a:moveTo>
                <a:lnTo>
                  <a:pt x="10617" y="0"/>
                </a:lnTo>
                <a:lnTo>
                  <a:pt x="0" y="0"/>
                </a:lnTo>
                <a:close/>
              </a:path>
            </a:pathLst>
          </a:custGeom>
          <a:solidFill>
            <a:srgbClr val="6a6a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1" name=""/>
          <p:cNvSpPr/>
          <p:nvPr/>
        </p:nvSpPr>
        <p:spPr>
          <a:xfrm>
            <a:off x="4954680" y="3211560"/>
            <a:ext cx="3806640" cy="14040"/>
          </a:xfrm>
          <a:custGeom>
            <a:avLst/>
            <a:gdLst/>
            <a:ahLst/>
            <a:rect l="0" t="0" r="r" b="b"/>
            <a:pathLst>
              <a:path w="10574" h="39">
                <a:moveTo>
                  <a:pt x="16" y="0"/>
                </a:moveTo>
                <a:lnTo>
                  <a:pt x="10558" y="0"/>
                </a:lnTo>
                <a:lnTo>
                  <a:pt x="10574" y="16"/>
                </a:lnTo>
                <a:cubicBezTo>
                  <a:pt x="10559" y="32"/>
                  <a:pt x="10541" y="39"/>
                  <a:pt x="10520" y="39"/>
                </a:cubicBezTo>
                <a:lnTo>
                  <a:pt x="54" y="39"/>
                </a:lnTo>
                <a:cubicBezTo>
                  <a:pt x="33" y="39"/>
                  <a:pt x="15" y="32"/>
                  <a:pt x="0" y="16"/>
                </a:cubicBezTo>
                <a:lnTo>
                  <a:pt x="16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2" name=""/>
          <p:cNvSpPr/>
          <p:nvPr/>
        </p:nvSpPr>
        <p:spPr>
          <a:xfrm>
            <a:off x="8755200" y="1442160"/>
            <a:ext cx="14040" cy="1775880"/>
          </a:xfrm>
          <a:custGeom>
            <a:avLst/>
            <a:gdLst/>
            <a:ahLst/>
            <a:rect l="0" t="0" r="r" b="b"/>
            <a:pathLst>
              <a:path w="39" h="4933">
                <a:moveTo>
                  <a:pt x="0" y="4919"/>
                </a:moveTo>
                <a:lnTo>
                  <a:pt x="0" y="112"/>
                </a:lnTo>
                <a:lnTo>
                  <a:pt x="38" y="0"/>
                </a:lnTo>
                <a:lnTo>
                  <a:pt x="39" y="0"/>
                </a:lnTo>
                <a:lnTo>
                  <a:pt x="39" y="4878"/>
                </a:lnTo>
                <a:cubicBezTo>
                  <a:pt x="39" y="4899"/>
                  <a:pt x="32" y="4917"/>
                  <a:pt x="16" y="4932"/>
                </a:cubicBezTo>
                <a:cubicBezTo>
                  <a:pt x="15" y="4932"/>
                  <a:pt x="15" y="4933"/>
                  <a:pt x="14" y="4933"/>
                </a:cubicBezTo>
                <a:lnTo>
                  <a:pt x="0" y="4919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3" name=""/>
          <p:cNvSpPr/>
          <p:nvPr/>
        </p:nvSpPr>
        <p:spPr>
          <a:xfrm>
            <a:off x="4946760" y="1442160"/>
            <a:ext cx="14040" cy="1775880"/>
          </a:xfrm>
          <a:custGeom>
            <a:avLst/>
            <a:gdLst/>
            <a:ahLst/>
            <a:rect l="0" t="0" r="r" b="b"/>
            <a:pathLst>
              <a:path w="39" h="4933">
                <a:moveTo>
                  <a:pt x="39" y="112"/>
                </a:moveTo>
                <a:lnTo>
                  <a:pt x="39" y="4919"/>
                </a:lnTo>
                <a:lnTo>
                  <a:pt x="24" y="4933"/>
                </a:lnTo>
                <a:cubicBezTo>
                  <a:pt x="23" y="4933"/>
                  <a:pt x="23" y="4932"/>
                  <a:pt x="22" y="4932"/>
                </a:cubicBezTo>
                <a:cubicBezTo>
                  <a:pt x="7" y="4917"/>
                  <a:pt x="0" y="4899"/>
                  <a:pt x="0" y="4878"/>
                </a:cubicBezTo>
                <a:lnTo>
                  <a:pt x="0" y="0"/>
                </a:lnTo>
                <a:lnTo>
                  <a:pt x="1" y="0"/>
                </a:lnTo>
                <a:lnTo>
                  <a:pt x="39" y="112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4" name=""/>
          <p:cNvSpPr txBox="1"/>
          <p:nvPr/>
        </p:nvSpPr>
        <p:spPr>
          <a:xfrm>
            <a:off x="2218680" y="2830320"/>
            <a:ext cx="16326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060" strike="noStrike" u="none">
                <a:solidFill>
                  <a:srgbClr val="0a0a0a"/>
                </a:solidFill>
                <a:effectLst/>
                <a:uFillTx/>
                <a:latin typeface="Inter-Regular_Semi"/>
                <a:ea typeface="Inter-Regular_Semi"/>
              </a:rPr>
              <a:t>The modes are stable.</a:t>
            </a:r>
            <a:endParaRPr b="0" lang="en-IN" sz="10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5" name=""/>
          <p:cNvSpPr txBox="1"/>
          <p:nvPr/>
        </p:nvSpPr>
        <p:spPr>
          <a:xfrm>
            <a:off x="5140800" y="1627920"/>
            <a:ext cx="615240" cy="97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7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EXPERIMENT C</a:t>
            </a:r>
            <a:endParaRPr b="0" lang="en-IN" sz="6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6" name=""/>
          <p:cNvSpPr txBox="1"/>
          <p:nvPr/>
        </p:nvSpPr>
        <p:spPr>
          <a:xfrm>
            <a:off x="5140800" y="1717200"/>
            <a:ext cx="2801160" cy="29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620" strike="noStrike" u="none">
                <a:solidFill>
                  <a:srgbClr val="0a0a0a"/>
                </a:solidFill>
                <a:effectLst/>
                <a:uFillTx/>
                <a:latin typeface="Fraunces-Regular_opsz16665F_wght2580000"/>
                <a:ea typeface="Fraunces-Regular_opsz16665F_wght2580000"/>
              </a:rPr>
              <a:t>Label-Flip Discrimination</a:t>
            </a:r>
            <a:endParaRPr b="0" lang="en-IN" sz="16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7" name=""/>
          <p:cNvSpPr txBox="1"/>
          <p:nvPr/>
        </p:nvSpPr>
        <p:spPr>
          <a:xfrm>
            <a:off x="5140800" y="2013840"/>
            <a:ext cx="2480400" cy="39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2190" strike="noStrike" u="none">
                <a:solidFill>
                  <a:srgbClr val="0a0a0a"/>
                </a:solidFill>
                <a:effectLst/>
                <a:uFillTx/>
                <a:latin typeface="Fraunces-Regular_opsz1E665F_wght2580000"/>
                <a:ea typeface="Fraunces-Regular_opsz1E665F_wght2580000"/>
              </a:rPr>
              <a:t>65% / 70% / 65%</a:t>
            </a:r>
            <a:endParaRPr b="0" lang="en-IN" sz="21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8" name=""/>
          <p:cNvSpPr txBox="1"/>
          <p:nvPr/>
        </p:nvSpPr>
        <p:spPr>
          <a:xfrm>
            <a:off x="5140800" y="2432520"/>
            <a:ext cx="7311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6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Invert PASS</a:t>
            </a:r>
            <a:endParaRPr b="0" lang="en-IN" sz="10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9" name=""/>
          <p:cNvSpPr txBox="1"/>
          <p:nvPr/>
        </p:nvSpPr>
        <p:spPr>
          <a:xfrm>
            <a:off x="5850720" y="2454480"/>
            <a:ext cx="13428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60" strike="noStrike" u="none">
                <a:solidFill>
                  <a:srgbClr val="2a2a2a"/>
                </a:solidFill>
                <a:effectLst/>
                <a:uFillTx/>
                <a:latin typeface="HiraginoSans-W2"/>
                <a:ea typeface="HiraginoSans-W2"/>
              </a:rPr>
              <a:t>↔</a:t>
            </a:r>
            <a:endParaRPr b="0" lang="en-IN" sz="10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0" name=""/>
          <p:cNvSpPr txBox="1"/>
          <p:nvPr/>
        </p:nvSpPr>
        <p:spPr>
          <a:xfrm>
            <a:off x="5970240" y="2432520"/>
            <a:ext cx="24012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6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FAIL and check the judge flips with it. All</a:t>
            </a:r>
            <a:endParaRPr b="0" lang="en-IN" sz="10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1" name=""/>
          <p:cNvSpPr txBox="1"/>
          <p:nvPr/>
        </p:nvSpPr>
        <p:spPr>
          <a:xfrm>
            <a:off x="5140800" y="2633760"/>
            <a:ext cx="313128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6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modes discriminate above chance — and similarly to</a:t>
            </a:r>
            <a:endParaRPr b="0" lang="en-IN" sz="10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2" name=""/>
          <p:cNvSpPr/>
          <p:nvPr/>
        </p:nvSpPr>
        <p:spPr>
          <a:xfrm>
            <a:off x="8956440" y="1428480"/>
            <a:ext cx="3822480" cy="1801800"/>
          </a:xfrm>
          <a:custGeom>
            <a:avLst/>
            <a:gdLst/>
            <a:ahLst/>
            <a:rect l="0" t="0" r="r" b="b"/>
            <a:pathLst>
              <a:path w="10618" h="5005">
                <a:moveTo>
                  <a:pt x="0" y="4916"/>
                </a:moveTo>
                <a:lnTo>
                  <a:pt x="0" y="0"/>
                </a:lnTo>
                <a:lnTo>
                  <a:pt x="10618" y="0"/>
                </a:lnTo>
                <a:lnTo>
                  <a:pt x="10618" y="4916"/>
                </a:lnTo>
                <a:cubicBezTo>
                  <a:pt x="10618" y="4928"/>
                  <a:pt x="10616" y="4939"/>
                  <a:pt x="10611" y="4950"/>
                </a:cubicBezTo>
                <a:cubicBezTo>
                  <a:pt x="10607" y="4961"/>
                  <a:pt x="10600" y="4971"/>
                  <a:pt x="10592" y="4979"/>
                </a:cubicBezTo>
                <a:cubicBezTo>
                  <a:pt x="10584" y="4987"/>
                  <a:pt x="10574" y="4994"/>
                  <a:pt x="10563" y="4998"/>
                </a:cubicBezTo>
                <a:cubicBezTo>
                  <a:pt x="10552" y="5003"/>
                  <a:pt x="10541" y="5005"/>
                  <a:pt x="10529" y="5005"/>
                </a:cubicBezTo>
                <a:lnTo>
                  <a:pt x="89" y="5005"/>
                </a:lnTo>
                <a:cubicBezTo>
                  <a:pt x="77" y="5005"/>
                  <a:pt x="66" y="5003"/>
                  <a:pt x="55" y="4998"/>
                </a:cubicBezTo>
                <a:cubicBezTo>
                  <a:pt x="44" y="4994"/>
                  <a:pt x="34" y="4987"/>
                  <a:pt x="26" y="4979"/>
                </a:cubicBezTo>
                <a:cubicBezTo>
                  <a:pt x="17" y="4971"/>
                  <a:pt x="11" y="4961"/>
                  <a:pt x="7" y="4950"/>
                </a:cubicBezTo>
                <a:cubicBezTo>
                  <a:pt x="2" y="4939"/>
                  <a:pt x="0" y="4928"/>
                  <a:pt x="0" y="491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3" name=""/>
          <p:cNvSpPr/>
          <p:nvPr/>
        </p:nvSpPr>
        <p:spPr>
          <a:xfrm>
            <a:off x="8960760" y="1442160"/>
            <a:ext cx="3813120" cy="0"/>
          </a:xfrm>
          <a:custGeom>
            <a:avLst/>
            <a:gdLst/>
            <a:ahLst/>
            <a:rect l="0" t="0" r="r" b="b"/>
            <a:pathLst>
              <a:path w="10592" h="0">
                <a:moveTo>
                  <a:pt x="0" y="0"/>
                </a:moveTo>
                <a:lnTo>
                  <a:pt x="10592" y="0"/>
                </a:lnTo>
                <a:lnTo>
                  <a:pt x="0" y="0"/>
                </a:lnTo>
                <a:close/>
              </a:path>
            </a:pathLst>
          </a:custGeom>
          <a:solidFill>
            <a:srgbClr val="b886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4" name=""/>
          <p:cNvSpPr/>
          <p:nvPr/>
        </p:nvSpPr>
        <p:spPr>
          <a:xfrm>
            <a:off x="8969040" y="3211560"/>
            <a:ext cx="3797280" cy="14040"/>
          </a:xfrm>
          <a:custGeom>
            <a:avLst/>
            <a:gdLst/>
            <a:ahLst/>
            <a:rect l="0" t="0" r="r" b="b"/>
            <a:pathLst>
              <a:path w="10548" h="39">
                <a:moveTo>
                  <a:pt x="16" y="0"/>
                </a:moveTo>
                <a:lnTo>
                  <a:pt x="10532" y="0"/>
                </a:lnTo>
                <a:lnTo>
                  <a:pt x="10548" y="16"/>
                </a:lnTo>
                <a:cubicBezTo>
                  <a:pt x="10533" y="32"/>
                  <a:pt x="10515" y="39"/>
                  <a:pt x="10494" y="39"/>
                </a:cubicBezTo>
                <a:lnTo>
                  <a:pt x="54" y="39"/>
                </a:lnTo>
                <a:cubicBezTo>
                  <a:pt x="33" y="39"/>
                  <a:pt x="15" y="32"/>
                  <a:pt x="0" y="16"/>
                </a:cubicBezTo>
                <a:lnTo>
                  <a:pt x="16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5" name=""/>
          <p:cNvSpPr/>
          <p:nvPr/>
        </p:nvSpPr>
        <p:spPr>
          <a:xfrm>
            <a:off x="12760200" y="1442160"/>
            <a:ext cx="14040" cy="1775880"/>
          </a:xfrm>
          <a:custGeom>
            <a:avLst/>
            <a:gdLst/>
            <a:ahLst/>
            <a:rect l="0" t="0" r="r" b="b"/>
            <a:pathLst>
              <a:path w="39" h="4933">
                <a:moveTo>
                  <a:pt x="0" y="4919"/>
                </a:moveTo>
                <a:lnTo>
                  <a:pt x="0" y="112"/>
                </a:lnTo>
                <a:lnTo>
                  <a:pt x="38" y="0"/>
                </a:lnTo>
                <a:lnTo>
                  <a:pt x="39" y="0"/>
                </a:lnTo>
                <a:lnTo>
                  <a:pt x="39" y="4878"/>
                </a:lnTo>
                <a:cubicBezTo>
                  <a:pt x="39" y="4899"/>
                  <a:pt x="32" y="4917"/>
                  <a:pt x="16" y="4932"/>
                </a:cubicBezTo>
                <a:lnTo>
                  <a:pt x="15" y="4933"/>
                </a:lnTo>
                <a:lnTo>
                  <a:pt x="0" y="4919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6" name=""/>
          <p:cNvSpPr/>
          <p:nvPr/>
        </p:nvSpPr>
        <p:spPr>
          <a:xfrm>
            <a:off x="8960760" y="1442160"/>
            <a:ext cx="14400" cy="1775880"/>
          </a:xfrm>
          <a:custGeom>
            <a:avLst/>
            <a:gdLst/>
            <a:ahLst/>
            <a:rect l="0" t="0" r="r" b="b"/>
            <a:pathLst>
              <a:path w="40" h="4933">
                <a:moveTo>
                  <a:pt x="40" y="112"/>
                </a:moveTo>
                <a:lnTo>
                  <a:pt x="40" y="4919"/>
                </a:lnTo>
                <a:lnTo>
                  <a:pt x="25" y="4933"/>
                </a:lnTo>
                <a:lnTo>
                  <a:pt x="24" y="4932"/>
                </a:lnTo>
                <a:cubicBezTo>
                  <a:pt x="8" y="4917"/>
                  <a:pt x="0" y="4899"/>
                  <a:pt x="0" y="4878"/>
                </a:cubicBezTo>
                <a:lnTo>
                  <a:pt x="0" y="0"/>
                </a:lnTo>
                <a:lnTo>
                  <a:pt x="1" y="0"/>
                </a:lnTo>
                <a:lnTo>
                  <a:pt x="40" y="112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7" name=""/>
          <p:cNvSpPr txBox="1"/>
          <p:nvPr/>
        </p:nvSpPr>
        <p:spPr>
          <a:xfrm>
            <a:off x="5140800" y="2834640"/>
            <a:ext cx="6717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6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each other.</a:t>
            </a:r>
            <a:endParaRPr b="0" lang="en-IN" sz="10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8" name=""/>
          <p:cNvSpPr txBox="1"/>
          <p:nvPr/>
        </p:nvSpPr>
        <p:spPr>
          <a:xfrm>
            <a:off x="9149400" y="1627920"/>
            <a:ext cx="615240" cy="97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7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EXPERIMENT D</a:t>
            </a:r>
            <a:endParaRPr b="0" lang="en-IN" sz="6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9" name=""/>
          <p:cNvSpPr txBox="1"/>
          <p:nvPr/>
        </p:nvSpPr>
        <p:spPr>
          <a:xfrm>
            <a:off x="9149400" y="1717200"/>
            <a:ext cx="1578240" cy="29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620" strike="noStrike" u="none">
                <a:solidFill>
                  <a:srgbClr val="0a0a0a"/>
                </a:solidFill>
                <a:effectLst/>
                <a:uFillTx/>
                <a:latin typeface="Fraunces-Regular_opsz16665F_wght2580000"/>
                <a:ea typeface="Fraunces-Regular_opsz16665F_wght2580000"/>
              </a:rPr>
              <a:t>Defense Filter</a:t>
            </a:r>
            <a:endParaRPr b="0" lang="en-IN" sz="16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0" name=""/>
          <p:cNvSpPr txBox="1"/>
          <p:nvPr/>
        </p:nvSpPr>
        <p:spPr>
          <a:xfrm>
            <a:off x="9149400" y="2013840"/>
            <a:ext cx="2139480" cy="39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2190" strike="noStrike" u="none">
                <a:solidFill>
                  <a:srgbClr val="b8860b"/>
                </a:solidFill>
                <a:effectLst/>
                <a:uFillTx/>
                <a:latin typeface="Fraunces-Regular_opsz1E665F_wght2580000"/>
                <a:ea typeface="Fraunces-Regular_opsz1E665F_wght2580000"/>
              </a:rPr>
              <a:t>64.8%   65.0%</a:t>
            </a:r>
            <a:endParaRPr b="0" lang="en-IN" sz="21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1" name=""/>
          <p:cNvSpPr txBox="1"/>
          <p:nvPr/>
        </p:nvSpPr>
        <p:spPr>
          <a:xfrm>
            <a:off x="9149400" y="2432520"/>
            <a:ext cx="32580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6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Similarity-threshold filter under 50% poisoned memory.</a:t>
            </a:r>
            <a:endParaRPr b="0" lang="en-IN" sz="10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2" name=""/>
          <p:cNvSpPr txBox="1"/>
          <p:nvPr/>
        </p:nvSpPr>
        <p:spPr>
          <a:xfrm>
            <a:off x="9149400" y="2629440"/>
            <a:ext cx="17517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060" strike="noStrike" u="none">
                <a:solidFill>
                  <a:srgbClr val="0a0a0a"/>
                </a:solidFill>
                <a:effectLst/>
                <a:uFillTx/>
                <a:latin typeface="Inter-Regular_Semi"/>
                <a:ea typeface="Inter-Regular_Semi"/>
              </a:rPr>
              <a:t>The filter does not help.</a:t>
            </a:r>
            <a:endParaRPr b="0" lang="en-IN" sz="10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3" name=""/>
          <p:cNvSpPr txBox="1"/>
          <p:nvPr/>
        </p:nvSpPr>
        <p:spPr>
          <a:xfrm>
            <a:off x="10659600" y="2633760"/>
            <a:ext cx="158868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6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 An honest negative result,</a:t>
            </a:r>
            <a:endParaRPr b="0" lang="en-IN" sz="10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4" name=""/>
          <p:cNvSpPr txBox="1"/>
          <p:nvPr/>
        </p:nvSpPr>
        <p:spPr>
          <a:xfrm>
            <a:off x="9149400" y="2834640"/>
            <a:ext cx="10368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6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reported as such.</a:t>
            </a:r>
            <a:endParaRPr b="0" lang="en-IN" sz="10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5" name=""/>
          <p:cNvSpPr txBox="1"/>
          <p:nvPr/>
        </p:nvSpPr>
        <p:spPr>
          <a:xfrm>
            <a:off x="685800" y="8312040"/>
            <a:ext cx="2566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MEMORY-ASSISTED LLM AS A JUDGE VIA KNOWLEDGE GRAPHS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6" name=""/>
          <p:cNvSpPr txBox="1"/>
          <p:nvPr/>
        </p:nvSpPr>
        <p:spPr>
          <a:xfrm>
            <a:off x="11400480" y="8312040"/>
            <a:ext cx="13590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24 / 36  ·  K. PATEL · 2026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8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9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0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1" name=""/>
          <p:cNvSpPr/>
          <p:nvPr/>
        </p:nvSpPr>
        <p:spPr>
          <a:xfrm>
            <a:off x="273960" y="171360"/>
            <a:ext cx="13167720" cy="8229960"/>
          </a:xfrm>
          <a:custGeom>
            <a:avLst/>
            <a:gdLst/>
            <a:ahLst/>
            <a:rect l="0" t="0" r="r" b="b"/>
            <a:pathLst>
              <a:path w="36577" h="22861">
                <a:moveTo>
                  <a:pt x="0" y="0"/>
                </a:moveTo>
                <a:lnTo>
                  <a:pt x="36577" y="0"/>
                </a:lnTo>
                <a:lnTo>
                  <a:pt x="36577" y="22861"/>
                </a:lnTo>
                <a:lnTo>
                  <a:pt x="0" y="22861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2" name=""/>
          <p:cNvSpPr txBox="1"/>
          <p:nvPr/>
        </p:nvSpPr>
        <p:spPr>
          <a:xfrm>
            <a:off x="932760" y="579960"/>
            <a:ext cx="397548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PROPOSED SOLUTION · RELIABILITY HARNESS · WALKTHROUGH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3" name=""/>
          <p:cNvSpPr/>
          <p:nvPr/>
        </p:nvSpPr>
        <p:spPr>
          <a:xfrm>
            <a:off x="950760" y="1419480"/>
            <a:ext cx="11828160" cy="603720"/>
          </a:xfrm>
          <a:custGeom>
            <a:avLst/>
            <a:gdLst/>
            <a:ahLst/>
            <a:rect l="0" t="0" r="r" b="b"/>
            <a:pathLst>
              <a:path w="32856" h="1677">
                <a:moveTo>
                  <a:pt x="0" y="1538"/>
                </a:moveTo>
                <a:lnTo>
                  <a:pt x="0" y="140"/>
                </a:lnTo>
                <a:cubicBezTo>
                  <a:pt x="0" y="121"/>
                  <a:pt x="3" y="103"/>
                  <a:pt x="8" y="86"/>
                </a:cubicBezTo>
                <a:cubicBezTo>
                  <a:pt x="13" y="69"/>
                  <a:pt x="20" y="54"/>
                  <a:pt x="30" y="41"/>
                </a:cubicBezTo>
                <a:cubicBezTo>
                  <a:pt x="39" y="28"/>
                  <a:pt x="50" y="18"/>
                  <a:pt x="63" y="10"/>
                </a:cubicBezTo>
                <a:cubicBezTo>
                  <a:pt x="75" y="3"/>
                  <a:pt x="88" y="0"/>
                  <a:pt x="102" y="0"/>
                </a:cubicBezTo>
                <a:lnTo>
                  <a:pt x="32716" y="0"/>
                </a:lnTo>
                <a:cubicBezTo>
                  <a:pt x="32725" y="0"/>
                  <a:pt x="32735" y="1"/>
                  <a:pt x="32744" y="3"/>
                </a:cubicBezTo>
                <a:cubicBezTo>
                  <a:pt x="32753" y="4"/>
                  <a:pt x="32761" y="7"/>
                  <a:pt x="32770" y="10"/>
                </a:cubicBezTo>
                <a:cubicBezTo>
                  <a:pt x="32778" y="14"/>
                  <a:pt x="32786" y="18"/>
                  <a:pt x="32794" y="23"/>
                </a:cubicBezTo>
                <a:cubicBezTo>
                  <a:pt x="32802" y="28"/>
                  <a:pt x="32809" y="34"/>
                  <a:pt x="32815" y="41"/>
                </a:cubicBezTo>
                <a:cubicBezTo>
                  <a:pt x="32822" y="47"/>
                  <a:pt x="32827" y="54"/>
                  <a:pt x="32832" y="62"/>
                </a:cubicBezTo>
                <a:cubicBezTo>
                  <a:pt x="32838" y="70"/>
                  <a:pt x="32842" y="78"/>
                  <a:pt x="32845" y="86"/>
                </a:cubicBezTo>
                <a:cubicBezTo>
                  <a:pt x="32849" y="95"/>
                  <a:pt x="32852" y="103"/>
                  <a:pt x="32853" y="112"/>
                </a:cubicBezTo>
                <a:cubicBezTo>
                  <a:pt x="32855" y="121"/>
                  <a:pt x="32856" y="130"/>
                  <a:pt x="32856" y="140"/>
                </a:cubicBezTo>
                <a:lnTo>
                  <a:pt x="32856" y="1538"/>
                </a:lnTo>
                <a:cubicBezTo>
                  <a:pt x="32856" y="1547"/>
                  <a:pt x="32855" y="1556"/>
                  <a:pt x="32853" y="1565"/>
                </a:cubicBezTo>
                <a:cubicBezTo>
                  <a:pt x="32852" y="1574"/>
                  <a:pt x="32849" y="1583"/>
                  <a:pt x="32845" y="1591"/>
                </a:cubicBezTo>
                <a:cubicBezTo>
                  <a:pt x="32842" y="1599"/>
                  <a:pt x="32838" y="1608"/>
                  <a:pt x="32832" y="1615"/>
                </a:cubicBezTo>
                <a:cubicBezTo>
                  <a:pt x="32827" y="1623"/>
                  <a:pt x="32822" y="1630"/>
                  <a:pt x="32815" y="1636"/>
                </a:cubicBezTo>
                <a:cubicBezTo>
                  <a:pt x="32809" y="1643"/>
                  <a:pt x="32802" y="1649"/>
                  <a:pt x="32794" y="1654"/>
                </a:cubicBezTo>
                <a:cubicBezTo>
                  <a:pt x="32786" y="1659"/>
                  <a:pt x="32778" y="1663"/>
                  <a:pt x="32770" y="1667"/>
                </a:cubicBezTo>
                <a:cubicBezTo>
                  <a:pt x="32761" y="1670"/>
                  <a:pt x="32753" y="1673"/>
                  <a:pt x="32744" y="1675"/>
                </a:cubicBezTo>
                <a:cubicBezTo>
                  <a:pt x="32735" y="1676"/>
                  <a:pt x="32725" y="1677"/>
                  <a:pt x="32716" y="1677"/>
                </a:cubicBezTo>
                <a:lnTo>
                  <a:pt x="102" y="1677"/>
                </a:lnTo>
                <a:cubicBezTo>
                  <a:pt x="88" y="1677"/>
                  <a:pt x="75" y="1674"/>
                  <a:pt x="63" y="1667"/>
                </a:cubicBezTo>
                <a:cubicBezTo>
                  <a:pt x="50" y="1660"/>
                  <a:pt x="39" y="1649"/>
                  <a:pt x="30" y="1636"/>
                </a:cubicBezTo>
                <a:cubicBezTo>
                  <a:pt x="20" y="1623"/>
                  <a:pt x="13" y="1608"/>
                  <a:pt x="8" y="1591"/>
                </a:cubicBezTo>
                <a:cubicBezTo>
                  <a:pt x="3" y="1574"/>
                  <a:pt x="0" y="1556"/>
                  <a:pt x="0" y="153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4" name=""/>
          <p:cNvSpPr/>
          <p:nvPr/>
        </p:nvSpPr>
        <p:spPr>
          <a:xfrm>
            <a:off x="980640" y="1424160"/>
            <a:ext cx="11780640" cy="23040"/>
          </a:xfrm>
          <a:custGeom>
            <a:avLst/>
            <a:gdLst/>
            <a:ahLst/>
            <a:rect l="0" t="0" r="r" b="b"/>
            <a:pathLst>
              <a:path w="32724" h="64">
                <a:moveTo>
                  <a:pt x="32699" y="64"/>
                </a:moveTo>
                <a:lnTo>
                  <a:pt x="219" y="64"/>
                </a:lnTo>
                <a:lnTo>
                  <a:pt x="0" y="8"/>
                </a:lnTo>
                <a:cubicBezTo>
                  <a:pt x="6" y="2"/>
                  <a:pt x="12" y="0"/>
                  <a:pt x="19" y="0"/>
                </a:cubicBezTo>
                <a:lnTo>
                  <a:pt x="32633" y="0"/>
                </a:lnTo>
                <a:cubicBezTo>
                  <a:pt x="32668" y="0"/>
                  <a:pt x="32698" y="12"/>
                  <a:pt x="32723" y="37"/>
                </a:cubicBezTo>
                <a:cubicBezTo>
                  <a:pt x="32724" y="37"/>
                  <a:pt x="32724" y="38"/>
                  <a:pt x="32724" y="38"/>
                </a:cubicBezTo>
                <a:lnTo>
                  <a:pt x="32699" y="64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5" name=""/>
          <p:cNvSpPr/>
          <p:nvPr/>
        </p:nvSpPr>
        <p:spPr>
          <a:xfrm>
            <a:off x="980640" y="1995480"/>
            <a:ext cx="11780640" cy="23400"/>
          </a:xfrm>
          <a:custGeom>
            <a:avLst/>
            <a:gdLst/>
            <a:ahLst/>
            <a:rect l="0" t="0" r="r" b="b"/>
            <a:pathLst>
              <a:path w="32724" h="65">
                <a:moveTo>
                  <a:pt x="219" y="0"/>
                </a:moveTo>
                <a:lnTo>
                  <a:pt x="32699" y="0"/>
                </a:lnTo>
                <a:lnTo>
                  <a:pt x="32724" y="25"/>
                </a:lnTo>
                <a:cubicBezTo>
                  <a:pt x="32724" y="26"/>
                  <a:pt x="32724" y="26"/>
                  <a:pt x="32723" y="26"/>
                </a:cubicBezTo>
                <a:cubicBezTo>
                  <a:pt x="32698" y="52"/>
                  <a:pt x="32668" y="65"/>
                  <a:pt x="32633" y="65"/>
                </a:cubicBezTo>
                <a:lnTo>
                  <a:pt x="19" y="65"/>
                </a:lnTo>
                <a:cubicBezTo>
                  <a:pt x="12" y="65"/>
                  <a:pt x="6" y="62"/>
                  <a:pt x="0" y="56"/>
                </a:cubicBezTo>
                <a:lnTo>
                  <a:pt x="219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6" name=""/>
          <p:cNvSpPr/>
          <p:nvPr/>
        </p:nvSpPr>
        <p:spPr>
          <a:xfrm>
            <a:off x="12751200" y="1437480"/>
            <a:ext cx="23040" cy="567720"/>
          </a:xfrm>
          <a:custGeom>
            <a:avLst/>
            <a:gdLst/>
            <a:ahLst/>
            <a:rect l="0" t="0" r="r" b="b"/>
            <a:pathLst>
              <a:path w="64" h="1577">
                <a:moveTo>
                  <a:pt x="0" y="1551"/>
                </a:moveTo>
                <a:lnTo>
                  <a:pt x="0" y="26"/>
                </a:lnTo>
                <a:lnTo>
                  <a:pt x="27" y="0"/>
                </a:lnTo>
                <a:cubicBezTo>
                  <a:pt x="52" y="25"/>
                  <a:pt x="64" y="54"/>
                  <a:pt x="64" y="90"/>
                </a:cubicBezTo>
                <a:lnTo>
                  <a:pt x="64" y="1487"/>
                </a:lnTo>
                <a:cubicBezTo>
                  <a:pt x="64" y="1522"/>
                  <a:pt x="52" y="1553"/>
                  <a:pt x="27" y="1577"/>
                </a:cubicBezTo>
                <a:lnTo>
                  <a:pt x="0" y="1551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7" name=""/>
          <p:cNvSpPr/>
          <p:nvPr/>
        </p:nvSpPr>
        <p:spPr>
          <a:xfrm>
            <a:off x="969120" y="1427040"/>
            <a:ext cx="16920" cy="588600"/>
          </a:xfrm>
          <a:custGeom>
            <a:avLst/>
            <a:gdLst/>
            <a:ahLst/>
            <a:rect l="0" t="0" r="r" b="b"/>
            <a:pathLst>
              <a:path w="47" h="1635">
                <a:moveTo>
                  <a:pt x="47" y="3"/>
                </a:moveTo>
                <a:lnTo>
                  <a:pt x="47" y="1632"/>
                </a:lnTo>
                <a:lnTo>
                  <a:pt x="32" y="1635"/>
                </a:lnTo>
                <a:cubicBezTo>
                  <a:pt x="26" y="1629"/>
                  <a:pt x="20" y="1620"/>
                  <a:pt x="15" y="1606"/>
                </a:cubicBezTo>
                <a:cubicBezTo>
                  <a:pt x="5" y="1582"/>
                  <a:pt x="0" y="1552"/>
                  <a:pt x="0" y="1517"/>
                </a:cubicBezTo>
                <a:lnTo>
                  <a:pt x="0" y="119"/>
                </a:lnTo>
                <a:cubicBezTo>
                  <a:pt x="0" y="83"/>
                  <a:pt x="5" y="54"/>
                  <a:pt x="15" y="29"/>
                </a:cubicBezTo>
                <a:cubicBezTo>
                  <a:pt x="20" y="16"/>
                  <a:pt x="26" y="6"/>
                  <a:pt x="32" y="0"/>
                </a:cubicBezTo>
                <a:lnTo>
                  <a:pt x="47" y="3"/>
                </a:lnTo>
                <a:close/>
              </a:path>
            </a:pathLst>
          </a:custGeom>
          <a:solidFill>
            <a:srgbClr val="1a3d6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8" name=""/>
          <p:cNvSpPr txBox="1"/>
          <p:nvPr/>
        </p:nvSpPr>
        <p:spPr>
          <a:xfrm>
            <a:off x="932760" y="802080"/>
            <a:ext cx="527832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2760" strike="noStrike" u="none">
                <a:solidFill>
                  <a:srgbClr val="0a0a0a"/>
                </a:solidFill>
                <a:effectLst/>
                <a:uFillTx/>
                <a:latin typeface="Fraunces-Regular_opsz266666_wght2580000"/>
                <a:ea typeface="Fraunces-Regular_opsz266666_wght2580000"/>
              </a:rPr>
              <a:t>How each experiment runs.</a:t>
            </a:r>
            <a:endParaRPr b="0" lang="en-IN" sz="27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9" name=""/>
          <p:cNvSpPr txBox="1"/>
          <p:nvPr/>
        </p:nvSpPr>
        <p:spPr>
          <a:xfrm>
            <a:off x="1130040" y="1683360"/>
            <a:ext cx="74988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750" strike="noStrike" u="none">
                <a:solidFill>
                  <a:srgbClr val="1a3d6e"/>
                </a:solidFill>
                <a:effectLst/>
                <a:uFillTx/>
                <a:latin typeface="JetBrainsMono-Regular_wght2580000"/>
                <a:ea typeface="JetBrainsMono-Regular_wght2580000"/>
              </a:rPr>
              <a:t>STABILITY · B</a:t>
            </a:r>
            <a:endParaRPr b="0" lang="en-IN" sz="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0" name=""/>
          <p:cNvSpPr txBox="1"/>
          <p:nvPr/>
        </p:nvSpPr>
        <p:spPr>
          <a:xfrm>
            <a:off x="2476080" y="1558080"/>
            <a:ext cx="1163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For each item: judge it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1" name=""/>
          <p:cNvSpPr txBox="1"/>
          <p:nvPr/>
        </p:nvSpPr>
        <p:spPr>
          <a:xfrm>
            <a:off x="3649320" y="1554480"/>
            <a:ext cx="3499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900" strike="noStrike" u="none">
                <a:solidFill>
                  <a:srgbClr val="0a0a0a"/>
                </a:solidFill>
                <a:effectLst/>
                <a:uFillTx/>
                <a:latin typeface="Inter-Regular_Semi"/>
                <a:ea typeface="Inter-Regular_Semi"/>
              </a:rPr>
              <a:t>twice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2" name=""/>
          <p:cNvSpPr txBox="1"/>
          <p:nvPr/>
        </p:nvSpPr>
        <p:spPr>
          <a:xfrm>
            <a:off x="3944160" y="1558080"/>
            <a:ext cx="121392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 with the same memory.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3" name=""/>
          <p:cNvSpPr txBox="1"/>
          <p:nvPr/>
        </p:nvSpPr>
        <p:spPr>
          <a:xfrm>
            <a:off x="2506680" y="1722960"/>
            <a:ext cx="4899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20" strike="noStrike" u="none">
                <a:solidFill>
                  <a:srgbClr val="8b1538"/>
                </a:solidFill>
                <a:effectLst/>
                <a:uFillTx/>
                <a:latin typeface="Inter"/>
                <a:ea typeface="Inter"/>
              </a:rPr>
              <a:t>Measure:</a:t>
            </a:r>
            <a:endParaRPr b="0" lang="en-IN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4" name=""/>
          <p:cNvSpPr/>
          <p:nvPr/>
        </p:nvSpPr>
        <p:spPr>
          <a:xfrm>
            <a:off x="950760" y="2123640"/>
            <a:ext cx="11828160" cy="603720"/>
          </a:xfrm>
          <a:custGeom>
            <a:avLst/>
            <a:gdLst/>
            <a:ahLst/>
            <a:rect l="0" t="0" r="r" b="b"/>
            <a:pathLst>
              <a:path w="32856" h="1677">
                <a:moveTo>
                  <a:pt x="0" y="1536"/>
                </a:moveTo>
                <a:lnTo>
                  <a:pt x="0" y="139"/>
                </a:lnTo>
                <a:cubicBezTo>
                  <a:pt x="0" y="121"/>
                  <a:pt x="3" y="103"/>
                  <a:pt x="8" y="86"/>
                </a:cubicBezTo>
                <a:cubicBezTo>
                  <a:pt x="13" y="69"/>
                  <a:pt x="20" y="54"/>
                  <a:pt x="30" y="41"/>
                </a:cubicBezTo>
                <a:cubicBezTo>
                  <a:pt x="39" y="27"/>
                  <a:pt x="50" y="17"/>
                  <a:pt x="63" y="10"/>
                </a:cubicBezTo>
                <a:cubicBezTo>
                  <a:pt x="75" y="3"/>
                  <a:pt x="88" y="0"/>
                  <a:pt x="102" y="0"/>
                </a:cubicBezTo>
                <a:lnTo>
                  <a:pt x="32716" y="0"/>
                </a:lnTo>
                <a:cubicBezTo>
                  <a:pt x="32725" y="0"/>
                  <a:pt x="32735" y="1"/>
                  <a:pt x="32744" y="2"/>
                </a:cubicBezTo>
                <a:cubicBezTo>
                  <a:pt x="32753" y="4"/>
                  <a:pt x="32761" y="7"/>
                  <a:pt x="32770" y="10"/>
                </a:cubicBezTo>
                <a:cubicBezTo>
                  <a:pt x="32778" y="14"/>
                  <a:pt x="32786" y="18"/>
                  <a:pt x="32794" y="23"/>
                </a:cubicBezTo>
                <a:cubicBezTo>
                  <a:pt x="32802" y="28"/>
                  <a:pt x="32809" y="34"/>
                  <a:pt x="32815" y="41"/>
                </a:cubicBezTo>
                <a:cubicBezTo>
                  <a:pt x="32822" y="47"/>
                  <a:pt x="32827" y="54"/>
                  <a:pt x="32832" y="62"/>
                </a:cubicBezTo>
                <a:cubicBezTo>
                  <a:pt x="32838" y="69"/>
                  <a:pt x="32842" y="77"/>
                  <a:pt x="32845" y="86"/>
                </a:cubicBezTo>
                <a:cubicBezTo>
                  <a:pt x="32849" y="94"/>
                  <a:pt x="32852" y="103"/>
                  <a:pt x="32853" y="112"/>
                </a:cubicBezTo>
                <a:cubicBezTo>
                  <a:pt x="32855" y="121"/>
                  <a:pt x="32856" y="130"/>
                  <a:pt x="32856" y="139"/>
                </a:cubicBezTo>
                <a:lnTo>
                  <a:pt x="32856" y="1536"/>
                </a:lnTo>
                <a:cubicBezTo>
                  <a:pt x="32856" y="1546"/>
                  <a:pt x="32855" y="1555"/>
                  <a:pt x="32853" y="1564"/>
                </a:cubicBezTo>
                <a:cubicBezTo>
                  <a:pt x="32852" y="1573"/>
                  <a:pt x="32849" y="1581"/>
                  <a:pt x="32845" y="1590"/>
                </a:cubicBezTo>
                <a:cubicBezTo>
                  <a:pt x="32842" y="1598"/>
                  <a:pt x="32838" y="1606"/>
                  <a:pt x="32832" y="1614"/>
                </a:cubicBezTo>
                <a:cubicBezTo>
                  <a:pt x="32827" y="1622"/>
                  <a:pt x="32822" y="1629"/>
                  <a:pt x="32815" y="1635"/>
                </a:cubicBezTo>
                <a:cubicBezTo>
                  <a:pt x="32809" y="1642"/>
                  <a:pt x="32802" y="1648"/>
                  <a:pt x="32794" y="1654"/>
                </a:cubicBezTo>
                <a:cubicBezTo>
                  <a:pt x="32786" y="1659"/>
                  <a:pt x="32778" y="1663"/>
                  <a:pt x="32770" y="1666"/>
                </a:cubicBezTo>
                <a:cubicBezTo>
                  <a:pt x="32761" y="1670"/>
                  <a:pt x="32753" y="1673"/>
                  <a:pt x="32744" y="1674"/>
                </a:cubicBezTo>
                <a:cubicBezTo>
                  <a:pt x="32735" y="1676"/>
                  <a:pt x="32725" y="1677"/>
                  <a:pt x="32716" y="1677"/>
                </a:cubicBezTo>
                <a:lnTo>
                  <a:pt x="102" y="1677"/>
                </a:lnTo>
                <a:cubicBezTo>
                  <a:pt x="88" y="1677"/>
                  <a:pt x="75" y="1674"/>
                  <a:pt x="63" y="1666"/>
                </a:cubicBezTo>
                <a:cubicBezTo>
                  <a:pt x="50" y="1659"/>
                  <a:pt x="39" y="1649"/>
                  <a:pt x="30" y="1635"/>
                </a:cubicBezTo>
                <a:cubicBezTo>
                  <a:pt x="20" y="1622"/>
                  <a:pt x="13" y="1607"/>
                  <a:pt x="8" y="1590"/>
                </a:cubicBezTo>
                <a:cubicBezTo>
                  <a:pt x="3" y="1573"/>
                  <a:pt x="0" y="1555"/>
                  <a:pt x="0" y="153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5" name=""/>
          <p:cNvSpPr/>
          <p:nvPr/>
        </p:nvSpPr>
        <p:spPr>
          <a:xfrm>
            <a:off x="980640" y="2127960"/>
            <a:ext cx="11780640" cy="23400"/>
          </a:xfrm>
          <a:custGeom>
            <a:avLst/>
            <a:gdLst/>
            <a:ahLst/>
            <a:rect l="0" t="0" r="r" b="b"/>
            <a:pathLst>
              <a:path w="32724" h="65">
                <a:moveTo>
                  <a:pt x="32699" y="65"/>
                </a:moveTo>
                <a:lnTo>
                  <a:pt x="219" y="65"/>
                </a:lnTo>
                <a:lnTo>
                  <a:pt x="0" y="9"/>
                </a:lnTo>
                <a:cubicBezTo>
                  <a:pt x="6" y="3"/>
                  <a:pt x="12" y="0"/>
                  <a:pt x="19" y="0"/>
                </a:cubicBezTo>
                <a:lnTo>
                  <a:pt x="32633" y="0"/>
                </a:lnTo>
                <a:cubicBezTo>
                  <a:pt x="32668" y="0"/>
                  <a:pt x="32698" y="13"/>
                  <a:pt x="32723" y="38"/>
                </a:cubicBezTo>
                <a:cubicBezTo>
                  <a:pt x="32724" y="38"/>
                  <a:pt x="32724" y="38"/>
                  <a:pt x="32724" y="39"/>
                </a:cubicBezTo>
                <a:lnTo>
                  <a:pt x="32699" y="65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6" name=""/>
          <p:cNvSpPr/>
          <p:nvPr/>
        </p:nvSpPr>
        <p:spPr>
          <a:xfrm>
            <a:off x="980640" y="2699640"/>
            <a:ext cx="11780640" cy="23040"/>
          </a:xfrm>
          <a:custGeom>
            <a:avLst/>
            <a:gdLst/>
            <a:ahLst/>
            <a:rect l="0" t="0" r="r" b="b"/>
            <a:pathLst>
              <a:path w="32724" h="64">
                <a:moveTo>
                  <a:pt x="219" y="0"/>
                </a:moveTo>
                <a:lnTo>
                  <a:pt x="32699" y="0"/>
                </a:lnTo>
                <a:lnTo>
                  <a:pt x="32724" y="25"/>
                </a:lnTo>
                <a:cubicBezTo>
                  <a:pt x="32724" y="25"/>
                  <a:pt x="32724" y="26"/>
                  <a:pt x="32723" y="26"/>
                </a:cubicBezTo>
                <a:cubicBezTo>
                  <a:pt x="32698" y="52"/>
                  <a:pt x="32668" y="64"/>
                  <a:pt x="32633" y="64"/>
                </a:cubicBezTo>
                <a:lnTo>
                  <a:pt x="19" y="64"/>
                </a:lnTo>
                <a:cubicBezTo>
                  <a:pt x="12" y="64"/>
                  <a:pt x="6" y="61"/>
                  <a:pt x="0" y="56"/>
                </a:cubicBezTo>
                <a:lnTo>
                  <a:pt x="219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7" name=""/>
          <p:cNvSpPr/>
          <p:nvPr/>
        </p:nvSpPr>
        <p:spPr>
          <a:xfrm>
            <a:off x="12751200" y="2141640"/>
            <a:ext cx="23040" cy="567720"/>
          </a:xfrm>
          <a:custGeom>
            <a:avLst/>
            <a:gdLst/>
            <a:ahLst/>
            <a:rect l="0" t="0" r="r" b="b"/>
            <a:pathLst>
              <a:path w="64" h="1577">
                <a:moveTo>
                  <a:pt x="0" y="1551"/>
                </a:moveTo>
                <a:lnTo>
                  <a:pt x="0" y="26"/>
                </a:lnTo>
                <a:lnTo>
                  <a:pt x="27" y="0"/>
                </a:lnTo>
                <a:cubicBezTo>
                  <a:pt x="52" y="24"/>
                  <a:pt x="64" y="54"/>
                  <a:pt x="64" y="89"/>
                </a:cubicBezTo>
                <a:lnTo>
                  <a:pt x="64" y="1487"/>
                </a:lnTo>
                <a:cubicBezTo>
                  <a:pt x="64" y="1522"/>
                  <a:pt x="52" y="1552"/>
                  <a:pt x="27" y="1577"/>
                </a:cubicBezTo>
                <a:lnTo>
                  <a:pt x="0" y="1551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8" name=""/>
          <p:cNvSpPr/>
          <p:nvPr/>
        </p:nvSpPr>
        <p:spPr>
          <a:xfrm>
            <a:off x="969120" y="2130840"/>
            <a:ext cx="16920" cy="588960"/>
          </a:xfrm>
          <a:custGeom>
            <a:avLst/>
            <a:gdLst/>
            <a:ahLst/>
            <a:rect l="0" t="0" r="r" b="b"/>
            <a:pathLst>
              <a:path w="47" h="1636">
                <a:moveTo>
                  <a:pt x="47" y="4"/>
                </a:moveTo>
                <a:lnTo>
                  <a:pt x="47" y="1633"/>
                </a:lnTo>
                <a:lnTo>
                  <a:pt x="32" y="1636"/>
                </a:lnTo>
                <a:cubicBezTo>
                  <a:pt x="26" y="1630"/>
                  <a:pt x="20" y="1620"/>
                  <a:pt x="15" y="1607"/>
                </a:cubicBezTo>
                <a:cubicBezTo>
                  <a:pt x="5" y="1582"/>
                  <a:pt x="0" y="1552"/>
                  <a:pt x="0" y="1517"/>
                </a:cubicBezTo>
                <a:lnTo>
                  <a:pt x="0" y="119"/>
                </a:lnTo>
                <a:cubicBezTo>
                  <a:pt x="0" y="84"/>
                  <a:pt x="5" y="54"/>
                  <a:pt x="15" y="30"/>
                </a:cubicBezTo>
                <a:cubicBezTo>
                  <a:pt x="20" y="16"/>
                  <a:pt x="26" y="7"/>
                  <a:pt x="32" y="0"/>
                </a:cubicBezTo>
                <a:lnTo>
                  <a:pt x="47" y="4"/>
                </a:lnTo>
                <a:close/>
              </a:path>
            </a:pathLst>
          </a:custGeom>
          <a:solidFill>
            <a:srgbClr val="8b15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9" name=""/>
          <p:cNvSpPr txBox="1"/>
          <p:nvPr/>
        </p:nvSpPr>
        <p:spPr>
          <a:xfrm>
            <a:off x="2967480" y="1722960"/>
            <a:ext cx="423072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   agreement rate.   </a:t>
            </a:r>
            <a:r>
              <a:rPr b="0" lang="en-IN" sz="900" strike="noStrike" u="none">
                <a:solidFill>
                  <a:srgbClr val="6a6a66"/>
                </a:solidFill>
                <a:effectLst/>
                <a:uFillTx/>
                <a:latin typeface="Inter-Regular_"/>
                <a:ea typeface="Inter-Regular_"/>
              </a:rPr>
              <a:t>"Does the system give the same answer to the same question?"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0" name=""/>
          <p:cNvSpPr txBox="1"/>
          <p:nvPr/>
        </p:nvSpPr>
        <p:spPr>
          <a:xfrm>
            <a:off x="1130040" y="2378160"/>
            <a:ext cx="80748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75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LABEL-FLIP · C</a:t>
            </a:r>
            <a:endParaRPr b="0" lang="en-IN" sz="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1" name=""/>
          <p:cNvSpPr txBox="1"/>
          <p:nvPr/>
        </p:nvSpPr>
        <p:spPr>
          <a:xfrm>
            <a:off x="2476080" y="2253240"/>
            <a:ext cx="140472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For each item: generate an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2" name=""/>
          <p:cNvSpPr txBox="1"/>
          <p:nvPr/>
        </p:nvSpPr>
        <p:spPr>
          <a:xfrm>
            <a:off x="3918240" y="2253240"/>
            <a:ext cx="418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20" strike="noStrike" u="none">
                <a:solidFill>
                  <a:srgbClr val="8b1538"/>
                </a:solidFill>
                <a:effectLst/>
                <a:uFillTx/>
                <a:latin typeface="Inter"/>
                <a:ea typeface="Inter"/>
              </a:rPr>
              <a:t>inverted</a:t>
            </a:r>
            <a:endParaRPr b="0" lang="en-IN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3" name=""/>
          <p:cNvSpPr txBox="1"/>
          <p:nvPr/>
        </p:nvSpPr>
        <p:spPr>
          <a:xfrm>
            <a:off x="4315680" y="2253240"/>
            <a:ext cx="36792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 response (LLM rewrites it to clearly fail), then judge the inverted version.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4" name=""/>
          <p:cNvSpPr txBox="1"/>
          <p:nvPr/>
        </p:nvSpPr>
        <p:spPr>
          <a:xfrm>
            <a:off x="2506680" y="2417760"/>
            <a:ext cx="4899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20" strike="noStrike" u="none">
                <a:solidFill>
                  <a:srgbClr val="8b1538"/>
                </a:solidFill>
                <a:effectLst/>
                <a:uFillTx/>
                <a:latin typeface="Inter"/>
                <a:ea typeface="Inter"/>
              </a:rPr>
              <a:t>Measure:</a:t>
            </a:r>
            <a:endParaRPr b="0" lang="en-IN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5" name=""/>
          <p:cNvSpPr txBox="1"/>
          <p:nvPr/>
        </p:nvSpPr>
        <p:spPr>
          <a:xfrm>
            <a:off x="2967480" y="2417760"/>
            <a:ext cx="22179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   how often the verdict correctly flips PASS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6" name=""/>
          <p:cNvSpPr txBox="1"/>
          <p:nvPr/>
        </p:nvSpPr>
        <p:spPr>
          <a:xfrm>
            <a:off x="5216040" y="2429280"/>
            <a:ext cx="1152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7" name=""/>
          <p:cNvSpPr/>
          <p:nvPr/>
        </p:nvSpPr>
        <p:spPr>
          <a:xfrm>
            <a:off x="950760" y="2818440"/>
            <a:ext cx="11828160" cy="603720"/>
          </a:xfrm>
          <a:custGeom>
            <a:avLst/>
            <a:gdLst/>
            <a:ahLst/>
            <a:rect l="0" t="0" r="r" b="b"/>
            <a:pathLst>
              <a:path w="32856" h="1677">
                <a:moveTo>
                  <a:pt x="0" y="1538"/>
                </a:moveTo>
                <a:lnTo>
                  <a:pt x="0" y="140"/>
                </a:lnTo>
                <a:cubicBezTo>
                  <a:pt x="0" y="121"/>
                  <a:pt x="3" y="103"/>
                  <a:pt x="8" y="86"/>
                </a:cubicBezTo>
                <a:cubicBezTo>
                  <a:pt x="13" y="69"/>
                  <a:pt x="20" y="54"/>
                  <a:pt x="30" y="41"/>
                </a:cubicBezTo>
                <a:cubicBezTo>
                  <a:pt x="39" y="28"/>
                  <a:pt x="50" y="18"/>
                  <a:pt x="63" y="11"/>
                </a:cubicBezTo>
                <a:cubicBezTo>
                  <a:pt x="75" y="4"/>
                  <a:pt x="88" y="0"/>
                  <a:pt x="102" y="0"/>
                </a:cubicBezTo>
                <a:lnTo>
                  <a:pt x="32716" y="0"/>
                </a:lnTo>
                <a:cubicBezTo>
                  <a:pt x="32725" y="0"/>
                  <a:pt x="32735" y="1"/>
                  <a:pt x="32744" y="3"/>
                </a:cubicBezTo>
                <a:cubicBezTo>
                  <a:pt x="32753" y="5"/>
                  <a:pt x="32761" y="7"/>
                  <a:pt x="32770" y="11"/>
                </a:cubicBezTo>
                <a:cubicBezTo>
                  <a:pt x="32778" y="14"/>
                  <a:pt x="32786" y="18"/>
                  <a:pt x="32794" y="24"/>
                </a:cubicBezTo>
                <a:cubicBezTo>
                  <a:pt x="32802" y="29"/>
                  <a:pt x="32809" y="34"/>
                  <a:pt x="32815" y="41"/>
                </a:cubicBezTo>
                <a:cubicBezTo>
                  <a:pt x="32822" y="47"/>
                  <a:pt x="32827" y="55"/>
                  <a:pt x="32832" y="62"/>
                </a:cubicBezTo>
                <a:cubicBezTo>
                  <a:pt x="32838" y="70"/>
                  <a:pt x="32842" y="78"/>
                  <a:pt x="32845" y="86"/>
                </a:cubicBezTo>
                <a:cubicBezTo>
                  <a:pt x="32849" y="95"/>
                  <a:pt x="32852" y="103"/>
                  <a:pt x="32853" y="112"/>
                </a:cubicBezTo>
                <a:cubicBezTo>
                  <a:pt x="32855" y="121"/>
                  <a:pt x="32856" y="131"/>
                  <a:pt x="32856" y="140"/>
                </a:cubicBezTo>
                <a:lnTo>
                  <a:pt x="32856" y="1538"/>
                </a:lnTo>
                <a:cubicBezTo>
                  <a:pt x="32856" y="1547"/>
                  <a:pt x="32855" y="1556"/>
                  <a:pt x="32853" y="1565"/>
                </a:cubicBezTo>
                <a:cubicBezTo>
                  <a:pt x="32852" y="1574"/>
                  <a:pt x="32849" y="1583"/>
                  <a:pt x="32845" y="1591"/>
                </a:cubicBezTo>
                <a:cubicBezTo>
                  <a:pt x="32842" y="1600"/>
                  <a:pt x="32838" y="1608"/>
                  <a:pt x="32832" y="1615"/>
                </a:cubicBezTo>
                <a:cubicBezTo>
                  <a:pt x="32827" y="1623"/>
                  <a:pt x="32822" y="1630"/>
                  <a:pt x="32815" y="1637"/>
                </a:cubicBezTo>
                <a:cubicBezTo>
                  <a:pt x="32809" y="1643"/>
                  <a:pt x="32802" y="1649"/>
                  <a:pt x="32794" y="1654"/>
                </a:cubicBezTo>
                <a:cubicBezTo>
                  <a:pt x="32786" y="1659"/>
                  <a:pt x="32778" y="1663"/>
                  <a:pt x="32770" y="1667"/>
                </a:cubicBezTo>
                <a:cubicBezTo>
                  <a:pt x="32761" y="1670"/>
                  <a:pt x="32753" y="1673"/>
                  <a:pt x="32744" y="1675"/>
                </a:cubicBezTo>
                <a:cubicBezTo>
                  <a:pt x="32735" y="1677"/>
                  <a:pt x="32725" y="1677"/>
                  <a:pt x="32716" y="1677"/>
                </a:cubicBezTo>
                <a:lnTo>
                  <a:pt x="102" y="1677"/>
                </a:lnTo>
                <a:cubicBezTo>
                  <a:pt x="88" y="1677"/>
                  <a:pt x="75" y="1674"/>
                  <a:pt x="63" y="1667"/>
                </a:cubicBezTo>
                <a:cubicBezTo>
                  <a:pt x="50" y="1660"/>
                  <a:pt x="39" y="1650"/>
                  <a:pt x="30" y="1637"/>
                </a:cubicBezTo>
                <a:cubicBezTo>
                  <a:pt x="20" y="1623"/>
                  <a:pt x="13" y="1608"/>
                  <a:pt x="8" y="1591"/>
                </a:cubicBezTo>
                <a:cubicBezTo>
                  <a:pt x="3" y="1574"/>
                  <a:pt x="0" y="1556"/>
                  <a:pt x="0" y="153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8" name=""/>
          <p:cNvSpPr/>
          <p:nvPr/>
        </p:nvSpPr>
        <p:spPr>
          <a:xfrm>
            <a:off x="980640" y="2823120"/>
            <a:ext cx="11780640" cy="23040"/>
          </a:xfrm>
          <a:custGeom>
            <a:avLst/>
            <a:gdLst/>
            <a:ahLst/>
            <a:rect l="0" t="0" r="r" b="b"/>
            <a:pathLst>
              <a:path w="32724" h="64">
                <a:moveTo>
                  <a:pt x="32699" y="64"/>
                </a:moveTo>
                <a:lnTo>
                  <a:pt x="219" y="64"/>
                </a:lnTo>
                <a:lnTo>
                  <a:pt x="0" y="9"/>
                </a:lnTo>
                <a:cubicBezTo>
                  <a:pt x="6" y="4"/>
                  <a:pt x="12" y="0"/>
                  <a:pt x="19" y="0"/>
                </a:cubicBezTo>
                <a:lnTo>
                  <a:pt x="32633" y="0"/>
                </a:lnTo>
                <a:cubicBezTo>
                  <a:pt x="32668" y="0"/>
                  <a:pt x="32698" y="13"/>
                  <a:pt x="32723" y="38"/>
                </a:cubicBezTo>
                <a:cubicBezTo>
                  <a:pt x="32724" y="38"/>
                  <a:pt x="32724" y="39"/>
                  <a:pt x="32724" y="39"/>
                </a:cubicBezTo>
                <a:lnTo>
                  <a:pt x="32699" y="64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9" name=""/>
          <p:cNvSpPr/>
          <p:nvPr/>
        </p:nvSpPr>
        <p:spPr>
          <a:xfrm>
            <a:off x="980640" y="3394440"/>
            <a:ext cx="11780640" cy="23400"/>
          </a:xfrm>
          <a:custGeom>
            <a:avLst/>
            <a:gdLst/>
            <a:ahLst/>
            <a:rect l="0" t="0" r="r" b="b"/>
            <a:pathLst>
              <a:path w="32724" h="65">
                <a:moveTo>
                  <a:pt x="219" y="0"/>
                </a:moveTo>
                <a:lnTo>
                  <a:pt x="32699" y="0"/>
                </a:lnTo>
                <a:lnTo>
                  <a:pt x="32724" y="25"/>
                </a:lnTo>
                <a:cubicBezTo>
                  <a:pt x="32724" y="26"/>
                  <a:pt x="32724" y="26"/>
                  <a:pt x="32723" y="27"/>
                </a:cubicBezTo>
                <a:cubicBezTo>
                  <a:pt x="32698" y="51"/>
                  <a:pt x="32668" y="65"/>
                  <a:pt x="32633" y="65"/>
                </a:cubicBezTo>
                <a:lnTo>
                  <a:pt x="19" y="65"/>
                </a:lnTo>
                <a:cubicBezTo>
                  <a:pt x="12" y="65"/>
                  <a:pt x="6" y="62"/>
                  <a:pt x="0" y="56"/>
                </a:cubicBezTo>
                <a:lnTo>
                  <a:pt x="219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0" name=""/>
          <p:cNvSpPr/>
          <p:nvPr/>
        </p:nvSpPr>
        <p:spPr>
          <a:xfrm>
            <a:off x="12751200" y="2836440"/>
            <a:ext cx="23040" cy="568080"/>
          </a:xfrm>
          <a:custGeom>
            <a:avLst/>
            <a:gdLst/>
            <a:ahLst/>
            <a:rect l="0" t="0" r="r" b="b"/>
            <a:pathLst>
              <a:path w="64" h="1578">
                <a:moveTo>
                  <a:pt x="0" y="1551"/>
                </a:moveTo>
                <a:lnTo>
                  <a:pt x="0" y="26"/>
                </a:lnTo>
                <a:lnTo>
                  <a:pt x="27" y="0"/>
                </a:lnTo>
                <a:cubicBezTo>
                  <a:pt x="52" y="25"/>
                  <a:pt x="64" y="55"/>
                  <a:pt x="64" y="90"/>
                </a:cubicBezTo>
                <a:lnTo>
                  <a:pt x="64" y="1488"/>
                </a:lnTo>
                <a:cubicBezTo>
                  <a:pt x="64" y="1523"/>
                  <a:pt x="52" y="1553"/>
                  <a:pt x="27" y="1578"/>
                </a:cubicBezTo>
                <a:lnTo>
                  <a:pt x="0" y="1551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1" name=""/>
          <p:cNvSpPr/>
          <p:nvPr/>
        </p:nvSpPr>
        <p:spPr>
          <a:xfrm>
            <a:off x="969120" y="2826000"/>
            <a:ext cx="16920" cy="588960"/>
          </a:xfrm>
          <a:custGeom>
            <a:avLst/>
            <a:gdLst/>
            <a:ahLst/>
            <a:rect l="0" t="0" r="r" b="b"/>
            <a:pathLst>
              <a:path w="47" h="1636">
                <a:moveTo>
                  <a:pt x="47" y="3"/>
                </a:moveTo>
                <a:lnTo>
                  <a:pt x="47" y="1632"/>
                </a:lnTo>
                <a:lnTo>
                  <a:pt x="32" y="1636"/>
                </a:lnTo>
                <a:cubicBezTo>
                  <a:pt x="26" y="1629"/>
                  <a:pt x="20" y="1620"/>
                  <a:pt x="15" y="1607"/>
                </a:cubicBezTo>
                <a:cubicBezTo>
                  <a:pt x="5" y="1582"/>
                  <a:pt x="0" y="1552"/>
                  <a:pt x="0" y="1517"/>
                </a:cubicBezTo>
                <a:lnTo>
                  <a:pt x="0" y="119"/>
                </a:lnTo>
                <a:cubicBezTo>
                  <a:pt x="0" y="84"/>
                  <a:pt x="5" y="54"/>
                  <a:pt x="15" y="29"/>
                </a:cubicBezTo>
                <a:cubicBezTo>
                  <a:pt x="20" y="16"/>
                  <a:pt x="26" y="6"/>
                  <a:pt x="32" y="0"/>
                </a:cubicBezTo>
                <a:lnTo>
                  <a:pt x="47" y="3"/>
                </a:lnTo>
                <a:close/>
              </a:path>
            </a:pathLst>
          </a:custGeom>
          <a:solidFill>
            <a:srgbClr val="b886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2" name=""/>
          <p:cNvSpPr txBox="1"/>
          <p:nvPr/>
        </p:nvSpPr>
        <p:spPr>
          <a:xfrm>
            <a:off x="5328720" y="2417760"/>
            <a:ext cx="30564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 FAIL.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3" name=""/>
          <p:cNvSpPr txBox="1"/>
          <p:nvPr/>
        </p:nvSpPr>
        <p:spPr>
          <a:xfrm>
            <a:off x="1130040" y="3082320"/>
            <a:ext cx="63468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750" strike="noStrike" u="none">
                <a:solidFill>
                  <a:srgbClr val="b8860b"/>
                </a:solidFill>
                <a:effectLst/>
                <a:uFillTx/>
                <a:latin typeface="JetBrainsMono-Regular_wght2580000"/>
                <a:ea typeface="JetBrainsMono-Regular_wght2580000"/>
              </a:rPr>
              <a:t>DEFENSE · D</a:t>
            </a:r>
            <a:endParaRPr b="0" lang="en-IN" sz="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4" name=""/>
          <p:cNvSpPr txBox="1"/>
          <p:nvPr/>
        </p:nvSpPr>
        <p:spPr>
          <a:xfrm>
            <a:off x="2476080" y="2957400"/>
            <a:ext cx="3819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Build a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5" name=""/>
          <p:cNvSpPr txBox="1"/>
          <p:nvPr/>
        </p:nvSpPr>
        <p:spPr>
          <a:xfrm>
            <a:off x="2854440" y="2953440"/>
            <a:ext cx="14104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900" strike="noStrike" u="none">
                <a:solidFill>
                  <a:srgbClr val="0a0a0a"/>
                </a:solidFill>
                <a:effectLst/>
                <a:uFillTx/>
                <a:latin typeface="Inter-Regular_Semi"/>
                <a:ea typeface="Inter-Regular_Semi"/>
              </a:rPr>
              <a:t>50%-poisoned memory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6" name=""/>
          <p:cNvSpPr txBox="1"/>
          <p:nvPr/>
        </p:nvSpPr>
        <p:spPr>
          <a:xfrm>
            <a:off x="4136400" y="2957400"/>
            <a:ext cx="429552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. Compare two configurations: judge with the raw poisoned memory, vs. judge with a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7" name=""/>
          <p:cNvSpPr txBox="1"/>
          <p:nvPr/>
        </p:nvSpPr>
        <p:spPr>
          <a:xfrm>
            <a:off x="8577000" y="2957400"/>
            <a:ext cx="1233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20" strike="noStrike" u="none">
                <a:solidFill>
                  <a:srgbClr val="8b1538"/>
                </a:solidFill>
                <a:effectLst/>
                <a:uFillTx/>
                <a:latin typeface="Inter"/>
                <a:ea typeface="Inter"/>
              </a:rPr>
              <a:t>similarity-threshold filter</a:t>
            </a:r>
            <a:endParaRPr b="0" lang="en-IN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8" name=""/>
          <p:cNvSpPr txBox="1"/>
          <p:nvPr/>
        </p:nvSpPr>
        <p:spPr>
          <a:xfrm>
            <a:off x="9820440" y="2957400"/>
            <a:ext cx="14115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 applied on retrieved nodes.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9" name=""/>
          <p:cNvSpPr txBox="1"/>
          <p:nvPr/>
        </p:nvSpPr>
        <p:spPr>
          <a:xfrm>
            <a:off x="2506680" y="3121920"/>
            <a:ext cx="4899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20" strike="noStrike" u="none">
                <a:solidFill>
                  <a:srgbClr val="8b1538"/>
                </a:solidFill>
                <a:effectLst/>
                <a:uFillTx/>
                <a:latin typeface="Inter"/>
                <a:ea typeface="Inter"/>
              </a:rPr>
              <a:t>Measure:</a:t>
            </a:r>
            <a:endParaRPr b="0" lang="en-IN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0" name=""/>
          <p:cNvSpPr/>
          <p:nvPr/>
        </p:nvSpPr>
        <p:spPr>
          <a:xfrm>
            <a:off x="950760" y="3522600"/>
            <a:ext cx="11828160" cy="439200"/>
          </a:xfrm>
          <a:custGeom>
            <a:avLst/>
            <a:gdLst/>
            <a:ahLst/>
            <a:rect l="0" t="0" r="r" b="b"/>
            <a:pathLst>
              <a:path w="32856" h="1220">
                <a:moveTo>
                  <a:pt x="0" y="1080"/>
                </a:moveTo>
                <a:lnTo>
                  <a:pt x="0" y="140"/>
                </a:lnTo>
                <a:cubicBezTo>
                  <a:pt x="0" y="121"/>
                  <a:pt x="3" y="103"/>
                  <a:pt x="8" y="86"/>
                </a:cubicBezTo>
                <a:cubicBezTo>
                  <a:pt x="13" y="69"/>
                  <a:pt x="20" y="54"/>
                  <a:pt x="30" y="41"/>
                </a:cubicBezTo>
                <a:cubicBezTo>
                  <a:pt x="39" y="28"/>
                  <a:pt x="50" y="18"/>
                  <a:pt x="63" y="10"/>
                </a:cubicBezTo>
                <a:cubicBezTo>
                  <a:pt x="75" y="3"/>
                  <a:pt x="88" y="0"/>
                  <a:pt x="102" y="0"/>
                </a:cubicBezTo>
                <a:lnTo>
                  <a:pt x="32716" y="0"/>
                </a:lnTo>
                <a:cubicBezTo>
                  <a:pt x="32725" y="0"/>
                  <a:pt x="32735" y="1"/>
                  <a:pt x="32744" y="3"/>
                </a:cubicBezTo>
                <a:cubicBezTo>
                  <a:pt x="32753" y="4"/>
                  <a:pt x="32761" y="7"/>
                  <a:pt x="32770" y="10"/>
                </a:cubicBezTo>
                <a:cubicBezTo>
                  <a:pt x="32778" y="14"/>
                  <a:pt x="32786" y="18"/>
                  <a:pt x="32794" y="23"/>
                </a:cubicBezTo>
                <a:cubicBezTo>
                  <a:pt x="32802" y="28"/>
                  <a:pt x="32809" y="34"/>
                  <a:pt x="32815" y="41"/>
                </a:cubicBezTo>
                <a:cubicBezTo>
                  <a:pt x="32822" y="47"/>
                  <a:pt x="32827" y="54"/>
                  <a:pt x="32832" y="62"/>
                </a:cubicBezTo>
                <a:cubicBezTo>
                  <a:pt x="32838" y="70"/>
                  <a:pt x="32842" y="78"/>
                  <a:pt x="32845" y="86"/>
                </a:cubicBezTo>
                <a:cubicBezTo>
                  <a:pt x="32849" y="95"/>
                  <a:pt x="32852" y="103"/>
                  <a:pt x="32853" y="112"/>
                </a:cubicBezTo>
                <a:cubicBezTo>
                  <a:pt x="32855" y="121"/>
                  <a:pt x="32856" y="130"/>
                  <a:pt x="32856" y="140"/>
                </a:cubicBezTo>
                <a:lnTo>
                  <a:pt x="32856" y="1080"/>
                </a:lnTo>
                <a:cubicBezTo>
                  <a:pt x="32856" y="1090"/>
                  <a:pt x="32855" y="1099"/>
                  <a:pt x="32853" y="1108"/>
                </a:cubicBezTo>
                <a:cubicBezTo>
                  <a:pt x="32852" y="1117"/>
                  <a:pt x="32849" y="1125"/>
                  <a:pt x="32845" y="1134"/>
                </a:cubicBezTo>
                <a:cubicBezTo>
                  <a:pt x="32842" y="1142"/>
                  <a:pt x="32838" y="1150"/>
                  <a:pt x="32832" y="1158"/>
                </a:cubicBezTo>
                <a:cubicBezTo>
                  <a:pt x="32827" y="1166"/>
                  <a:pt x="32822" y="1173"/>
                  <a:pt x="32815" y="1179"/>
                </a:cubicBezTo>
                <a:cubicBezTo>
                  <a:pt x="32809" y="1186"/>
                  <a:pt x="32802" y="1191"/>
                  <a:pt x="32794" y="1197"/>
                </a:cubicBezTo>
                <a:cubicBezTo>
                  <a:pt x="32786" y="1202"/>
                  <a:pt x="32778" y="1206"/>
                  <a:pt x="32770" y="1209"/>
                </a:cubicBezTo>
                <a:cubicBezTo>
                  <a:pt x="32761" y="1213"/>
                  <a:pt x="32753" y="1216"/>
                  <a:pt x="32744" y="1217"/>
                </a:cubicBezTo>
                <a:cubicBezTo>
                  <a:pt x="32735" y="1219"/>
                  <a:pt x="32725" y="1220"/>
                  <a:pt x="32716" y="1220"/>
                </a:cubicBezTo>
                <a:lnTo>
                  <a:pt x="102" y="1220"/>
                </a:lnTo>
                <a:cubicBezTo>
                  <a:pt x="88" y="1220"/>
                  <a:pt x="75" y="1217"/>
                  <a:pt x="63" y="1209"/>
                </a:cubicBezTo>
                <a:cubicBezTo>
                  <a:pt x="50" y="1202"/>
                  <a:pt x="39" y="1192"/>
                  <a:pt x="30" y="1179"/>
                </a:cubicBezTo>
                <a:cubicBezTo>
                  <a:pt x="20" y="1166"/>
                  <a:pt x="13" y="1151"/>
                  <a:pt x="8" y="1134"/>
                </a:cubicBezTo>
                <a:cubicBezTo>
                  <a:pt x="3" y="1117"/>
                  <a:pt x="0" y="1099"/>
                  <a:pt x="0" y="108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1" name=""/>
          <p:cNvSpPr/>
          <p:nvPr/>
        </p:nvSpPr>
        <p:spPr>
          <a:xfrm>
            <a:off x="980640" y="3527280"/>
            <a:ext cx="11780640" cy="23040"/>
          </a:xfrm>
          <a:custGeom>
            <a:avLst/>
            <a:gdLst/>
            <a:ahLst/>
            <a:rect l="0" t="0" r="r" b="b"/>
            <a:pathLst>
              <a:path w="32724" h="64">
                <a:moveTo>
                  <a:pt x="32699" y="64"/>
                </a:moveTo>
                <a:lnTo>
                  <a:pt x="219" y="64"/>
                </a:lnTo>
                <a:lnTo>
                  <a:pt x="0" y="8"/>
                </a:lnTo>
                <a:cubicBezTo>
                  <a:pt x="6" y="2"/>
                  <a:pt x="12" y="0"/>
                  <a:pt x="19" y="0"/>
                </a:cubicBezTo>
                <a:lnTo>
                  <a:pt x="32633" y="0"/>
                </a:lnTo>
                <a:cubicBezTo>
                  <a:pt x="32668" y="0"/>
                  <a:pt x="32698" y="12"/>
                  <a:pt x="32723" y="37"/>
                </a:cubicBezTo>
                <a:cubicBezTo>
                  <a:pt x="32724" y="37"/>
                  <a:pt x="32724" y="38"/>
                  <a:pt x="32724" y="38"/>
                </a:cubicBezTo>
                <a:lnTo>
                  <a:pt x="32699" y="64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2" name=""/>
          <p:cNvSpPr/>
          <p:nvPr/>
        </p:nvSpPr>
        <p:spPr>
          <a:xfrm>
            <a:off x="980640" y="3934080"/>
            <a:ext cx="11780640" cy="23040"/>
          </a:xfrm>
          <a:custGeom>
            <a:avLst/>
            <a:gdLst/>
            <a:ahLst/>
            <a:rect l="0" t="0" r="r" b="b"/>
            <a:pathLst>
              <a:path w="32724" h="64">
                <a:moveTo>
                  <a:pt x="219" y="0"/>
                </a:moveTo>
                <a:lnTo>
                  <a:pt x="32699" y="0"/>
                </a:lnTo>
                <a:lnTo>
                  <a:pt x="32724" y="26"/>
                </a:lnTo>
                <a:cubicBezTo>
                  <a:pt x="32724" y="26"/>
                  <a:pt x="32724" y="27"/>
                  <a:pt x="32723" y="27"/>
                </a:cubicBezTo>
                <a:cubicBezTo>
                  <a:pt x="32698" y="52"/>
                  <a:pt x="32668" y="64"/>
                  <a:pt x="32633" y="64"/>
                </a:cubicBezTo>
                <a:lnTo>
                  <a:pt x="19" y="64"/>
                </a:lnTo>
                <a:cubicBezTo>
                  <a:pt x="12" y="64"/>
                  <a:pt x="6" y="61"/>
                  <a:pt x="0" y="56"/>
                </a:cubicBezTo>
                <a:lnTo>
                  <a:pt x="219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3" name=""/>
          <p:cNvSpPr/>
          <p:nvPr/>
        </p:nvSpPr>
        <p:spPr>
          <a:xfrm>
            <a:off x="12751200" y="3540600"/>
            <a:ext cx="23040" cy="403200"/>
          </a:xfrm>
          <a:custGeom>
            <a:avLst/>
            <a:gdLst/>
            <a:ahLst/>
            <a:rect l="0" t="0" r="r" b="b"/>
            <a:pathLst>
              <a:path w="64" h="1120">
                <a:moveTo>
                  <a:pt x="0" y="1094"/>
                </a:moveTo>
                <a:lnTo>
                  <a:pt x="0" y="26"/>
                </a:lnTo>
                <a:lnTo>
                  <a:pt x="27" y="0"/>
                </a:lnTo>
                <a:cubicBezTo>
                  <a:pt x="52" y="25"/>
                  <a:pt x="64" y="54"/>
                  <a:pt x="64" y="90"/>
                </a:cubicBezTo>
                <a:lnTo>
                  <a:pt x="64" y="1030"/>
                </a:lnTo>
                <a:cubicBezTo>
                  <a:pt x="64" y="1065"/>
                  <a:pt x="52" y="1095"/>
                  <a:pt x="27" y="1120"/>
                </a:cubicBezTo>
                <a:lnTo>
                  <a:pt x="0" y="1094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4" name=""/>
          <p:cNvSpPr/>
          <p:nvPr/>
        </p:nvSpPr>
        <p:spPr>
          <a:xfrm>
            <a:off x="969120" y="3530160"/>
            <a:ext cx="16920" cy="424080"/>
          </a:xfrm>
          <a:custGeom>
            <a:avLst/>
            <a:gdLst/>
            <a:ahLst/>
            <a:rect l="0" t="0" r="r" b="b"/>
            <a:pathLst>
              <a:path w="47" h="1178">
                <a:moveTo>
                  <a:pt x="47" y="3"/>
                </a:moveTo>
                <a:lnTo>
                  <a:pt x="47" y="1175"/>
                </a:lnTo>
                <a:lnTo>
                  <a:pt x="32" y="1178"/>
                </a:lnTo>
                <a:cubicBezTo>
                  <a:pt x="26" y="1172"/>
                  <a:pt x="20" y="1162"/>
                  <a:pt x="15" y="1149"/>
                </a:cubicBezTo>
                <a:cubicBezTo>
                  <a:pt x="5" y="1124"/>
                  <a:pt x="0" y="1094"/>
                  <a:pt x="0" y="1059"/>
                </a:cubicBezTo>
                <a:lnTo>
                  <a:pt x="0" y="119"/>
                </a:lnTo>
                <a:cubicBezTo>
                  <a:pt x="0" y="83"/>
                  <a:pt x="5" y="54"/>
                  <a:pt x="15" y="29"/>
                </a:cubicBezTo>
                <a:cubicBezTo>
                  <a:pt x="20" y="16"/>
                  <a:pt x="26" y="6"/>
                  <a:pt x="32" y="0"/>
                </a:cubicBezTo>
                <a:lnTo>
                  <a:pt x="47" y="3"/>
                </a:lnTo>
                <a:close/>
              </a:path>
            </a:pathLst>
          </a:custGeom>
          <a:solidFill>
            <a:srgbClr val="1f7a3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5" name=""/>
          <p:cNvSpPr txBox="1"/>
          <p:nvPr/>
        </p:nvSpPr>
        <p:spPr>
          <a:xfrm>
            <a:off x="2967480" y="3121920"/>
            <a:ext cx="17478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   does the filter recover accuracy?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6" name=""/>
          <p:cNvSpPr txBox="1"/>
          <p:nvPr/>
        </p:nvSpPr>
        <p:spPr>
          <a:xfrm>
            <a:off x="1130040" y="3695040"/>
            <a:ext cx="86508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750" strike="noStrike" u="none">
                <a:solidFill>
                  <a:srgbClr val="1f7a3a"/>
                </a:solidFill>
                <a:effectLst/>
                <a:uFillTx/>
                <a:latin typeface="JetBrainsMono-Regular_wght2580000"/>
                <a:ea typeface="JetBrainsMono-Regular_wght2580000"/>
              </a:rPr>
              <a:t>V E R D I C T S</a:t>
            </a:r>
            <a:endParaRPr b="0" lang="en-IN" sz="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7" name=""/>
          <p:cNvSpPr txBox="1"/>
          <p:nvPr/>
        </p:nvSpPr>
        <p:spPr>
          <a:xfrm>
            <a:off x="2476080" y="3652200"/>
            <a:ext cx="17794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1f7a3a"/>
                </a:solidFill>
                <a:effectLst/>
                <a:uFillTx/>
                <a:latin typeface="Inter-Regular_"/>
                <a:ea typeface="Inter-Regular_"/>
              </a:rPr>
              <a:t>B: 95% / 90% — modes are stable.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8" name=""/>
          <p:cNvSpPr txBox="1"/>
          <p:nvPr/>
        </p:nvSpPr>
        <p:spPr>
          <a:xfrm>
            <a:off x="4372920" y="3652200"/>
            <a:ext cx="23637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0a0a0a"/>
                </a:solidFill>
                <a:effectLst/>
                <a:uFillTx/>
                <a:latin typeface="Inter-Regular_"/>
                <a:ea typeface="Inter-Regular_"/>
              </a:rPr>
              <a:t>C: 65% / 70% / 65% — all modes discriminate.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9" name=""/>
          <p:cNvSpPr txBox="1"/>
          <p:nvPr/>
        </p:nvSpPr>
        <p:spPr>
          <a:xfrm>
            <a:off x="6871680" y="3652200"/>
            <a:ext cx="23068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00" strike="noStrike" u="none">
                <a:solidFill>
                  <a:srgbClr val="b8860b"/>
                </a:solidFill>
                <a:effectLst/>
                <a:uFillTx/>
                <a:latin typeface="Inter-Regular_"/>
                <a:ea typeface="Inter-Regular_"/>
              </a:rPr>
              <a:t>D: 64.8% vs 65.0% — the filter does not help.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0" name=""/>
          <p:cNvSpPr txBox="1"/>
          <p:nvPr/>
        </p:nvSpPr>
        <p:spPr>
          <a:xfrm>
            <a:off x="685800" y="8312040"/>
            <a:ext cx="2566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MEMORY-ASSISTED LLM AS A JUDGE VIA KNOWLEDGE GRAPHS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1" name=""/>
          <p:cNvSpPr txBox="1"/>
          <p:nvPr/>
        </p:nvSpPr>
        <p:spPr>
          <a:xfrm>
            <a:off x="11400480" y="8312040"/>
            <a:ext cx="13590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25 / 36  ·  K. PATEL · 2026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3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4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5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6" name=""/>
          <p:cNvSpPr/>
          <p:nvPr/>
        </p:nvSpPr>
        <p:spPr>
          <a:xfrm>
            <a:off x="273960" y="171360"/>
            <a:ext cx="13167720" cy="8229960"/>
          </a:xfrm>
          <a:custGeom>
            <a:avLst/>
            <a:gdLst/>
            <a:ahLst/>
            <a:rect l="0" t="0" r="r" b="b"/>
            <a:pathLst>
              <a:path w="36577" h="22861">
                <a:moveTo>
                  <a:pt x="0" y="0"/>
                </a:moveTo>
                <a:lnTo>
                  <a:pt x="36577" y="0"/>
                </a:lnTo>
                <a:lnTo>
                  <a:pt x="36577" y="22861"/>
                </a:lnTo>
                <a:lnTo>
                  <a:pt x="0" y="22861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7" name=""/>
          <p:cNvSpPr txBox="1"/>
          <p:nvPr/>
        </p:nvSpPr>
        <p:spPr>
          <a:xfrm>
            <a:off x="932760" y="579960"/>
            <a:ext cx="360036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PROPOSED SOLUTION · RELIABILITY HARNESS · VISUAL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18" name="" descr=""/>
          <p:cNvPicPr/>
          <p:nvPr/>
        </p:nvPicPr>
        <p:blipFill>
          <a:blip r:embed="rId1"/>
          <a:stretch/>
        </p:blipFill>
        <p:spPr>
          <a:xfrm>
            <a:off x="713160" y="2356200"/>
            <a:ext cx="12289320" cy="467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9" name=""/>
          <p:cNvSpPr/>
          <p:nvPr/>
        </p:nvSpPr>
        <p:spPr>
          <a:xfrm>
            <a:off x="713160" y="2355840"/>
            <a:ext cx="12289680" cy="4673160"/>
          </a:xfrm>
          <a:custGeom>
            <a:avLst/>
            <a:gdLst/>
            <a:ahLst/>
            <a:rect l="0" t="0" r="r" b="b"/>
            <a:pathLst>
              <a:path w="34138" h="12981">
                <a:moveTo>
                  <a:pt x="635" y="612"/>
                </a:moveTo>
                <a:lnTo>
                  <a:pt x="635" y="11966"/>
                </a:lnTo>
                <a:cubicBezTo>
                  <a:pt x="635" y="11989"/>
                  <a:pt x="639" y="12012"/>
                  <a:pt x="648" y="12034"/>
                </a:cubicBezTo>
                <a:cubicBezTo>
                  <a:pt x="657" y="12056"/>
                  <a:pt x="670" y="12075"/>
                  <a:pt x="687" y="12091"/>
                </a:cubicBezTo>
                <a:cubicBezTo>
                  <a:pt x="703" y="12108"/>
                  <a:pt x="723" y="12121"/>
                  <a:pt x="744" y="12130"/>
                </a:cubicBezTo>
                <a:cubicBezTo>
                  <a:pt x="766" y="12139"/>
                  <a:pt x="789" y="12144"/>
                  <a:pt x="812" y="12144"/>
                </a:cubicBezTo>
                <a:lnTo>
                  <a:pt x="33325" y="12144"/>
                </a:lnTo>
                <a:cubicBezTo>
                  <a:pt x="33349" y="12144"/>
                  <a:pt x="33372" y="12139"/>
                  <a:pt x="33394" y="12130"/>
                </a:cubicBezTo>
                <a:cubicBezTo>
                  <a:pt x="33415" y="12121"/>
                  <a:pt x="33435" y="12108"/>
                  <a:pt x="33451" y="12091"/>
                </a:cubicBezTo>
                <a:cubicBezTo>
                  <a:pt x="33468" y="12075"/>
                  <a:pt x="33481" y="12056"/>
                  <a:pt x="33490" y="12034"/>
                </a:cubicBezTo>
                <a:cubicBezTo>
                  <a:pt x="33499" y="12012"/>
                  <a:pt x="33503" y="11989"/>
                  <a:pt x="33503" y="11966"/>
                </a:cubicBezTo>
                <a:lnTo>
                  <a:pt x="33503" y="612"/>
                </a:lnTo>
                <a:cubicBezTo>
                  <a:pt x="33503" y="588"/>
                  <a:pt x="33499" y="566"/>
                  <a:pt x="33490" y="544"/>
                </a:cubicBezTo>
                <a:cubicBezTo>
                  <a:pt x="33481" y="522"/>
                  <a:pt x="33468" y="503"/>
                  <a:pt x="33451" y="486"/>
                </a:cubicBezTo>
                <a:cubicBezTo>
                  <a:pt x="33435" y="470"/>
                  <a:pt x="33415" y="457"/>
                  <a:pt x="33394" y="448"/>
                </a:cubicBezTo>
                <a:cubicBezTo>
                  <a:pt x="33372" y="439"/>
                  <a:pt x="33349" y="434"/>
                  <a:pt x="33325" y="434"/>
                </a:cubicBezTo>
                <a:lnTo>
                  <a:pt x="812" y="434"/>
                </a:lnTo>
                <a:cubicBezTo>
                  <a:pt x="789" y="434"/>
                  <a:pt x="766" y="439"/>
                  <a:pt x="744" y="448"/>
                </a:cubicBezTo>
                <a:cubicBezTo>
                  <a:pt x="723" y="457"/>
                  <a:pt x="703" y="470"/>
                  <a:pt x="687" y="486"/>
                </a:cubicBezTo>
                <a:cubicBezTo>
                  <a:pt x="670" y="503"/>
                  <a:pt x="657" y="522"/>
                  <a:pt x="648" y="544"/>
                </a:cubicBezTo>
                <a:cubicBezTo>
                  <a:pt x="639" y="566"/>
                  <a:pt x="635" y="588"/>
                  <a:pt x="635" y="612"/>
                </a:cubicBezTo>
                <a:moveTo>
                  <a:pt x="0" y="0"/>
                </a:moveTo>
                <a:lnTo>
                  <a:pt x="34138" y="0"/>
                </a:lnTo>
                <a:lnTo>
                  <a:pt x="34138" y="12981"/>
                </a:lnTo>
                <a:lnTo>
                  <a:pt x="0" y="1298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120" name="" descr=""/>
          <p:cNvPicPr/>
          <p:nvPr/>
        </p:nvPicPr>
        <p:blipFill>
          <a:blip r:embed="rId2"/>
          <a:stretch/>
        </p:blipFill>
        <p:spPr>
          <a:xfrm>
            <a:off x="905400" y="2484000"/>
            <a:ext cx="11905200" cy="428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1" name=""/>
          <p:cNvSpPr/>
          <p:nvPr/>
        </p:nvSpPr>
        <p:spPr>
          <a:xfrm>
            <a:off x="905040" y="2484000"/>
            <a:ext cx="11905920" cy="4288680"/>
          </a:xfrm>
          <a:custGeom>
            <a:avLst/>
            <a:gdLst/>
            <a:ahLst/>
            <a:rect l="0" t="0" r="r" b="b"/>
            <a:pathLst>
              <a:path w="33072" h="11913">
                <a:moveTo>
                  <a:pt x="102" y="256"/>
                </a:moveTo>
                <a:lnTo>
                  <a:pt x="102" y="11611"/>
                </a:lnTo>
                <a:cubicBezTo>
                  <a:pt x="102" y="11634"/>
                  <a:pt x="106" y="11657"/>
                  <a:pt x="115" y="11679"/>
                </a:cubicBezTo>
                <a:cubicBezTo>
                  <a:pt x="124" y="11701"/>
                  <a:pt x="137" y="11720"/>
                  <a:pt x="154" y="11736"/>
                </a:cubicBezTo>
                <a:cubicBezTo>
                  <a:pt x="170" y="11753"/>
                  <a:pt x="190" y="11766"/>
                  <a:pt x="211" y="11775"/>
                </a:cubicBezTo>
                <a:cubicBezTo>
                  <a:pt x="233" y="11784"/>
                  <a:pt x="256" y="11789"/>
                  <a:pt x="279" y="11789"/>
                </a:cubicBezTo>
                <a:lnTo>
                  <a:pt x="32792" y="11789"/>
                </a:lnTo>
                <a:cubicBezTo>
                  <a:pt x="32816" y="11789"/>
                  <a:pt x="32839" y="11784"/>
                  <a:pt x="32861" y="11775"/>
                </a:cubicBezTo>
                <a:cubicBezTo>
                  <a:pt x="32882" y="11766"/>
                  <a:pt x="32902" y="11753"/>
                  <a:pt x="32918" y="11736"/>
                </a:cubicBezTo>
                <a:cubicBezTo>
                  <a:pt x="32935" y="11720"/>
                  <a:pt x="32948" y="11701"/>
                  <a:pt x="32957" y="11679"/>
                </a:cubicBezTo>
                <a:cubicBezTo>
                  <a:pt x="32966" y="11657"/>
                  <a:pt x="32970" y="11634"/>
                  <a:pt x="32970" y="11611"/>
                </a:cubicBezTo>
                <a:lnTo>
                  <a:pt x="32970" y="256"/>
                </a:lnTo>
                <a:cubicBezTo>
                  <a:pt x="32970" y="232"/>
                  <a:pt x="32966" y="210"/>
                  <a:pt x="32957" y="188"/>
                </a:cubicBezTo>
                <a:cubicBezTo>
                  <a:pt x="32948" y="166"/>
                  <a:pt x="32935" y="147"/>
                  <a:pt x="32918" y="130"/>
                </a:cubicBezTo>
                <a:cubicBezTo>
                  <a:pt x="32902" y="114"/>
                  <a:pt x="32882" y="101"/>
                  <a:pt x="32861" y="92"/>
                </a:cubicBezTo>
                <a:cubicBezTo>
                  <a:pt x="32839" y="83"/>
                  <a:pt x="32816" y="78"/>
                  <a:pt x="32792" y="78"/>
                </a:cubicBezTo>
                <a:lnTo>
                  <a:pt x="279" y="78"/>
                </a:lnTo>
                <a:cubicBezTo>
                  <a:pt x="256" y="78"/>
                  <a:pt x="233" y="83"/>
                  <a:pt x="211" y="92"/>
                </a:cubicBezTo>
                <a:cubicBezTo>
                  <a:pt x="190" y="101"/>
                  <a:pt x="170" y="114"/>
                  <a:pt x="154" y="130"/>
                </a:cubicBezTo>
                <a:cubicBezTo>
                  <a:pt x="137" y="147"/>
                  <a:pt x="124" y="166"/>
                  <a:pt x="115" y="188"/>
                </a:cubicBezTo>
                <a:cubicBezTo>
                  <a:pt x="106" y="210"/>
                  <a:pt x="102" y="232"/>
                  <a:pt x="102" y="256"/>
                </a:cubicBezTo>
                <a:moveTo>
                  <a:pt x="0" y="0"/>
                </a:moveTo>
                <a:lnTo>
                  <a:pt x="33072" y="0"/>
                </a:lnTo>
                <a:lnTo>
                  <a:pt x="33072" y="11913"/>
                </a:lnTo>
                <a:lnTo>
                  <a:pt x="0" y="119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2" name=""/>
          <p:cNvSpPr/>
          <p:nvPr/>
        </p:nvSpPr>
        <p:spPr>
          <a:xfrm>
            <a:off x="932400" y="2503080"/>
            <a:ext cx="11851200" cy="4233960"/>
          </a:xfrm>
          <a:custGeom>
            <a:avLst/>
            <a:gdLst/>
            <a:ahLst/>
            <a:rect l="0" t="0" r="r" b="b"/>
            <a:pathLst>
              <a:path w="32920" h="11761">
                <a:moveTo>
                  <a:pt x="0" y="11558"/>
                </a:moveTo>
                <a:lnTo>
                  <a:pt x="0" y="203"/>
                </a:lnTo>
                <a:cubicBezTo>
                  <a:pt x="0" y="190"/>
                  <a:pt x="2" y="176"/>
                  <a:pt x="4" y="163"/>
                </a:cubicBezTo>
                <a:cubicBezTo>
                  <a:pt x="7" y="150"/>
                  <a:pt x="11" y="138"/>
                  <a:pt x="16" y="125"/>
                </a:cubicBezTo>
                <a:cubicBezTo>
                  <a:pt x="21" y="113"/>
                  <a:pt x="27" y="101"/>
                  <a:pt x="35" y="90"/>
                </a:cubicBezTo>
                <a:cubicBezTo>
                  <a:pt x="42" y="79"/>
                  <a:pt x="50" y="69"/>
                  <a:pt x="60" y="59"/>
                </a:cubicBezTo>
                <a:cubicBezTo>
                  <a:pt x="69" y="50"/>
                  <a:pt x="80" y="41"/>
                  <a:pt x="91" y="34"/>
                </a:cubicBezTo>
                <a:cubicBezTo>
                  <a:pt x="102" y="27"/>
                  <a:pt x="113" y="20"/>
                  <a:pt x="126" y="15"/>
                </a:cubicBezTo>
                <a:cubicBezTo>
                  <a:pt x="138" y="10"/>
                  <a:pt x="151" y="6"/>
                  <a:pt x="164" y="4"/>
                </a:cubicBezTo>
                <a:cubicBezTo>
                  <a:pt x="177" y="1"/>
                  <a:pt x="190" y="0"/>
                  <a:pt x="203" y="0"/>
                </a:cubicBezTo>
                <a:lnTo>
                  <a:pt x="32716" y="0"/>
                </a:lnTo>
                <a:cubicBezTo>
                  <a:pt x="32730" y="0"/>
                  <a:pt x="32743" y="1"/>
                  <a:pt x="32756" y="4"/>
                </a:cubicBezTo>
                <a:cubicBezTo>
                  <a:pt x="32769" y="6"/>
                  <a:pt x="32782" y="10"/>
                  <a:pt x="32794" y="15"/>
                </a:cubicBezTo>
                <a:cubicBezTo>
                  <a:pt x="32807" y="20"/>
                  <a:pt x="32818" y="27"/>
                  <a:pt x="32829" y="34"/>
                </a:cubicBezTo>
                <a:cubicBezTo>
                  <a:pt x="32840" y="41"/>
                  <a:pt x="32851" y="50"/>
                  <a:pt x="32860" y="59"/>
                </a:cubicBezTo>
                <a:cubicBezTo>
                  <a:pt x="32870" y="69"/>
                  <a:pt x="32878" y="79"/>
                  <a:pt x="32885" y="90"/>
                </a:cubicBezTo>
                <a:cubicBezTo>
                  <a:pt x="32893" y="101"/>
                  <a:pt x="32899" y="113"/>
                  <a:pt x="32904" y="125"/>
                </a:cubicBezTo>
                <a:cubicBezTo>
                  <a:pt x="32909" y="138"/>
                  <a:pt x="32913" y="150"/>
                  <a:pt x="32916" y="163"/>
                </a:cubicBezTo>
                <a:cubicBezTo>
                  <a:pt x="32918" y="176"/>
                  <a:pt x="32920" y="190"/>
                  <a:pt x="32920" y="203"/>
                </a:cubicBezTo>
                <a:lnTo>
                  <a:pt x="32920" y="11558"/>
                </a:lnTo>
                <a:cubicBezTo>
                  <a:pt x="32920" y="11571"/>
                  <a:pt x="32918" y="11584"/>
                  <a:pt x="32916" y="11597"/>
                </a:cubicBezTo>
                <a:cubicBezTo>
                  <a:pt x="32913" y="11610"/>
                  <a:pt x="32909" y="11623"/>
                  <a:pt x="32904" y="11636"/>
                </a:cubicBezTo>
                <a:cubicBezTo>
                  <a:pt x="32899" y="11648"/>
                  <a:pt x="32893" y="11660"/>
                  <a:pt x="32885" y="11671"/>
                </a:cubicBezTo>
                <a:cubicBezTo>
                  <a:pt x="32878" y="11682"/>
                  <a:pt x="32870" y="11692"/>
                  <a:pt x="32860" y="11701"/>
                </a:cubicBezTo>
                <a:cubicBezTo>
                  <a:pt x="32851" y="11711"/>
                  <a:pt x="32840" y="11719"/>
                  <a:pt x="32829" y="11727"/>
                </a:cubicBezTo>
                <a:cubicBezTo>
                  <a:pt x="32818" y="11734"/>
                  <a:pt x="32807" y="11740"/>
                  <a:pt x="32794" y="11745"/>
                </a:cubicBezTo>
                <a:cubicBezTo>
                  <a:pt x="32782" y="11751"/>
                  <a:pt x="32769" y="11754"/>
                  <a:pt x="32756" y="11757"/>
                </a:cubicBezTo>
                <a:cubicBezTo>
                  <a:pt x="32743" y="11760"/>
                  <a:pt x="32730" y="11761"/>
                  <a:pt x="32716" y="11761"/>
                </a:cubicBezTo>
                <a:lnTo>
                  <a:pt x="203" y="11761"/>
                </a:lnTo>
                <a:cubicBezTo>
                  <a:pt x="190" y="11761"/>
                  <a:pt x="177" y="11760"/>
                  <a:pt x="164" y="11757"/>
                </a:cubicBezTo>
                <a:cubicBezTo>
                  <a:pt x="151" y="11754"/>
                  <a:pt x="138" y="11751"/>
                  <a:pt x="126" y="11745"/>
                </a:cubicBezTo>
                <a:cubicBezTo>
                  <a:pt x="113" y="11740"/>
                  <a:pt x="102" y="11734"/>
                  <a:pt x="91" y="11727"/>
                </a:cubicBezTo>
                <a:cubicBezTo>
                  <a:pt x="80" y="11719"/>
                  <a:pt x="69" y="11711"/>
                  <a:pt x="60" y="11701"/>
                </a:cubicBezTo>
                <a:cubicBezTo>
                  <a:pt x="50" y="11692"/>
                  <a:pt x="42" y="11682"/>
                  <a:pt x="35" y="11671"/>
                </a:cubicBezTo>
                <a:cubicBezTo>
                  <a:pt x="27" y="11660"/>
                  <a:pt x="21" y="11648"/>
                  <a:pt x="16" y="11636"/>
                </a:cubicBezTo>
                <a:cubicBezTo>
                  <a:pt x="11" y="11623"/>
                  <a:pt x="7" y="11610"/>
                  <a:pt x="4" y="11597"/>
                </a:cubicBezTo>
                <a:cubicBezTo>
                  <a:pt x="2" y="11584"/>
                  <a:pt x="0" y="11571"/>
                  <a:pt x="0" y="115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23" name="" descr=""/>
          <p:cNvPicPr/>
          <p:nvPr/>
        </p:nvPicPr>
        <p:blipFill>
          <a:blip r:embed="rId3"/>
          <a:stretch/>
        </p:blipFill>
        <p:spPr>
          <a:xfrm>
            <a:off x="1106280" y="2676960"/>
            <a:ext cx="11502720" cy="385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4" name=""/>
          <p:cNvSpPr txBox="1"/>
          <p:nvPr/>
        </p:nvSpPr>
        <p:spPr>
          <a:xfrm>
            <a:off x="932760" y="802080"/>
            <a:ext cx="667980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2760" strike="noStrike" u="none">
                <a:solidFill>
                  <a:srgbClr val="0a0a0a"/>
                </a:solidFill>
                <a:effectLst/>
                <a:uFillTx/>
                <a:latin typeface="Fraunces-Regular_opsz266666_wght2580000"/>
                <a:ea typeface="Fraunces-Regular_opsz266666_wght2580000"/>
              </a:rPr>
              <a:t>Stability · discrimination · defense.</a:t>
            </a:r>
            <a:endParaRPr b="0" lang="en-IN" sz="27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5" name=""/>
          <p:cNvSpPr txBox="1"/>
          <p:nvPr/>
        </p:nvSpPr>
        <p:spPr>
          <a:xfrm>
            <a:off x="4993560" y="7815960"/>
            <a:ext cx="3076200" cy="97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9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THREE ORTHOGONAL RELIABILITY EXPERIMENTS · AUDITED PROTOCOL</a:t>
            </a:r>
            <a:endParaRPr b="0" lang="en-IN" sz="6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6" name=""/>
          <p:cNvSpPr txBox="1"/>
          <p:nvPr/>
        </p:nvSpPr>
        <p:spPr>
          <a:xfrm>
            <a:off x="685800" y="8312040"/>
            <a:ext cx="2566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MEMORY-ASSISTED LLM AS A JUDGE VIA KNOWLEDGE GRAPHS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7" name=""/>
          <p:cNvSpPr txBox="1"/>
          <p:nvPr/>
        </p:nvSpPr>
        <p:spPr>
          <a:xfrm>
            <a:off x="11400480" y="8312040"/>
            <a:ext cx="13590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26 / 36  ·  K. PATEL · 2026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9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0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1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2" name=""/>
          <p:cNvSpPr/>
          <p:nvPr/>
        </p:nvSpPr>
        <p:spPr>
          <a:xfrm>
            <a:off x="273960" y="171360"/>
            <a:ext cx="13167720" cy="8229960"/>
          </a:xfrm>
          <a:custGeom>
            <a:avLst/>
            <a:gdLst/>
            <a:ahLst/>
            <a:rect l="0" t="0" r="r" b="b"/>
            <a:pathLst>
              <a:path w="36577" h="22861">
                <a:moveTo>
                  <a:pt x="0" y="0"/>
                </a:moveTo>
                <a:lnTo>
                  <a:pt x="36577" y="0"/>
                </a:lnTo>
                <a:lnTo>
                  <a:pt x="36577" y="22861"/>
                </a:lnTo>
                <a:lnTo>
                  <a:pt x="0" y="22861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3" name=""/>
          <p:cNvSpPr txBox="1"/>
          <p:nvPr/>
        </p:nvSpPr>
        <p:spPr>
          <a:xfrm>
            <a:off x="932760" y="3591360"/>
            <a:ext cx="138348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60" strike="noStrike" u="none">
                <a:solidFill>
                  <a:srgbClr val="8b1538"/>
                </a:solidFill>
                <a:effectLst/>
                <a:uFillTx/>
                <a:latin typeface="JetBrainsMono"/>
                <a:ea typeface="JetBrainsMono"/>
              </a:rPr>
              <a:t>FINDINGS · DISCUSSION</a:t>
            </a:r>
            <a:endParaRPr b="0" lang="en-IN" sz="8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4" name=""/>
          <p:cNvSpPr txBox="1"/>
          <p:nvPr/>
        </p:nvSpPr>
        <p:spPr>
          <a:xfrm>
            <a:off x="932760" y="3737520"/>
            <a:ext cx="6707880" cy="785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4380" strike="noStrike" u="none">
                <a:solidFill>
                  <a:srgbClr val="0a0a0a"/>
                </a:solidFill>
                <a:effectLst/>
                <a:uFillTx/>
                <a:latin typeface="Fraunces-Regular_opsz3CCCC6_wght2580000"/>
                <a:ea typeface="Fraunces-Regular_opsz3CCCC6_wght2580000"/>
              </a:rPr>
              <a:t>Why no help, no harm.</a:t>
            </a:r>
            <a:endParaRPr b="0" lang="en-IN" sz="43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5" name=""/>
          <p:cNvSpPr txBox="1"/>
          <p:nvPr/>
        </p:nvSpPr>
        <p:spPr>
          <a:xfrm>
            <a:off x="983520" y="4659120"/>
            <a:ext cx="383616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540" strike="noStrike" u="none">
                <a:solidFill>
                  <a:srgbClr val="8b1538"/>
                </a:solidFill>
                <a:effectLst/>
                <a:uFillTx/>
                <a:latin typeface="Fraunces-Regular_opsz14CCC6_wght12C0000"/>
                <a:ea typeface="Fraunces-Regular_opsz14CCC6_wght12C0000"/>
              </a:rPr>
              <a:t>A null result is only credible if it is </a:t>
            </a:r>
            <a:r>
              <a:rPr b="0" lang="en-IN" sz="1540" strike="noStrike" u="none">
                <a:solidFill>
                  <a:srgbClr val="8b1538"/>
                </a:solidFill>
                <a:effectLst/>
                <a:uFillTx/>
                <a:latin typeface="Fraunces-Regular_opsz14CCC6_wght1900000"/>
                <a:ea typeface="Fraunces-Regular_opsz14CCC6_wght1900000"/>
              </a:rPr>
              <a:t>explained</a:t>
            </a:r>
            <a:r>
              <a:rPr b="0" lang="en-IN" sz="1540" strike="noStrike" u="none">
                <a:solidFill>
                  <a:srgbClr val="8b1538"/>
                </a:solidFill>
                <a:effectLst/>
                <a:uFillTx/>
                <a:latin typeface="Fraunces-Regular_opsz14CCC6_wght12C0000"/>
                <a:ea typeface="Fraunces-Regular_opsz14CCC6_wght12C0000"/>
              </a:rPr>
              <a:t>.</a:t>
            </a:r>
            <a:endParaRPr b="0" lang="en-IN" sz="15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6" name=""/>
          <p:cNvSpPr txBox="1"/>
          <p:nvPr/>
        </p:nvSpPr>
        <p:spPr>
          <a:xfrm>
            <a:off x="685800" y="8312040"/>
            <a:ext cx="2566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MEMORY-ASSISTED LLM AS A JUDGE VIA KNOWLEDGE GRAPHS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7" name=""/>
          <p:cNvSpPr txBox="1"/>
          <p:nvPr/>
        </p:nvSpPr>
        <p:spPr>
          <a:xfrm>
            <a:off x="11400480" y="8312040"/>
            <a:ext cx="13590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27 / 36  ·  K. PATEL · 2026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9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0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1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2" name=""/>
          <p:cNvSpPr/>
          <p:nvPr/>
        </p:nvSpPr>
        <p:spPr>
          <a:xfrm>
            <a:off x="273960" y="171360"/>
            <a:ext cx="13167720" cy="8229960"/>
          </a:xfrm>
          <a:custGeom>
            <a:avLst/>
            <a:gdLst/>
            <a:ahLst/>
            <a:rect l="0" t="0" r="r" b="b"/>
            <a:pathLst>
              <a:path w="36577" h="22861">
                <a:moveTo>
                  <a:pt x="0" y="0"/>
                </a:moveTo>
                <a:lnTo>
                  <a:pt x="36577" y="0"/>
                </a:lnTo>
                <a:lnTo>
                  <a:pt x="36577" y="22861"/>
                </a:lnTo>
                <a:lnTo>
                  <a:pt x="0" y="22861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3" name=""/>
          <p:cNvSpPr txBox="1"/>
          <p:nvPr/>
        </p:nvSpPr>
        <p:spPr>
          <a:xfrm>
            <a:off x="932760" y="579960"/>
            <a:ext cx="165060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DISCUSSION · MECHANISM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4" name=""/>
          <p:cNvSpPr txBox="1"/>
          <p:nvPr/>
        </p:nvSpPr>
        <p:spPr>
          <a:xfrm>
            <a:off x="932760" y="802080"/>
            <a:ext cx="494820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2760" strike="noStrike" u="none">
                <a:solidFill>
                  <a:srgbClr val="0a0a0a"/>
                </a:solidFill>
                <a:effectLst/>
                <a:uFillTx/>
                <a:latin typeface="Fraunces-Regular_opsz266666_wght2580000"/>
                <a:ea typeface="Fraunces-Regular_opsz266666_wght2580000"/>
              </a:rPr>
              <a:t>Three pieces of evidence.</a:t>
            </a:r>
            <a:endParaRPr b="0" lang="en-IN" sz="27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5" name=""/>
          <p:cNvSpPr txBox="1"/>
          <p:nvPr/>
        </p:nvSpPr>
        <p:spPr>
          <a:xfrm>
            <a:off x="932760" y="1695600"/>
            <a:ext cx="814680" cy="154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EVIDENCE I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6" name=""/>
          <p:cNvSpPr txBox="1"/>
          <p:nvPr/>
        </p:nvSpPr>
        <p:spPr>
          <a:xfrm>
            <a:off x="2015280" y="1518840"/>
            <a:ext cx="428040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2130" strike="noStrike" u="none">
                <a:solidFill>
                  <a:srgbClr val="0a0a0a"/>
                </a:solidFill>
                <a:effectLst/>
                <a:uFillTx/>
                <a:latin typeface="Fraunces-Regular_opsz1D9999_wght1900000"/>
                <a:ea typeface="Fraunces-Regular_opsz1D9999_wght1900000"/>
              </a:rPr>
              <a:t>Oracle labels don't beat self-written.</a:t>
            </a:r>
            <a:endParaRPr b="0" lang="en-IN" sz="2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7" name=""/>
          <p:cNvSpPr txBox="1"/>
          <p:nvPr/>
        </p:nvSpPr>
        <p:spPr>
          <a:xfrm>
            <a:off x="932760" y="2289960"/>
            <a:ext cx="896040" cy="154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EVIDENCE II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8" name=""/>
          <p:cNvSpPr txBox="1"/>
          <p:nvPr/>
        </p:nvSpPr>
        <p:spPr>
          <a:xfrm>
            <a:off x="2109960" y="2113200"/>
            <a:ext cx="464832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2130" strike="noStrike" u="none">
                <a:solidFill>
                  <a:srgbClr val="0a0a0a"/>
                </a:solidFill>
                <a:effectLst/>
                <a:uFillTx/>
                <a:latin typeface="Fraunces-Regular_opsz1D9999_wght1900000"/>
                <a:ea typeface="Fraunces-Regular_opsz1D9999_wght1900000"/>
              </a:rPr>
              <a:t>Bare schema matches the full schema.</a:t>
            </a:r>
            <a:endParaRPr b="0" lang="en-IN" sz="2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9" name=""/>
          <p:cNvSpPr txBox="1"/>
          <p:nvPr/>
        </p:nvSpPr>
        <p:spPr>
          <a:xfrm>
            <a:off x="932760" y="2884320"/>
            <a:ext cx="814680" cy="154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HYPOTHESIS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0" name=""/>
          <p:cNvSpPr txBox="1"/>
          <p:nvPr/>
        </p:nvSpPr>
        <p:spPr>
          <a:xfrm>
            <a:off x="2015280" y="2707560"/>
            <a:ext cx="149976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2130" strike="noStrike" u="none">
                <a:solidFill>
                  <a:srgbClr val="0a0a0a"/>
                </a:solidFill>
                <a:effectLst/>
                <a:uFillTx/>
                <a:latin typeface="Fraunces-Regular_opsz1D9999_wght1900000"/>
                <a:ea typeface="Fraunces-Regular_opsz1D9999_wght1900000"/>
              </a:rPr>
              <a:t>GPT-4o sits </a:t>
            </a:r>
            <a:endParaRPr b="0" lang="en-IN" sz="2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1" name=""/>
          <p:cNvSpPr txBox="1"/>
          <p:nvPr/>
        </p:nvSpPr>
        <p:spPr>
          <a:xfrm>
            <a:off x="3599280" y="2707560"/>
            <a:ext cx="3085920" cy="37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2190" strike="noStrike" u="none">
                <a:solidFill>
                  <a:srgbClr val="8b1538"/>
                </a:solidFill>
                <a:effectLst/>
                <a:uFillTx/>
                <a:latin typeface="Fraunces-Regular_opsz1D9999_wght1900000"/>
                <a:ea typeface="Fraunces-Regular_opsz1D9999_wght1900000"/>
              </a:rPr>
              <a:t>near its reasoning ceiling</a:t>
            </a:r>
            <a:endParaRPr b="0" lang="en-IN" sz="21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2" name=""/>
          <p:cNvSpPr txBox="1"/>
          <p:nvPr/>
        </p:nvSpPr>
        <p:spPr>
          <a:xfrm>
            <a:off x="6599520" y="2707560"/>
            <a:ext cx="151488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2130" strike="noStrike" u="none">
                <a:solidFill>
                  <a:srgbClr val="0a0a0a"/>
                </a:solidFill>
                <a:effectLst/>
                <a:uFillTx/>
                <a:latin typeface="Fraunces-Regular_opsz1D9999_wght1900000"/>
                <a:ea typeface="Fraunces-Regular_opsz1D9999_wght1900000"/>
              </a:rPr>
              <a:t> on this task.</a:t>
            </a:r>
            <a:endParaRPr b="0" lang="en-IN" sz="2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3" name=""/>
          <p:cNvSpPr txBox="1"/>
          <p:nvPr/>
        </p:nvSpPr>
        <p:spPr>
          <a:xfrm>
            <a:off x="932760" y="3478680"/>
            <a:ext cx="326160" cy="154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TEST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4" name=""/>
          <p:cNvSpPr txBox="1"/>
          <p:nvPr/>
        </p:nvSpPr>
        <p:spPr>
          <a:xfrm>
            <a:off x="1447200" y="3301920"/>
            <a:ext cx="449856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2130" strike="noStrike" u="none">
                <a:solidFill>
                  <a:srgbClr val="0a0a0a"/>
                </a:solidFill>
                <a:effectLst/>
                <a:uFillTx/>
                <a:latin typeface="Fraunces-Regular_opsz1D9999_wght1900000"/>
                <a:ea typeface="Fraunces-Regular_opsz1D9999_wght1900000"/>
              </a:rPr>
              <a:t>A weaker judge model — future work.</a:t>
            </a:r>
            <a:endParaRPr b="0" lang="en-IN" sz="2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5" name=""/>
          <p:cNvSpPr txBox="1"/>
          <p:nvPr/>
        </p:nvSpPr>
        <p:spPr>
          <a:xfrm>
            <a:off x="685800" y="8312040"/>
            <a:ext cx="2566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MEMORY-ASSISTED LLM AS A JUDGE VIA KNOWLEDGE GRAPHS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6" name=""/>
          <p:cNvSpPr txBox="1"/>
          <p:nvPr/>
        </p:nvSpPr>
        <p:spPr>
          <a:xfrm>
            <a:off x="11400480" y="8312040"/>
            <a:ext cx="13590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28 / 36  ·  K. PATEL · 2026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8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9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0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1" name=""/>
          <p:cNvSpPr/>
          <p:nvPr/>
        </p:nvSpPr>
        <p:spPr>
          <a:xfrm>
            <a:off x="273960" y="171360"/>
            <a:ext cx="13167720" cy="8229960"/>
          </a:xfrm>
          <a:custGeom>
            <a:avLst/>
            <a:gdLst/>
            <a:ahLst/>
            <a:rect l="0" t="0" r="r" b="b"/>
            <a:pathLst>
              <a:path w="36577" h="22861">
                <a:moveTo>
                  <a:pt x="0" y="0"/>
                </a:moveTo>
                <a:lnTo>
                  <a:pt x="36577" y="0"/>
                </a:lnTo>
                <a:lnTo>
                  <a:pt x="36577" y="22861"/>
                </a:lnTo>
                <a:lnTo>
                  <a:pt x="0" y="22861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2" name=""/>
          <p:cNvSpPr txBox="1"/>
          <p:nvPr/>
        </p:nvSpPr>
        <p:spPr>
          <a:xfrm>
            <a:off x="932760" y="579960"/>
            <a:ext cx="180072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DISCUSSION · EVIDENCE II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63" name="" descr=""/>
          <p:cNvPicPr/>
          <p:nvPr/>
        </p:nvPicPr>
        <p:blipFill>
          <a:blip r:embed="rId1"/>
          <a:stretch/>
        </p:blipFill>
        <p:spPr>
          <a:xfrm>
            <a:off x="2350080" y="1816560"/>
            <a:ext cx="9015480" cy="575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4" name=""/>
          <p:cNvSpPr/>
          <p:nvPr/>
        </p:nvSpPr>
        <p:spPr>
          <a:xfrm>
            <a:off x="2349720" y="1816560"/>
            <a:ext cx="9016560" cy="5751720"/>
          </a:xfrm>
          <a:custGeom>
            <a:avLst/>
            <a:gdLst/>
            <a:ahLst/>
            <a:rect l="0" t="0" r="r" b="b"/>
            <a:pathLst>
              <a:path w="25046" h="15977">
                <a:moveTo>
                  <a:pt x="635" y="611"/>
                </a:moveTo>
                <a:lnTo>
                  <a:pt x="635" y="14963"/>
                </a:lnTo>
                <a:cubicBezTo>
                  <a:pt x="635" y="14987"/>
                  <a:pt x="640" y="15010"/>
                  <a:pt x="649" y="15031"/>
                </a:cubicBezTo>
                <a:cubicBezTo>
                  <a:pt x="658" y="15053"/>
                  <a:pt x="671" y="15072"/>
                  <a:pt x="687" y="15089"/>
                </a:cubicBezTo>
                <a:cubicBezTo>
                  <a:pt x="704" y="15106"/>
                  <a:pt x="723" y="15119"/>
                  <a:pt x="745" y="15128"/>
                </a:cubicBezTo>
                <a:cubicBezTo>
                  <a:pt x="767" y="15137"/>
                  <a:pt x="790" y="15141"/>
                  <a:pt x="813" y="15141"/>
                </a:cubicBezTo>
                <a:lnTo>
                  <a:pt x="24233" y="15141"/>
                </a:lnTo>
                <a:cubicBezTo>
                  <a:pt x="24256" y="15141"/>
                  <a:pt x="24279" y="15137"/>
                  <a:pt x="24301" y="15128"/>
                </a:cubicBezTo>
                <a:cubicBezTo>
                  <a:pt x="24323" y="15119"/>
                  <a:pt x="24342" y="15106"/>
                  <a:pt x="24359" y="15089"/>
                </a:cubicBezTo>
                <a:cubicBezTo>
                  <a:pt x="24375" y="15072"/>
                  <a:pt x="24388" y="15053"/>
                  <a:pt x="24397" y="15031"/>
                </a:cubicBezTo>
                <a:cubicBezTo>
                  <a:pt x="24406" y="15010"/>
                  <a:pt x="24411" y="14987"/>
                  <a:pt x="24411" y="14963"/>
                </a:cubicBezTo>
                <a:lnTo>
                  <a:pt x="24411" y="611"/>
                </a:lnTo>
                <a:cubicBezTo>
                  <a:pt x="24411" y="588"/>
                  <a:pt x="24406" y="565"/>
                  <a:pt x="24397" y="543"/>
                </a:cubicBezTo>
                <a:cubicBezTo>
                  <a:pt x="24388" y="522"/>
                  <a:pt x="24375" y="502"/>
                  <a:pt x="24359" y="486"/>
                </a:cubicBezTo>
                <a:cubicBezTo>
                  <a:pt x="24342" y="469"/>
                  <a:pt x="24323" y="456"/>
                  <a:pt x="24301" y="447"/>
                </a:cubicBezTo>
                <a:cubicBezTo>
                  <a:pt x="24279" y="438"/>
                  <a:pt x="24256" y="434"/>
                  <a:pt x="24233" y="434"/>
                </a:cubicBezTo>
                <a:lnTo>
                  <a:pt x="813" y="434"/>
                </a:lnTo>
                <a:cubicBezTo>
                  <a:pt x="790" y="434"/>
                  <a:pt x="767" y="438"/>
                  <a:pt x="745" y="447"/>
                </a:cubicBezTo>
                <a:cubicBezTo>
                  <a:pt x="723" y="456"/>
                  <a:pt x="704" y="469"/>
                  <a:pt x="687" y="486"/>
                </a:cubicBezTo>
                <a:cubicBezTo>
                  <a:pt x="671" y="502"/>
                  <a:pt x="658" y="522"/>
                  <a:pt x="649" y="543"/>
                </a:cubicBezTo>
                <a:cubicBezTo>
                  <a:pt x="640" y="565"/>
                  <a:pt x="635" y="588"/>
                  <a:pt x="635" y="611"/>
                </a:cubicBezTo>
                <a:moveTo>
                  <a:pt x="0" y="0"/>
                </a:moveTo>
                <a:lnTo>
                  <a:pt x="25046" y="0"/>
                </a:lnTo>
                <a:lnTo>
                  <a:pt x="25046" y="15977"/>
                </a:lnTo>
                <a:lnTo>
                  <a:pt x="0" y="1597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165" name="" descr=""/>
          <p:cNvPicPr/>
          <p:nvPr/>
        </p:nvPicPr>
        <p:blipFill>
          <a:blip r:embed="rId2"/>
          <a:stretch/>
        </p:blipFill>
        <p:spPr>
          <a:xfrm>
            <a:off x="2541960" y="1944720"/>
            <a:ext cx="8631720" cy="536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6" name=""/>
          <p:cNvSpPr/>
          <p:nvPr/>
        </p:nvSpPr>
        <p:spPr>
          <a:xfrm>
            <a:off x="2541960" y="1944360"/>
            <a:ext cx="8632080" cy="5367960"/>
          </a:xfrm>
          <a:custGeom>
            <a:avLst/>
            <a:gdLst/>
            <a:ahLst/>
            <a:rect l="0" t="0" r="r" b="b"/>
            <a:pathLst>
              <a:path w="23978" h="14911">
                <a:moveTo>
                  <a:pt x="101" y="256"/>
                </a:moveTo>
                <a:lnTo>
                  <a:pt x="101" y="14608"/>
                </a:lnTo>
                <a:cubicBezTo>
                  <a:pt x="101" y="14632"/>
                  <a:pt x="106" y="14655"/>
                  <a:pt x="115" y="14676"/>
                </a:cubicBezTo>
                <a:cubicBezTo>
                  <a:pt x="124" y="14698"/>
                  <a:pt x="137" y="14717"/>
                  <a:pt x="153" y="14734"/>
                </a:cubicBezTo>
                <a:cubicBezTo>
                  <a:pt x="170" y="14751"/>
                  <a:pt x="189" y="14764"/>
                  <a:pt x="211" y="14773"/>
                </a:cubicBezTo>
                <a:cubicBezTo>
                  <a:pt x="233" y="14782"/>
                  <a:pt x="256" y="14786"/>
                  <a:pt x="279" y="14786"/>
                </a:cubicBezTo>
                <a:lnTo>
                  <a:pt x="23699" y="14786"/>
                </a:lnTo>
                <a:cubicBezTo>
                  <a:pt x="23722" y="14786"/>
                  <a:pt x="23745" y="14782"/>
                  <a:pt x="23767" y="14773"/>
                </a:cubicBezTo>
                <a:cubicBezTo>
                  <a:pt x="23789" y="14764"/>
                  <a:pt x="23808" y="14751"/>
                  <a:pt x="23825" y="14734"/>
                </a:cubicBezTo>
                <a:cubicBezTo>
                  <a:pt x="23841" y="14717"/>
                  <a:pt x="23854" y="14698"/>
                  <a:pt x="23863" y="14676"/>
                </a:cubicBezTo>
                <a:cubicBezTo>
                  <a:pt x="23872" y="14655"/>
                  <a:pt x="23877" y="14632"/>
                  <a:pt x="23877" y="14608"/>
                </a:cubicBezTo>
                <a:lnTo>
                  <a:pt x="23877" y="256"/>
                </a:lnTo>
                <a:cubicBezTo>
                  <a:pt x="23877" y="233"/>
                  <a:pt x="23872" y="210"/>
                  <a:pt x="23863" y="188"/>
                </a:cubicBezTo>
                <a:cubicBezTo>
                  <a:pt x="23854" y="167"/>
                  <a:pt x="23841" y="147"/>
                  <a:pt x="23825" y="131"/>
                </a:cubicBezTo>
                <a:cubicBezTo>
                  <a:pt x="23808" y="114"/>
                  <a:pt x="23789" y="101"/>
                  <a:pt x="23767" y="92"/>
                </a:cubicBezTo>
                <a:cubicBezTo>
                  <a:pt x="23745" y="83"/>
                  <a:pt x="23722" y="79"/>
                  <a:pt x="23699" y="79"/>
                </a:cubicBezTo>
                <a:lnTo>
                  <a:pt x="279" y="79"/>
                </a:lnTo>
                <a:cubicBezTo>
                  <a:pt x="256" y="79"/>
                  <a:pt x="233" y="83"/>
                  <a:pt x="211" y="92"/>
                </a:cubicBezTo>
                <a:cubicBezTo>
                  <a:pt x="189" y="101"/>
                  <a:pt x="170" y="114"/>
                  <a:pt x="153" y="131"/>
                </a:cubicBezTo>
                <a:cubicBezTo>
                  <a:pt x="137" y="147"/>
                  <a:pt x="124" y="167"/>
                  <a:pt x="115" y="188"/>
                </a:cubicBezTo>
                <a:cubicBezTo>
                  <a:pt x="106" y="210"/>
                  <a:pt x="101" y="233"/>
                  <a:pt x="101" y="256"/>
                </a:cubicBezTo>
                <a:moveTo>
                  <a:pt x="0" y="0"/>
                </a:moveTo>
                <a:lnTo>
                  <a:pt x="23978" y="0"/>
                </a:lnTo>
                <a:lnTo>
                  <a:pt x="23978" y="14911"/>
                </a:lnTo>
                <a:lnTo>
                  <a:pt x="0" y="1491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7" name=""/>
          <p:cNvSpPr/>
          <p:nvPr/>
        </p:nvSpPr>
        <p:spPr>
          <a:xfrm>
            <a:off x="2569320" y="1963440"/>
            <a:ext cx="8577360" cy="5313240"/>
          </a:xfrm>
          <a:custGeom>
            <a:avLst/>
            <a:gdLst/>
            <a:ahLst/>
            <a:rect l="0" t="0" r="r" b="b"/>
            <a:pathLst>
              <a:path w="23826" h="14759">
                <a:moveTo>
                  <a:pt x="0" y="14555"/>
                </a:moveTo>
                <a:lnTo>
                  <a:pt x="0" y="203"/>
                </a:lnTo>
                <a:cubicBezTo>
                  <a:pt x="0" y="190"/>
                  <a:pt x="1" y="177"/>
                  <a:pt x="4" y="164"/>
                </a:cubicBezTo>
                <a:cubicBezTo>
                  <a:pt x="6" y="151"/>
                  <a:pt x="10" y="138"/>
                  <a:pt x="15" y="126"/>
                </a:cubicBezTo>
                <a:cubicBezTo>
                  <a:pt x="20" y="113"/>
                  <a:pt x="27" y="102"/>
                  <a:pt x="34" y="90"/>
                </a:cubicBezTo>
                <a:cubicBezTo>
                  <a:pt x="42" y="79"/>
                  <a:pt x="50" y="69"/>
                  <a:pt x="59" y="60"/>
                </a:cubicBezTo>
                <a:cubicBezTo>
                  <a:pt x="69" y="50"/>
                  <a:pt x="79" y="42"/>
                  <a:pt x="90" y="34"/>
                </a:cubicBezTo>
                <a:cubicBezTo>
                  <a:pt x="101" y="27"/>
                  <a:pt x="113" y="21"/>
                  <a:pt x="125" y="16"/>
                </a:cubicBezTo>
                <a:cubicBezTo>
                  <a:pt x="138" y="11"/>
                  <a:pt x="150" y="7"/>
                  <a:pt x="163" y="4"/>
                </a:cubicBezTo>
                <a:cubicBezTo>
                  <a:pt x="177" y="1"/>
                  <a:pt x="190" y="0"/>
                  <a:pt x="203" y="0"/>
                </a:cubicBezTo>
                <a:lnTo>
                  <a:pt x="23623" y="0"/>
                </a:lnTo>
                <a:cubicBezTo>
                  <a:pt x="23636" y="0"/>
                  <a:pt x="23649" y="1"/>
                  <a:pt x="23663" y="4"/>
                </a:cubicBezTo>
                <a:cubicBezTo>
                  <a:pt x="23676" y="7"/>
                  <a:pt x="23688" y="11"/>
                  <a:pt x="23701" y="16"/>
                </a:cubicBezTo>
                <a:cubicBezTo>
                  <a:pt x="23713" y="21"/>
                  <a:pt x="23725" y="27"/>
                  <a:pt x="23736" y="34"/>
                </a:cubicBezTo>
                <a:cubicBezTo>
                  <a:pt x="23747" y="42"/>
                  <a:pt x="23757" y="50"/>
                  <a:pt x="23767" y="60"/>
                </a:cubicBezTo>
                <a:cubicBezTo>
                  <a:pt x="23776" y="69"/>
                  <a:pt x="23784" y="79"/>
                  <a:pt x="23792" y="90"/>
                </a:cubicBezTo>
                <a:cubicBezTo>
                  <a:pt x="23799" y="102"/>
                  <a:pt x="23806" y="113"/>
                  <a:pt x="23811" y="126"/>
                </a:cubicBezTo>
                <a:cubicBezTo>
                  <a:pt x="23816" y="138"/>
                  <a:pt x="23820" y="151"/>
                  <a:pt x="23822" y="164"/>
                </a:cubicBezTo>
                <a:cubicBezTo>
                  <a:pt x="23825" y="177"/>
                  <a:pt x="23826" y="190"/>
                  <a:pt x="23826" y="203"/>
                </a:cubicBezTo>
                <a:lnTo>
                  <a:pt x="23826" y="14555"/>
                </a:lnTo>
                <a:cubicBezTo>
                  <a:pt x="23826" y="14569"/>
                  <a:pt x="23825" y="14582"/>
                  <a:pt x="23822" y="14595"/>
                </a:cubicBezTo>
                <a:cubicBezTo>
                  <a:pt x="23820" y="14608"/>
                  <a:pt x="23816" y="14621"/>
                  <a:pt x="23811" y="14633"/>
                </a:cubicBezTo>
                <a:cubicBezTo>
                  <a:pt x="23806" y="14645"/>
                  <a:pt x="23799" y="14657"/>
                  <a:pt x="23792" y="14668"/>
                </a:cubicBezTo>
                <a:cubicBezTo>
                  <a:pt x="23784" y="14679"/>
                  <a:pt x="23776" y="14690"/>
                  <a:pt x="23767" y="14699"/>
                </a:cubicBezTo>
                <a:cubicBezTo>
                  <a:pt x="23757" y="14708"/>
                  <a:pt x="23747" y="14717"/>
                  <a:pt x="23736" y="14724"/>
                </a:cubicBezTo>
                <a:cubicBezTo>
                  <a:pt x="23725" y="14732"/>
                  <a:pt x="23713" y="14738"/>
                  <a:pt x="23701" y="14743"/>
                </a:cubicBezTo>
                <a:cubicBezTo>
                  <a:pt x="23688" y="14748"/>
                  <a:pt x="23676" y="14752"/>
                  <a:pt x="23663" y="14755"/>
                </a:cubicBezTo>
                <a:cubicBezTo>
                  <a:pt x="23649" y="14757"/>
                  <a:pt x="23636" y="14759"/>
                  <a:pt x="23623" y="14759"/>
                </a:cubicBezTo>
                <a:lnTo>
                  <a:pt x="203" y="14759"/>
                </a:lnTo>
                <a:cubicBezTo>
                  <a:pt x="190" y="14759"/>
                  <a:pt x="177" y="14757"/>
                  <a:pt x="163" y="14755"/>
                </a:cubicBezTo>
                <a:cubicBezTo>
                  <a:pt x="150" y="14752"/>
                  <a:pt x="138" y="14748"/>
                  <a:pt x="125" y="14743"/>
                </a:cubicBezTo>
                <a:cubicBezTo>
                  <a:pt x="113" y="14738"/>
                  <a:pt x="101" y="14732"/>
                  <a:pt x="90" y="14724"/>
                </a:cubicBezTo>
                <a:cubicBezTo>
                  <a:pt x="79" y="14717"/>
                  <a:pt x="69" y="14708"/>
                  <a:pt x="59" y="14699"/>
                </a:cubicBezTo>
                <a:cubicBezTo>
                  <a:pt x="50" y="14690"/>
                  <a:pt x="42" y="14679"/>
                  <a:pt x="34" y="14668"/>
                </a:cubicBezTo>
                <a:cubicBezTo>
                  <a:pt x="27" y="14657"/>
                  <a:pt x="20" y="14645"/>
                  <a:pt x="15" y="14633"/>
                </a:cubicBezTo>
                <a:cubicBezTo>
                  <a:pt x="10" y="14621"/>
                  <a:pt x="6" y="14608"/>
                  <a:pt x="4" y="14595"/>
                </a:cubicBezTo>
                <a:cubicBezTo>
                  <a:pt x="1" y="14582"/>
                  <a:pt x="0" y="14569"/>
                  <a:pt x="0" y="145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68" name="" descr=""/>
          <p:cNvPicPr/>
          <p:nvPr/>
        </p:nvPicPr>
        <p:blipFill>
          <a:blip r:embed="rId3"/>
          <a:stretch/>
        </p:blipFill>
        <p:spPr>
          <a:xfrm>
            <a:off x="2743200" y="2137320"/>
            <a:ext cx="822924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9" name=""/>
          <p:cNvSpPr txBox="1"/>
          <p:nvPr/>
        </p:nvSpPr>
        <p:spPr>
          <a:xfrm>
            <a:off x="932760" y="802080"/>
            <a:ext cx="531540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2760" strike="noStrike" u="none">
                <a:solidFill>
                  <a:srgbClr val="0a0a0a"/>
                </a:solidFill>
                <a:effectLst/>
                <a:uFillTx/>
                <a:latin typeface="Fraunces-Regular_opsz266666_wght2580000"/>
                <a:ea typeface="Fraunces-Regular_opsz266666_wght2580000"/>
              </a:rPr>
              <a:t>Bare schema = full schema.</a:t>
            </a:r>
            <a:endParaRPr b="0" lang="en-IN" sz="27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0" name=""/>
          <p:cNvSpPr txBox="1"/>
          <p:nvPr/>
        </p:nvSpPr>
        <p:spPr>
          <a:xfrm>
            <a:off x="4203360" y="7815960"/>
            <a:ext cx="4379400" cy="97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9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STATELESS · BARE MEMORY (POLICY + ATTEMPT) · FULL 5-NODE TYPED GRAPH · WILSON 95% CI</a:t>
            </a:r>
            <a:endParaRPr b="0" lang="en-IN" sz="6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1" name=""/>
          <p:cNvSpPr txBox="1"/>
          <p:nvPr/>
        </p:nvSpPr>
        <p:spPr>
          <a:xfrm>
            <a:off x="685800" y="8312040"/>
            <a:ext cx="2566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MEMORY-ASSISTED LLM AS A JUDGE VIA KNOWLEDGE GRAPHS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2" name=""/>
          <p:cNvSpPr txBox="1"/>
          <p:nvPr/>
        </p:nvSpPr>
        <p:spPr>
          <a:xfrm>
            <a:off x="11400480" y="8312040"/>
            <a:ext cx="13590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29 / 36  ·  K. PATEL · 2026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4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5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6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7" name=""/>
          <p:cNvSpPr/>
          <p:nvPr/>
        </p:nvSpPr>
        <p:spPr>
          <a:xfrm>
            <a:off x="273960" y="171360"/>
            <a:ext cx="13167720" cy="8229960"/>
          </a:xfrm>
          <a:custGeom>
            <a:avLst/>
            <a:gdLst/>
            <a:ahLst/>
            <a:rect l="0" t="0" r="r" b="b"/>
            <a:pathLst>
              <a:path w="36577" h="22861">
                <a:moveTo>
                  <a:pt x="0" y="0"/>
                </a:moveTo>
                <a:lnTo>
                  <a:pt x="36577" y="0"/>
                </a:lnTo>
                <a:lnTo>
                  <a:pt x="36577" y="22861"/>
                </a:lnTo>
                <a:lnTo>
                  <a:pt x="0" y="22861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8" name=""/>
          <p:cNvSpPr/>
          <p:nvPr/>
        </p:nvSpPr>
        <p:spPr>
          <a:xfrm>
            <a:off x="932400" y="1689120"/>
            <a:ext cx="4819320" cy="9720"/>
          </a:xfrm>
          <a:custGeom>
            <a:avLst/>
            <a:gdLst/>
            <a:ahLst/>
            <a:rect l="0" t="0" r="r" b="b"/>
            <a:pathLst>
              <a:path w="13387" h="27">
                <a:moveTo>
                  <a:pt x="0" y="0"/>
                </a:moveTo>
                <a:lnTo>
                  <a:pt x="13387" y="0"/>
                </a:lnTo>
                <a:lnTo>
                  <a:pt x="133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9" name=""/>
          <p:cNvSpPr/>
          <p:nvPr/>
        </p:nvSpPr>
        <p:spPr>
          <a:xfrm>
            <a:off x="5751360" y="1689120"/>
            <a:ext cx="1820160" cy="9720"/>
          </a:xfrm>
          <a:custGeom>
            <a:avLst/>
            <a:gdLst/>
            <a:ahLst/>
            <a:rect l="0" t="0" r="r" b="b"/>
            <a:pathLst>
              <a:path w="5056" h="27">
                <a:moveTo>
                  <a:pt x="0" y="0"/>
                </a:moveTo>
                <a:lnTo>
                  <a:pt x="5056" y="0"/>
                </a:lnTo>
                <a:lnTo>
                  <a:pt x="50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0" name=""/>
          <p:cNvSpPr/>
          <p:nvPr/>
        </p:nvSpPr>
        <p:spPr>
          <a:xfrm>
            <a:off x="7571160" y="1689120"/>
            <a:ext cx="2514960" cy="9720"/>
          </a:xfrm>
          <a:custGeom>
            <a:avLst/>
            <a:gdLst/>
            <a:ahLst/>
            <a:rect l="0" t="0" r="r" b="b"/>
            <a:pathLst>
              <a:path w="6986" h="27">
                <a:moveTo>
                  <a:pt x="0" y="0"/>
                </a:moveTo>
                <a:lnTo>
                  <a:pt x="6986" y="0"/>
                </a:lnTo>
                <a:lnTo>
                  <a:pt x="69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1" name=""/>
          <p:cNvSpPr/>
          <p:nvPr/>
        </p:nvSpPr>
        <p:spPr>
          <a:xfrm>
            <a:off x="10085760" y="1689120"/>
            <a:ext cx="2697840" cy="9720"/>
          </a:xfrm>
          <a:custGeom>
            <a:avLst/>
            <a:gdLst/>
            <a:ahLst/>
            <a:rect l="0" t="0" r="r" b="b"/>
            <a:pathLst>
              <a:path w="7494" h="27">
                <a:moveTo>
                  <a:pt x="0" y="0"/>
                </a:moveTo>
                <a:lnTo>
                  <a:pt x="7494" y="0"/>
                </a:lnTo>
                <a:lnTo>
                  <a:pt x="74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2" name=""/>
          <p:cNvSpPr/>
          <p:nvPr/>
        </p:nvSpPr>
        <p:spPr>
          <a:xfrm>
            <a:off x="932400" y="2137320"/>
            <a:ext cx="4819320" cy="9360"/>
          </a:xfrm>
          <a:custGeom>
            <a:avLst/>
            <a:gdLst/>
            <a:ahLst/>
            <a:rect l="0" t="0" r="r" b="b"/>
            <a:pathLst>
              <a:path w="13387" h="26">
                <a:moveTo>
                  <a:pt x="0" y="0"/>
                </a:moveTo>
                <a:lnTo>
                  <a:pt x="13387" y="0"/>
                </a:lnTo>
                <a:lnTo>
                  <a:pt x="13387" y="2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3" name=""/>
          <p:cNvSpPr/>
          <p:nvPr/>
        </p:nvSpPr>
        <p:spPr>
          <a:xfrm>
            <a:off x="5751360" y="2137320"/>
            <a:ext cx="1820160" cy="9360"/>
          </a:xfrm>
          <a:custGeom>
            <a:avLst/>
            <a:gdLst/>
            <a:ahLst/>
            <a:rect l="0" t="0" r="r" b="b"/>
            <a:pathLst>
              <a:path w="5056" h="26">
                <a:moveTo>
                  <a:pt x="0" y="0"/>
                </a:moveTo>
                <a:lnTo>
                  <a:pt x="5056" y="0"/>
                </a:lnTo>
                <a:lnTo>
                  <a:pt x="5056" y="2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4" name=""/>
          <p:cNvSpPr/>
          <p:nvPr/>
        </p:nvSpPr>
        <p:spPr>
          <a:xfrm>
            <a:off x="7571160" y="2137320"/>
            <a:ext cx="2514960" cy="9360"/>
          </a:xfrm>
          <a:custGeom>
            <a:avLst/>
            <a:gdLst/>
            <a:ahLst/>
            <a:rect l="0" t="0" r="r" b="b"/>
            <a:pathLst>
              <a:path w="6986" h="26">
                <a:moveTo>
                  <a:pt x="0" y="0"/>
                </a:moveTo>
                <a:lnTo>
                  <a:pt x="6986" y="0"/>
                </a:lnTo>
                <a:lnTo>
                  <a:pt x="6986" y="2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5" name=""/>
          <p:cNvSpPr/>
          <p:nvPr/>
        </p:nvSpPr>
        <p:spPr>
          <a:xfrm>
            <a:off x="10085760" y="2137320"/>
            <a:ext cx="2697840" cy="9360"/>
          </a:xfrm>
          <a:custGeom>
            <a:avLst/>
            <a:gdLst/>
            <a:ahLst/>
            <a:rect l="0" t="0" r="r" b="b"/>
            <a:pathLst>
              <a:path w="7494" h="26">
                <a:moveTo>
                  <a:pt x="0" y="0"/>
                </a:moveTo>
                <a:lnTo>
                  <a:pt x="7494" y="0"/>
                </a:lnTo>
                <a:lnTo>
                  <a:pt x="7494" y="2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6" name=""/>
          <p:cNvSpPr/>
          <p:nvPr/>
        </p:nvSpPr>
        <p:spPr>
          <a:xfrm>
            <a:off x="932400" y="2594520"/>
            <a:ext cx="4819320" cy="9360"/>
          </a:xfrm>
          <a:custGeom>
            <a:avLst/>
            <a:gdLst/>
            <a:ahLst/>
            <a:rect l="0" t="0" r="r" b="b"/>
            <a:pathLst>
              <a:path w="13387" h="26">
                <a:moveTo>
                  <a:pt x="0" y="0"/>
                </a:moveTo>
                <a:lnTo>
                  <a:pt x="13387" y="0"/>
                </a:lnTo>
                <a:lnTo>
                  <a:pt x="13387" y="2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7" name=""/>
          <p:cNvSpPr/>
          <p:nvPr/>
        </p:nvSpPr>
        <p:spPr>
          <a:xfrm>
            <a:off x="5751360" y="2594520"/>
            <a:ext cx="1820160" cy="9360"/>
          </a:xfrm>
          <a:custGeom>
            <a:avLst/>
            <a:gdLst/>
            <a:ahLst/>
            <a:rect l="0" t="0" r="r" b="b"/>
            <a:pathLst>
              <a:path w="5056" h="26">
                <a:moveTo>
                  <a:pt x="0" y="0"/>
                </a:moveTo>
                <a:lnTo>
                  <a:pt x="5056" y="0"/>
                </a:lnTo>
                <a:lnTo>
                  <a:pt x="5056" y="2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8" name=""/>
          <p:cNvSpPr/>
          <p:nvPr/>
        </p:nvSpPr>
        <p:spPr>
          <a:xfrm>
            <a:off x="7571160" y="2594520"/>
            <a:ext cx="2514960" cy="9360"/>
          </a:xfrm>
          <a:custGeom>
            <a:avLst/>
            <a:gdLst/>
            <a:ahLst/>
            <a:rect l="0" t="0" r="r" b="b"/>
            <a:pathLst>
              <a:path w="6986" h="26">
                <a:moveTo>
                  <a:pt x="0" y="0"/>
                </a:moveTo>
                <a:lnTo>
                  <a:pt x="6986" y="0"/>
                </a:lnTo>
                <a:lnTo>
                  <a:pt x="6986" y="2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9" name=""/>
          <p:cNvSpPr/>
          <p:nvPr/>
        </p:nvSpPr>
        <p:spPr>
          <a:xfrm>
            <a:off x="10085760" y="2594520"/>
            <a:ext cx="2697840" cy="9360"/>
          </a:xfrm>
          <a:custGeom>
            <a:avLst/>
            <a:gdLst/>
            <a:ahLst/>
            <a:rect l="0" t="0" r="r" b="b"/>
            <a:pathLst>
              <a:path w="7494" h="26">
                <a:moveTo>
                  <a:pt x="0" y="0"/>
                </a:moveTo>
                <a:lnTo>
                  <a:pt x="7494" y="0"/>
                </a:lnTo>
                <a:lnTo>
                  <a:pt x="7494" y="2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0" name=""/>
          <p:cNvSpPr/>
          <p:nvPr/>
        </p:nvSpPr>
        <p:spPr>
          <a:xfrm>
            <a:off x="932400" y="3051720"/>
            <a:ext cx="4819320" cy="9360"/>
          </a:xfrm>
          <a:custGeom>
            <a:avLst/>
            <a:gdLst/>
            <a:ahLst/>
            <a:rect l="0" t="0" r="r" b="b"/>
            <a:pathLst>
              <a:path w="13387" h="26">
                <a:moveTo>
                  <a:pt x="0" y="0"/>
                </a:moveTo>
                <a:lnTo>
                  <a:pt x="13387" y="0"/>
                </a:lnTo>
                <a:lnTo>
                  <a:pt x="13387" y="2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1" name=""/>
          <p:cNvSpPr/>
          <p:nvPr/>
        </p:nvSpPr>
        <p:spPr>
          <a:xfrm>
            <a:off x="5751360" y="3051720"/>
            <a:ext cx="1820160" cy="9360"/>
          </a:xfrm>
          <a:custGeom>
            <a:avLst/>
            <a:gdLst/>
            <a:ahLst/>
            <a:rect l="0" t="0" r="r" b="b"/>
            <a:pathLst>
              <a:path w="5056" h="26">
                <a:moveTo>
                  <a:pt x="0" y="0"/>
                </a:moveTo>
                <a:lnTo>
                  <a:pt x="5056" y="0"/>
                </a:lnTo>
                <a:lnTo>
                  <a:pt x="5056" y="2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2" name=""/>
          <p:cNvSpPr/>
          <p:nvPr/>
        </p:nvSpPr>
        <p:spPr>
          <a:xfrm>
            <a:off x="7571160" y="3051720"/>
            <a:ext cx="2514960" cy="9360"/>
          </a:xfrm>
          <a:custGeom>
            <a:avLst/>
            <a:gdLst/>
            <a:ahLst/>
            <a:rect l="0" t="0" r="r" b="b"/>
            <a:pathLst>
              <a:path w="6986" h="26">
                <a:moveTo>
                  <a:pt x="0" y="0"/>
                </a:moveTo>
                <a:lnTo>
                  <a:pt x="6986" y="0"/>
                </a:lnTo>
                <a:lnTo>
                  <a:pt x="6986" y="2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3" name=""/>
          <p:cNvSpPr/>
          <p:nvPr/>
        </p:nvSpPr>
        <p:spPr>
          <a:xfrm>
            <a:off x="10085760" y="3051720"/>
            <a:ext cx="2697840" cy="9360"/>
          </a:xfrm>
          <a:custGeom>
            <a:avLst/>
            <a:gdLst/>
            <a:ahLst/>
            <a:rect l="0" t="0" r="r" b="b"/>
            <a:pathLst>
              <a:path w="7494" h="26">
                <a:moveTo>
                  <a:pt x="0" y="0"/>
                </a:moveTo>
                <a:lnTo>
                  <a:pt x="7494" y="0"/>
                </a:lnTo>
                <a:lnTo>
                  <a:pt x="7494" y="2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4" name=""/>
          <p:cNvSpPr/>
          <p:nvPr/>
        </p:nvSpPr>
        <p:spPr>
          <a:xfrm>
            <a:off x="932400" y="3499560"/>
            <a:ext cx="4819320" cy="9720"/>
          </a:xfrm>
          <a:custGeom>
            <a:avLst/>
            <a:gdLst/>
            <a:ahLst/>
            <a:rect l="0" t="0" r="r" b="b"/>
            <a:pathLst>
              <a:path w="13387" h="27">
                <a:moveTo>
                  <a:pt x="0" y="0"/>
                </a:moveTo>
                <a:lnTo>
                  <a:pt x="13387" y="0"/>
                </a:lnTo>
                <a:lnTo>
                  <a:pt x="133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5" name=""/>
          <p:cNvSpPr/>
          <p:nvPr/>
        </p:nvSpPr>
        <p:spPr>
          <a:xfrm>
            <a:off x="5751360" y="3499560"/>
            <a:ext cx="1820160" cy="9720"/>
          </a:xfrm>
          <a:custGeom>
            <a:avLst/>
            <a:gdLst/>
            <a:ahLst/>
            <a:rect l="0" t="0" r="r" b="b"/>
            <a:pathLst>
              <a:path w="5056" h="27">
                <a:moveTo>
                  <a:pt x="0" y="0"/>
                </a:moveTo>
                <a:lnTo>
                  <a:pt x="5056" y="0"/>
                </a:lnTo>
                <a:lnTo>
                  <a:pt x="50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6" name=""/>
          <p:cNvSpPr/>
          <p:nvPr/>
        </p:nvSpPr>
        <p:spPr>
          <a:xfrm>
            <a:off x="7571160" y="3499560"/>
            <a:ext cx="2514960" cy="9720"/>
          </a:xfrm>
          <a:custGeom>
            <a:avLst/>
            <a:gdLst/>
            <a:ahLst/>
            <a:rect l="0" t="0" r="r" b="b"/>
            <a:pathLst>
              <a:path w="6986" h="27">
                <a:moveTo>
                  <a:pt x="0" y="0"/>
                </a:moveTo>
                <a:lnTo>
                  <a:pt x="6986" y="0"/>
                </a:lnTo>
                <a:lnTo>
                  <a:pt x="69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7" name=""/>
          <p:cNvSpPr/>
          <p:nvPr/>
        </p:nvSpPr>
        <p:spPr>
          <a:xfrm>
            <a:off x="10085760" y="3499560"/>
            <a:ext cx="2697840" cy="9720"/>
          </a:xfrm>
          <a:custGeom>
            <a:avLst/>
            <a:gdLst/>
            <a:ahLst/>
            <a:rect l="0" t="0" r="r" b="b"/>
            <a:pathLst>
              <a:path w="7494" h="27">
                <a:moveTo>
                  <a:pt x="0" y="0"/>
                </a:moveTo>
                <a:lnTo>
                  <a:pt x="7494" y="0"/>
                </a:lnTo>
                <a:lnTo>
                  <a:pt x="74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8" name=""/>
          <p:cNvSpPr txBox="1"/>
          <p:nvPr/>
        </p:nvSpPr>
        <p:spPr>
          <a:xfrm>
            <a:off x="932760" y="579960"/>
            <a:ext cx="262548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DISCUSSION · COST OF THE MCTS MODES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9" name=""/>
          <p:cNvSpPr txBox="1"/>
          <p:nvPr/>
        </p:nvSpPr>
        <p:spPr>
          <a:xfrm>
            <a:off x="932760" y="802080"/>
            <a:ext cx="354528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2760" strike="noStrike" u="none">
                <a:solidFill>
                  <a:srgbClr val="0a0a0a"/>
                </a:solidFill>
                <a:effectLst/>
                <a:uFillTx/>
                <a:latin typeface="Fraunces-Regular_opsz266666_wght2580000"/>
                <a:ea typeface="Fraunces-Regular_opsz266666_wght2580000"/>
              </a:rPr>
              <a:t>The cost trade-off.</a:t>
            </a:r>
            <a:endParaRPr b="0" lang="en-IN" sz="27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0" name=""/>
          <p:cNvSpPr txBox="1"/>
          <p:nvPr/>
        </p:nvSpPr>
        <p:spPr>
          <a:xfrm>
            <a:off x="1033920" y="1495080"/>
            <a:ext cx="474480" cy="128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80" strike="noStrike" u="none">
                <a:solidFill>
                  <a:srgbClr val="6a6a66"/>
                </a:solidFill>
                <a:effectLst/>
                <a:uFillTx/>
                <a:latin typeface="JetBrainsMonoRoman"/>
                <a:ea typeface="JetBrainsMonoRoman"/>
              </a:rPr>
              <a:t>M O D E</a:t>
            </a:r>
            <a:endParaRPr b="0" lang="en-IN" sz="8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1" name=""/>
          <p:cNvSpPr txBox="1"/>
          <p:nvPr/>
        </p:nvSpPr>
        <p:spPr>
          <a:xfrm>
            <a:off x="5850720" y="1495080"/>
            <a:ext cx="1015920" cy="128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80" strike="noStrike" u="none">
                <a:solidFill>
                  <a:srgbClr val="6a6a66"/>
                </a:solidFill>
                <a:effectLst/>
                <a:uFillTx/>
                <a:latin typeface="JetBrainsMonoRoman"/>
                <a:ea typeface="JetBrainsMonoRoman"/>
              </a:rPr>
              <a:t>A C C U R A C Y</a:t>
            </a:r>
            <a:endParaRPr b="0" lang="en-IN" sz="8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2" name=""/>
          <p:cNvSpPr txBox="1"/>
          <p:nvPr/>
        </p:nvSpPr>
        <p:spPr>
          <a:xfrm>
            <a:off x="7670160" y="1495080"/>
            <a:ext cx="812880" cy="128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80" strike="noStrike" u="none">
                <a:solidFill>
                  <a:srgbClr val="6a6a66"/>
                </a:solidFill>
                <a:effectLst/>
                <a:uFillTx/>
                <a:latin typeface="JetBrainsMonoRoman"/>
                <a:ea typeface="JetBrainsMonoRoman"/>
              </a:rPr>
              <a:t>MEAN LATENCY</a:t>
            </a:r>
            <a:endParaRPr b="0" lang="en-IN" sz="8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3" name=""/>
          <p:cNvSpPr/>
          <p:nvPr/>
        </p:nvSpPr>
        <p:spPr>
          <a:xfrm>
            <a:off x="932400" y="1698480"/>
            <a:ext cx="4819320" cy="439200"/>
          </a:xfrm>
          <a:custGeom>
            <a:avLst/>
            <a:gdLst/>
            <a:ahLst/>
            <a:rect l="0" t="0" r="r" b="b"/>
            <a:pathLst>
              <a:path w="13387" h="1220">
                <a:moveTo>
                  <a:pt x="0" y="0"/>
                </a:moveTo>
                <a:lnTo>
                  <a:pt x="13387" y="0"/>
                </a:lnTo>
                <a:lnTo>
                  <a:pt x="13387" y="1220"/>
                </a:lnTo>
                <a:lnTo>
                  <a:pt x="0" y="1220"/>
                </a:lnTo>
                <a:lnTo>
                  <a:pt x="0" y="0"/>
                </a:lnTo>
                <a:close/>
              </a:path>
            </a:pathLst>
          </a:custGeom>
          <a:solidFill>
            <a:srgbClr val="1a3d6e">
              <a:alpha val="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4" name=""/>
          <p:cNvSpPr/>
          <p:nvPr/>
        </p:nvSpPr>
        <p:spPr>
          <a:xfrm>
            <a:off x="5751360" y="1698480"/>
            <a:ext cx="1820160" cy="439200"/>
          </a:xfrm>
          <a:custGeom>
            <a:avLst/>
            <a:gdLst/>
            <a:ahLst/>
            <a:rect l="0" t="0" r="r" b="b"/>
            <a:pathLst>
              <a:path w="5056" h="1220">
                <a:moveTo>
                  <a:pt x="0" y="0"/>
                </a:moveTo>
                <a:lnTo>
                  <a:pt x="5056" y="0"/>
                </a:lnTo>
                <a:lnTo>
                  <a:pt x="5056" y="1220"/>
                </a:lnTo>
                <a:lnTo>
                  <a:pt x="0" y="1220"/>
                </a:lnTo>
                <a:lnTo>
                  <a:pt x="0" y="0"/>
                </a:lnTo>
                <a:close/>
              </a:path>
            </a:pathLst>
          </a:custGeom>
          <a:solidFill>
            <a:srgbClr val="1a3d6e">
              <a:alpha val="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5" name=""/>
          <p:cNvSpPr/>
          <p:nvPr/>
        </p:nvSpPr>
        <p:spPr>
          <a:xfrm>
            <a:off x="7571160" y="1698480"/>
            <a:ext cx="2514960" cy="439200"/>
          </a:xfrm>
          <a:custGeom>
            <a:avLst/>
            <a:gdLst/>
            <a:ahLst/>
            <a:rect l="0" t="0" r="r" b="b"/>
            <a:pathLst>
              <a:path w="6986" h="1220">
                <a:moveTo>
                  <a:pt x="0" y="0"/>
                </a:moveTo>
                <a:lnTo>
                  <a:pt x="6986" y="0"/>
                </a:lnTo>
                <a:lnTo>
                  <a:pt x="6986" y="1220"/>
                </a:lnTo>
                <a:lnTo>
                  <a:pt x="0" y="1220"/>
                </a:lnTo>
                <a:lnTo>
                  <a:pt x="0" y="0"/>
                </a:lnTo>
                <a:close/>
              </a:path>
            </a:pathLst>
          </a:custGeom>
          <a:solidFill>
            <a:srgbClr val="1a3d6e">
              <a:alpha val="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6" name=""/>
          <p:cNvSpPr/>
          <p:nvPr/>
        </p:nvSpPr>
        <p:spPr>
          <a:xfrm>
            <a:off x="10085760" y="1698480"/>
            <a:ext cx="2697840" cy="439200"/>
          </a:xfrm>
          <a:custGeom>
            <a:avLst/>
            <a:gdLst/>
            <a:ahLst/>
            <a:rect l="0" t="0" r="r" b="b"/>
            <a:pathLst>
              <a:path w="7494" h="1220">
                <a:moveTo>
                  <a:pt x="0" y="0"/>
                </a:moveTo>
                <a:lnTo>
                  <a:pt x="7494" y="0"/>
                </a:lnTo>
                <a:lnTo>
                  <a:pt x="7494" y="1220"/>
                </a:lnTo>
                <a:lnTo>
                  <a:pt x="0" y="1220"/>
                </a:lnTo>
                <a:lnTo>
                  <a:pt x="0" y="0"/>
                </a:lnTo>
                <a:close/>
              </a:path>
            </a:pathLst>
          </a:custGeom>
          <a:solidFill>
            <a:srgbClr val="1a3d6e">
              <a:alpha val="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7" name=""/>
          <p:cNvSpPr txBox="1"/>
          <p:nvPr/>
        </p:nvSpPr>
        <p:spPr>
          <a:xfrm>
            <a:off x="10189800" y="1495080"/>
            <a:ext cx="880560" cy="128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80" strike="noStrike" u="none">
                <a:solidFill>
                  <a:srgbClr val="6a6a66"/>
                </a:solidFill>
                <a:effectLst/>
                <a:uFillTx/>
                <a:latin typeface="JetBrainsMonoRoman"/>
                <a:ea typeface="JetBrainsMonoRoman"/>
              </a:rPr>
              <a:t>VS. STATELESS</a:t>
            </a:r>
            <a:endParaRPr b="0" lang="en-IN" sz="8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8" name=""/>
          <p:cNvSpPr txBox="1"/>
          <p:nvPr/>
        </p:nvSpPr>
        <p:spPr>
          <a:xfrm>
            <a:off x="1099080" y="1784160"/>
            <a:ext cx="7592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450" strike="noStrike" u="none">
                <a:solidFill>
                  <a:srgbClr val="0a0a0a"/>
                </a:solidFill>
                <a:effectLst/>
                <a:uFillTx/>
                <a:latin typeface="Fraunces-Regular_opsz143D6A_wght1900000"/>
                <a:ea typeface="Fraunces-Regular_opsz143D6A_wght1900000"/>
              </a:rPr>
              <a:t>Stateless</a:t>
            </a:r>
            <a:endParaRPr b="0" lang="en-IN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9" name=""/>
          <p:cNvSpPr txBox="1"/>
          <p:nvPr/>
        </p:nvSpPr>
        <p:spPr>
          <a:xfrm>
            <a:off x="5893920" y="1847880"/>
            <a:ext cx="48096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260" strike="noStrike" u="none">
                <a:solidFill>
                  <a:srgbClr val="0a0a0a"/>
                </a:solidFill>
                <a:effectLst/>
                <a:uFillTx/>
                <a:latin typeface="JetBrainsMonoRoman"/>
                <a:ea typeface="JetBrainsMonoRoman"/>
              </a:rPr>
              <a:t>70.0%</a:t>
            </a:r>
            <a:endParaRPr b="0" lang="en-IN" sz="12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0" name=""/>
          <p:cNvSpPr txBox="1"/>
          <p:nvPr/>
        </p:nvSpPr>
        <p:spPr>
          <a:xfrm>
            <a:off x="7691760" y="1868040"/>
            <a:ext cx="4122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3.6 s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1" name=""/>
          <p:cNvSpPr txBox="1"/>
          <p:nvPr/>
        </p:nvSpPr>
        <p:spPr>
          <a:xfrm>
            <a:off x="10211400" y="1868040"/>
            <a:ext cx="9885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— baseline —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2" name=""/>
          <p:cNvSpPr txBox="1"/>
          <p:nvPr/>
        </p:nvSpPr>
        <p:spPr>
          <a:xfrm>
            <a:off x="1099080" y="2241360"/>
            <a:ext cx="12096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450" strike="noStrike" u="none">
                <a:solidFill>
                  <a:srgbClr val="0a0a0a"/>
                </a:solidFill>
                <a:effectLst/>
                <a:uFillTx/>
                <a:latin typeface="Fraunces-Regular_opsz143D6A_wght1900000"/>
                <a:ea typeface="Fraunces-Regular_opsz143D6A_wght1900000"/>
              </a:rPr>
              <a:t>MAJ (memory)</a:t>
            </a:r>
            <a:endParaRPr b="0" lang="en-IN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3" name=""/>
          <p:cNvSpPr txBox="1"/>
          <p:nvPr/>
        </p:nvSpPr>
        <p:spPr>
          <a:xfrm>
            <a:off x="5893920" y="2305080"/>
            <a:ext cx="48096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260" strike="noStrike" u="none">
                <a:solidFill>
                  <a:srgbClr val="0a0a0a"/>
                </a:solidFill>
                <a:effectLst/>
                <a:uFillTx/>
                <a:latin typeface="JetBrainsMonoRoman"/>
                <a:ea typeface="JetBrainsMonoRoman"/>
              </a:rPr>
              <a:t>65.0%</a:t>
            </a:r>
            <a:endParaRPr b="0" lang="en-IN" sz="12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4" name=""/>
          <p:cNvSpPr txBox="1"/>
          <p:nvPr/>
        </p:nvSpPr>
        <p:spPr>
          <a:xfrm>
            <a:off x="7691760" y="2325240"/>
            <a:ext cx="4122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4.5 s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5" name=""/>
          <p:cNvSpPr txBox="1"/>
          <p:nvPr/>
        </p:nvSpPr>
        <p:spPr>
          <a:xfrm>
            <a:off x="10211400" y="2325240"/>
            <a:ext cx="3301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1.3×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6" name=""/>
          <p:cNvSpPr txBox="1"/>
          <p:nvPr/>
        </p:nvSpPr>
        <p:spPr>
          <a:xfrm>
            <a:off x="1099080" y="2689200"/>
            <a:ext cx="10868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450" strike="noStrike" u="none">
                <a:solidFill>
                  <a:srgbClr val="0a0a0a"/>
                </a:solidFill>
                <a:effectLst/>
                <a:uFillTx/>
                <a:latin typeface="Fraunces-Regular_opsz143D6A_wght1900000"/>
                <a:ea typeface="Fraunces-Regular_opsz143D6A_wght1900000"/>
              </a:rPr>
              <a:t>MCTS-Judge</a:t>
            </a:r>
            <a:endParaRPr b="0" lang="en-IN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7" name=""/>
          <p:cNvSpPr txBox="1"/>
          <p:nvPr/>
        </p:nvSpPr>
        <p:spPr>
          <a:xfrm>
            <a:off x="5893920" y="2753280"/>
            <a:ext cx="48096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260" strike="noStrike" u="none">
                <a:solidFill>
                  <a:srgbClr val="0a0a0a"/>
                </a:solidFill>
                <a:effectLst/>
                <a:uFillTx/>
                <a:latin typeface="JetBrainsMonoRoman"/>
                <a:ea typeface="JetBrainsMonoRoman"/>
              </a:rPr>
              <a:t>70.0%</a:t>
            </a:r>
            <a:endParaRPr b="0" lang="en-IN" sz="12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8" name=""/>
          <p:cNvSpPr txBox="1"/>
          <p:nvPr/>
        </p:nvSpPr>
        <p:spPr>
          <a:xfrm>
            <a:off x="7691760" y="2773440"/>
            <a:ext cx="4946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31.8 s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9" name=""/>
          <p:cNvSpPr txBox="1"/>
          <p:nvPr/>
        </p:nvSpPr>
        <p:spPr>
          <a:xfrm>
            <a:off x="10211400" y="2773440"/>
            <a:ext cx="3301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07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8.8×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0" name=""/>
          <p:cNvSpPr txBox="1"/>
          <p:nvPr/>
        </p:nvSpPr>
        <p:spPr>
          <a:xfrm>
            <a:off x="1099080" y="3146400"/>
            <a:ext cx="19630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450" strike="noStrike" u="none">
                <a:solidFill>
                  <a:srgbClr val="0a0a0a"/>
                </a:solidFill>
                <a:effectLst/>
                <a:uFillTx/>
                <a:latin typeface="Fraunces-Regular_opsz143D6A_wght1900000"/>
                <a:ea typeface="Fraunces-Regular_opsz143D6A_wght1900000"/>
              </a:rPr>
              <a:t>MCTS-Judge + Memory</a:t>
            </a:r>
            <a:endParaRPr b="0" lang="en-IN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1" name=""/>
          <p:cNvSpPr txBox="1"/>
          <p:nvPr/>
        </p:nvSpPr>
        <p:spPr>
          <a:xfrm>
            <a:off x="5893920" y="3210480"/>
            <a:ext cx="48096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260" strike="noStrike" u="none">
                <a:solidFill>
                  <a:srgbClr val="0a0a0a"/>
                </a:solidFill>
                <a:effectLst/>
                <a:uFillTx/>
                <a:latin typeface="JetBrainsMonoRoman"/>
                <a:ea typeface="JetBrainsMonoRoman"/>
              </a:rPr>
              <a:t>71.8%</a:t>
            </a:r>
            <a:endParaRPr b="0" lang="en-IN" sz="12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2" name=""/>
          <p:cNvSpPr txBox="1"/>
          <p:nvPr/>
        </p:nvSpPr>
        <p:spPr>
          <a:xfrm>
            <a:off x="7691760" y="3230640"/>
            <a:ext cx="4946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33.3 s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3" name=""/>
          <p:cNvSpPr txBox="1"/>
          <p:nvPr/>
        </p:nvSpPr>
        <p:spPr>
          <a:xfrm>
            <a:off x="10211400" y="3230640"/>
            <a:ext cx="3301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07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9.2×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4" name=""/>
          <p:cNvSpPr txBox="1"/>
          <p:nvPr/>
        </p:nvSpPr>
        <p:spPr>
          <a:xfrm>
            <a:off x="975600" y="3684600"/>
            <a:ext cx="58968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300" strike="noStrike" u="none">
                <a:solidFill>
                  <a:srgbClr val="8b1538"/>
                </a:solidFill>
                <a:effectLst/>
                <a:uFillTx/>
                <a:latin typeface="Fraunces-Regular_opsz119999_wght12C0000"/>
                <a:ea typeface="Fraunces-Regular_opsz119999_wght12C0000"/>
              </a:rPr>
              <a:t>MCTS modes cost </a:t>
            </a:r>
            <a:r>
              <a:rPr b="1" lang="en-IN" sz="1300" strike="noStrike" u="none">
                <a:solidFill>
                  <a:srgbClr val="0a0a0a"/>
                </a:solidFill>
                <a:effectLst/>
                <a:uFillTx/>
                <a:latin typeface="Fraunces-Regular_opsz119999_wght2580000"/>
                <a:ea typeface="Fraunces-Regular_opsz119999_wght2580000"/>
              </a:rPr>
              <a:t>~9× more latency</a:t>
            </a:r>
            <a:r>
              <a:rPr b="0" lang="en-IN" sz="1300" strike="noStrike" u="none">
                <a:solidFill>
                  <a:srgbClr val="8b1538"/>
                </a:solidFill>
                <a:effectLst/>
                <a:uFillTx/>
                <a:latin typeface="Fraunces-Regular_opsz119999_wght12C0000"/>
                <a:ea typeface="Fraunces-Regular_opsz119999_wght12C0000"/>
              </a:rPr>
              <a:t> for </a:t>
            </a:r>
            <a:r>
              <a:rPr b="1" lang="en-IN" sz="1300" strike="noStrike" u="none">
                <a:solidFill>
                  <a:srgbClr val="0a0a0a"/>
                </a:solidFill>
                <a:effectLst/>
                <a:uFillTx/>
                <a:latin typeface="Fraunces-Regular_opsz119999_wght2580000"/>
                <a:ea typeface="Fraunces-Regular_opsz119999_wght2580000"/>
              </a:rPr>
              <a:t>no significant accuracy gain</a:t>
            </a:r>
            <a:r>
              <a:rPr b="0" lang="en-IN" sz="1300" strike="noStrike" u="none">
                <a:solidFill>
                  <a:srgbClr val="8b1538"/>
                </a:solidFill>
                <a:effectLst/>
                <a:uFillTx/>
                <a:latin typeface="Fraunces-Regular_opsz119999_wght12C0000"/>
                <a:ea typeface="Fraunces-Regular_opsz119999_wght12C0000"/>
              </a:rPr>
              <a:t>.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5" name=""/>
          <p:cNvSpPr txBox="1"/>
          <p:nvPr/>
        </p:nvSpPr>
        <p:spPr>
          <a:xfrm>
            <a:off x="932760" y="3957120"/>
            <a:ext cx="12052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2a2a2a"/>
                </a:solidFill>
                <a:effectLst/>
                <a:uFillTx/>
                <a:latin typeface="Fraunces-Regular_opszEF5C2_wght12C0000"/>
                <a:ea typeface="Fraunces-Regular_opszEF5C2_wght12C0000"/>
              </a:rPr>
              <a:t>Hence: reported as 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6" name=""/>
          <p:cNvSpPr txBox="1"/>
          <p:nvPr/>
        </p:nvSpPr>
        <p:spPr>
          <a:xfrm>
            <a:off x="2136960" y="3957120"/>
            <a:ext cx="702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110" strike="noStrike" u="none">
                <a:solidFill>
                  <a:srgbClr val="8b1538"/>
                </a:solidFill>
                <a:effectLst/>
                <a:uFillTx/>
                <a:latin typeface="Fraunces-Regular_opszEF5C2_wght1900000"/>
                <a:ea typeface="Fraunces-Regular_opszEF5C2_wght1900000"/>
              </a:rPr>
              <a:t>exploratory</a:t>
            </a:r>
            <a:endParaRPr b="0" lang="en-IN" sz="11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7" name=""/>
          <p:cNvSpPr txBox="1"/>
          <p:nvPr/>
        </p:nvSpPr>
        <p:spPr>
          <a:xfrm>
            <a:off x="2834280" y="3957120"/>
            <a:ext cx="12204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2a2a2a"/>
                </a:solidFill>
                <a:effectLst/>
                <a:uFillTx/>
                <a:latin typeface="Fraunces-Regular_opszEF5C2_wght12C0000"/>
                <a:ea typeface="Fraunces-Regular_opszEF5C2_wght12C0000"/>
              </a:rPr>
              <a:t>, not recommended.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8" name=""/>
          <p:cNvSpPr txBox="1"/>
          <p:nvPr/>
        </p:nvSpPr>
        <p:spPr>
          <a:xfrm>
            <a:off x="685800" y="8312040"/>
            <a:ext cx="2566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MEMORY-ASSISTED LLM AS A JUDGE VIA KNOWLEDGE GRAPHS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9" name=""/>
          <p:cNvSpPr txBox="1"/>
          <p:nvPr/>
        </p:nvSpPr>
        <p:spPr>
          <a:xfrm>
            <a:off x="11400480" y="8312040"/>
            <a:ext cx="13590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30 / 36  ·  K. PATEL · 2026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1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2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3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4" name=""/>
          <p:cNvSpPr/>
          <p:nvPr/>
        </p:nvSpPr>
        <p:spPr>
          <a:xfrm>
            <a:off x="273960" y="171360"/>
            <a:ext cx="13167720" cy="8229960"/>
          </a:xfrm>
          <a:custGeom>
            <a:avLst/>
            <a:gdLst/>
            <a:ahLst/>
            <a:rect l="0" t="0" r="r" b="b"/>
            <a:pathLst>
              <a:path w="36577" h="22861">
                <a:moveTo>
                  <a:pt x="0" y="0"/>
                </a:moveTo>
                <a:lnTo>
                  <a:pt x="36577" y="0"/>
                </a:lnTo>
                <a:lnTo>
                  <a:pt x="36577" y="22861"/>
                </a:lnTo>
                <a:lnTo>
                  <a:pt x="0" y="22861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5" name=""/>
          <p:cNvSpPr txBox="1"/>
          <p:nvPr/>
        </p:nvSpPr>
        <p:spPr>
          <a:xfrm>
            <a:off x="932760" y="579960"/>
            <a:ext cx="292536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DISCUSSION · THREATS TO VALIDITY · §5.9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6" name=""/>
          <p:cNvSpPr/>
          <p:nvPr/>
        </p:nvSpPr>
        <p:spPr>
          <a:xfrm>
            <a:off x="946080" y="1419480"/>
            <a:ext cx="5834520" cy="1143360"/>
          </a:xfrm>
          <a:custGeom>
            <a:avLst/>
            <a:gdLst/>
            <a:ahLst/>
            <a:rect l="0" t="0" r="r" b="b"/>
            <a:pathLst>
              <a:path w="16207" h="3176">
                <a:moveTo>
                  <a:pt x="0" y="3087"/>
                </a:moveTo>
                <a:lnTo>
                  <a:pt x="0" y="89"/>
                </a:lnTo>
                <a:cubicBezTo>
                  <a:pt x="0" y="77"/>
                  <a:pt x="2" y="66"/>
                  <a:pt x="5" y="55"/>
                </a:cubicBezTo>
                <a:cubicBezTo>
                  <a:pt x="8" y="44"/>
                  <a:pt x="13" y="34"/>
                  <a:pt x="19" y="26"/>
                </a:cubicBezTo>
                <a:cubicBezTo>
                  <a:pt x="25" y="18"/>
                  <a:pt x="32" y="11"/>
                  <a:pt x="40" y="7"/>
                </a:cubicBezTo>
                <a:cubicBezTo>
                  <a:pt x="47" y="2"/>
                  <a:pt x="55" y="0"/>
                  <a:pt x="64" y="0"/>
                </a:cubicBezTo>
                <a:lnTo>
                  <a:pt x="16118" y="0"/>
                </a:lnTo>
                <a:cubicBezTo>
                  <a:pt x="16129" y="0"/>
                  <a:pt x="16141" y="2"/>
                  <a:pt x="16152" y="7"/>
                </a:cubicBezTo>
                <a:cubicBezTo>
                  <a:pt x="16163" y="11"/>
                  <a:pt x="16172" y="18"/>
                  <a:pt x="16181" y="26"/>
                </a:cubicBezTo>
                <a:cubicBezTo>
                  <a:pt x="16189" y="34"/>
                  <a:pt x="16195" y="44"/>
                  <a:pt x="16200" y="55"/>
                </a:cubicBezTo>
                <a:cubicBezTo>
                  <a:pt x="16204" y="66"/>
                  <a:pt x="16207" y="77"/>
                  <a:pt x="16207" y="89"/>
                </a:cubicBezTo>
                <a:lnTo>
                  <a:pt x="16207" y="3087"/>
                </a:lnTo>
                <a:cubicBezTo>
                  <a:pt x="16207" y="3099"/>
                  <a:pt x="16204" y="3110"/>
                  <a:pt x="16200" y="3121"/>
                </a:cubicBezTo>
                <a:cubicBezTo>
                  <a:pt x="16195" y="3132"/>
                  <a:pt x="16189" y="3141"/>
                  <a:pt x="16181" y="3150"/>
                </a:cubicBezTo>
                <a:cubicBezTo>
                  <a:pt x="16172" y="3158"/>
                  <a:pt x="16163" y="3165"/>
                  <a:pt x="16152" y="3169"/>
                </a:cubicBezTo>
                <a:cubicBezTo>
                  <a:pt x="16141" y="3174"/>
                  <a:pt x="16129" y="3176"/>
                  <a:pt x="16118" y="3176"/>
                </a:cubicBezTo>
                <a:lnTo>
                  <a:pt x="64" y="3176"/>
                </a:lnTo>
                <a:cubicBezTo>
                  <a:pt x="55" y="3176"/>
                  <a:pt x="47" y="3174"/>
                  <a:pt x="40" y="3169"/>
                </a:cubicBezTo>
                <a:cubicBezTo>
                  <a:pt x="32" y="3165"/>
                  <a:pt x="25" y="3158"/>
                  <a:pt x="19" y="3150"/>
                </a:cubicBezTo>
                <a:cubicBezTo>
                  <a:pt x="13" y="3141"/>
                  <a:pt x="8" y="3132"/>
                  <a:pt x="5" y="3121"/>
                </a:cubicBezTo>
                <a:cubicBezTo>
                  <a:pt x="2" y="3110"/>
                  <a:pt x="0" y="3099"/>
                  <a:pt x="0" y="308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7" name=""/>
          <p:cNvSpPr/>
          <p:nvPr/>
        </p:nvSpPr>
        <p:spPr>
          <a:xfrm>
            <a:off x="948960" y="1414800"/>
            <a:ext cx="5825880" cy="18000"/>
          </a:xfrm>
          <a:custGeom>
            <a:avLst/>
            <a:gdLst/>
            <a:ahLst/>
            <a:rect l="0" t="0" r="r" b="b"/>
            <a:pathLst>
              <a:path w="16183" h="50">
                <a:moveTo>
                  <a:pt x="16165" y="50"/>
                </a:moveTo>
                <a:cubicBezTo>
                  <a:pt x="16164" y="50"/>
                  <a:pt x="16164" y="49"/>
                  <a:pt x="16164" y="49"/>
                </a:cubicBezTo>
                <a:cubicBezTo>
                  <a:pt x="16149" y="34"/>
                  <a:pt x="16131" y="27"/>
                  <a:pt x="16110" y="27"/>
                </a:cubicBezTo>
                <a:lnTo>
                  <a:pt x="56" y="27"/>
                </a:lnTo>
                <a:cubicBezTo>
                  <a:pt x="52" y="27"/>
                  <a:pt x="49" y="29"/>
                  <a:pt x="46" y="33"/>
                </a:cubicBezTo>
                <a:lnTo>
                  <a:pt x="0" y="17"/>
                </a:lnTo>
                <a:cubicBezTo>
                  <a:pt x="17" y="6"/>
                  <a:pt x="35" y="0"/>
                  <a:pt x="56" y="0"/>
                </a:cubicBezTo>
                <a:lnTo>
                  <a:pt x="16110" y="0"/>
                </a:lnTo>
                <a:cubicBezTo>
                  <a:pt x="16138" y="0"/>
                  <a:pt x="16162" y="10"/>
                  <a:pt x="16182" y="31"/>
                </a:cubicBezTo>
                <a:cubicBezTo>
                  <a:pt x="16182" y="31"/>
                  <a:pt x="16182" y="32"/>
                  <a:pt x="16183" y="32"/>
                </a:cubicBezTo>
                <a:lnTo>
                  <a:pt x="16165" y="5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8" name=""/>
          <p:cNvSpPr/>
          <p:nvPr/>
        </p:nvSpPr>
        <p:spPr>
          <a:xfrm>
            <a:off x="948960" y="2549520"/>
            <a:ext cx="5825880" cy="18000"/>
          </a:xfrm>
          <a:custGeom>
            <a:avLst/>
            <a:gdLst/>
            <a:ahLst/>
            <a:rect l="0" t="0" r="r" b="b"/>
            <a:pathLst>
              <a:path w="16183" h="50">
                <a:moveTo>
                  <a:pt x="46" y="17"/>
                </a:moveTo>
                <a:cubicBezTo>
                  <a:pt x="49" y="21"/>
                  <a:pt x="52" y="23"/>
                  <a:pt x="56" y="23"/>
                </a:cubicBezTo>
                <a:lnTo>
                  <a:pt x="16110" y="23"/>
                </a:lnTo>
                <a:cubicBezTo>
                  <a:pt x="16131" y="23"/>
                  <a:pt x="16149" y="16"/>
                  <a:pt x="16164" y="1"/>
                </a:cubicBezTo>
                <a:cubicBezTo>
                  <a:pt x="16164" y="0"/>
                  <a:pt x="16164" y="0"/>
                  <a:pt x="16165" y="0"/>
                </a:cubicBezTo>
                <a:lnTo>
                  <a:pt x="16183" y="18"/>
                </a:lnTo>
                <a:cubicBezTo>
                  <a:pt x="16182" y="18"/>
                  <a:pt x="16182" y="18"/>
                  <a:pt x="16182" y="19"/>
                </a:cubicBezTo>
                <a:cubicBezTo>
                  <a:pt x="16162" y="39"/>
                  <a:pt x="16138" y="50"/>
                  <a:pt x="16110" y="50"/>
                </a:cubicBezTo>
                <a:lnTo>
                  <a:pt x="56" y="50"/>
                </a:lnTo>
                <a:cubicBezTo>
                  <a:pt x="35" y="50"/>
                  <a:pt x="17" y="43"/>
                  <a:pt x="0" y="32"/>
                </a:cubicBezTo>
                <a:lnTo>
                  <a:pt x="46" y="17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9" name=""/>
          <p:cNvSpPr/>
          <p:nvPr/>
        </p:nvSpPr>
        <p:spPr>
          <a:xfrm>
            <a:off x="6767640" y="1425600"/>
            <a:ext cx="17280" cy="1131120"/>
          </a:xfrm>
          <a:custGeom>
            <a:avLst/>
            <a:gdLst/>
            <a:ahLst/>
            <a:rect l="0" t="0" r="r" b="b"/>
            <a:pathLst>
              <a:path w="48" h="3142">
                <a:moveTo>
                  <a:pt x="0" y="3124"/>
                </a:moveTo>
                <a:cubicBezTo>
                  <a:pt x="14" y="3109"/>
                  <a:pt x="22" y="3091"/>
                  <a:pt x="22" y="3070"/>
                </a:cubicBezTo>
                <a:lnTo>
                  <a:pt x="22" y="72"/>
                </a:lnTo>
                <a:cubicBezTo>
                  <a:pt x="22" y="51"/>
                  <a:pt x="14" y="33"/>
                  <a:pt x="0" y="18"/>
                </a:cubicBezTo>
                <a:lnTo>
                  <a:pt x="18" y="0"/>
                </a:lnTo>
                <a:cubicBezTo>
                  <a:pt x="38" y="20"/>
                  <a:pt x="48" y="44"/>
                  <a:pt x="48" y="72"/>
                </a:cubicBezTo>
                <a:lnTo>
                  <a:pt x="48" y="3070"/>
                </a:lnTo>
                <a:cubicBezTo>
                  <a:pt x="48" y="3098"/>
                  <a:pt x="38" y="3122"/>
                  <a:pt x="18" y="3142"/>
                </a:cubicBezTo>
                <a:lnTo>
                  <a:pt x="0" y="3124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0" name=""/>
          <p:cNvSpPr/>
          <p:nvPr/>
        </p:nvSpPr>
        <p:spPr>
          <a:xfrm>
            <a:off x="932400" y="1420560"/>
            <a:ext cx="33480" cy="1141200"/>
          </a:xfrm>
          <a:custGeom>
            <a:avLst/>
            <a:gdLst/>
            <a:ahLst/>
            <a:rect l="0" t="0" r="r" b="b"/>
            <a:pathLst>
              <a:path w="93" h="3170">
                <a:moveTo>
                  <a:pt x="93" y="15"/>
                </a:moveTo>
                <a:cubicBezTo>
                  <a:pt x="90" y="19"/>
                  <a:pt x="87" y="24"/>
                  <a:pt x="85" y="32"/>
                </a:cubicBezTo>
                <a:cubicBezTo>
                  <a:pt x="80" y="47"/>
                  <a:pt x="77" y="65"/>
                  <a:pt x="77" y="86"/>
                </a:cubicBezTo>
                <a:lnTo>
                  <a:pt x="77" y="3084"/>
                </a:lnTo>
                <a:cubicBezTo>
                  <a:pt x="77" y="3105"/>
                  <a:pt x="80" y="3123"/>
                  <a:pt x="85" y="3138"/>
                </a:cubicBezTo>
                <a:cubicBezTo>
                  <a:pt x="87" y="3145"/>
                  <a:pt x="90" y="3151"/>
                  <a:pt x="93" y="3155"/>
                </a:cubicBezTo>
                <a:lnTo>
                  <a:pt x="48" y="3170"/>
                </a:lnTo>
                <a:cubicBezTo>
                  <a:pt x="42" y="3166"/>
                  <a:pt x="36" y="3161"/>
                  <a:pt x="30" y="3156"/>
                </a:cubicBezTo>
                <a:cubicBezTo>
                  <a:pt x="10" y="3136"/>
                  <a:pt x="0" y="3112"/>
                  <a:pt x="0" y="3084"/>
                </a:cubicBezTo>
                <a:lnTo>
                  <a:pt x="0" y="86"/>
                </a:lnTo>
                <a:cubicBezTo>
                  <a:pt x="0" y="58"/>
                  <a:pt x="10" y="34"/>
                  <a:pt x="30" y="14"/>
                </a:cubicBezTo>
                <a:cubicBezTo>
                  <a:pt x="36" y="8"/>
                  <a:pt x="42" y="4"/>
                  <a:pt x="48" y="0"/>
                </a:cubicBezTo>
                <a:lnTo>
                  <a:pt x="93" y="15"/>
                </a:lnTo>
                <a:close/>
              </a:path>
            </a:pathLst>
          </a:custGeom>
          <a:solidFill>
            <a:srgbClr val="8b15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1" name=""/>
          <p:cNvSpPr txBox="1"/>
          <p:nvPr/>
        </p:nvSpPr>
        <p:spPr>
          <a:xfrm>
            <a:off x="932760" y="802080"/>
            <a:ext cx="853092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2760" strike="noStrike" u="none">
                <a:solidFill>
                  <a:srgbClr val="0a0a0a"/>
                </a:solidFill>
                <a:effectLst/>
                <a:uFillTx/>
                <a:latin typeface="Fraunces-Regular_opsz266666_wght2580000"/>
                <a:ea typeface="Fraunces-Regular_opsz266666_wght2580000"/>
              </a:rPr>
              <a:t>Where the null holds — and where it doesn't.</a:t>
            </a:r>
            <a:endParaRPr b="0" lang="en-IN" sz="27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2" name=""/>
          <p:cNvSpPr txBox="1"/>
          <p:nvPr/>
        </p:nvSpPr>
        <p:spPr>
          <a:xfrm>
            <a:off x="1150200" y="1585800"/>
            <a:ext cx="55224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81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S C O P E</a:t>
            </a:r>
            <a:endParaRPr b="0" lang="en-IN" sz="8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3" name=""/>
          <p:cNvSpPr txBox="1"/>
          <p:nvPr/>
        </p:nvSpPr>
        <p:spPr>
          <a:xfrm>
            <a:off x="1150200" y="1687320"/>
            <a:ext cx="1810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500" strike="noStrike" u="none">
                <a:solidFill>
                  <a:srgbClr val="0a0a0a"/>
                </a:solidFill>
                <a:effectLst/>
                <a:uFillTx/>
                <a:latin typeface="Fraunces-Regular_opsz14CCC6_wght2580000"/>
                <a:ea typeface="Fraunces-Regular_opsz14CCC6_wght2580000"/>
              </a:rPr>
              <a:t>One judge model.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4" name=""/>
          <p:cNvSpPr txBox="1"/>
          <p:nvPr/>
        </p:nvSpPr>
        <p:spPr>
          <a:xfrm>
            <a:off x="1150200" y="1979640"/>
            <a:ext cx="51498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All audited results use GPT-4o. A weaker model may have headroom for memory to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5" name=""/>
          <p:cNvSpPr/>
          <p:nvPr/>
        </p:nvSpPr>
        <p:spPr>
          <a:xfrm>
            <a:off x="6944760" y="1419480"/>
            <a:ext cx="5834160" cy="1143360"/>
          </a:xfrm>
          <a:custGeom>
            <a:avLst/>
            <a:gdLst/>
            <a:ahLst/>
            <a:rect l="0" t="0" r="r" b="b"/>
            <a:pathLst>
              <a:path w="16206" h="3176">
                <a:moveTo>
                  <a:pt x="0" y="3087"/>
                </a:moveTo>
                <a:lnTo>
                  <a:pt x="0" y="89"/>
                </a:lnTo>
                <a:cubicBezTo>
                  <a:pt x="0" y="77"/>
                  <a:pt x="1" y="66"/>
                  <a:pt x="5" y="55"/>
                </a:cubicBezTo>
                <a:cubicBezTo>
                  <a:pt x="8" y="44"/>
                  <a:pt x="12" y="34"/>
                  <a:pt x="18" y="26"/>
                </a:cubicBezTo>
                <a:cubicBezTo>
                  <a:pt x="24" y="18"/>
                  <a:pt x="31" y="11"/>
                  <a:pt x="39" y="7"/>
                </a:cubicBezTo>
                <a:cubicBezTo>
                  <a:pt x="47" y="2"/>
                  <a:pt x="55" y="0"/>
                  <a:pt x="63" y="0"/>
                </a:cubicBezTo>
                <a:lnTo>
                  <a:pt x="16117" y="0"/>
                </a:lnTo>
                <a:cubicBezTo>
                  <a:pt x="16129" y="0"/>
                  <a:pt x="16140" y="2"/>
                  <a:pt x="16151" y="7"/>
                </a:cubicBezTo>
                <a:cubicBezTo>
                  <a:pt x="16162" y="11"/>
                  <a:pt x="16172" y="18"/>
                  <a:pt x="16180" y="26"/>
                </a:cubicBezTo>
                <a:cubicBezTo>
                  <a:pt x="16188" y="34"/>
                  <a:pt x="16195" y="44"/>
                  <a:pt x="16199" y="55"/>
                </a:cubicBezTo>
                <a:cubicBezTo>
                  <a:pt x="16204" y="66"/>
                  <a:pt x="16206" y="77"/>
                  <a:pt x="16206" y="89"/>
                </a:cubicBezTo>
                <a:lnTo>
                  <a:pt x="16206" y="3087"/>
                </a:lnTo>
                <a:cubicBezTo>
                  <a:pt x="16206" y="3099"/>
                  <a:pt x="16204" y="3110"/>
                  <a:pt x="16199" y="3121"/>
                </a:cubicBezTo>
                <a:cubicBezTo>
                  <a:pt x="16195" y="3132"/>
                  <a:pt x="16188" y="3141"/>
                  <a:pt x="16180" y="3150"/>
                </a:cubicBezTo>
                <a:cubicBezTo>
                  <a:pt x="16172" y="3158"/>
                  <a:pt x="16162" y="3165"/>
                  <a:pt x="16151" y="3169"/>
                </a:cubicBezTo>
                <a:cubicBezTo>
                  <a:pt x="16140" y="3174"/>
                  <a:pt x="16129" y="3176"/>
                  <a:pt x="16117" y="3176"/>
                </a:cubicBezTo>
                <a:lnTo>
                  <a:pt x="63" y="3176"/>
                </a:lnTo>
                <a:cubicBezTo>
                  <a:pt x="55" y="3176"/>
                  <a:pt x="47" y="3174"/>
                  <a:pt x="39" y="3169"/>
                </a:cubicBezTo>
                <a:cubicBezTo>
                  <a:pt x="31" y="3165"/>
                  <a:pt x="24" y="3158"/>
                  <a:pt x="18" y="3150"/>
                </a:cubicBezTo>
                <a:cubicBezTo>
                  <a:pt x="12" y="3141"/>
                  <a:pt x="8" y="3132"/>
                  <a:pt x="5" y="3121"/>
                </a:cubicBezTo>
                <a:cubicBezTo>
                  <a:pt x="1" y="3110"/>
                  <a:pt x="0" y="3099"/>
                  <a:pt x="0" y="308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6" name=""/>
          <p:cNvSpPr/>
          <p:nvPr/>
        </p:nvSpPr>
        <p:spPr>
          <a:xfrm>
            <a:off x="6947640" y="1414800"/>
            <a:ext cx="5825520" cy="18000"/>
          </a:xfrm>
          <a:custGeom>
            <a:avLst/>
            <a:gdLst/>
            <a:ahLst/>
            <a:rect l="0" t="0" r="r" b="b"/>
            <a:pathLst>
              <a:path w="16182" h="50">
                <a:moveTo>
                  <a:pt x="16164" y="50"/>
                </a:moveTo>
                <a:lnTo>
                  <a:pt x="16163" y="49"/>
                </a:lnTo>
                <a:cubicBezTo>
                  <a:pt x="16148" y="34"/>
                  <a:pt x="16130" y="27"/>
                  <a:pt x="16109" y="27"/>
                </a:cubicBezTo>
                <a:lnTo>
                  <a:pt x="55" y="27"/>
                </a:lnTo>
                <a:cubicBezTo>
                  <a:pt x="52" y="27"/>
                  <a:pt x="48" y="29"/>
                  <a:pt x="45" y="33"/>
                </a:cubicBezTo>
                <a:lnTo>
                  <a:pt x="0" y="17"/>
                </a:lnTo>
                <a:cubicBezTo>
                  <a:pt x="16" y="6"/>
                  <a:pt x="35" y="0"/>
                  <a:pt x="55" y="0"/>
                </a:cubicBezTo>
                <a:lnTo>
                  <a:pt x="16109" y="0"/>
                </a:lnTo>
                <a:cubicBezTo>
                  <a:pt x="16137" y="0"/>
                  <a:pt x="16161" y="10"/>
                  <a:pt x="16181" y="31"/>
                </a:cubicBezTo>
                <a:lnTo>
                  <a:pt x="16182" y="32"/>
                </a:lnTo>
                <a:lnTo>
                  <a:pt x="16164" y="5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7" name=""/>
          <p:cNvSpPr/>
          <p:nvPr/>
        </p:nvSpPr>
        <p:spPr>
          <a:xfrm>
            <a:off x="6947640" y="2549520"/>
            <a:ext cx="5825520" cy="18000"/>
          </a:xfrm>
          <a:custGeom>
            <a:avLst/>
            <a:gdLst/>
            <a:ahLst/>
            <a:rect l="0" t="0" r="r" b="b"/>
            <a:pathLst>
              <a:path w="16182" h="50">
                <a:moveTo>
                  <a:pt x="45" y="17"/>
                </a:moveTo>
                <a:cubicBezTo>
                  <a:pt x="48" y="21"/>
                  <a:pt x="52" y="23"/>
                  <a:pt x="55" y="23"/>
                </a:cubicBezTo>
                <a:lnTo>
                  <a:pt x="16109" y="23"/>
                </a:lnTo>
                <a:cubicBezTo>
                  <a:pt x="16130" y="23"/>
                  <a:pt x="16148" y="16"/>
                  <a:pt x="16163" y="1"/>
                </a:cubicBezTo>
                <a:cubicBezTo>
                  <a:pt x="16163" y="0"/>
                  <a:pt x="16164" y="0"/>
                  <a:pt x="16164" y="0"/>
                </a:cubicBezTo>
                <a:lnTo>
                  <a:pt x="16182" y="18"/>
                </a:lnTo>
                <a:cubicBezTo>
                  <a:pt x="16182" y="18"/>
                  <a:pt x="16181" y="18"/>
                  <a:pt x="16181" y="19"/>
                </a:cubicBezTo>
                <a:cubicBezTo>
                  <a:pt x="16161" y="39"/>
                  <a:pt x="16137" y="50"/>
                  <a:pt x="16109" y="50"/>
                </a:cubicBezTo>
                <a:lnTo>
                  <a:pt x="55" y="50"/>
                </a:lnTo>
                <a:cubicBezTo>
                  <a:pt x="35" y="50"/>
                  <a:pt x="16" y="43"/>
                  <a:pt x="0" y="32"/>
                </a:cubicBezTo>
                <a:lnTo>
                  <a:pt x="45" y="17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8" name=""/>
          <p:cNvSpPr/>
          <p:nvPr/>
        </p:nvSpPr>
        <p:spPr>
          <a:xfrm>
            <a:off x="12765960" y="1425600"/>
            <a:ext cx="18000" cy="1131120"/>
          </a:xfrm>
          <a:custGeom>
            <a:avLst/>
            <a:gdLst/>
            <a:ahLst/>
            <a:rect l="0" t="0" r="r" b="b"/>
            <a:pathLst>
              <a:path w="50" h="3142">
                <a:moveTo>
                  <a:pt x="0" y="3124"/>
                </a:moveTo>
                <a:cubicBezTo>
                  <a:pt x="16" y="3109"/>
                  <a:pt x="23" y="3091"/>
                  <a:pt x="23" y="3070"/>
                </a:cubicBezTo>
                <a:lnTo>
                  <a:pt x="23" y="72"/>
                </a:lnTo>
                <a:cubicBezTo>
                  <a:pt x="23" y="51"/>
                  <a:pt x="16" y="33"/>
                  <a:pt x="0" y="18"/>
                </a:cubicBezTo>
                <a:lnTo>
                  <a:pt x="19" y="0"/>
                </a:lnTo>
                <a:cubicBezTo>
                  <a:pt x="39" y="20"/>
                  <a:pt x="50" y="44"/>
                  <a:pt x="50" y="72"/>
                </a:cubicBezTo>
                <a:lnTo>
                  <a:pt x="50" y="3070"/>
                </a:lnTo>
                <a:cubicBezTo>
                  <a:pt x="50" y="3098"/>
                  <a:pt x="39" y="3122"/>
                  <a:pt x="19" y="3142"/>
                </a:cubicBezTo>
                <a:lnTo>
                  <a:pt x="0" y="3124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9" name=""/>
          <p:cNvSpPr/>
          <p:nvPr/>
        </p:nvSpPr>
        <p:spPr>
          <a:xfrm>
            <a:off x="6931080" y="1420560"/>
            <a:ext cx="33480" cy="1141200"/>
          </a:xfrm>
          <a:custGeom>
            <a:avLst/>
            <a:gdLst/>
            <a:ahLst/>
            <a:rect l="0" t="0" r="r" b="b"/>
            <a:pathLst>
              <a:path w="93" h="3170">
                <a:moveTo>
                  <a:pt x="93" y="15"/>
                </a:moveTo>
                <a:cubicBezTo>
                  <a:pt x="90" y="19"/>
                  <a:pt x="87" y="24"/>
                  <a:pt x="84" y="32"/>
                </a:cubicBezTo>
                <a:cubicBezTo>
                  <a:pt x="79" y="47"/>
                  <a:pt x="77" y="65"/>
                  <a:pt x="77" y="86"/>
                </a:cubicBezTo>
                <a:lnTo>
                  <a:pt x="77" y="3084"/>
                </a:lnTo>
                <a:cubicBezTo>
                  <a:pt x="77" y="3105"/>
                  <a:pt x="79" y="3123"/>
                  <a:pt x="84" y="3138"/>
                </a:cubicBezTo>
                <a:cubicBezTo>
                  <a:pt x="87" y="3145"/>
                  <a:pt x="90" y="3151"/>
                  <a:pt x="93" y="3155"/>
                </a:cubicBezTo>
                <a:lnTo>
                  <a:pt x="48" y="3170"/>
                </a:lnTo>
                <a:cubicBezTo>
                  <a:pt x="42" y="3166"/>
                  <a:pt x="36" y="3161"/>
                  <a:pt x="30" y="3156"/>
                </a:cubicBezTo>
                <a:cubicBezTo>
                  <a:pt x="10" y="3136"/>
                  <a:pt x="0" y="3112"/>
                  <a:pt x="0" y="3084"/>
                </a:cubicBezTo>
                <a:lnTo>
                  <a:pt x="0" y="86"/>
                </a:lnTo>
                <a:cubicBezTo>
                  <a:pt x="0" y="58"/>
                  <a:pt x="10" y="34"/>
                  <a:pt x="30" y="14"/>
                </a:cubicBezTo>
                <a:cubicBezTo>
                  <a:pt x="36" y="8"/>
                  <a:pt x="42" y="4"/>
                  <a:pt x="48" y="0"/>
                </a:cubicBezTo>
                <a:lnTo>
                  <a:pt x="93" y="15"/>
                </a:lnTo>
                <a:close/>
              </a:path>
            </a:pathLst>
          </a:custGeom>
          <a:solidFill>
            <a:srgbClr val="8b15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0" name=""/>
          <p:cNvSpPr txBox="1"/>
          <p:nvPr/>
        </p:nvSpPr>
        <p:spPr>
          <a:xfrm>
            <a:off x="1150200" y="2180880"/>
            <a:ext cx="18046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help; a stronger one may not.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1" name=""/>
          <p:cNvSpPr txBox="1"/>
          <p:nvPr/>
        </p:nvSpPr>
        <p:spPr>
          <a:xfrm>
            <a:off x="7148880" y="1585800"/>
            <a:ext cx="55224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81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P O W E R</a:t>
            </a:r>
            <a:endParaRPr b="0" lang="en-IN" sz="8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2" name=""/>
          <p:cNvSpPr txBox="1"/>
          <p:nvPr/>
        </p:nvSpPr>
        <p:spPr>
          <a:xfrm>
            <a:off x="7148880" y="1687320"/>
            <a:ext cx="1290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500" strike="noStrike" u="none">
                <a:solidFill>
                  <a:srgbClr val="0a0a0a"/>
                </a:solidFill>
                <a:effectLst/>
                <a:uFillTx/>
                <a:latin typeface="Fraunces-Regular_opsz14CCC6_wght2580000"/>
                <a:ea typeface="Fraunces-Regular_opsz14CCC6_wght2580000"/>
              </a:rPr>
              <a:t>n = 80, MDE 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3" name=""/>
          <p:cNvSpPr txBox="1"/>
          <p:nvPr/>
        </p:nvSpPr>
        <p:spPr>
          <a:xfrm>
            <a:off x="8271720" y="1721160"/>
            <a:ext cx="1897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500" strike="noStrike" u="none">
                <a:solidFill>
                  <a:srgbClr val="0a0a0a"/>
                </a:solidFill>
                <a:effectLst/>
                <a:uFillTx/>
                <a:latin typeface="Times New Roman"/>
                <a:ea typeface="Times New Roman"/>
              </a:rPr>
              <a:t>≈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4" name=""/>
          <p:cNvSpPr txBox="1"/>
          <p:nvPr/>
        </p:nvSpPr>
        <p:spPr>
          <a:xfrm>
            <a:off x="8374680" y="1687320"/>
            <a:ext cx="1048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500" strike="noStrike" u="none">
                <a:solidFill>
                  <a:srgbClr val="0a0a0a"/>
                </a:solidFill>
                <a:effectLst/>
                <a:uFillTx/>
                <a:latin typeface="Fraunces-Regular_opsz14CCC6_wght2580000"/>
                <a:ea typeface="Fraunces-Regular_opsz14CCC6_wght2580000"/>
              </a:rPr>
              <a:t> 12–15 pp.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5" name=""/>
          <p:cNvSpPr txBox="1"/>
          <p:nvPr/>
        </p:nvSpPr>
        <p:spPr>
          <a:xfrm>
            <a:off x="7148880" y="1979640"/>
            <a:ext cx="51850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Powered to detect the conventional 6–10 pp claim, and didn't. A small genuine effect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6" name=""/>
          <p:cNvSpPr/>
          <p:nvPr/>
        </p:nvSpPr>
        <p:spPr>
          <a:xfrm>
            <a:off x="946080" y="2718000"/>
            <a:ext cx="5834520" cy="1134000"/>
          </a:xfrm>
          <a:custGeom>
            <a:avLst/>
            <a:gdLst/>
            <a:ahLst/>
            <a:rect l="0" t="0" r="r" b="b"/>
            <a:pathLst>
              <a:path w="16207" h="3150">
                <a:moveTo>
                  <a:pt x="0" y="3061"/>
                </a:moveTo>
                <a:lnTo>
                  <a:pt x="0" y="89"/>
                </a:lnTo>
                <a:cubicBezTo>
                  <a:pt x="0" y="77"/>
                  <a:pt x="2" y="65"/>
                  <a:pt x="5" y="55"/>
                </a:cubicBezTo>
                <a:cubicBezTo>
                  <a:pt x="8" y="44"/>
                  <a:pt x="13" y="34"/>
                  <a:pt x="19" y="26"/>
                </a:cubicBezTo>
                <a:cubicBezTo>
                  <a:pt x="25" y="17"/>
                  <a:pt x="32" y="11"/>
                  <a:pt x="40" y="6"/>
                </a:cubicBezTo>
                <a:cubicBezTo>
                  <a:pt x="47" y="2"/>
                  <a:pt x="55" y="0"/>
                  <a:pt x="64" y="0"/>
                </a:cubicBezTo>
                <a:lnTo>
                  <a:pt x="16118" y="0"/>
                </a:lnTo>
                <a:cubicBezTo>
                  <a:pt x="16129" y="0"/>
                  <a:pt x="16141" y="2"/>
                  <a:pt x="16152" y="6"/>
                </a:cubicBezTo>
                <a:cubicBezTo>
                  <a:pt x="16163" y="11"/>
                  <a:pt x="16172" y="17"/>
                  <a:pt x="16181" y="26"/>
                </a:cubicBezTo>
                <a:cubicBezTo>
                  <a:pt x="16189" y="34"/>
                  <a:pt x="16195" y="44"/>
                  <a:pt x="16200" y="55"/>
                </a:cubicBezTo>
                <a:cubicBezTo>
                  <a:pt x="16204" y="65"/>
                  <a:pt x="16207" y="77"/>
                  <a:pt x="16207" y="89"/>
                </a:cubicBezTo>
                <a:lnTo>
                  <a:pt x="16207" y="3061"/>
                </a:lnTo>
                <a:cubicBezTo>
                  <a:pt x="16207" y="3073"/>
                  <a:pt x="16204" y="3084"/>
                  <a:pt x="16200" y="3095"/>
                </a:cubicBezTo>
                <a:cubicBezTo>
                  <a:pt x="16195" y="3106"/>
                  <a:pt x="16189" y="3116"/>
                  <a:pt x="16181" y="3124"/>
                </a:cubicBezTo>
                <a:cubicBezTo>
                  <a:pt x="16172" y="3133"/>
                  <a:pt x="16163" y="3139"/>
                  <a:pt x="16152" y="3143"/>
                </a:cubicBezTo>
                <a:cubicBezTo>
                  <a:pt x="16141" y="3148"/>
                  <a:pt x="16129" y="3150"/>
                  <a:pt x="16118" y="3150"/>
                </a:cubicBezTo>
                <a:lnTo>
                  <a:pt x="64" y="3150"/>
                </a:lnTo>
                <a:cubicBezTo>
                  <a:pt x="55" y="3150"/>
                  <a:pt x="47" y="3148"/>
                  <a:pt x="40" y="3143"/>
                </a:cubicBezTo>
                <a:cubicBezTo>
                  <a:pt x="32" y="3139"/>
                  <a:pt x="25" y="3133"/>
                  <a:pt x="19" y="3124"/>
                </a:cubicBezTo>
                <a:cubicBezTo>
                  <a:pt x="13" y="3116"/>
                  <a:pt x="8" y="3106"/>
                  <a:pt x="5" y="3095"/>
                </a:cubicBezTo>
                <a:cubicBezTo>
                  <a:pt x="2" y="3084"/>
                  <a:pt x="0" y="3073"/>
                  <a:pt x="0" y="306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7" name=""/>
          <p:cNvSpPr/>
          <p:nvPr/>
        </p:nvSpPr>
        <p:spPr>
          <a:xfrm>
            <a:off x="948960" y="2713320"/>
            <a:ext cx="5825880" cy="18000"/>
          </a:xfrm>
          <a:custGeom>
            <a:avLst/>
            <a:gdLst/>
            <a:ahLst/>
            <a:rect l="0" t="0" r="r" b="b"/>
            <a:pathLst>
              <a:path w="16183" h="50">
                <a:moveTo>
                  <a:pt x="16165" y="50"/>
                </a:moveTo>
                <a:cubicBezTo>
                  <a:pt x="16164" y="50"/>
                  <a:pt x="16164" y="49"/>
                  <a:pt x="16164" y="49"/>
                </a:cubicBezTo>
                <a:cubicBezTo>
                  <a:pt x="16149" y="33"/>
                  <a:pt x="16131" y="25"/>
                  <a:pt x="16110" y="25"/>
                </a:cubicBezTo>
                <a:lnTo>
                  <a:pt x="56" y="25"/>
                </a:lnTo>
                <a:cubicBezTo>
                  <a:pt x="52" y="25"/>
                  <a:pt x="49" y="27"/>
                  <a:pt x="46" y="31"/>
                </a:cubicBezTo>
                <a:lnTo>
                  <a:pt x="0" y="16"/>
                </a:lnTo>
                <a:cubicBezTo>
                  <a:pt x="17" y="5"/>
                  <a:pt x="35" y="0"/>
                  <a:pt x="56" y="0"/>
                </a:cubicBezTo>
                <a:lnTo>
                  <a:pt x="16110" y="0"/>
                </a:lnTo>
                <a:cubicBezTo>
                  <a:pt x="16138" y="0"/>
                  <a:pt x="16162" y="10"/>
                  <a:pt x="16182" y="30"/>
                </a:cubicBezTo>
                <a:cubicBezTo>
                  <a:pt x="16182" y="30"/>
                  <a:pt x="16182" y="31"/>
                  <a:pt x="16183" y="31"/>
                </a:cubicBezTo>
                <a:lnTo>
                  <a:pt x="16165" y="5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8" name=""/>
          <p:cNvSpPr/>
          <p:nvPr/>
        </p:nvSpPr>
        <p:spPr>
          <a:xfrm>
            <a:off x="948960" y="3838680"/>
            <a:ext cx="5825880" cy="18000"/>
          </a:xfrm>
          <a:custGeom>
            <a:avLst/>
            <a:gdLst/>
            <a:ahLst/>
            <a:rect l="0" t="0" r="r" b="b"/>
            <a:pathLst>
              <a:path w="16183" h="50">
                <a:moveTo>
                  <a:pt x="46" y="18"/>
                </a:moveTo>
                <a:cubicBezTo>
                  <a:pt x="49" y="22"/>
                  <a:pt x="52" y="24"/>
                  <a:pt x="56" y="24"/>
                </a:cubicBezTo>
                <a:lnTo>
                  <a:pt x="16110" y="24"/>
                </a:lnTo>
                <a:cubicBezTo>
                  <a:pt x="16131" y="24"/>
                  <a:pt x="16149" y="16"/>
                  <a:pt x="16164" y="1"/>
                </a:cubicBezTo>
                <a:cubicBezTo>
                  <a:pt x="16164" y="1"/>
                  <a:pt x="16164" y="0"/>
                  <a:pt x="16165" y="0"/>
                </a:cubicBezTo>
                <a:lnTo>
                  <a:pt x="16183" y="18"/>
                </a:lnTo>
                <a:cubicBezTo>
                  <a:pt x="16182" y="18"/>
                  <a:pt x="16182" y="19"/>
                  <a:pt x="16182" y="19"/>
                </a:cubicBezTo>
                <a:cubicBezTo>
                  <a:pt x="16162" y="39"/>
                  <a:pt x="16138" y="50"/>
                  <a:pt x="16110" y="50"/>
                </a:cubicBezTo>
                <a:lnTo>
                  <a:pt x="56" y="50"/>
                </a:lnTo>
                <a:cubicBezTo>
                  <a:pt x="35" y="50"/>
                  <a:pt x="17" y="45"/>
                  <a:pt x="0" y="33"/>
                </a:cubicBezTo>
                <a:lnTo>
                  <a:pt x="46" y="18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9" name=""/>
          <p:cNvSpPr/>
          <p:nvPr/>
        </p:nvSpPr>
        <p:spPr>
          <a:xfrm>
            <a:off x="6767640" y="2724120"/>
            <a:ext cx="17280" cy="1121760"/>
          </a:xfrm>
          <a:custGeom>
            <a:avLst/>
            <a:gdLst/>
            <a:ahLst/>
            <a:rect l="0" t="0" r="r" b="b"/>
            <a:pathLst>
              <a:path w="48" h="3116">
                <a:moveTo>
                  <a:pt x="0" y="3098"/>
                </a:moveTo>
                <a:cubicBezTo>
                  <a:pt x="14" y="3083"/>
                  <a:pt x="22" y="3065"/>
                  <a:pt x="22" y="3044"/>
                </a:cubicBezTo>
                <a:lnTo>
                  <a:pt x="22" y="72"/>
                </a:lnTo>
                <a:cubicBezTo>
                  <a:pt x="22" y="51"/>
                  <a:pt x="14" y="33"/>
                  <a:pt x="0" y="18"/>
                </a:cubicBezTo>
                <a:lnTo>
                  <a:pt x="18" y="0"/>
                </a:lnTo>
                <a:cubicBezTo>
                  <a:pt x="38" y="20"/>
                  <a:pt x="48" y="43"/>
                  <a:pt x="48" y="72"/>
                </a:cubicBezTo>
                <a:lnTo>
                  <a:pt x="48" y="3044"/>
                </a:lnTo>
                <a:cubicBezTo>
                  <a:pt x="48" y="3072"/>
                  <a:pt x="38" y="3096"/>
                  <a:pt x="18" y="3116"/>
                </a:cubicBezTo>
                <a:lnTo>
                  <a:pt x="0" y="3098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0" name=""/>
          <p:cNvSpPr/>
          <p:nvPr/>
        </p:nvSpPr>
        <p:spPr>
          <a:xfrm>
            <a:off x="932400" y="2719080"/>
            <a:ext cx="33480" cy="1131840"/>
          </a:xfrm>
          <a:custGeom>
            <a:avLst/>
            <a:gdLst/>
            <a:ahLst/>
            <a:rect l="0" t="0" r="r" b="b"/>
            <a:pathLst>
              <a:path w="93" h="3144">
                <a:moveTo>
                  <a:pt x="93" y="15"/>
                </a:moveTo>
                <a:cubicBezTo>
                  <a:pt x="90" y="18"/>
                  <a:pt x="87" y="24"/>
                  <a:pt x="85" y="32"/>
                </a:cubicBezTo>
                <a:cubicBezTo>
                  <a:pt x="80" y="47"/>
                  <a:pt x="77" y="65"/>
                  <a:pt x="77" y="86"/>
                </a:cubicBezTo>
                <a:lnTo>
                  <a:pt x="77" y="3058"/>
                </a:lnTo>
                <a:cubicBezTo>
                  <a:pt x="77" y="3079"/>
                  <a:pt x="80" y="3097"/>
                  <a:pt x="85" y="3112"/>
                </a:cubicBezTo>
                <a:cubicBezTo>
                  <a:pt x="87" y="3120"/>
                  <a:pt x="90" y="3126"/>
                  <a:pt x="93" y="3129"/>
                </a:cubicBezTo>
                <a:lnTo>
                  <a:pt x="48" y="3144"/>
                </a:lnTo>
                <a:cubicBezTo>
                  <a:pt x="42" y="3140"/>
                  <a:pt x="37" y="3136"/>
                  <a:pt x="30" y="3130"/>
                </a:cubicBezTo>
                <a:cubicBezTo>
                  <a:pt x="10" y="3110"/>
                  <a:pt x="0" y="3086"/>
                  <a:pt x="0" y="3058"/>
                </a:cubicBezTo>
                <a:lnTo>
                  <a:pt x="0" y="86"/>
                </a:lnTo>
                <a:cubicBezTo>
                  <a:pt x="0" y="57"/>
                  <a:pt x="10" y="34"/>
                  <a:pt x="30" y="14"/>
                </a:cubicBezTo>
                <a:cubicBezTo>
                  <a:pt x="36" y="8"/>
                  <a:pt x="42" y="4"/>
                  <a:pt x="48" y="0"/>
                </a:cubicBezTo>
                <a:lnTo>
                  <a:pt x="93" y="15"/>
                </a:lnTo>
                <a:close/>
              </a:path>
            </a:pathLst>
          </a:custGeom>
          <a:solidFill>
            <a:srgbClr val="8b15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1" name=""/>
          <p:cNvSpPr txBox="1"/>
          <p:nvPr/>
        </p:nvSpPr>
        <p:spPr>
          <a:xfrm>
            <a:off x="7148880" y="2180880"/>
            <a:ext cx="47790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of a few points cannot be excluded — hence "no effect detected at this scale".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2" name=""/>
          <p:cNvSpPr txBox="1"/>
          <p:nvPr/>
        </p:nvSpPr>
        <p:spPr>
          <a:xfrm>
            <a:off x="1150200" y="2874960"/>
            <a:ext cx="67464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81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D O M A I N</a:t>
            </a:r>
            <a:endParaRPr b="0" lang="en-IN" sz="8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3" name=""/>
          <p:cNvSpPr txBox="1"/>
          <p:nvPr/>
        </p:nvSpPr>
        <p:spPr>
          <a:xfrm>
            <a:off x="1150200" y="2976480"/>
            <a:ext cx="2731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500" strike="noStrike" u="none">
                <a:solidFill>
                  <a:srgbClr val="0a0a0a"/>
                </a:solidFill>
                <a:effectLst/>
                <a:uFillTx/>
                <a:latin typeface="Fraunces-Regular_opsz14CCC6_wght2580000"/>
                <a:ea typeface="Fraunces-Regular_opsz14CCC6_wght2580000"/>
              </a:rPr>
              <a:t>One benchmark, one task.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4" name=""/>
          <p:cNvSpPr txBox="1"/>
          <p:nvPr/>
        </p:nvSpPr>
        <p:spPr>
          <a:xfrm>
            <a:off x="1150200" y="3269160"/>
            <a:ext cx="51652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EvalsBench: rubric-graded QA in finance/startup. Open-ended or creative tasks may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5" name=""/>
          <p:cNvSpPr/>
          <p:nvPr/>
        </p:nvSpPr>
        <p:spPr>
          <a:xfrm>
            <a:off x="6944760" y="2718000"/>
            <a:ext cx="5834160" cy="1134000"/>
          </a:xfrm>
          <a:custGeom>
            <a:avLst/>
            <a:gdLst/>
            <a:ahLst/>
            <a:rect l="0" t="0" r="r" b="b"/>
            <a:pathLst>
              <a:path w="16206" h="3150">
                <a:moveTo>
                  <a:pt x="0" y="3061"/>
                </a:moveTo>
                <a:lnTo>
                  <a:pt x="0" y="89"/>
                </a:lnTo>
                <a:cubicBezTo>
                  <a:pt x="0" y="77"/>
                  <a:pt x="1" y="65"/>
                  <a:pt x="5" y="55"/>
                </a:cubicBezTo>
                <a:cubicBezTo>
                  <a:pt x="8" y="44"/>
                  <a:pt x="12" y="34"/>
                  <a:pt x="18" y="26"/>
                </a:cubicBezTo>
                <a:cubicBezTo>
                  <a:pt x="24" y="17"/>
                  <a:pt x="31" y="11"/>
                  <a:pt x="39" y="6"/>
                </a:cubicBezTo>
                <a:cubicBezTo>
                  <a:pt x="47" y="2"/>
                  <a:pt x="55" y="0"/>
                  <a:pt x="63" y="0"/>
                </a:cubicBezTo>
                <a:lnTo>
                  <a:pt x="16117" y="0"/>
                </a:lnTo>
                <a:cubicBezTo>
                  <a:pt x="16129" y="0"/>
                  <a:pt x="16140" y="2"/>
                  <a:pt x="16151" y="6"/>
                </a:cubicBezTo>
                <a:cubicBezTo>
                  <a:pt x="16162" y="11"/>
                  <a:pt x="16172" y="17"/>
                  <a:pt x="16180" y="26"/>
                </a:cubicBezTo>
                <a:cubicBezTo>
                  <a:pt x="16188" y="34"/>
                  <a:pt x="16195" y="44"/>
                  <a:pt x="16199" y="55"/>
                </a:cubicBezTo>
                <a:cubicBezTo>
                  <a:pt x="16204" y="65"/>
                  <a:pt x="16206" y="77"/>
                  <a:pt x="16206" y="89"/>
                </a:cubicBezTo>
                <a:lnTo>
                  <a:pt x="16206" y="3061"/>
                </a:lnTo>
                <a:cubicBezTo>
                  <a:pt x="16206" y="3073"/>
                  <a:pt x="16204" y="3084"/>
                  <a:pt x="16199" y="3095"/>
                </a:cubicBezTo>
                <a:cubicBezTo>
                  <a:pt x="16195" y="3106"/>
                  <a:pt x="16188" y="3116"/>
                  <a:pt x="16180" y="3124"/>
                </a:cubicBezTo>
                <a:cubicBezTo>
                  <a:pt x="16172" y="3133"/>
                  <a:pt x="16162" y="3139"/>
                  <a:pt x="16151" y="3143"/>
                </a:cubicBezTo>
                <a:cubicBezTo>
                  <a:pt x="16140" y="3148"/>
                  <a:pt x="16129" y="3150"/>
                  <a:pt x="16117" y="3150"/>
                </a:cubicBezTo>
                <a:lnTo>
                  <a:pt x="63" y="3150"/>
                </a:lnTo>
                <a:cubicBezTo>
                  <a:pt x="55" y="3150"/>
                  <a:pt x="47" y="3148"/>
                  <a:pt x="39" y="3143"/>
                </a:cubicBezTo>
                <a:cubicBezTo>
                  <a:pt x="31" y="3139"/>
                  <a:pt x="24" y="3133"/>
                  <a:pt x="18" y="3124"/>
                </a:cubicBezTo>
                <a:cubicBezTo>
                  <a:pt x="12" y="3116"/>
                  <a:pt x="8" y="3106"/>
                  <a:pt x="5" y="3095"/>
                </a:cubicBezTo>
                <a:cubicBezTo>
                  <a:pt x="1" y="3084"/>
                  <a:pt x="0" y="3073"/>
                  <a:pt x="0" y="306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6" name=""/>
          <p:cNvSpPr/>
          <p:nvPr/>
        </p:nvSpPr>
        <p:spPr>
          <a:xfrm>
            <a:off x="6947640" y="2713320"/>
            <a:ext cx="5825520" cy="18000"/>
          </a:xfrm>
          <a:custGeom>
            <a:avLst/>
            <a:gdLst/>
            <a:ahLst/>
            <a:rect l="0" t="0" r="r" b="b"/>
            <a:pathLst>
              <a:path w="16182" h="50">
                <a:moveTo>
                  <a:pt x="16164" y="50"/>
                </a:moveTo>
                <a:lnTo>
                  <a:pt x="16163" y="49"/>
                </a:lnTo>
                <a:cubicBezTo>
                  <a:pt x="16148" y="33"/>
                  <a:pt x="16130" y="25"/>
                  <a:pt x="16109" y="25"/>
                </a:cubicBezTo>
                <a:lnTo>
                  <a:pt x="55" y="25"/>
                </a:lnTo>
                <a:cubicBezTo>
                  <a:pt x="52" y="25"/>
                  <a:pt x="48" y="27"/>
                  <a:pt x="45" y="31"/>
                </a:cubicBezTo>
                <a:lnTo>
                  <a:pt x="0" y="16"/>
                </a:lnTo>
                <a:cubicBezTo>
                  <a:pt x="16" y="5"/>
                  <a:pt x="35" y="0"/>
                  <a:pt x="55" y="0"/>
                </a:cubicBezTo>
                <a:lnTo>
                  <a:pt x="16109" y="0"/>
                </a:lnTo>
                <a:cubicBezTo>
                  <a:pt x="16137" y="0"/>
                  <a:pt x="16161" y="10"/>
                  <a:pt x="16181" y="30"/>
                </a:cubicBezTo>
                <a:lnTo>
                  <a:pt x="16182" y="31"/>
                </a:lnTo>
                <a:lnTo>
                  <a:pt x="16164" y="5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7" name=""/>
          <p:cNvSpPr/>
          <p:nvPr/>
        </p:nvSpPr>
        <p:spPr>
          <a:xfrm>
            <a:off x="6947640" y="3838680"/>
            <a:ext cx="5825520" cy="18000"/>
          </a:xfrm>
          <a:custGeom>
            <a:avLst/>
            <a:gdLst/>
            <a:ahLst/>
            <a:rect l="0" t="0" r="r" b="b"/>
            <a:pathLst>
              <a:path w="16182" h="50">
                <a:moveTo>
                  <a:pt x="45" y="18"/>
                </a:moveTo>
                <a:cubicBezTo>
                  <a:pt x="48" y="22"/>
                  <a:pt x="52" y="24"/>
                  <a:pt x="55" y="24"/>
                </a:cubicBezTo>
                <a:lnTo>
                  <a:pt x="16109" y="24"/>
                </a:lnTo>
                <a:cubicBezTo>
                  <a:pt x="16130" y="24"/>
                  <a:pt x="16148" y="16"/>
                  <a:pt x="16163" y="1"/>
                </a:cubicBezTo>
                <a:lnTo>
                  <a:pt x="16164" y="0"/>
                </a:lnTo>
                <a:lnTo>
                  <a:pt x="16182" y="18"/>
                </a:lnTo>
                <a:lnTo>
                  <a:pt x="16181" y="19"/>
                </a:lnTo>
                <a:cubicBezTo>
                  <a:pt x="16161" y="39"/>
                  <a:pt x="16137" y="50"/>
                  <a:pt x="16109" y="50"/>
                </a:cubicBezTo>
                <a:lnTo>
                  <a:pt x="55" y="50"/>
                </a:lnTo>
                <a:cubicBezTo>
                  <a:pt x="35" y="50"/>
                  <a:pt x="16" y="45"/>
                  <a:pt x="0" y="33"/>
                </a:cubicBezTo>
                <a:lnTo>
                  <a:pt x="45" y="18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8" name=""/>
          <p:cNvSpPr/>
          <p:nvPr/>
        </p:nvSpPr>
        <p:spPr>
          <a:xfrm>
            <a:off x="12765960" y="2724120"/>
            <a:ext cx="18000" cy="1121760"/>
          </a:xfrm>
          <a:custGeom>
            <a:avLst/>
            <a:gdLst/>
            <a:ahLst/>
            <a:rect l="0" t="0" r="r" b="b"/>
            <a:pathLst>
              <a:path w="50" h="3116">
                <a:moveTo>
                  <a:pt x="0" y="3098"/>
                </a:moveTo>
                <a:cubicBezTo>
                  <a:pt x="16" y="3083"/>
                  <a:pt x="23" y="3065"/>
                  <a:pt x="23" y="3044"/>
                </a:cubicBezTo>
                <a:lnTo>
                  <a:pt x="23" y="72"/>
                </a:lnTo>
                <a:cubicBezTo>
                  <a:pt x="23" y="51"/>
                  <a:pt x="16" y="33"/>
                  <a:pt x="0" y="18"/>
                </a:cubicBezTo>
                <a:lnTo>
                  <a:pt x="19" y="0"/>
                </a:lnTo>
                <a:cubicBezTo>
                  <a:pt x="39" y="20"/>
                  <a:pt x="50" y="43"/>
                  <a:pt x="50" y="72"/>
                </a:cubicBezTo>
                <a:lnTo>
                  <a:pt x="50" y="3044"/>
                </a:lnTo>
                <a:cubicBezTo>
                  <a:pt x="50" y="3072"/>
                  <a:pt x="39" y="3096"/>
                  <a:pt x="19" y="3116"/>
                </a:cubicBezTo>
                <a:lnTo>
                  <a:pt x="0" y="3098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9" name=""/>
          <p:cNvSpPr/>
          <p:nvPr/>
        </p:nvSpPr>
        <p:spPr>
          <a:xfrm>
            <a:off x="6931080" y="2719080"/>
            <a:ext cx="33480" cy="1131840"/>
          </a:xfrm>
          <a:custGeom>
            <a:avLst/>
            <a:gdLst/>
            <a:ahLst/>
            <a:rect l="0" t="0" r="r" b="b"/>
            <a:pathLst>
              <a:path w="93" h="3144">
                <a:moveTo>
                  <a:pt x="93" y="15"/>
                </a:moveTo>
                <a:cubicBezTo>
                  <a:pt x="90" y="18"/>
                  <a:pt x="87" y="24"/>
                  <a:pt x="84" y="32"/>
                </a:cubicBezTo>
                <a:cubicBezTo>
                  <a:pt x="79" y="47"/>
                  <a:pt x="77" y="65"/>
                  <a:pt x="77" y="86"/>
                </a:cubicBezTo>
                <a:lnTo>
                  <a:pt x="77" y="3058"/>
                </a:lnTo>
                <a:cubicBezTo>
                  <a:pt x="77" y="3079"/>
                  <a:pt x="79" y="3097"/>
                  <a:pt x="84" y="3112"/>
                </a:cubicBezTo>
                <a:cubicBezTo>
                  <a:pt x="87" y="3120"/>
                  <a:pt x="90" y="3126"/>
                  <a:pt x="93" y="3129"/>
                </a:cubicBezTo>
                <a:lnTo>
                  <a:pt x="48" y="3144"/>
                </a:lnTo>
                <a:cubicBezTo>
                  <a:pt x="42" y="3140"/>
                  <a:pt x="36" y="3136"/>
                  <a:pt x="30" y="3130"/>
                </a:cubicBezTo>
                <a:cubicBezTo>
                  <a:pt x="10" y="3110"/>
                  <a:pt x="0" y="3086"/>
                  <a:pt x="0" y="3058"/>
                </a:cubicBezTo>
                <a:lnTo>
                  <a:pt x="0" y="86"/>
                </a:lnTo>
                <a:cubicBezTo>
                  <a:pt x="0" y="57"/>
                  <a:pt x="10" y="34"/>
                  <a:pt x="30" y="14"/>
                </a:cubicBezTo>
                <a:cubicBezTo>
                  <a:pt x="36" y="8"/>
                  <a:pt x="42" y="4"/>
                  <a:pt x="48" y="0"/>
                </a:cubicBezTo>
                <a:lnTo>
                  <a:pt x="93" y="15"/>
                </a:lnTo>
                <a:close/>
              </a:path>
            </a:pathLst>
          </a:custGeom>
          <a:solidFill>
            <a:srgbClr val="8b15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0" name=""/>
          <p:cNvSpPr txBox="1"/>
          <p:nvPr/>
        </p:nvSpPr>
        <p:spPr>
          <a:xfrm>
            <a:off x="1150200" y="3479400"/>
            <a:ext cx="11340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behave differently.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1" name=""/>
          <p:cNvSpPr txBox="1"/>
          <p:nvPr/>
        </p:nvSpPr>
        <p:spPr>
          <a:xfrm>
            <a:off x="7148880" y="2874960"/>
            <a:ext cx="61344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81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WHAT HOLDS</a:t>
            </a:r>
            <a:endParaRPr b="0" lang="en-IN" sz="8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2" name=""/>
          <p:cNvSpPr txBox="1"/>
          <p:nvPr/>
        </p:nvSpPr>
        <p:spPr>
          <a:xfrm>
            <a:off x="7148880" y="2976480"/>
            <a:ext cx="1979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500" strike="noStrike" u="none">
                <a:solidFill>
                  <a:srgbClr val="0a0a0a"/>
                </a:solidFill>
                <a:effectLst/>
                <a:uFillTx/>
                <a:latin typeface="Fraunces-Regular_opsz14CCC6_wght2580000"/>
                <a:ea typeface="Fraunces-Regular_opsz14CCC6_wght2580000"/>
              </a:rPr>
              <a:t>The protocol itself.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3" name=""/>
          <p:cNvSpPr txBox="1"/>
          <p:nvPr/>
        </p:nvSpPr>
        <p:spPr>
          <a:xfrm>
            <a:off x="7148880" y="3269160"/>
            <a:ext cx="48340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The leakage-free audit is benchmark- and model-agnostic. The methodological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4" name=""/>
          <p:cNvSpPr txBox="1"/>
          <p:nvPr/>
        </p:nvSpPr>
        <p:spPr>
          <a:xfrm>
            <a:off x="7148880" y="3479400"/>
            <a:ext cx="31230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contribution is independent of the empirical finding.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5" name=""/>
          <p:cNvSpPr txBox="1"/>
          <p:nvPr/>
        </p:nvSpPr>
        <p:spPr>
          <a:xfrm>
            <a:off x="685800" y="8312040"/>
            <a:ext cx="2566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MEMORY-ASSISTED LLM AS A JUDGE VIA KNOWLEDGE GRAPHS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6" name=""/>
          <p:cNvSpPr txBox="1"/>
          <p:nvPr/>
        </p:nvSpPr>
        <p:spPr>
          <a:xfrm>
            <a:off x="11400480" y="8312040"/>
            <a:ext cx="13590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31 / 36  ·  K. PATEL · 2026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8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9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0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1" name=""/>
          <p:cNvSpPr/>
          <p:nvPr/>
        </p:nvSpPr>
        <p:spPr>
          <a:xfrm>
            <a:off x="273960" y="171360"/>
            <a:ext cx="13167720" cy="8229960"/>
          </a:xfrm>
          <a:custGeom>
            <a:avLst/>
            <a:gdLst/>
            <a:ahLst/>
            <a:rect l="0" t="0" r="r" b="b"/>
            <a:pathLst>
              <a:path w="36577" h="22861">
                <a:moveTo>
                  <a:pt x="0" y="0"/>
                </a:moveTo>
                <a:lnTo>
                  <a:pt x="36577" y="0"/>
                </a:lnTo>
                <a:lnTo>
                  <a:pt x="36577" y="22861"/>
                </a:lnTo>
                <a:lnTo>
                  <a:pt x="0" y="22861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2" name=""/>
          <p:cNvSpPr txBox="1"/>
          <p:nvPr/>
        </p:nvSpPr>
        <p:spPr>
          <a:xfrm>
            <a:off x="932760" y="3828960"/>
            <a:ext cx="65916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60" strike="noStrike" u="none">
                <a:solidFill>
                  <a:srgbClr val="8b1538"/>
                </a:solidFill>
                <a:effectLst/>
                <a:uFillTx/>
                <a:latin typeface="JetBrainsMono"/>
                <a:ea typeface="JetBrainsMono"/>
              </a:rPr>
              <a:t>IN SUMMARY</a:t>
            </a:r>
            <a:endParaRPr b="0" lang="en-IN" sz="8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3" name=""/>
          <p:cNvSpPr txBox="1"/>
          <p:nvPr/>
        </p:nvSpPr>
        <p:spPr>
          <a:xfrm>
            <a:off x="932760" y="3975480"/>
            <a:ext cx="8776080" cy="785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4380" strike="noStrike" u="none">
                <a:solidFill>
                  <a:srgbClr val="0a0a0a"/>
                </a:solidFill>
                <a:effectLst/>
                <a:uFillTx/>
                <a:latin typeface="Fraunces-Regular_opsz3CCCC6_wght2580000"/>
                <a:ea typeface="Fraunces-Regular_opsz3CCCC6_wght2580000"/>
              </a:rPr>
              <a:t>What this thesis contributes.</a:t>
            </a:r>
            <a:endParaRPr b="0" lang="en-IN" sz="43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4" name=""/>
          <p:cNvSpPr txBox="1"/>
          <p:nvPr/>
        </p:nvSpPr>
        <p:spPr>
          <a:xfrm>
            <a:off x="685800" y="8312040"/>
            <a:ext cx="2566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MEMORY-ASSISTED LLM AS A JUDGE VIA KNOWLEDGE GRAPHS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5" name=""/>
          <p:cNvSpPr txBox="1"/>
          <p:nvPr/>
        </p:nvSpPr>
        <p:spPr>
          <a:xfrm>
            <a:off x="11400480" y="8312040"/>
            <a:ext cx="13590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32 / 36  ·  K. PATEL · 2026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7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8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9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0" name=""/>
          <p:cNvSpPr/>
          <p:nvPr/>
        </p:nvSpPr>
        <p:spPr>
          <a:xfrm>
            <a:off x="273960" y="171360"/>
            <a:ext cx="13167720" cy="8229960"/>
          </a:xfrm>
          <a:custGeom>
            <a:avLst/>
            <a:gdLst/>
            <a:ahLst/>
            <a:rect l="0" t="0" r="r" b="b"/>
            <a:pathLst>
              <a:path w="36577" h="22861">
                <a:moveTo>
                  <a:pt x="0" y="0"/>
                </a:moveTo>
                <a:lnTo>
                  <a:pt x="36577" y="0"/>
                </a:lnTo>
                <a:lnTo>
                  <a:pt x="36577" y="22861"/>
                </a:lnTo>
                <a:lnTo>
                  <a:pt x="0" y="22861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1" name=""/>
          <p:cNvSpPr txBox="1"/>
          <p:nvPr/>
        </p:nvSpPr>
        <p:spPr>
          <a:xfrm>
            <a:off x="932760" y="579960"/>
            <a:ext cx="187560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C O N T R I B U T I O N S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2" name=""/>
          <p:cNvSpPr/>
          <p:nvPr/>
        </p:nvSpPr>
        <p:spPr>
          <a:xfrm>
            <a:off x="946080" y="1419480"/>
            <a:ext cx="5834520" cy="1143360"/>
          </a:xfrm>
          <a:custGeom>
            <a:avLst/>
            <a:gdLst/>
            <a:ahLst/>
            <a:rect l="0" t="0" r="r" b="b"/>
            <a:pathLst>
              <a:path w="16207" h="3176">
                <a:moveTo>
                  <a:pt x="0" y="3087"/>
                </a:moveTo>
                <a:lnTo>
                  <a:pt x="0" y="89"/>
                </a:lnTo>
                <a:cubicBezTo>
                  <a:pt x="0" y="77"/>
                  <a:pt x="2" y="66"/>
                  <a:pt x="5" y="55"/>
                </a:cubicBezTo>
                <a:cubicBezTo>
                  <a:pt x="8" y="44"/>
                  <a:pt x="13" y="34"/>
                  <a:pt x="19" y="26"/>
                </a:cubicBezTo>
                <a:cubicBezTo>
                  <a:pt x="25" y="18"/>
                  <a:pt x="32" y="11"/>
                  <a:pt x="40" y="7"/>
                </a:cubicBezTo>
                <a:cubicBezTo>
                  <a:pt x="47" y="2"/>
                  <a:pt x="55" y="0"/>
                  <a:pt x="64" y="0"/>
                </a:cubicBezTo>
                <a:lnTo>
                  <a:pt x="16118" y="0"/>
                </a:lnTo>
                <a:cubicBezTo>
                  <a:pt x="16129" y="0"/>
                  <a:pt x="16141" y="2"/>
                  <a:pt x="16152" y="7"/>
                </a:cubicBezTo>
                <a:cubicBezTo>
                  <a:pt x="16163" y="11"/>
                  <a:pt x="16172" y="18"/>
                  <a:pt x="16181" y="26"/>
                </a:cubicBezTo>
                <a:cubicBezTo>
                  <a:pt x="16189" y="34"/>
                  <a:pt x="16195" y="44"/>
                  <a:pt x="16200" y="55"/>
                </a:cubicBezTo>
                <a:cubicBezTo>
                  <a:pt x="16204" y="66"/>
                  <a:pt x="16207" y="77"/>
                  <a:pt x="16207" y="89"/>
                </a:cubicBezTo>
                <a:lnTo>
                  <a:pt x="16207" y="3087"/>
                </a:lnTo>
                <a:cubicBezTo>
                  <a:pt x="16207" y="3099"/>
                  <a:pt x="16204" y="3110"/>
                  <a:pt x="16200" y="3121"/>
                </a:cubicBezTo>
                <a:cubicBezTo>
                  <a:pt x="16195" y="3132"/>
                  <a:pt x="16189" y="3141"/>
                  <a:pt x="16181" y="3150"/>
                </a:cubicBezTo>
                <a:cubicBezTo>
                  <a:pt x="16172" y="3158"/>
                  <a:pt x="16163" y="3165"/>
                  <a:pt x="16152" y="3169"/>
                </a:cubicBezTo>
                <a:cubicBezTo>
                  <a:pt x="16141" y="3174"/>
                  <a:pt x="16129" y="3176"/>
                  <a:pt x="16118" y="3176"/>
                </a:cubicBezTo>
                <a:lnTo>
                  <a:pt x="64" y="3176"/>
                </a:lnTo>
                <a:cubicBezTo>
                  <a:pt x="55" y="3176"/>
                  <a:pt x="47" y="3174"/>
                  <a:pt x="40" y="3169"/>
                </a:cubicBezTo>
                <a:cubicBezTo>
                  <a:pt x="32" y="3165"/>
                  <a:pt x="25" y="3158"/>
                  <a:pt x="19" y="3150"/>
                </a:cubicBezTo>
                <a:cubicBezTo>
                  <a:pt x="13" y="3141"/>
                  <a:pt x="8" y="3132"/>
                  <a:pt x="5" y="3121"/>
                </a:cubicBezTo>
                <a:cubicBezTo>
                  <a:pt x="2" y="3110"/>
                  <a:pt x="0" y="3099"/>
                  <a:pt x="0" y="308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3" name=""/>
          <p:cNvSpPr/>
          <p:nvPr/>
        </p:nvSpPr>
        <p:spPr>
          <a:xfrm>
            <a:off x="948960" y="1414800"/>
            <a:ext cx="5825880" cy="18000"/>
          </a:xfrm>
          <a:custGeom>
            <a:avLst/>
            <a:gdLst/>
            <a:ahLst/>
            <a:rect l="0" t="0" r="r" b="b"/>
            <a:pathLst>
              <a:path w="16183" h="50">
                <a:moveTo>
                  <a:pt x="16165" y="50"/>
                </a:moveTo>
                <a:cubicBezTo>
                  <a:pt x="16164" y="50"/>
                  <a:pt x="16164" y="49"/>
                  <a:pt x="16164" y="49"/>
                </a:cubicBezTo>
                <a:cubicBezTo>
                  <a:pt x="16149" y="34"/>
                  <a:pt x="16131" y="27"/>
                  <a:pt x="16110" y="27"/>
                </a:cubicBezTo>
                <a:lnTo>
                  <a:pt x="56" y="27"/>
                </a:lnTo>
                <a:cubicBezTo>
                  <a:pt x="52" y="27"/>
                  <a:pt x="49" y="29"/>
                  <a:pt x="46" y="33"/>
                </a:cubicBezTo>
                <a:lnTo>
                  <a:pt x="0" y="17"/>
                </a:lnTo>
                <a:cubicBezTo>
                  <a:pt x="17" y="6"/>
                  <a:pt x="35" y="0"/>
                  <a:pt x="56" y="0"/>
                </a:cubicBezTo>
                <a:lnTo>
                  <a:pt x="16110" y="0"/>
                </a:lnTo>
                <a:cubicBezTo>
                  <a:pt x="16138" y="0"/>
                  <a:pt x="16162" y="10"/>
                  <a:pt x="16182" y="31"/>
                </a:cubicBezTo>
                <a:cubicBezTo>
                  <a:pt x="16182" y="31"/>
                  <a:pt x="16182" y="32"/>
                  <a:pt x="16183" y="32"/>
                </a:cubicBezTo>
                <a:lnTo>
                  <a:pt x="16165" y="5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4" name=""/>
          <p:cNvSpPr/>
          <p:nvPr/>
        </p:nvSpPr>
        <p:spPr>
          <a:xfrm>
            <a:off x="948960" y="2549520"/>
            <a:ext cx="5825880" cy="18000"/>
          </a:xfrm>
          <a:custGeom>
            <a:avLst/>
            <a:gdLst/>
            <a:ahLst/>
            <a:rect l="0" t="0" r="r" b="b"/>
            <a:pathLst>
              <a:path w="16183" h="50">
                <a:moveTo>
                  <a:pt x="46" y="17"/>
                </a:moveTo>
                <a:cubicBezTo>
                  <a:pt x="49" y="21"/>
                  <a:pt x="52" y="23"/>
                  <a:pt x="56" y="23"/>
                </a:cubicBezTo>
                <a:lnTo>
                  <a:pt x="16110" y="23"/>
                </a:lnTo>
                <a:cubicBezTo>
                  <a:pt x="16131" y="23"/>
                  <a:pt x="16149" y="16"/>
                  <a:pt x="16164" y="1"/>
                </a:cubicBezTo>
                <a:cubicBezTo>
                  <a:pt x="16164" y="0"/>
                  <a:pt x="16164" y="0"/>
                  <a:pt x="16165" y="0"/>
                </a:cubicBezTo>
                <a:lnTo>
                  <a:pt x="16183" y="18"/>
                </a:lnTo>
                <a:cubicBezTo>
                  <a:pt x="16182" y="18"/>
                  <a:pt x="16182" y="18"/>
                  <a:pt x="16182" y="19"/>
                </a:cubicBezTo>
                <a:cubicBezTo>
                  <a:pt x="16162" y="39"/>
                  <a:pt x="16138" y="50"/>
                  <a:pt x="16110" y="50"/>
                </a:cubicBezTo>
                <a:lnTo>
                  <a:pt x="56" y="50"/>
                </a:lnTo>
                <a:cubicBezTo>
                  <a:pt x="35" y="50"/>
                  <a:pt x="17" y="43"/>
                  <a:pt x="0" y="32"/>
                </a:cubicBezTo>
                <a:lnTo>
                  <a:pt x="46" y="17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5" name=""/>
          <p:cNvSpPr/>
          <p:nvPr/>
        </p:nvSpPr>
        <p:spPr>
          <a:xfrm>
            <a:off x="6767640" y="1425600"/>
            <a:ext cx="17280" cy="1131120"/>
          </a:xfrm>
          <a:custGeom>
            <a:avLst/>
            <a:gdLst/>
            <a:ahLst/>
            <a:rect l="0" t="0" r="r" b="b"/>
            <a:pathLst>
              <a:path w="48" h="3142">
                <a:moveTo>
                  <a:pt x="0" y="3124"/>
                </a:moveTo>
                <a:cubicBezTo>
                  <a:pt x="14" y="3109"/>
                  <a:pt x="22" y="3091"/>
                  <a:pt x="22" y="3070"/>
                </a:cubicBezTo>
                <a:lnTo>
                  <a:pt x="22" y="72"/>
                </a:lnTo>
                <a:cubicBezTo>
                  <a:pt x="22" y="51"/>
                  <a:pt x="14" y="33"/>
                  <a:pt x="0" y="18"/>
                </a:cubicBezTo>
                <a:lnTo>
                  <a:pt x="18" y="0"/>
                </a:lnTo>
                <a:cubicBezTo>
                  <a:pt x="38" y="20"/>
                  <a:pt x="48" y="44"/>
                  <a:pt x="48" y="72"/>
                </a:cubicBezTo>
                <a:lnTo>
                  <a:pt x="48" y="3070"/>
                </a:lnTo>
                <a:cubicBezTo>
                  <a:pt x="48" y="3098"/>
                  <a:pt x="38" y="3122"/>
                  <a:pt x="18" y="3142"/>
                </a:cubicBezTo>
                <a:lnTo>
                  <a:pt x="0" y="3124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6" name=""/>
          <p:cNvSpPr/>
          <p:nvPr/>
        </p:nvSpPr>
        <p:spPr>
          <a:xfrm>
            <a:off x="932400" y="1420560"/>
            <a:ext cx="33480" cy="1141200"/>
          </a:xfrm>
          <a:custGeom>
            <a:avLst/>
            <a:gdLst/>
            <a:ahLst/>
            <a:rect l="0" t="0" r="r" b="b"/>
            <a:pathLst>
              <a:path w="93" h="3170">
                <a:moveTo>
                  <a:pt x="93" y="15"/>
                </a:moveTo>
                <a:cubicBezTo>
                  <a:pt x="90" y="19"/>
                  <a:pt x="87" y="24"/>
                  <a:pt x="85" y="32"/>
                </a:cubicBezTo>
                <a:cubicBezTo>
                  <a:pt x="80" y="47"/>
                  <a:pt x="77" y="65"/>
                  <a:pt x="77" y="86"/>
                </a:cubicBezTo>
                <a:lnTo>
                  <a:pt x="77" y="3084"/>
                </a:lnTo>
                <a:cubicBezTo>
                  <a:pt x="77" y="3105"/>
                  <a:pt x="80" y="3123"/>
                  <a:pt x="85" y="3138"/>
                </a:cubicBezTo>
                <a:cubicBezTo>
                  <a:pt x="87" y="3145"/>
                  <a:pt x="90" y="3151"/>
                  <a:pt x="93" y="3155"/>
                </a:cubicBezTo>
                <a:lnTo>
                  <a:pt x="48" y="3170"/>
                </a:lnTo>
                <a:cubicBezTo>
                  <a:pt x="42" y="3166"/>
                  <a:pt x="36" y="3161"/>
                  <a:pt x="30" y="3156"/>
                </a:cubicBezTo>
                <a:cubicBezTo>
                  <a:pt x="10" y="3136"/>
                  <a:pt x="0" y="3112"/>
                  <a:pt x="0" y="3084"/>
                </a:cubicBezTo>
                <a:lnTo>
                  <a:pt x="0" y="86"/>
                </a:lnTo>
                <a:cubicBezTo>
                  <a:pt x="0" y="58"/>
                  <a:pt x="10" y="34"/>
                  <a:pt x="30" y="14"/>
                </a:cubicBezTo>
                <a:cubicBezTo>
                  <a:pt x="36" y="8"/>
                  <a:pt x="42" y="4"/>
                  <a:pt x="48" y="0"/>
                </a:cubicBezTo>
                <a:lnTo>
                  <a:pt x="93" y="15"/>
                </a:lnTo>
                <a:close/>
              </a:path>
            </a:pathLst>
          </a:custGeom>
          <a:solidFill>
            <a:srgbClr val="8b15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7" name=""/>
          <p:cNvSpPr txBox="1"/>
          <p:nvPr/>
        </p:nvSpPr>
        <p:spPr>
          <a:xfrm>
            <a:off x="932760" y="802080"/>
            <a:ext cx="537552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2760" strike="noStrike" u="none">
                <a:solidFill>
                  <a:srgbClr val="0a0a0a"/>
                </a:solidFill>
                <a:effectLst/>
                <a:uFillTx/>
                <a:latin typeface="Fraunces-Regular_opsz266666_wght2580000"/>
                <a:ea typeface="Fraunces-Regular_opsz266666_wght2580000"/>
              </a:rPr>
              <a:t>Four deliverables. One year.</a:t>
            </a:r>
            <a:endParaRPr b="0" lang="en-IN" sz="27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8" name=""/>
          <p:cNvSpPr txBox="1"/>
          <p:nvPr/>
        </p:nvSpPr>
        <p:spPr>
          <a:xfrm>
            <a:off x="1150200" y="1585800"/>
            <a:ext cx="67464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81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01 · SYSTEM</a:t>
            </a:r>
            <a:endParaRPr b="0" lang="en-IN" sz="8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9" name=""/>
          <p:cNvSpPr txBox="1"/>
          <p:nvPr/>
        </p:nvSpPr>
        <p:spPr>
          <a:xfrm>
            <a:off x="1150200" y="1687320"/>
            <a:ext cx="1122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500" strike="noStrike" u="none">
                <a:solidFill>
                  <a:srgbClr val="0a0a0a"/>
                </a:solidFill>
                <a:effectLst/>
                <a:uFillTx/>
                <a:latin typeface="Fraunces-Regular_opsz14CCC6_wght2580000"/>
                <a:ea typeface="Fraunces-Regular_opsz14CCC6_wght2580000"/>
              </a:rPr>
              <a:t>MCTS-MAJ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0" name=""/>
          <p:cNvSpPr txBox="1"/>
          <p:nvPr/>
        </p:nvSpPr>
        <p:spPr>
          <a:xfrm>
            <a:off x="1150200" y="1979640"/>
            <a:ext cx="46486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Typed Neo4j memory graph + 3-stage retrieval + two MCTS extensions. Six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1" name=""/>
          <p:cNvSpPr/>
          <p:nvPr/>
        </p:nvSpPr>
        <p:spPr>
          <a:xfrm>
            <a:off x="6944760" y="1419480"/>
            <a:ext cx="5834160" cy="1143360"/>
          </a:xfrm>
          <a:custGeom>
            <a:avLst/>
            <a:gdLst/>
            <a:ahLst/>
            <a:rect l="0" t="0" r="r" b="b"/>
            <a:pathLst>
              <a:path w="16206" h="3176">
                <a:moveTo>
                  <a:pt x="0" y="3087"/>
                </a:moveTo>
                <a:lnTo>
                  <a:pt x="0" y="89"/>
                </a:lnTo>
                <a:cubicBezTo>
                  <a:pt x="0" y="77"/>
                  <a:pt x="1" y="66"/>
                  <a:pt x="5" y="55"/>
                </a:cubicBezTo>
                <a:cubicBezTo>
                  <a:pt x="8" y="44"/>
                  <a:pt x="12" y="34"/>
                  <a:pt x="18" y="26"/>
                </a:cubicBezTo>
                <a:cubicBezTo>
                  <a:pt x="24" y="18"/>
                  <a:pt x="31" y="11"/>
                  <a:pt x="39" y="7"/>
                </a:cubicBezTo>
                <a:cubicBezTo>
                  <a:pt x="47" y="2"/>
                  <a:pt x="55" y="0"/>
                  <a:pt x="63" y="0"/>
                </a:cubicBezTo>
                <a:lnTo>
                  <a:pt x="16117" y="0"/>
                </a:lnTo>
                <a:cubicBezTo>
                  <a:pt x="16129" y="0"/>
                  <a:pt x="16140" y="2"/>
                  <a:pt x="16151" y="7"/>
                </a:cubicBezTo>
                <a:cubicBezTo>
                  <a:pt x="16162" y="11"/>
                  <a:pt x="16172" y="18"/>
                  <a:pt x="16180" y="26"/>
                </a:cubicBezTo>
                <a:cubicBezTo>
                  <a:pt x="16188" y="34"/>
                  <a:pt x="16195" y="44"/>
                  <a:pt x="16199" y="55"/>
                </a:cubicBezTo>
                <a:cubicBezTo>
                  <a:pt x="16204" y="66"/>
                  <a:pt x="16206" y="77"/>
                  <a:pt x="16206" y="89"/>
                </a:cubicBezTo>
                <a:lnTo>
                  <a:pt x="16206" y="3087"/>
                </a:lnTo>
                <a:cubicBezTo>
                  <a:pt x="16206" y="3099"/>
                  <a:pt x="16204" y="3110"/>
                  <a:pt x="16199" y="3121"/>
                </a:cubicBezTo>
                <a:cubicBezTo>
                  <a:pt x="16195" y="3132"/>
                  <a:pt x="16188" y="3141"/>
                  <a:pt x="16180" y="3150"/>
                </a:cubicBezTo>
                <a:cubicBezTo>
                  <a:pt x="16172" y="3158"/>
                  <a:pt x="16162" y="3165"/>
                  <a:pt x="16151" y="3169"/>
                </a:cubicBezTo>
                <a:cubicBezTo>
                  <a:pt x="16140" y="3174"/>
                  <a:pt x="16129" y="3176"/>
                  <a:pt x="16117" y="3176"/>
                </a:cubicBezTo>
                <a:lnTo>
                  <a:pt x="63" y="3176"/>
                </a:lnTo>
                <a:cubicBezTo>
                  <a:pt x="55" y="3176"/>
                  <a:pt x="47" y="3174"/>
                  <a:pt x="39" y="3169"/>
                </a:cubicBezTo>
                <a:cubicBezTo>
                  <a:pt x="31" y="3165"/>
                  <a:pt x="24" y="3158"/>
                  <a:pt x="18" y="3150"/>
                </a:cubicBezTo>
                <a:cubicBezTo>
                  <a:pt x="12" y="3141"/>
                  <a:pt x="8" y="3132"/>
                  <a:pt x="5" y="3121"/>
                </a:cubicBezTo>
                <a:cubicBezTo>
                  <a:pt x="1" y="3110"/>
                  <a:pt x="0" y="3099"/>
                  <a:pt x="0" y="308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2" name=""/>
          <p:cNvSpPr/>
          <p:nvPr/>
        </p:nvSpPr>
        <p:spPr>
          <a:xfrm>
            <a:off x="6947640" y="1414800"/>
            <a:ext cx="5825520" cy="18000"/>
          </a:xfrm>
          <a:custGeom>
            <a:avLst/>
            <a:gdLst/>
            <a:ahLst/>
            <a:rect l="0" t="0" r="r" b="b"/>
            <a:pathLst>
              <a:path w="16182" h="50">
                <a:moveTo>
                  <a:pt x="16164" y="50"/>
                </a:moveTo>
                <a:lnTo>
                  <a:pt x="16163" y="49"/>
                </a:lnTo>
                <a:cubicBezTo>
                  <a:pt x="16148" y="34"/>
                  <a:pt x="16130" y="27"/>
                  <a:pt x="16109" y="27"/>
                </a:cubicBezTo>
                <a:lnTo>
                  <a:pt x="55" y="27"/>
                </a:lnTo>
                <a:cubicBezTo>
                  <a:pt x="52" y="27"/>
                  <a:pt x="48" y="29"/>
                  <a:pt x="45" y="33"/>
                </a:cubicBezTo>
                <a:lnTo>
                  <a:pt x="0" y="17"/>
                </a:lnTo>
                <a:cubicBezTo>
                  <a:pt x="16" y="6"/>
                  <a:pt x="35" y="0"/>
                  <a:pt x="55" y="0"/>
                </a:cubicBezTo>
                <a:lnTo>
                  <a:pt x="16109" y="0"/>
                </a:lnTo>
                <a:cubicBezTo>
                  <a:pt x="16137" y="0"/>
                  <a:pt x="16161" y="10"/>
                  <a:pt x="16181" y="31"/>
                </a:cubicBezTo>
                <a:lnTo>
                  <a:pt x="16182" y="32"/>
                </a:lnTo>
                <a:lnTo>
                  <a:pt x="16164" y="5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3" name=""/>
          <p:cNvSpPr/>
          <p:nvPr/>
        </p:nvSpPr>
        <p:spPr>
          <a:xfrm>
            <a:off x="6947640" y="2549520"/>
            <a:ext cx="5825520" cy="18000"/>
          </a:xfrm>
          <a:custGeom>
            <a:avLst/>
            <a:gdLst/>
            <a:ahLst/>
            <a:rect l="0" t="0" r="r" b="b"/>
            <a:pathLst>
              <a:path w="16182" h="50">
                <a:moveTo>
                  <a:pt x="45" y="17"/>
                </a:moveTo>
                <a:cubicBezTo>
                  <a:pt x="48" y="21"/>
                  <a:pt x="52" y="23"/>
                  <a:pt x="55" y="23"/>
                </a:cubicBezTo>
                <a:lnTo>
                  <a:pt x="16109" y="23"/>
                </a:lnTo>
                <a:cubicBezTo>
                  <a:pt x="16130" y="23"/>
                  <a:pt x="16148" y="16"/>
                  <a:pt x="16163" y="1"/>
                </a:cubicBezTo>
                <a:cubicBezTo>
                  <a:pt x="16163" y="0"/>
                  <a:pt x="16164" y="0"/>
                  <a:pt x="16164" y="0"/>
                </a:cubicBezTo>
                <a:lnTo>
                  <a:pt x="16182" y="18"/>
                </a:lnTo>
                <a:cubicBezTo>
                  <a:pt x="16182" y="18"/>
                  <a:pt x="16181" y="18"/>
                  <a:pt x="16181" y="19"/>
                </a:cubicBezTo>
                <a:cubicBezTo>
                  <a:pt x="16161" y="39"/>
                  <a:pt x="16137" y="50"/>
                  <a:pt x="16109" y="50"/>
                </a:cubicBezTo>
                <a:lnTo>
                  <a:pt x="55" y="50"/>
                </a:lnTo>
                <a:cubicBezTo>
                  <a:pt x="35" y="50"/>
                  <a:pt x="16" y="43"/>
                  <a:pt x="0" y="32"/>
                </a:cubicBezTo>
                <a:lnTo>
                  <a:pt x="45" y="17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4" name=""/>
          <p:cNvSpPr/>
          <p:nvPr/>
        </p:nvSpPr>
        <p:spPr>
          <a:xfrm>
            <a:off x="12765960" y="1425600"/>
            <a:ext cx="18000" cy="1131120"/>
          </a:xfrm>
          <a:custGeom>
            <a:avLst/>
            <a:gdLst/>
            <a:ahLst/>
            <a:rect l="0" t="0" r="r" b="b"/>
            <a:pathLst>
              <a:path w="50" h="3142">
                <a:moveTo>
                  <a:pt x="0" y="3124"/>
                </a:moveTo>
                <a:cubicBezTo>
                  <a:pt x="16" y="3109"/>
                  <a:pt x="23" y="3091"/>
                  <a:pt x="23" y="3070"/>
                </a:cubicBezTo>
                <a:lnTo>
                  <a:pt x="23" y="72"/>
                </a:lnTo>
                <a:cubicBezTo>
                  <a:pt x="23" y="51"/>
                  <a:pt x="16" y="33"/>
                  <a:pt x="0" y="18"/>
                </a:cubicBezTo>
                <a:lnTo>
                  <a:pt x="19" y="0"/>
                </a:lnTo>
                <a:cubicBezTo>
                  <a:pt x="39" y="20"/>
                  <a:pt x="50" y="44"/>
                  <a:pt x="50" y="72"/>
                </a:cubicBezTo>
                <a:lnTo>
                  <a:pt x="50" y="3070"/>
                </a:lnTo>
                <a:cubicBezTo>
                  <a:pt x="50" y="3098"/>
                  <a:pt x="39" y="3122"/>
                  <a:pt x="19" y="3142"/>
                </a:cubicBezTo>
                <a:lnTo>
                  <a:pt x="0" y="3124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5" name=""/>
          <p:cNvSpPr/>
          <p:nvPr/>
        </p:nvSpPr>
        <p:spPr>
          <a:xfrm>
            <a:off x="6931080" y="1420560"/>
            <a:ext cx="33480" cy="1141200"/>
          </a:xfrm>
          <a:custGeom>
            <a:avLst/>
            <a:gdLst/>
            <a:ahLst/>
            <a:rect l="0" t="0" r="r" b="b"/>
            <a:pathLst>
              <a:path w="93" h="3170">
                <a:moveTo>
                  <a:pt x="93" y="15"/>
                </a:moveTo>
                <a:cubicBezTo>
                  <a:pt x="90" y="19"/>
                  <a:pt x="87" y="24"/>
                  <a:pt x="84" y="32"/>
                </a:cubicBezTo>
                <a:cubicBezTo>
                  <a:pt x="79" y="47"/>
                  <a:pt x="77" y="65"/>
                  <a:pt x="77" y="86"/>
                </a:cubicBezTo>
                <a:lnTo>
                  <a:pt x="77" y="3084"/>
                </a:lnTo>
                <a:cubicBezTo>
                  <a:pt x="77" y="3105"/>
                  <a:pt x="79" y="3123"/>
                  <a:pt x="84" y="3138"/>
                </a:cubicBezTo>
                <a:cubicBezTo>
                  <a:pt x="87" y="3145"/>
                  <a:pt x="90" y="3151"/>
                  <a:pt x="93" y="3155"/>
                </a:cubicBezTo>
                <a:lnTo>
                  <a:pt x="48" y="3170"/>
                </a:lnTo>
                <a:cubicBezTo>
                  <a:pt x="42" y="3166"/>
                  <a:pt x="36" y="3161"/>
                  <a:pt x="30" y="3156"/>
                </a:cubicBezTo>
                <a:cubicBezTo>
                  <a:pt x="10" y="3136"/>
                  <a:pt x="0" y="3112"/>
                  <a:pt x="0" y="3084"/>
                </a:cubicBezTo>
                <a:lnTo>
                  <a:pt x="0" y="86"/>
                </a:lnTo>
                <a:cubicBezTo>
                  <a:pt x="0" y="58"/>
                  <a:pt x="10" y="34"/>
                  <a:pt x="30" y="14"/>
                </a:cubicBezTo>
                <a:cubicBezTo>
                  <a:pt x="36" y="8"/>
                  <a:pt x="42" y="4"/>
                  <a:pt x="48" y="0"/>
                </a:cubicBezTo>
                <a:lnTo>
                  <a:pt x="93" y="15"/>
                </a:lnTo>
                <a:close/>
              </a:path>
            </a:pathLst>
          </a:custGeom>
          <a:solidFill>
            <a:srgbClr val="8b15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6" name=""/>
          <p:cNvSpPr txBox="1"/>
          <p:nvPr/>
        </p:nvSpPr>
        <p:spPr>
          <a:xfrm>
            <a:off x="1150200" y="2180880"/>
            <a:ext cx="11264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evaluation modes.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7" name=""/>
          <p:cNvSpPr txBox="1"/>
          <p:nvPr/>
        </p:nvSpPr>
        <p:spPr>
          <a:xfrm>
            <a:off x="7148880" y="1585800"/>
            <a:ext cx="98100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81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02 · METHODOLOGY</a:t>
            </a:r>
            <a:endParaRPr b="0" lang="en-IN" sz="8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8" name=""/>
          <p:cNvSpPr txBox="1"/>
          <p:nvPr/>
        </p:nvSpPr>
        <p:spPr>
          <a:xfrm>
            <a:off x="7148880" y="1687320"/>
            <a:ext cx="2297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500" strike="noStrike" u="none">
                <a:solidFill>
                  <a:srgbClr val="0a0a0a"/>
                </a:solidFill>
                <a:effectLst/>
                <a:uFillTx/>
                <a:latin typeface="Fraunces-Regular_opsz14CCC6_wght2580000"/>
                <a:ea typeface="Fraunces-Regular_opsz14CCC6_wght2580000"/>
              </a:rPr>
              <a:t>Leakage-free protocol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9" name=""/>
          <p:cNvSpPr/>
          <p:nvPr/>
        </p:nvSpPr>
        <p:spPr>
          <a:xfrm>
            <a:off x="946080" y="2718000"/>
            <a:ext cx="5834520" cy="1134000"/>
          </a:xfrm>
          <a:custGeom>
            <a:avLst/>
            <a:gdLst/>
            <a:ahLst/>
            <a:rect l="0" t="0" r="r" b="b"/>
            <a:pathLst>
              <a:path w="16207" h="3150">
                <a:moveTo>
                  <a:pt x="0" y="3061"/>
                </a:moveTo>
                <a:lnTo>
                  <a:pt x="0" y="89"/>
                </a:lnTo>
                <a:cubicBezTo>
                  <a:pt x="0" y="77"/>
                  <a:pt x="2" y="65"/>
                  <a:pt x="5" y="55"/>
                </a:cubicBezTo>
                <a:cubicBezTo>
                  <a:pt x="8" y="44"/>
                  <a:pt x="13" y="34"/>
                  <a:pt x="19" y="26"/>
                </a:cubicBezTo>
                <a:cubicBezTo>
                  <a:pt x="25" y="17"/>
                  <a:pt x="32" y="11"/>
                  <a:pt x="40" y="6"/>
                </a:cubicBezTo>
                <a:cubicBezTo>
                  <a:pt x="47" y="2"/>
                  <a:pt x="55" y="0"/>
                  <a:pt x="64" y="0"/>
                </a:cubicBezTo>
                <a:lnTo>
                  <a:pt x="16118" y="0"/>
                </a:lnTo>
                <a:cubicBezTo>
                  <a:pt x="16129" y="0"/>
                  <a:pt x="16141" y="2"/>
                  <a:pt x="16152" y="6"/>
                </a:cubicBezTo>
                <a:cubicBezTo>
                  <a:pt x="16163" y="11"/>
                  <a:pt x="16172" y="17"/>
                  <a:pt x="16181" y="26"/>
                </a:cubicBezTo>
                <a:cubicBezTo>
                  <a:pt x="16189" y="34"/>
                  <a:pt x="16195" y="44"/>
                  <a:pt x="16200" y="55"/>
                </a:cubicBezTo>
                <a:cubicBezTo>
                  <a:pt x="16204" y="65"/>
                  <a:pt x="16207" y="77"/>
                  <a:pt x="16207" y="89"/>
                </a:cubicBezTo>
                <a:lnTo>
                  <a:pt x="16207" y="3061"/>
                </a:lnTo>
                <a:cubicBezTo>
                  <a:pt x="16207" y="3073"/>
                  <a:pt x="16204" y="3084"/>
                  <a:pt x="16200" y="3095"/>
                </a:cubicBezTo>
                <a:cubicBezTo>
                  <a:pt x="16195" y="3106"/>
                  <a:pt x="16189" y="3116"/>
                  <a:pt x="16181" y="3124"/>
                </a:cubicBezTo>
                <a:cubicBezTo>
                  <a:pt x="16172" y="3133"/>
                  <a:pt x="16163" y="3139"/>
                  <a:pt x="16152" y="3143"/>
                </a:cubicBezTo>
                <a:cubicBezTo>
                  <a:pt x="16141" y="3148"/>
                  <a:pt x="16129" y="3150"/>
                  <a:pt x="16118" y="3150"/>
                </a:cubicBezTo>
                <a:lnTo>
                  <a:pt x="64" y="3150"/>
                </a:lnTo>
                <a:cubicBezTo>
                  <a:pt x="55" y="3150"/>
                  <a:pt x="47" y="3148"/>
                  <a:pt x="40" y="3143"/>
                </a:cubicBezTo>
                <a:cubicBezTo>
                  <a:pt x="32" y="3139"/>
                  <a:pt x="25" y="3133"/>
                  <a:pt x="19" y="3124"/>
                </a:cubicBezTo>
                <a:cubicBezTo>
                  <a:pt x="13" y="3116"/>
                  <a:pt x="8" y="3106"/>
                  <a:pt x="5" y="3095"/>
                </a:cubicBezTo>
                <a:cubicBezTo>
                  <a:pt x="2" y="3084"/>
                  <a:pt x="0" y="3073"/>
                  <a:pt x="0" y="306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0" name=""/>
          <p:cNvSpPr/>
          <p:nvPr/>
        </p:nvSpPr>
        <p:spPr>
          <a:xfrm>
            <a:off x="948960" y="2713320"/>
            <a:ext cx="5825880" cy="18000"/>
          </a:xfrm>
          <a:custGeom>
            <a:avLst/>
            <a:gdLst/>
            <a:ahLst/>
            <a:rect l="0" t="0" r="r" b="b"/>
            <a:pathLst>
              <a:path w="16183" h="50">
                <a:moveTo>
                  <a:pt x="16165" y="50"/>
                </a:moveTo>
                <a:cubicBezTo>
                  <a:pt x="16164" y="50"/>
                  <a:pt x="16164" y="49"/>
                  <a:pt x="16164" y="49"/>
                </a:cubicBezTo>
                <a:cubicBezTo>
                  <a:pt x="16149" y="33"/>
                  <a:pt x="16131" y="25"/>
                  <a:pt x="16110" y="25"/>
                </a:cubicBezTo>
                <a:lnTo>
                  <a:pt x="56" y="25"/>
                </a:lnTo>
                <a:cubicBezTo>
                  <a:pt x="52" y="25"/>
                  <a:pt x="49" y="27"/>
                  <a:pt x="46" y="31"/>
                </a:cubicBezTo>
                <a:lnTo>
                  <a:pt x="0" y="16"/>
                </a:lnTo>
                <a:cubicBezTo>
                  <a:pt x="17" y="5"/>
                  <a:pt x="35" y="0"/>
                  <a:pt x="56" y="0"/>
                </a:cubicBezTo>
                <a:lnTo>
                  <a:pt x="16110" y="0"/>
                </a:lnTo>
                <a:cubicBezTo>
                  <a:pt x="16138" y="0"/>
                  <a:pt x="16162" y="10"/>
                  <a:pt x="16182" y="30"/>
                </a:cubicBezTo>
                <a:cubicBezTo>
                  <a:pt x="16182" y="30"/>
                  <a:pt x="16182" y="31"/>
                  <a:pt x="16183" y="31"/>
                </a:cubicBezTo>
                <a:lnTo>
                  <a:pt x="16165" y="5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1" name=""/>
          <p:cNvSpPr/>
          <p:nvPr/>
        </p:nvSpPr>
        <p:spPr>
          <a:xfrm>
            <a:off x="948960" y="3838680"/>
            <a:ext cx="5825880" cy="18000"/>
          </a:xfrm>
          <a:custGeom>
            <a:avLst/>
            <a:gdLst/>
            <a:ahLst/>
            <a:rect l="0" t="0" r="r" b="b"/>
            <a:pathLst>
              <a:path w="16183" h="50">
                <a:moveTo>
                  <a:pt x="46" y="18"/>
                </a:moveTo>
                <a:cubicBezTo>
                  <a:pt x="49" y="22"/>
                  <a:pt x="52" y="24"/>
                  <a:pt x="56" y="24"/>
                </a:cubicBezTo>
                <a:lnTo>
                  <a:pt x="16110" y="24"/>
                </a:lnTo>
                <a:cubicBezTo>
                  <a:pt x="16131" y="24"/>
                  <a:pt x="16149" y="16"/>
                  <a:pt x="16164" y="1"/>
                </a:cubicBezTo>
                <a:cubicBezTo>
                  <a:pt x="16164" y="1"/>
                  <a:pt x="16164" y="0"/>
                  <a:pt x="16165" y="0"/>
                </a:cubicBezTo>
                <a:lnTo>
                  <a:pt x="16183" y="18"/>
                </a:lnTo>
                <a:cubicBezTo>
                  <a:pt x="16182" y="18"/>
                  <a:pt x="16182" y="19"/>
                  <a:pt x="16182" y="19"/>
                </a:cubicBezTo>
                <a:cubicBezTo>
                  <a:pt x="16162" y="39"/>
                  <a:pt x="16138" y="50"/>
                  <a:pt x="16110" y="50"/>
                </a:cubicBezTo>
                <a:lnTo>
                  <a:pt x="56" y="50"/>
                </a:lnTo>
                <a:cubicBezTo>
                  <a:pt x="35" y="50"/>
                  <a:pt x="17" y="45"/>
                  <a:pt x="0" y="33"/>
                </a:cubicBezTo>
                <a:lnTo>
                  <a:pt x="46" y="18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" name=""/>
          <p:cNvSpPr/>
          <p:nvPr/>
        </p:nvSpPr>
        <p:spPr>
          <a:xfrm>
            <a:off x="6767640" y="2724120"/>
            <a:ext cx="17280" cy="1121760"/>
          </a:xfrm>
          <a:custGeom>
            <a:avLst/>
            <a:gdLst/>
            <a:ahLst/>
            <a:rect l="0" t="0" r="r" b="b"/>
            <a:pathLst>
              <a:path w="48" h="3116">
                <a:moveTo>
                  <a:pt x="0" y="3098"/>
                </a:moveTo>
                <a:cubicBezTo>
                  <a:pt x="14" y="3083"/>
                  <a:pt x="22" y="3065"/>
                  <a:pt x="22" y="3044"/>
                </a:cubicBezTo>
                <a:lnTo>
                  <a:pt x="22" y="72"/>
                </a:lnTo>
                <a:cubicBezTo>
                  <a:pt x="22" y="51"/>
                  <a:pt x="14" y="33"/>
                  <a:pt x="0" y="18"/>
                </a:cubicBezTo>
                <a:lnTo>
                  <a:pt x="18" y="0"/>
                </a:lnTo>
                <a:cubicBezTo>
                  <a:pt x="38" y="20"/>
                  <a:pt x="48" y="43"/>
                  <a:pt x="48" y="72"/>
                </a:cubicBezTo>
                <a:lnTo>
                  <a:pt x="48" y="3044"/>
                </a:lnTo>
                <a:cubicBezTo>
                  <a:pt x="48" y="3072"/>
                  <a:pt x="38" y="3096"/>
                  <a:pt x="18" y="3116"/>
                </a:cubicBezTo>
                <a:lnTo>
                  <a:pt x="0" y="3098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3" name=""/>
          <p:cNvSpPr/>
          <p:nvPr/>
        </p:nvSpPr>
        <p:spPr>
          <a:xfrm>
            <a:off x="932400" y="2719080"/>
            <a:ext cx="33480" cy="1131840"/>
          </a:xfrm>
          <a:custGeom>
            <a:avLst/>
            <a:gdLst/>
            <a:ahLst/>
            <a:rect l="0" t="0" r="r" b="b"/>
            <a:pathLst>
              <a:path w="93" h="3144">
                <a:moveTo>
                  <a:pt x="93" y="15"/>
                </a:moveTo>
                <a:cubicBezTo>
                  <a:pt x="90" y="18"/>
                  <a:pt x="87" y="24"/>
                  <a:pt x="85" y="32"/>
                </a:cubicBezTo>
                <a:cubicBezTo>
                  <a:pt x="80" y="47"/>
                  <a:pt x="77" y="65"/>
                  <a:pt x="77" y="86"/>
                </a:cubicBezTo>
                <a:lnTo>
                  <a:pt x="77" y="3058"/>
                </a:lnTo>
                <a:cubicBezTo>
                  <a:pt x="77" y="3079"/>
                  <a:pt x="80" y="3097"/>
                  <a:pt x="85" y="3112"/>
                </a:cubicBezTo>
                <a:cubicBezTo>
                  <a:pt x="87" y="3120"/>
                  <a:pt x="90" y="3126"/>
                  <a:pt x="93" y="3129"/>
                </a:cubicBezTo>
                <a:lnTo>
                  <a:pt x="48" y="3144"/>
                </a:lnTo>
                <a:cubicBezTo>
                  <a:pt x="42" y="3140"/>
                  <a:pt x="37" y="3136"/>
                  <a:pt x="30" y="3130"/>
                </a:cubicBezTo>
                <a:cubicBezTo>
                  <a:pt x="10" y="3110"/>
                  <a:pt x="0" y="3086"/>
                  <a:pt x="0" y="3058"/>
                </a:cubicBezTo>
                <a:lnTo>
                  <a:pt x="0" y="86"/>
                </a:lnTo>
                <a:cubicBezTo>
                  <a:pt x="0" y="57"/>
                  <a:pt x="10" y="34"/>
                  <a:pt x="30" y="14"/>
                </a:cubicBezTo>
                <a:cubicBezTo>
                  <a:pt x="36" y="8"/>
                  <a:pt x="42" y="4"/>
                  <a:pt x="48" y="0"/>
                </a:cubicBezTo>
                <a:lnTo>
                  <a:pt x="93" y="15"/>
                </a:lnTo>
                <a:close/>
              </a:path>
            </a:pathLst>
          </a:custGeom>
          <a:solidFill>
            <a:srgbClr val="8b15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4" name=""/>
          <p:cNvSpPr txBox="1"/>
          <p:nvPr/>
        </p:nvSpPr>
        <p:spPr>
          <a:xfrm>
            <a:off x="7148880" y="1979640"/>
            <a:ext cx="51922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Question-level split + frozen memory. Closes both leakage channels by construction.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5" name=""/>
          <p:cNvSpPr txBox="1"/>
          <p:nvPr/>
        </p:nvSpPr>
        <p:spPr>
          <a:xfrm>
            <a:off x="1150200" y="2874960"/>
            <a:ext cx="98100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81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03 · ENGINEERING</a:t>
            </a:r>
            <a:endParaRPr b="0" lang="en-IN" sz="8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6" name=""/>
          <p:cNvSpPr txBox="1"/>
          <p:nvPr/>
        </p:nvSpPr>
        <p:spPr>
          <a:xfrm>
            <a:off x="1150200" y="2976480"/>
            <a:ext cx="3133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500" strike="noStrike" u="none">
                <a:solidFill>
                  <a:srgbClr val="0a0a0a"/>
                </a:solidFill>
                <a:effectLst/>
                <a:uFillTx/>
                <a:latin typeface="Fraunces-Regular_opsz14CCC6_wght2580000"/>
                <a:ea typeface="Fraunces-Regular_opsz14CCC6_wght2580000"/>
              </a:rPr>
              <a:t>Two-layer cryptographic audit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7" name=""/>
          <p:cNvSpPr txBox="1"/>
          <p:nvPr/>
        </p:nvSpPr>
        <p:spPr>
          <a:xfrm>
            <a:off x="1150200" y="3269160"/>
            <a:ext cx="27406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SHA-256 fingerprint + runtime write-blocker. 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8" name=""/>
          <p:cNvSpPr txBox="1"/>
          <p:nvPr/>
        </p:nvSpPr>
        <p:spPr>
          <a:xfrm>
            <a:off x="4040280" y="3269160"/>
            <a:ext cx="44640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130" strike="noStrike" u="none">
                <a:solidFill>
                  <a:srgbClr val="8b1538"/>
                </a:solidFill>
                <a:effectLst/>
                <a:uFillTx/>
                <a:latin typeface="Inter"/>
                <a:ea typeface="Inter"/>
              </a:rPr>
              <a:t>Proves</a:t>
            </a:r>
            <a:endParaRPr b="0" lang="en-IN" sz="1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9" name=""/>
          <p:cNvSpPr txBox="1"/>
          <p:nvPr/>
        </p:nvSpPr>
        <p:spPr>
          <a:xfrm>
            <a:off x="4443840" y="3269160"/>
            <a:ext cx="20437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 the absence of leakage on every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0" name=""/>
          <p:cNvSpPr/>
          <p:nvPr/>
        </p:nvSpPr>
        <p:spPr>
          <a:xfrm>
            <a:off x="6944760" y="2718000"/>
            <a:ext cx="5834160" cy="1134000"/>
          </a:xfrm>
          <a:custGeom>
            <a:avLst/>
            <a:gdLst/>
            <a:ahLst/>
            <a:rect l="0" t="0" r="r" b="b"/>
            <a:pathLst>
              <a:path w="16206" h="3150">
                <a:moveTo>
                  <a:pt x="0" y="3061"/>
                </a:moveTo>
                <a:lnTo>
                  <a:pt x="0" y="89"/>
                </a:lnTo>
                <a:cubicBezTo>
                  <a:pt x="0" y="77"/>
                  <a:pt x="1" y="65"/>
                  <a:pt x="5" y="55"/>
                </a:cubicBezTo>
                <a:cubicBezTo>
                  <a:pt x="8" y="44"/>
                  <a:pt x="12" y="34"/>
                  <a:pt x="18" y="26"/>
                </a:cubicBezTo>
                <a:cubicBezTo>
                  <a:pt x="24" y="17"/>
                  <a:pt x="31" y="11"/>
                  <a:pt x="39" y="6"/>
                </a:cubicBezTo>
                <a:cubicBezTo>
                  <a:pt x="47" y="2"/>
                  <a:pt x="55" y="0"/>
                  <a:pt x="63" y="0"/>
                </a:cubicBezTo>
                <a:lnTo>
                  <a:pt x="16117" y="0"/>
                </a:lnTo>
                <a:cubicBezTo>
                  <a:pt x="16129" y="0"/>
                  <a:pt x="16140" y="2"/>
                  <a:pt x="16151" y="6"/>
                </a:cubicBezTo>
                <a:cubicBezTo>
                  <a:pt x="16162" y="11"/>
                  <a:pt x="16172" y="17"/>
                  <a:pt x="16180" y="26"/>
                </a:cubicBezTo>
                <a:cubicBezTo>
                  <a:pt x="16188" y="34"/>
                  <a:pt x="16195" y="44"/>
                  <a:pt x="16199" y="55"/>
                </a:cubicBezTo>
                <a:cubicBezTo>
                  <a:pt x="16204" y="65"/>
                  <a:pt x="16206" y="77"/>
                  <a:pt x="16206" y="89"/>
                </a:cubicBezTo>
                <a:lnTo>
                  <a:pt x="16206" y="3061"/>
                </a:lnTo>
                <a:cubicBezTo>
                  <a:pt x="16206" y="3073"/>
                  <a:pt x="16204" y="3084"/>
                  <a:pt x="16199" y="3095"/>
                </a:cubicBezTo>
                <a:cubicBezTo>
                  <a:pt x="16195" y="3106"/>
                  <a:pt x="16188" y="3116"/>
                  <a:pt x="16180" y="3124"/>
                </a:cubicBezTo>
                <a:cubicBezTo>
                  <a:pt x="16172" y="3133"/>
                  <a:pt x="16162" y="3139"/>
                  <a:pt x="16151" y="3143"/>
                </a:cubicBezTo>
                <a:cubicBezTo>
                  <a:pt x="16140" y="3148"/>
                  <a:pt x="16129" y="3150"/>
                  <a:pt x="16117" y="3150"/>
                </a:cubicBezTo>
                <a:lnTo>
                  <a:pt x="63" y="3150"/>
                </a:lnTo>
                <a:cubicBezTo>
                  <a:pt x="55" y="3150"/>
                  <a:pt x="47" y="3148"/>
                  <a:pt x="39" y="3143"/>
                </a:cubicBezTo>
                <a:cubicBezTo>
                  <a:pt x="31" y="3139"/>
                  <a:pt x="24" y="3133"/>
                  <a:pt x="18" y="3124"/>
                </a:cubicBezTo>
                <a:cubicBezTo>
                  <a:pt x="12" y="3116"/>
                  <a:pt x="8" y="3106"/>
                  <a:pt x="5" y="3095"/>
                </a:cubicBezTo>
                <a:cubicBezTo>
                  <a:pt x="1" y="3084"/>
                  <a:pt x="0" y="3073"/>
                  <a:pt x="0" y="306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1" name=""/>
          <p:cNvSpPr/>
          <p:nvPr/>
        </p:nvSpPr>
        <p:spPr>
          <a:xfrm>
            <a:off x="6947640" y="2713320"/>
            <a:ext cx="5825520" cy="18000"/>
          </a:xfrm>
          <a:custGeom>
            <a:avLst/>
            <a:gdLst/>
            <a:ahLst/>
            <a:rect l="0" t="0" r="r" b="b"/>
            <a:pathLst>
              <a:path w="16182" h="50">
                <a:moveTo>
                  <a:pt x="16164" y="50"/>
                </a:moveTo>
                <a:lnTo>
                  <a:pt x="16163" y="49"/>
                </a:lnTo>
                <a:cubicBezTo>
                  <a:pt x="16148" y="33"/>
                  <a:pt x="16130" y="25"/>
                  <a:pt x="16109" y="25"/>
                </a:cubicBezTo>
                <a:lnTo>
                  <a:pt x="55" y="25"/>
                </a:lnTo>
                <a:cubicBezTo>
                  <a:pt x="52" y="25"/>
                  <a:pt x="48" y="27"/>
                  <a:pt x="45" y="31"/>
                </a:cubicBezTo>
                <a:lnTo>
                  <a:pt x="0" y="16"/>
                </a:lnTo>
                <a:cubicBezTo>
                  <a:pt x="16" y="5"/>
                  <a:pt x="35" y="0"/>
                  <a:pt x="55" y="0"/>
                </a:cubicBezTo>
                <a:lnTo>
                  <a:pt x="16109" y="0"/>
                </a:lnTo>
                <a:cubicBezTo>
                  <a:pt x="16137" y="0"/>
                  <a:pt x="16161" y="10"/>
                  <a:pt x="16181" y="30"/>
                </a:cubicBezTo>
                <a:lnTo>
                  <a:pt x="16182" y="31"/>
                </a:lnTo>
                <a:lnTo>
                  <a:pt x="16164" y="5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2" name=""/>
          <p:cNvSpPr/>
          <p:nvPr/>
        </p:nvSpPr>
        <p:spPr>
          <a:xfrm>
            <a:off x="6947640" y="3838680"/>
            <a:ext cx="5825520" cy="18000"/>
          </a:xfrm>
          <a:custGeom>
            <a:avLst/>
            <a:gdLst/>
            <a:ahLst/>
            <a:rect l="0" t="0" r="r" b="b"/>
            <a:pathLst>
              <a:path w="16182" h="50">
                <a:moveTo>
                  <a:pt x="45" y="18"/>
                </a:moveTo>
                <a:cubicBezTo>
                  <a:pt x="48" y="22"/>
                  <a:pt x="52" y="24"/>
                  <a:pt x="55" y="24"/>
                </a:cubicBezTo>
                <a:lnTo>
                  <a:pt x="16109" y="24"/>
                </a:lnTo>
                <a:cubicBezTo>
                  <a:pt x="16130" y="24"/>
                  <a:pt x="16148" y="16"/>
                  <a:pt x="16163" y="1"/>
                </a:cubicBezTo>
                <a:lnTo>
                  <a:pt x="16164" y="0"/>
                </a:lnTo>
                <a:lnTo>
                  <a:pt x="16182" y="18"/>
                </a:lnTo>
                <a:lnTo>
                  <a:pt x="16181" y="19"/>
                </a:lnTo>
                <a:cubicBezTo>
                  <a:pt x="16161" y="39"/>
                  <a:pt x="16137" y="50"/>
                  <a:pt x="16109" y="50"/>
                </a:cubicBezTo>
                <a:lnTo>
                  <a:pt x="55" y="50"/>
                </a:lnTo>
                <a:cubicBezTo>
                  <a:pt x="35" y="50"/>
                  <a:pt x="16" y="45"/>
                  <a:pt x="0" y="33"/>
                </a:cubicBezTo>
                <a:lnTo>
                  <a:pt x="45" y="18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3" name=""/>
          <p:cNvSpPr/>
          <p:nvPr/>
        </p:nvSpPr>
        <p:spPr>
          <a:xfrm>
            <a:off x="12765960" y="2724120"/>
            <a:ext cx="18000" cy="1121760"/>
          </a:xfrm>
          <a:custGeom>
            <a:avLst/>
            <a:gdLst/>
            <a:ahLst/>
            <a:rect l="0" t="0" r="r" b="b"/>
            <a:pathLst>
              <a:path w="50" h="3116">
                <a:moveTo>
                  <a:pt x="0" y="3098"/>
                </a:moveTo>
                <a:cubicBezTo>
                  <a:pt x="16" y="3083"/>
                  <a:pt x="23" y="3065"/>
                  <a:pt x="23" y="3044"/>
                </a:cubicBezTo>
                <a:lnTo>
                  <a:pt x="23" y="72"/>
                </a:lnTo>
                <a:cubicBezTo>
                  <a:pt x="23" y="51"/>
                  <a:pt x="16" y="33"/>
                  <a:pt x="0" y="18"/>
                </a:cubicBezTo>
                <a:lnTo>
                  <a:pt x="19" y="0"/>
                </a:lnTo>
                <a:cubicBezTo>
                  <a:pt x="39" y="20"/>
                  <a:pt x="50" y="43"/>
                  <a:pt x="50" y="72"/>
                </a:cubicBezTo>
                <a:lnTo>
                  <a:pt x="50" y="3044"/>
                </a:lnTo>
                <a:cubicBezTo>
                  <a:pt x="50" y="3072"/>
                  <a:pt x="39" y="3096"/>
                  <a:pt x="19" y="3116"/>
                </a:cubicBezTo>
                <a:lnTo>
                  <a:pt x="0" y="3098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4" name=""/>
          <p:cNvSpPr/>
          <p:nvPr/>
        </p:nvSpPr>
        <p:spPr>
          <a:xfrm>
            <a:off x="6931080" y="2719080"/>
            <a:ext cx="33480" cy="1131840"/>
          </a:xfrm>
          <a:custGeom>
            <a:avLst/>
            <a:gdLst/>
            <a:ahLst/>
            <a:rect l="0" t="0" r="r" b="b"/>
            <a:pathLst>
              <a:path w="93" h="3144">
                <a:moveTo>
                  <a:pt x="93" y="15"/>
                </a:moveTo>
                <a:cubicBezTo>
                  <a:pt x="90" y="18"/>
                  <a:pt x="87" y="24"/>
                  <a:pt x="84" y="32"/>
                </a:cubicBezTo>
                <a:cubicBezTo>
                  <a:pt x="79" y="47"/>
                  <a:pt x="77" y="65"/>
                  <a:pt x="77" y="86"/>
                </a:cubicBezTo>
                <a:lnTo>
                  <a:pt x="77" y="3058"/>
                </a:lnTo>
                <a:cubicBezTo>
                  <a:pt x="77" y="3079"/>
                  <a:pt x="79" y="3097"/>
                  <a:pt x="84" y="3112"/>
                </a:cubicBezTo>
                <a:cubicBezTo>
                  <a:pt x="87" y="3120"/>
                  <a:pt x="90" y="3126"/>
                  <a:pt x="93" y="3129"/>
                </a:cubicBezTo>
                <a:lnTo>
                  <a:pt x="48" y="3144"/>
                </a:lnTo>
                <a:cubicBezTo>
                  <a:pt x="42" y="3140"/>
                  <a:pt x="36" y="3136"/>
                  <a:pt x="30" y="3130"/>
                </a:cubicBezTo>
                <a:cubicBezTo>
                  <a:pt x="10" y="3110"/>
                  <a:pt x="0" y="3086"/>
                  <a:pt x="0" y="3058"/>
                </a:cubicBezTo>
                <a:lnTo>
                  <a:pt x="0" y="86"/>
                </a:lnTo>
                <a:cubicBezTo>
                  <a:pt x="0" y="57"/>
                  <a:pt x="10" y="34"/>
                  <a:pt x="30" y="14"/>
                </a:cubicBezTo>
                <a:cubicBezTo>
                  <a:pt x="36" y="8"/>
                  <a:pt x="42" y="4"/>
                  <a:pt x="48" y="0"/>
                </a:cubicBezTo>
                <a:lnTo>
                  <a:pt x="93" y="15"/>
                </a:lnTo>
                <a:close/>
              </a:path>
            </a:pathLst>
          </a:custGeom>
          <a:solidFill>
            <a:srgbClr val="8b15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5" name=""/>
          <p:cNvSpPr txBox="1"/>
          <p:nvPr/>
        </p:nvSpPr>
        <p:spPr>
          <a:xfrm>
            <a:off x="1150200" y="3479400"/>
            <a:ext cx="2397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run.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6" name=""/>
          <p:cNvSpPr txBox="1"/>
          <p:nvPr/>
        </p:nvSpPr>
        <p:spPr>
          <a:xfrm>
            <a:off x="7148880" y="2874960"/>
            <a:ext cx="73584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810" strike="noStrike" u="none">
                <a:solidFill>
                  <a:srgbClr val="8b1538"/>
                </a:solidFill>
                <a:effectLst/>
                <a:uFillTx/>
                <a:latin typeface="JetBrainsMono-Regular_wght2580000"/>
                <a:ea typeface="JetBrainsMono-Regular_wght2580000"/>
              </a:rPr>
              <a:t>04 · FINDING</a:t>
            </a:r>
            <a:endParaRPr b="0" lang="en-IN" sz="8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7" name=""/>
          <p:cNvSpPr txBox="1"/>
          <p:nvPr/>
        </p:nvSpPr>
        <p:spPr>
          <a:xfrm>
            <a:off x="7148880" y="2976480"/>
            <a:ext cx="23922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1500" strike="noStrike" u="none">
                <a:solidFill>
                  <a:srgbClr val="0a0a0a"/>
                </a:solidFill>
                <a:effectLst/>
                <a:uFillTx/>
                <a:latin typeface="Fraunces-Regular_opsz14CCC6_wght2580000"/>
                <a:ea typeface="Fraunces-Regular_opsz14CCC6_wght2580000"/>
              </a:rPr>
              <a:t>A corrective null result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8" name=""/>
          <p:cNvSpPr txBox="1"/>
          <p:nvPr/>
        </p:nvSpPr>
        <p:spPr>
          <a:xfrm>
            <a:off x="7148880" y="3269160"/>
            <a:ext cx="48308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Audited protocol overturns the +10 pp gain &amp; the poisoning collapse. Reliability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9" name=""/>
          <p:cNvSpPr txBox="1"/>
          <p:nvPr/>
        </p:nvSpPr>
        <p:spPr>
          <a:xfrm>
            <a:off x="7148880" y="3479400"/>
            <a:ext cx="49759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90" strike="noStrike" u="none">
                <a:solidFill>
                  <a:srgbClr val="2a2a2a"/>
                </a:solidFill>
                <a:effectLst/>
                <a:uFillTx/>
                <a:latin typeface="Inter-Regular_"/>
                <a:ea typeface="Inter-Regular_"/>
              </a:rPr>
              <a:t>harness shows the system is consistent — but the schema isn't doing extra work.</a:t>
            </a:r>
            <a:endParaRPr b="0" lang="en-IN" sz="10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0" name=""/>
          <p:cNvSpPr txBox="1"/>
          <p:nvPr/>
        </p:nvSpPr>
        <p:spPr>
          <a:xfrm>
            <a:off x="685800" y="8312040"/>
            <a:ext cx="2566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MEMORY-ASSISTED LLM AS A JUDGE VIA KNOWLEDGE GRAPHS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1" name=""/>
          <p:cNvSpPr txBox="1"/>
          <p:nvPr/>
        </p:nvSpPr>
        <p:spPr>
          <a:xfrm>
            <a:off x="11400480" y="8312040"/>
            <a:ext cx="13590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33 / 36  ·  K. PATEL · 2026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3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4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5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6" name=""/>
          <p:cNvSpPr/>
          <p:nvPr/>
        </p:nvSpPr>
        <p:spPr>
          <a:xfrm>
            <a:off x="273960" y="171360"/>
            <a:ext cx="13167720" cy="8229960"/>
          </a:xfrm>
          <a:custGeom>
            <a:avLst/>
            <a:gdLst/>
            <a:ahLst/>
            <a:rect l="0" t="0" r="r" b="b"/>
            <a:pathLst>
              <a:path w="36577" h="22861">
                <a:moveTo>
                  <a:pt x="0" y="0"/>
                </a:moveTo>
                <a:lnTo>
                  <a:pt x="36577" y="0"/>
                </a:lnTo>
                <a:lnTo>
                  <a:pt x="36577" y="22861"/>
                </a:lnTo>
                <a:lnTo>
                  <a:pt x="0" y="22861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7" name=""/>
          <p:cNvSpPr txBox="1"/>
          <p:nvPr/>
        </p:nvSpPr>
        <p:spPr>
          <a:xfrm>
            <a:off x="932760" y="2427120"/>
            <a:ext cx="67464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10" strike="noStrike" u="none">
                <a:solidFill>
                  <a:srgbClr val="8b1538"/>
                </a:solidFill>
                <a:effectLst/>
                <a:uFillTx/>
                <a:latin typeface="JetBrainsMono"/>
                <a:ea typeface="JetBrainsMono"/>
              </a:rPr>
              <a:t>THE VERDICT</a:t>
            </a:r>
            <a:endParaRPr b="0" lang="en-IN" sz="8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8" name=""/>
          <p:cNvSpPr txBox="1"/>
          <p:nvPr/>
        </p:nvSpPr>
        <p:spPr>
          <a:xfrm>
            <a:off x="1057680" y="2633760"/>
            <a:ext cx="6150600" cy="48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3800" strike="noStrike" u="none">
                <a:solidFill>
                  <a:srgbClr val="0a0a0a"/>
                </a:solidFill>
                <a:effectLst/>
                <a:uFillTx/>
                <a:latin typeface="Fraunces-Regular_opsz333333_wght12C0000"/>
                <a:ea typeface="Fraunces-Regular_opsz333333_wght12C0000"/>
              </a:rPr>
              <a:t>Without the audited protocol,</a:t>
            </a:r>
            <a:endParaRPr b="0" lang="en-IN" sz="3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9" name=""/>
          <p:cNvSpPr txBox="1"/>
          <p:nvPr/>
        </p:nvSpPr>
        <p:spPr>
          <a:xfrm>
            <a:off x="1057680" y="3200400"/>
            <a:ext cx="7197840" cy="48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3800" strike="noStrike" u="none">
                <a:solidFill>
                  <a:srgbClr val="0a0a0a"/>
                </a:solidFill>
                <a:effectLst/>
                <a:uFillTx/>
                <a:latin typeface="Fraunces-Regular_opsz333333_wght12C0000"/>
                <a:ea typeface="Fraunces-Regular_opsz333333_wght12C0000"/>
              </a:rPr>
              <a:t>this thesis would have reported a </a:t>
            </a:r>
            <a:endParaRPr b="0" lang="en-IN" sz="3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0" name=""/>
          <p:cNvSpPr txBox="1"/>
          <p:nvPr/>
        </p:nvSpPr>
        <p:spPr>
          <a:xfrm>
            <a:off x="7404480" y="3200400"/>
            <a:ext cx="2962080" cy="660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3690" strike="noStrike" u="none">
                <a:solidFill>
                  <a:srgbClr val="8b1538"/>
                </a:solidFill>
                <a:effectLst/>
                <a:uFillTx/>
                <a:latin typeface="Fraunces-Regular_opsz333333_wght2580000"/>
                <a:ea typeface="Fraunces-Regular_opsz333333_wght2580000"/>
              </a:rPr>
              <a:t>+10 pp gain</a:t>
            </a:r>
            <a:endParaRPr b="0" lang="en-IN" sz="36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1" name=""/>
          <p:cNvSpPr txBox="1"/>
          <p:nvPr/>
        </p:nvSpPr>
        <p:spPr>
          <a:xfrm>
            <a:off x="1057680" y="3758400"/>
            <a:ext cx="1343880" cy="48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3800" strike="noStrike" u="none">
                <a:solidFill>
                  <a:srgbClr val="0a0a0a"/>
                </a:solidFill>
                <a:effectLst/>
                <a:uFillTx/>
                <a:latin typeface="Fraunces-Regular_opsz333333_wght12C0000"/>
                <a:ea typeface="Fraunces-Regular_opsz333333_wght12C0000"/>
              </a:rPr>
              <a:t>and a </a:t>
            </a:r>
            <a:endParaRPr b="0" lang="en-IN" sz="3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2" name=""/>
          <p:cNvSpPr txBox="1"/>
          <p:nvPr/>
        </p:nvSpPr>
        <p:spPr>
          <a:xfrm>
            <a:off x="2088000" y="3758400"/>
            <a:ext cx="8189280" cy="660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3690" strike="noStrike" u="none">
                <a:solidFill>
                  <a:srgbClr val="8b1538"/>
                </a:solidFill>
                <a:effectLst/>
                <a:uFillTx/>
                <a:latin typeface="Fraunces-Regular_opsz333333_wght2580000"/>
                <a:ea typeface="Fraunces-Regular_opsz333333_wght2580000"/>
              </a:rPr>
              <a:t>catastrophic poisoning collapse</a:t>
            </a:r>
            <a:endParaRPr b="0" lang="en-IN" sz="36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3" name=""/>
          <p:cNvSpPr txBox="1"/>
          <p:nvPr/>
        </p:nvSpPr>
        <p:spPr>
          <a:xfrm>
            <a:off x="8847000" y="3758400"/>
            <a:ext cx="467640" cy="48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3800" strike="noStrike" u="none">
                <a:solidFill>
                  <a:srgbClr val="0a0a0a"/>
                </a:solidFill>
                <a:effectLst/>
                <a:uFillTx/>
                <a:latin typeface="Fraunces-Regular_opsz333333_wght12C0000"/>
                <a:ea typeface="Fraunces-Regular_opsz333333_wght12C0000"/>
              </a:rPr>
              <a:t>.</a:t>
            </a:r>
            <a:endParaRPr b="0" lang="en-IN" sz="3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4" name=""/>
          <p:cNvSpPr txBox="1"/>
          <p:nvPr/>
        </p:nvSpPr>
        <p:spPr>
          <a:xfrm>
            <a:off x="1057680" y="4883040"/>
            <a:ext cx="4135680" cy="48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3800" strike="noStrike" u="none">
                <a:solidFill>
                  <a:srgbClr val="0a0a0a"/>
                </a:solidFill>
                <a:effectLst/>
                <a:uFillTx/>
                <a:latin typeface="Fraunces-Regular_opsz333333_wght12C0000"/>
                <a:ea typeface="Fraunces-Regular_opsz333333_wght12C0000"/>
              </a:rPr>
              <a:t>Both were artifacts.</a:t>
            </a:r>
            <a:endParaRPr b="0" lang="en-IN" sz="3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5" name=""/>
          <p:cNvSpPr txBox="1"/>
          <p:nvPr/>
        </p:nvSpPr>
        <p:spPr>
          <a:xfrm>
            <a:off x="1057680" y="5440680"/>
            <a:ext cx="6875280" cy="648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3800" strike="noStrike" u="none">
                <a:solidFill>
                  <a:srgbClr val="8b1538"/>
                </a:solidFill>
                <a:effectLst/>
                <a:uFillTx/>
                <a:latin typeface="Fraunces-Regular_opsz333333_wght1900000"/>
                <a:ea typeface="Fraunces-Regular_opsz333333_wght1900000"/>
              </a:rPr>
              <a:t>The audit made the truth visible.</a:t>
            </a:r>
            <a:endParaRPr b="0" lang="en-IN" sz="3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6" name=""/>
          <p:cNvSpPr txBox="1"/>
          <p:nvPr/>
        </p:nvSpPr>
        <p:spPr>
          <a:xfrm>
            <a:off x="685800" y="8312040"/>
            <a:ext cx="2566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MEMORY-ASSISTED LLM AS A JUDGE VIA KNOWLEDGE GRAPHS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7" name=""/>
          <p:cNvSpPr txBox="1"/>
          <p:nvPr/>
        </p:nvSpPr>
        <p:spPr>
          <a:xfrm>
            <a:off x="11400480" y="8312040"/>
            <a:ext cx="13590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34 / 36  ·  K. PATEL · 2026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9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0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1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2" name=""/>
          <p:cNvSpPr/>
          <p:nvPr/>
        </p:nvSpPr>
        <p:spPr>
          <a:xfrm>
            <a:off x="273960" y="171360"/>
            <a:ext cx="13167720" cy="8229960"/>
          </a:xfrm>
          <a:custGeom>
            <a:avLst/>
            <a:gdLst/>
            <a:ahLst/>
            <a:rect l="0" t="0" r="r" b="b"/>
            <a:pathLst>
              <a:path w="36577" h="22861">
                <a:moveTo>
                  <a:pt x="0" y="0"/>
                </a:moveTo>
                <a:lnTo>
                  <a:pt x="36577" y="0"/>
                </a:lnTo>
                <a:lnTo>
                  <a:pt x="36577" y="22861"/>
                </a:lnTo>
                <a:lnTo>
                  <a:pt x="0" y="22861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3" name=""/>
          <p:cNvSpPr txBox="1"/>
          <p:nvPr/>
        </p:nvSpPr>
        <p:spPr>
          <a:xfrm>
            <a:off x="932760" y="579960"/>
            <a:ext cx="82548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980" strike="noStrike" u="none">
                <a:solidFill>
                  <a:srgbClr val="8b1538"/>
                </a:solidFill>
                <a:effectLst/>
                <a:uFillTx/>
                <a:latin typeface="JetBrainsMonoRoman"/>
                <a:ea typeface="JetBrainsMonoRoman"/>
              </a:rPr>
              <a:t>FUTURE WORK</a:t>
            </a:r>
            <a:endParaRPr b="0" lang="en-IN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4" name=""/>
          <p:cNvSpPr txBox="1"/>
          <p:nvPr/>
        </p:nvSpPr>
        <p:spPr>
          <a:xfrm>
            <a:off x="932760" y="802080"/>
            <a:ext cx="3447720" cy="49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2760" strike="noStrike" u="none">
                <a:solidFill>
                  <a:srgbClr val="0a0a0a"/>
                </a:solidFill>
                <a:effectLst/>
                <a:uFillTx/>
                <a:latin typeface="Fraunces-Regular_opsz266666_wght2580000"/>
                <a:ea typeface="Fraunces-Regular_opsz266666_wght2580000"/>
              </a:rPr>
              <a:t>What comes next.</a:t>
            </a:r>
            <a:endParaRPr b="0" lang="en-IN" sz="27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5" name=""/>
          <p:cNvSpPr txBox="1"/>
          <p:nvPr/>
        </p:nvSpPr>
        <p:spPr>
          <a:xfrm>
            <a:off x="932760" y="1682640"/>
            <a:ext cx="1350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8b1538"/>
                </a:solidFill>
                <a:effectLst/>
                <a:uFillTx/>
                <a:latin typeface="Menlo"/>
                <a:ea typeface="Menlo"/>
              </a:rPr>
              <a:t>→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6" name=""/>
          <p:cNvSpPr txBox="1"/>
          <p:nvPr/>
        </p:nvSpPr>
        <p:spPr>
          <a:xfrm>
            <a:off x="1163160" y="1518840"/>
            <a:ext cx="470880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2130" strike="noStrike" u="none">
                <a:solidFill>
                  <a:srgbClr val="0a0a0a"/>
                </a:solidFill>
                <a:effectLst/>
                <a:uFillTx/>
                <a:latin typeface="Fraunces-Regular_opsz1D9999_wght1900000"/>
                <a:ea typeface="Fraunces-Regular_opsz1D9999_wght1900000"/>
              </a:rPr>
              <a:t>Replicate on weaker &amp; stronger judges.</a:t>
            </a:r>
            <a:endParaRPr b="0" lang="en-IN" sz="2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7" name=""/>
          <p:cNvSpPr txBox="1"/>
          <p:nvPr/>
        </p:nvSpPr>
        <p:spPr>
          <a:xfrm>
            <a:off x="932760" y="2277000"/>
            <a:ext cx="1350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8b1538"/>
                </a:solidFill>
                <a:effectLst/>
                <a:uFillTx/>
                <a:latin typeface="Menlo"/>
                <a:ea typeface="Menlo"/>
              </a:rPr>
              <a:t>→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8" name=""/>
          <p:cNvSpPr txBox="1"/>
          <p:nvPr/>
        </p:nvSpPr>
        <p:spPr>
          <a:xfrm>
            <a:off x="1163160" y="2113200"/>
            <a:ext cx="381672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2130" strike="noStrike" u="none">
                <a:solidFill>
                  <a:srgbClr val="0a0a0a"/>
                </a:solidFill>
                <a:effectLst/>
                <a:uFillTx/>
                <a:latin typeface="Fraunces-Regular_opsz1D9999_wght1900000"/>
                <a:ea typeface="Fraunces-Regular_opsz1D9999_wght1900000"/>
              </a:rPr>
              <a:t>Scale n by 5–10×  (MDE: 13 pp </a:t>
            </a:r>
            <a:endParaRPr b="0" lang="en-IN" sz="2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9" name=""/>
          <p:cNvSpPr txBox="1"/>
          <p:nvPr/>
        </p:nvSpPr>
        <p:spPr>
          <a:xfrm>
            <a:off x="4800600" y="2140920"/>
            <a:ext cx="270360" cy="31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2130" strike="noStrike" u="none">
                <a:solidFill>
                  <a:srgbClr val="0a0a0a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b="0" lang="en-IN" sz="2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0" name=""/>
          <p:cNvSpPr txBox="1"/>
          <p:nvPr/>
        </p:nvSpPr>
        <p:spPr>
          <a:xfrm>
            <a:off x="5069880" y="2113200"/>
            <a:ext cx="76536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2130" strike="noStrike" u="none">
                <a:solidFill>
                  <a:srgbClr val="0a0a0a"/>
                </a:solidFill>
                <a:effectLst/>
                <a:uFillTx/>
                <a:latin typeface="Fraunces-Regular_opsz1D9999_wght1900000"/>
                <a:ea typeface="Fraunces-Regular_opsz1D9999_wght1900000"/>
              </a:rPr>
              <a:t> 4 pp).</a:t>
            </a:r>
            <a:endParaRPr b="0" lang="en-IN" sz="2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1" name=""/>
          <p:cNvSpPr txBox="1"/>
          <p:nvPr/>
        </p:nvSpPr>
        <p:spPr>
          <a:xfrm>
            <a:off x="932760" y="2871360"/>
            <a:ext cx="135000" cy="15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070" strike="noStrike" u="none">
                <a:solidFill>
                  <a:srgbClr val="8b1538"/>
                </a:solidFill>
                <a:effectLst/>
                <a:uFillTx/>
                <a:latin typeface="Menlo"/>
                <a:ea typeface="Menlo"/>
              </a:rPr>
              <a:t>→</a:t>
            </a:r>
            <a:endParaRPr b="0" lang="en-IN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2" name=""/>
          <p:cNvSpPr txBox="1"/>
          <p:nvPr/>
        </p:nvSpPr>
        <p:spPr>
          <a:xfrm>
            <a:off x="1163160" y="2707560"/>
            <a:ext cx="437940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2130" strike="noStrike" u="none">
                <a:solidFill>
                  <a:srgbClr val="0a0a0a"/>
                </a:solidFill>
                <a:effectLst/>
                <a:uFillTx/>
                <a:latin typeface="Fraunces-Regular_opsz1D9999_wght1900000"/>
                <a:ea typeface="Fraunces-Regular_opsz1D9999_wght1900000"/>
              </a:rPr>
              <a:t>Release the audit as a reusable tool.</a:t>
            </a:r>
            <a:endParaRPr b="0" lang="en-IN" sz="2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3" name=""/>
          <p:cNvSpPr txBox="1"/>
          <p:nvPr/>
        </p:nvSpPr>
        <p:spPr>
          <a:xfrm>
            <a:off x="685800" y="8312040"/>
            <a:ext cx="2566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MEMORY-ASSISTED LLM AS A JUDGE VIA KNOWLEDGE GRAPHS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4" name=""/>
          <p:cNvSpPr txBox="1"/>
          <p:nvPr/>
        </p:nvSpPr>
        <p:spPr>
          <a:xfrm>
            <a:off x="11400480" y="8312040"/>
            <a:ext cx="13590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35 / 36  ·  K. PATEL · 2026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6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7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8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9" name=""/>
          <p:cNvSpPr/>
          <p:nvPr/>
        </p:nvSpPr>
        <p:spPr>
          <a:xfrm>
            <a:off x="273960" y="171360"/>
            <a:ext cx="13167720" cy="8229960"/>
          </a:xfrm>
          <a:custGeom>
            <a:avLst/>
            <a:gdLst/>
            <a:ahLst/>
            <a:rect l="0" t="0" r="r" b="b"/>
            <a:pathLst>
              <a:path w="36577" h="22861">
                <a:moveTo>
                  <a:pt x="0" y="0"/>
                </a:moveTo>
                <a:lnTo>
                  <a:pt x="36577" y="0"/>
                </a:lnTo>
                <a:lnTo>
                  <a:pt x="36577" y="22861"/>
                </a:lnTo>
                <a:lnTo>
                  <a:pt x="0" y="22861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0" name=""/>
          <p:cNvSpPr txBox="1"/>
          <p:nvPr/>
        </p:nvSpPr>
        <p:spPr>
          <a:xfrm>
            <a:off x="932760" y="2966400"/>
            <a:ext cx="239040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81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BACHELOR'S THESIS DEFENSE · 2 JUNE 2026</a:t>
            </a:r>
            <a:endParaRPr b="0" lang="en-IN" sz="8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1" name=""/>
          <p:cNvSpPr txBox="1"/>
          <p:nvPr/>
        </p:nvSpPr>
        <p:spPr>
          <a:xfrm>
            <a:off x="932760" y="3161520"/>
            <a:ext cx="3339000" cy="785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4380" strike="noStrike" u="none">
                <a:solidFill>
                  <a:srgbClr val="0a0a0a"/>
                </a:solidFill>
                <a:effectLst/>
                <a:uFillTx/>
                <a:latin typeface="Fraunces-Regular_opsz3CCCC6_wght2BC0000"/>
                <a:ea typeface="Fraunces-Regular_opsz3CCCC6_wght2BC0000"/>
              </a:rPr>
              <a:t>Thank you.</a:t>
            </a:r>
            <a:endParaRPr b="0" lang="en-IN" sz="43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2" name=""/>
          <p:cNvSpPr/>
          <p:nvPr/>
        </p:nvSpPr>
        <p:spPr>
          <a:xfrm>
            <a:off x="932400" y="4779720"/>
            <a:ext cx="7114320" cy="9720"/>
          </a:xfrm>
          <a:custGeom>
            <a:avLst/>
            <a:gdLst/>
            <a:ahLst/>
            <a:rect l="0" t="0" r="r" b="b"/>
            <a:pathLst>
              <a:path w="19762" h="27">
                <a:moveTo>
                  <a:pt x="0" y="0"/>
                </a:moveTo>
                <a:lnTo>
                  <a:pt x="19762" y="0"/>
                </a:lnTo>
                <a:lnTo>
                  <a:pt x="197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9d6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3" name=""/>
          <p:cNvSpPr txBox="1"/>
          <p:nvPr/>
        </p:nvSpPr>
        <p:spPr>
          <a:xfrm>
            <a:off x="979560" y="4190040"/>
            <a:ext cx="194616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1430" strike="noStrike" u="none">
                <a:solidFill>
                  <a:srgbClr val="8b1538"/>
                </a:solidFill>
                <a:effectLst/>
                <a:uFillTx/>
                <a:latin typeface="Fraunces-Regular_opsz133333_wght12C0000"/>
                <a:ea typeface="Fraunces-Regular_opsz133333_wght12C0000"/>
              </a:rPr>
              <a:t>Questions are welcome.</a:t>
            </a:r>
            <a:endParaRPr b="0" lang="en-IN" sz="14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4" name=""/>
          <p:cNvSpPr txBox="1"/>
          <p:nvPr/>
        </p:nvSpPr>
        <p:spPr>
          <a:xfrm>
            <a:off x="932760" y="5048280"/>
            <a:ext cx="236304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750" strike="noStrike" u="none">
                <a:solidFill>
                  <a:srgbClr val="2a2a2a"/>
                </a:solidFill>
                <a:effectLst/>
                <a:uFillTx/>
                <a:latin typeface="JetBrainsMono-Regular_wght2580000"/>
                <a:ea typeface="JetBrainsMono-Regular_wght2580000"/>
              </a:rPr>
              <a:t>CODE</a:t>
            </a:r>
            <a:r>
              <a:rPr b="0" lang="en-IN" sz="75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   github.com/khushpatel2002/MCTS-MAJ</a:t>
            </a:r>
            <a:endParaRPr b="0" lang="en-IN" sz="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5" name=""/>
          <p:cNvSpPr txBox="1"/>
          <p:nvPr/>
        </p:nvSpPr>
        <p:spPr>
          <a:xfrm>
            <a:off x="932760" y="5212800"/>
            <a:ext cx="305424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750" strike="noStrike" u="none">
                <a:solidFill>
                  <a:srgbClr val="2a2a2a"/>
                </a:solidFill>
                <a:effectLst/>
                <a:uFillTx/>
                <a:latin typeface="JetBrainsMono-Regular_wght2580000"/>
                <a:ea typeface="JetBrainsMono-Regular_wght2580000"/>
              </a:rPr>
              <a:t>BENCHMARK</a:t>
            </a:r>
            <a:r>
              <a:rPr b="0" lang="en-IN" sz="75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   EvalsBench · Vibrant Labs AI · Apache-2.0</a:t>
            </a:r>
            <a:endParaRPr b="0" lang="en-IN" sz="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6" name=""/>
          <p:cNvSpPr txBox="1"/>
          <p:nvPr/>
        </p:nvSpPr>
        <p:spPr>
          <a:xfrm>
            <a:off x="932760" y="5386680"/>
            <a:ext cx="328464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IN" sz="750" strike="noStrike" u="none">
                <a:solidFill>
                  <a:srgbClr val="2a2a2a"/>
                </a:solidFill>
                <a:effectLst/>
                <a:uFillTx/>
                <a:latin typeface="JetBrainsMono-Regular_wght2580000"/>
                <a:ea typeface="JetBrainsMono-Regular_wght2580000"/>
              </a:rPr>
              <a:t>METHODS</a:t>
            </a:r>
            <a:r>
              <a:rPr b="0" lang="en-IN" sz="75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   Wilson CI · McNemar · paired bootstrap (10,000)</a:t>
            </a:r>
            <a:endParaRPr b="0" lang="en-IN" sz="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7" name=""/>
          <p:cNvSpPr txBox="1"/>
          <p:nvPr/>
        </p:nvSpPr>
        <p:spPr>
          <a:xfrm>
            <a:off x="685800" y="8312040"/>
            <a:ext cx="2566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2a2a2a"/>
                </a:solidFill>
                <a:effectLst/>
                <a:uFillTx/>
                <a:latin typeface="JetBrainsMono"/>
                <a:ea typeface="JetBrainsMono"/>
              </a:rPr>
              <a:t>MEMORY-ASSISTED LLM AS A JUDGE VIA KNOWLEDGE GRAPHS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8" name=""/>
          <p:cNvSpPr txBox="1"/>
          <p:nvPr/>
        </p:nvSpPr>
        <p:spPr>
          <a:xfrm>
            <a:off x="11400480" y="8312040"/>
            <a:ext cx="13590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IN" sz="660" strike="noStrike" u="none">
                <a:solidFill>
                  <a:srgbClr val="6a6a66"/>
                </a:solidFill>
                <a:effectLst/>
                <a:uFillTx/>
                <a:latin typeface="JetBrainsMono"/>
                <a:ea typeface="JetBrainsMono"/>
              </a:rPr>
              <a:t>36 / 36  ·  K. PATEL · 2026</a:t>
            </a:r>
            <a:endParaRPr b="0" lang="en-IN" sz="6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LibreOffice/25.2.1.2$MacOSX_AARCH64 LibreOffice_project/d3abf4aee5fd705e4a92bba33a32f40bc4e56f49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cp:revision>0</cp:revision>
  <dc:subject/>
  <dc:title/>
</cp:coreProperties>
</file>